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Lst>
  <p:sldSz cx="14630400" cy="82296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Relationships xmlns="http://schemas.openxmlformats.org/package/2006/relationships"><Relationship Id="rId1" Type="http://schemas.openxmlformats.org/officeDocument/2006/relationships/slideMaster" Target="slideMasters/slideMaster1.xml" /><Relationship Id="rId2" Type="http://schemas.openxmlformats.org/officeDocument/2006/relationships/printerSettings" Target="printerSettings/printerSettings1.bin" /><Relationship Id="rId3" Type="http://schemas.openxmlformats.org/officeDocument/2006/relationships/presProps" Target="presProps.xml" /><Relationship Id="rId4" Type="http://schemas.openxmlformats.org/officeDocument/2006/relationships/viewProps" Target="viewProps.xml" /><Relationship Id="rId5" Type="http://schemas.openxmlformats.org/officeDocument/2006/relationships/theme" Target="theme/theme1.xml" /><Relationship Id="rId6" Type="http://schemas.openxmlformats.org/officeDocument/2006/relationships/tableStyles" Target="tableStyles.xml" /><Relationship Id="rId7" Type="http://schemas.openxmlformats.org/officeDocument/2006/relationships/slide" Target="slides/slide1.xml" /><Relationship Id="rId8" Type="http://schemas.openxmlformats.org/officeDocument/2006/relationships/slide" Target="slides/slide2.xml" /><Relationship Id="rId9" Type="http://schemas.openxmlformats.org/officeDocument/2006/relationships/slide" Target="slides/slide3.xml" /><Relationship Id="rId10" Type="http://schemas.openxmlformats.org/officeDocument/2006/relationships/slide" Target="slides/slide4.xml" /><Relationship Id="rId11" Type="http://schemas.openxmlformats.org/officeDocument/2006/relationships/slide" Target="slides/slide5.xml" /><Relationship Id="rId12" Type="http://schemas.openxmlformats.org/officeDocument/2006/relationships/slide" Target="slides/slide6.xml" /><Relationship Id="rId13" Type="http://schemas.openxmlformats.org/officeDocument/2006/relationships/slide" Target="slides/slide7.xml" /><Relationship Id="rId14" Type="http://schemas.openxmlformats.org/officeDocument/2006/relationships/slide" Target="slides/slide8.xml" /><Relationship Id="rId15" Type="http://schemas.openxmlformats.org/officeDocument/2006/relationships/slide" Target="slides/slide9.xml" /><Relationship Id="rId16" Type="http://schemas.openxmlformats.org/officeDocument/2006/relationships/slide" Target="slides/slide10.xml" /><Relationship Id="rId17" Type="http://schemas.openxmlformats.org/officeDocument/2006/relationships/slide" Target="slides/slide11.xml" /><Relationship Id="rId18" Type="http://schemas.openxmlformats.org/officeDocument/2006/relationships/slide" Target="slides/slide12.xml" /><Relationship Id="rId19" Type="http://schemas.openxmlformats.org/officeDocument/2006/relationships/slide" Target="slides/slide13.xml" /><Relationship Id="rId20" Type="http://schemas.openxmlformats.org/officeDocument/2006/relationships/slide" Target="slides/slide14.xml" /><Relationship Id="rId21" Type="http://schemas.openxmlformats.org/officeDocument/2006/relationships/slide" Target="slides/slide15.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 Id="rId32" Type="http://schemas.openxmlformats.org/officeDocument/2006/relationships/slide" Target="slides/slide26.xml" /><Relationship Id="rId33" Type="http://schemas.openxmlformats.org/officeDocument/2006/relationships/slide" Target="slides/slide27.xml" /><Relationship Id="rId34" Type="http://schemas.openxmlformats.org/officeDocument/2006/relationships/slide" Target="slides/slide28.xml" /><Relationship Id="rId35" Type="http://schemas.openxmlformats.org/officeDocument/2006/relationships/slide" Target="slides/slide29.xml" /><Relationship Id="rId36" Type="http://schemas.openxmlformats.org/officeDocument/2006/relationships/slide" Target="slides/slide30.xml" /><Relationship Id="rId37" Type="http://schemas.openxmlformats.org/officeDocument/2006/relationships/slide" Target="slides/slide31.xml" /><Relationship Id="rId38" Type="http://schemas.openxmlformats.org/officeDocument/2006/relationships/slide" Target="slides/slide32.xml" /><Relationship Id="rId39" Type="http://schemas.openxmlformats.org/officeDocument/2006/relationships/slide" Target="slides/slide33.xml" /><Relationship Id="rId40" Type="http://schemas.openxmlformats.org/officeDocument/2006/relationships/slide" Target="slides/slide34.xml" /><Relationship Id="rId41" Type="http://schemas.openxmlformats.org/officeDocument/2006/relationships/slide" Target="slides/slide35.xml" /><Relationship Id="rId42" Type="http://schemas.openxmlformats.org/officeDocument/2006/relationships/slide" Target="slides/slide36.xml" /><Relationship Id="rId43" Type="http://schemas.openxmlformats.org/officeDocument/2006/relationships/slide" Target="slides/slide37.xml" /><Relationship Id="rId44" Type="http://schemas.openxmlformats.org/officeDocument/2006/relationships/slide" Target="slides/slide38.xml" /><Relationship Id="rId45"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hf/>
  <p:notesStyle>
    <a:lvl1pPr algn="l">
      <a:defRPr sz="1200" kern="1200"/>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slide" Target="../slides/slide1.xml"/>
  <Relationship Id="rId2" Type="http://schemas.openxmlformats.org/officeDocument/2006/relationships/notesMaster" Target="../notesMasters/notesMaster1.xml"/>
</Relationships>

</file>

<file path=ppt/notesSlides/_rels/notesSlide2.xml.rels><?xml version="1.0" encoding="UTF-8" standalone="yes"?>
<Relationships xmlns="http://schemas.openxmlformats.org/package/2006/relationships">
  <Relationship Id="rId1" Type="http://schemas.openxmlformats.org/officeDocument/2006/relationships/slide" Target="../slides/slide2.xml"/>
  <Relationship Id="rId2" Type="http://schemas.openxmlformats.org/officeDocument/2006/relationships/notesMaster" Target="../notesMasters/notesMaster1.xml"/>
</Relationships>

</file>

<file path=ppt/notesSlides/_rels/notesSlide3.xml.rels><?xml version="1.0" encoding="UTF-8" standalone="yes"?>
<Relationships xmlns="http://schemas.openxmlformats.org/package/2006/relationships">
  <Relationship Id="rId1" Type="http://schemas.openxmlformats.org/officeDocument/2006/relationships/slide" Target="../slides/slide3.xml"/>
  <Relationship Id="rId2" Type="http://schemas.openxmlformats.org/officeDocument/2006/relationships/notesMaster" Target="../notesMasters/notesMaster1.xml"/>
</Relationships>

</file>

<file path=ppt/notesSlides/_rels/notesSlide4.xml.rels><?xml version="1.0" encoding="UTF-8" standalone="yes"?>
<Relationships xmlns="http://schemas.openxmlformats.org/package/2006/relationships">
  <Relationship Id="rId1" Type="http://schemas.openxmlformats.org/officeDocument/2006/relationships/slide" Target="../slides/slide4.xml"/>
  <Relationship Id="rId2" Type="http://schemas.openxmlformats.org/officeDocument/2006/relationships/notesMaster" Target="../notesMasters/notesMaster1.xml"/>
</Relationships>

</file>

<file path=ppt/notesSlides/_rels/notesSlide5.xml.rels><?xml version="1.0" encoding="UTF-8" standalone="yes"?>
<Relationships xmlns="http://schemas.openxmlformats.org/package/2006/relationships">
  <Relationship Id="rId1" Type="http://schemas.openxmlformats.org/officeDocument/2006/relationships/slide" Target="../slides/slide5.xml"/>
  <Relationship Id="rId2" Type="http://schemas.openxmlformats.org/officeDocument/2006/relationships/notesMaster" Target="../notesMasters/notesMaster1.xml"/>
</Relationships>

</file>

<file path=ppt/notesSlides/_rels/notesSlide6.xml.rels><?xml version="1.0" encoding="UTF-8" standalone="yes"?>
<Relationships xmlns="http://schemas.openxmlformats.org/package/2006/relationships">
  <Relationship Id="rId1" Type="http://schemas.openxmlformats.org/officeDocument/2006/relationships/slide" Target="../slides/slide6.xml"/>
  <Relationship Id="rId2" Type="http://schemas.openxmlformats.org/officeDocument/2006/relationships/notesMaster" Target="../notesMasters/notesMaster1.xml"/>
</Relationships>

</file>

<file path=ppt/notesSlides/_rels/notesSlide7.xml.rels><?xml version="1.0" encoding="UTF-8" standalone="yes"?>
<Relationships xmlns="http://schemas.openxmlformats.org/package/2006/relationships">
  <Relationship Id="rId1" Type="http://schemas.openxmlformats.org/officeDocument/2006/relationships/slide" Target="../slides/slide7.xml"/>
  <Relationship Id="rId2" Type="http://schemas.openxmlformats.org/officeDocument/2006/relationships/notesMaster" Target="../notesMasters/notesMaster1.xml"/>
</Relationships>

</file>

<file path=ppt/notesSlides/_rels/notesSlide8.xml.rels><?xml version="1.0" encoding="UTF-8" standalone="yes"?>
<Relationships xmlns="http://schemas.openxmlformats.org/package/2006/relationships">
  <Relationship Id="rId1" Type="http://schemas.openxmlformats.org/officeDocument/2006/relationships/slide" Target="../slides/slide8.xml"/>
  <Relationship Id="rId2" Type="http://schemas.openxmlformats.org/officeDocument/2006/relationships/notesMaster" Target="../notesMasters/notesMaster1.xml"/>
</Relationships>

</file>

<file path=ppt/notesSlides/_rels/notesSlide9.xml.rels><?xml version="1.0" encoding="UTF-8" standalone="yes"?>
<Relationships xmlns="http://schemas.openxmlformats.org/package/2006/relationships">
  <Relationship Id="rId1" Type="http://schemas.openxmlformats.org/officeDocument/2006/relationships/slide" Target="../slides/slide9.xml"/>
  <Relationship Id="rId2" Type="http://schemas.openxmlformats.org/officeDocument/2006/relationships/notesMaster" Target="../notesMasters/notesMaster1.xml"/>
</Relationships>

</file>

<file path=ppt/notesSlides/_rels/notesSlide10.xml.rels><?xml version="1.0" encoding="UTF-8" standalone="yes"?>
<Relationships xmlns="http://schemas.openxmlformats.org/package/2006/relationships">
  <Relationship Id="rId1" Type="http://schemas.openxmlformats.org/officeDocument/2006/relationships/slide" Target="../slides/slide10.xml"/>
  <Relationship Id="rId2" Type="http://schemas.openxmlformats.org/officeDocument/2006/relationships/notesMaster" Target="../notesMasters/notesMaster1.xml"/>
</Relationships>

</file>

<file path=ppt/notesSlides/_rels/notesSlide11.xml.rels><?xml version="1.0" encoding="UTF-8" standalone="yes"?>
<Relationships xmlns="http://schemas.openxmlformats.org/package/2006/relationships">
  <Relationship Id="rId1" Type="http://schemas.openxmlformats.org/officeDocument/2006/relationships/slide" Target="../slides/slide11.xml"/>
  <Relationship Id="rId2" Type="http://schemas.openxmlformats.org/officeDocument/2006/relationships/notesMaster" Target="../notesMasters/notesMaster1.xml"/>
</Relationships>

</file>

<file path=ppt/notesSlides/_rels/notesSlide12.xml.rels><?xml version="1.0" encoding="UTF-8" standalone="yes"?>
<Relationships xmlns="http://schemas.openxmlformats.org/package/2006/relationships">
  <Relationship Id="rId1" Type="http://schemas.openxmlformats.org/officeDocument/2006/relationships/slide" Target="../slides/slide12.xml"/>
  <Relationship Id="rId2" Type="http://schemas.openxmlformats.org/officeDocument/2006/relationships/notesMaster" Target="../notesMasters/notesMaster1.xml"/>
</Relationships>

</file>

<file path=ppt/notesSlides/_rels/notesSlide13.xml.rels><?xml version="1.0" encoding="UTF-8" standalone="yes"?>
<Relationships xmlns="http://schemas.openxmlformats.org/package/2006/relationships">
  <Relationship Id="rId1" Type="http://schemas.openxmlformats.org/officeDocument/2006/relationships/slide" Target="../slides/slide13.xml"/>
  <Relationship Id="rId2" Type="http://schemas.openxmlformats.org/officeDocument/2006/relationships/notesMaster" Target="../notesMasters/notesMaster1.xml"/>
</Relationships>

</file>

<file path=ppt/notesSlides/_rels/notesSlide14.xml.rels><?xml version="1.0" encoding="UTF-8" standalone="yes"?>
<Relationships xmlns="http://schemas.openxmlformats.org/package/2006/relationships">
  <Relationship Id="rId1" Type="http://schemas.openxmlformats.org/officeDocument/2006/relationships/slide" Target="../slides/slide14.xml"/>
  <Relationship Id="rId2" Type="http://schemas.openxmlformats.org/officeDocument/2006/relationships/notesMaster" Target="../notesMasters/notesMaster1.xml"/>
</Relationships>

</file>

<file path=ppt/notesSlides/_rels/notesSlide15.xml.rels><?xml version="1.0" encoding="UTF-8" standalone="yes"?>
<Relationships xmlns="http://schemas.openxmlformats.org/package/2006/relationships">
  <Relationship Id="rId1" Type="http://schemas.openxmlformats.org/officeDocument/2006/relationships/slide" Target="../slides/slide15.xml"/>
  <Relationship Id="rId2" Type="http://schemas.openxmlformats.org/officeDocument/2006/relationships/notesMaster" Target="../notesMasters/notesMaster1.xml"/>
</Relationships>

</file>

<file path=ppt/notesSlides/_rels/notesSlide16.xml.rels><?xml version="1.0" encoding="UTF-8" standalone="yes"?>
<Relationships xmlns="http://schemas.openxmlformats.org/package/2006/relationships">
  <Relationship Id="rId1" Type="http://schemas.openxmlformats.org/officeDocument/2006/relationships/slide" Target="../slides/slide16.xml"/>
  <Relationship Id="rId2" Type="http://schemas.openxmlformats.org/officeDocument/2006/relationships/notesMaster" Target="../notesMasters/notesMaster1.xml"/>
</Relationships>

</file>

<file path=ppt/notesSlides/_rels/notesSlide17.xml.rels><?xml version="1.0" encoding="UTF-8" standalone="yes"?>
<Relationships xmlns="http://schemas.openxmlformats.org/package/2006/relationships">
  <Relationship Id="rId1" Type="http://schemas.openxmlformats.org/officeDocument/2006/relationships/slide" Target="../slides/slide17.xml"/>
  <Relationship Id="rId2" Type="http://schemas.openxmlformats.org/officeDocument/2006/relationships/notesMaster" Target="../notesMasters/notesMaster1.xml"/>
</Relationships>

</file>

<file path=ppt/notesSlides/_rels/notesSlide18.xml.rels><?xml version="1.0" encoding="UTF-8" standalone="yes"?>
<Relationships xmlns="http://schemas.openxmlformats.org/package/2006/relationships">
  <Relationship Id="rId1" Type="http://schemas.openxmlformats.org/officeDocument/2006/relationships/slide" Target="../slides/slide18.xml"/>
  <Relationship Id="rId2" Type="http://schemas.openxmlformats.org/officeDocument/2006/relationships/notesMaster" Target="../notesMasters/notesMaster1.xml"/>
</Relationships>

</file>

<file path=ppt/notesSlides/_rels/notesSlide19.xml.rels><?xml version="1.0" encoding="UTF-8" standalone="yes"?>
<Relationships xmlns="http://schemas.openxmlformats.org/package/2006/relationships">
  <Relationship Id="rId1" Type="http://schemas.openxmlformats.org/officeDocument/2006/relationships/slide" Target="../slides/slide19.xml"/>
  <Relationship Id="rId2" Type="http://schemas.openxmlformats.org/officeDocument/2006/relationships/notesMaster" Target="../notesMasters/notesMaster1.xml"/>
</Relationships>

</file>

<file path=ppt/notesSlides/_rels/notesSlide20.xml.rels><?xml version="1.0" encoding="UTF-8" standalone="yes"?>
<Relationships xmlns="http://schemas.openxmlformats.org/package/2006/relationships">
  <Relationship Id="rId1" Type="http://schemas.openxmlformats.org/officeDocument/2006/relationships/slide" Target="../slides/slide20.xml"/>
  <Relationship Id="rId2" Type="http://schemas.openxmlformats.org/officeDocument/2006/relationships/notesMaster" Target="../notesMasters/notesMaster1.xml"/>
</Relationships>

</file>

<file path=ppt/notesSlides/_rels/notesSlide21.xml.rels><?xml version="1.0" encoding="UTF-8" standalone="yes"?>
<Relationships xmlns="http://schemas.openxmlformats.org/package/2006/relationships">
  <Relationship Id="rId1" Type="http://schemas.openxmlformats.org/officeDocument/2006/relationships/slide" Target="../slides/slide21.xml"/>
  <Relationship Id="rId2" Type="http://schemas.openxmlformats.org/officeDocument/2006/relationships/notesMaster" Target="../notesMasters/notesMaster1.xml"/>
</Relationships>

</file>

<file path=ppt/notesSlides/_rels/notesSlide22.xml.rels><?xml version="1.0" encoding="UTF-8" standalone="yes"?>
<Relationships xmlns="http://schemas.openxmlformats.org/package/2006/relationships">
  <Relationship Id="rId1" Type="http://schemas.openxmlformats.org/officeDocument/2006/relationships/slide" Target="../slides/slide22.xml"/>
  <Relationship Id="rId2" Type="http://schemas.openxmlformats.org/officeDocument/2006/relationships/notesMaster" Target="../notesMasters/notesMaster1.xml"/>
</Relationships>

</file>

<file path=ppt/notesSlides/_rels/notesSlide23.xml.rels><?xml version="1.0" encoding="UTF-8" standalone="yes"?>
<Relationships xmlns="http://schemas.openxmlformats.org/package/2006/relationships">
  <Relationship Id="rId1" Type="http://schemas.openxmlformats.org/officeDocument/2006/relationships/slide" Target="../slides/slide23.xml"/>
  <Relationship Id="rId2" Type="http://schemas.openxmlformats.org/officeDocument/2006/relationships/notesMaster" Target="../notesMasters/notesMaster1.xml"/>
</Relationships>

</file>

<file path=ppt/notesSlides/_rels/notesSlide24.xml.rels><?xml version="1.0" encoding="UTF-8" standalone="yes"?>
<Relationships xmlns="http://schemas.openxmlformats.org/package/2006/relationships">
  <Relationship Id="rId1" Type="http://schemas.openxmlformats.org/officeDocument/2006/relationships/slide" Target="../slides/slide24.xml"/>
  <Relationship Id="rId2" Type="http://schemas.openxmlformats.org/officeDocument/2006/relationships/notesMaster" Target="../notesMasters/notesMaster1.xml"/>
</Relationships>

</file>

<file path=ppt/notesSlides/_rels/notesSlide25.xml.rels><?xml version="1.0" encoding="UTF-8" standalone="yes"?>
<Relationships xmlns="http://schemas.openxmlformats.org/package/2006/relationships">
  <Relationship Id="rId1" Type="http://schemas.openxmlformats.org/officeDocument/2006/relationships/slide" Target="../slides/slide25.xml"/>
  <Relationship Id="rId2" Type="http://schemas.openxmlformats.org/officeDocument/2006/relationships/notesMaster" Target="../notesMasters/notesMaster1.xml"/>
</Relationships>

</file>

<file path=ppt/notesSlides/_rels/notesSlide26.xml.rels><?xml version="1.0" encoding="UTF-8" standalone="yes"?>
<Relationships xmlns="http://schemas.openxmlformats.org/package/2006/relationships">
  <Relationship Id="rId1" Type="http://schemas.openxmlformats.org/officeDocument/2006/relationships/slide" Target="../slides/slide26.xml"/>
  <Relationship Id="rId2" Type="http://schemas.openxmlformats.org/officeDocument/2006/relationships/notesMaster" Target="../notesMasters/notesMaster1.xml"/>
</Relationships>

</file>

<file path=ppt/notesSlides/_rels/notesSlide27.xml.rels><?xml version="1.0" encoding="UTF-8" standalone="yes"?>
<Relationships xmlns="http://schemas.openxmlformats.org/package/2006/relationships">
  <Relationship Id="rId1" Type="http://schemas.openxmlformats.org/officeDocument/2006/relationships/slide" Target="../slides/slide27.xml"/>
  <Relationship Id="rId2" Type="http://schemas.openxmlformats.org/officeDocument/2006/relationships/notesMaster" Target="../notesMasters/notesMaster1.xml"/>
</Relationships>

</file>

<file path=ppt/notesSlides/_rels/notesSlide28.xml.rels><?xml version="1.0" encoding="UTF-8" standalone="yes"?>
<Relationships xmlns="http://schemas.openxmlformats.org/package/2006/relationships">
  <Relationship Id="rId1" Type="http://schemas.openxmlformats.org/officeDocument/2006/relationships/slide" Target="../slides/slide28.xml"/>
  <Relationship Id="rId2" Type="http://schemas.openxmlformats.org/officeDocument/2006/relationships/notesMaster" Target="../notesMasters/notesMaster1.xml"/>
</Relationships>

</file>

<file path=ppt/notesSlides/_rels/notesSlide29.xml.rels><?xml version="1.0" encoding="UTF-8" standalone="yes"?>
<Relationships xmlns="http://schemas.openxmlformats.org/package/2006/relationships">
  <Relationship Id="rId1" Type="http://schemas.openxmlformats.org/officeDocument/2006/relationships/slide" Target="../slides/slide29.xml"/>
  <Relationship Id="rId2" Type="http://schemas.openxmlformats.org/officeDocument/2006/relationships/notesMaster" Target="../notesMasters/notesMaster1.xml"/>
</Relationships>

</file>

<file path=ppt/notesSlides/_rels/notesSlide30.xml.rels><?xml version="1.0" encoding="UTF-8" standalone="yes"?>
<Relationships xmlns="http://schemas.openxmlformats.org/package/2006/relationships">
  <Relationship Id="rId1" Type="http://schemas.openxmlformats.org/officeDocument/2006/relationships/slide" Target="../slides/slide30.xml"/>
  <Relationship Id="rId2" Type="http://schemas.openxmlformats.org/officeDocument/2006/relationships/notesMaster" Target="../notesMasters/notesMaster1.xml"/>
</Relationships>

</file>

<file path=ppt/notesSlides/_rels/notesSlide31.xml.rels><?xml version="1.0" encoding="UTF-8" standalone="yes"?>
<Relationships xmlns="http://schemas.openxmlformats.org/package/2006/relationships">
  <Relationship Id="rId1" Type="http://schemas.openxmlformats.org/officeDocument/2006/relationships/slide" Target="../slides/slide31.xml"/>
  <Relationship Id="rId2" Type="http://schemas.openxmlformats.org/officeDocument/2006/relationships/notesMaster" Target="../notesMasters/notesMaster1.xml"/>
</Relationships>

</file>

<file path=ppt/notesSlides/_rels/notesSlide32.xml.rels><?xml version="1.0" encoding="UTF-8" standalone="yes"?>
<Relationships xmlns="http://schemas.openxmlformats.org/package/2006/relationships">
  <Relationship Id="rId1" Type="http://schemas.openxmlformats.org/officeDocument/2006/relationships/slide" Target="../slides/slide32.xml"/>
  <Relationship Id="rId2" Type="http://schemas.openxmlformats.org/officeDocument/2006/relationships/notesMaster" Target="../notesMasters/notesMaster1.xml"/>
</Relationships>

</file>

<file path=ppt/notesSlides/_rels/notesSlide33.xml.rels><?xml version="1.0" encoding="UTF-8" standalone="yes"?>
<Relationships xmlns="http://schemas.openxmlformats.org/package/2006/relationships">
  <Relationship Id="rId1" Type="http://schemas.openxmlformats.org/officeDocument/2006/relationships/slide" Target="../slides/slide33.xml"/>
  <Relationship Id="rId2" Type="http://schemas.openxmlformats.org/officeDocument/2006/relationships/notesMaster" Target="../notesMasters/notesMaster1.xml"/>
</Relationships>

</file>

<file path=ppt/notesSlides/_rels/notesSlide34.xml.rels><?xml version="1.0" encoding="UTF-8" standalone="yes"?>
<Relationships xmlns="http://schemas.openxmlformats.org/package/2006/relationships">
  <Relationship Id="rId1" Type="http://schemas.openxmlformats.org/officeDocument/2006/relationships/slide" Target="../slides/slide34.xml"/>
  <Relationship Id="rId2" Type="http://schemas.openxmlformats.org/officeDocument/2006/relationships/notesMaster" Target="../notesMasters/notesMaster1.xml"/>
</Relationships>

</file>

<file path=ppt/notesSlides/_rels/notesSlide35.xml.rels><?xml version="1.0" encoding="UTF-8" standalone="yes"?>
<Relationships xmlns="http://schemas.openxmlformats.org/package/2006/relationships">
  <Relationship Id="rId1" Type="http://schemas.openxmlformats.org/officeDocument/2006/relationships/slide" Target="../slides/slide35.xml"/>
  <Relationship Id="rId2" Type="http://schemas.openxmlformats.org/officeDocument/2006/relationships/notesMaster" Target="../notesMasters/notesMaster1.xml"/>
</Relationships>

</file>

<file path=ppt/notesSlides/_rels/notesSlide36.xml.rels><?xml version="1.0" encoding="UTF-8" standalone="yes"?>
<Relationships xmlns="http://schemas.openxmlformats.org/package/2006/relationships">
  <Relationship Id="rId1" Type="http://schemas.openxmlformats.org/officeDocument/2006/relationships/slide" Target="../slides/slide36.xml"/>
  <Relationship Id="rId2" Type="http://schemas.openxmlformats.org/officeDocument/2006/relationships/notesMaster" Target="../notesMasters/notesMaster1.xml"/>
</Relationships>

</file>

<file path=ppt/notesSlides/_rels/notesSlide37.xml.rels><?xml version="1.0" encoding="UTF-8" standalone="yes"?>
<Relationships xmlns="http://schemas.openxmlformats.org/package/2006/relationships">
  <Relationship Id="rId1" Type="http://schemas.openxmlformats.org/officeDocument/2006/relationships/slide" Target="../slides/slide37.xml"/>
  <Relationship Id="rId2" Type="http://schemas.openxmlformats.org/officeDocument/2006/relationships/notesMaster" Target="../notesMasters/notesMaster1.xml"/>
</Relationships>

</file>

<file path=ppt/notesSlides/_rels/notesSlide38.xml.rels><?xml version="1.0" encoding="UTF-8" standalone="yes"?>
<Relationships xmlns="http://schemas.openxmlformats.org/package/2006/relationships">
  <Relationship Id="rId1" Type="http://schemas.openxmlformats.org/officeDocument/2006/relationships/slide" Target="../slides/slide38.xml"/>
  <Relationship Id="rId2"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Secure, Collaborative, and Dynamic Networked Applications Department of Computer Science University of Memphis Advisor: Dr. Lan Wang PhD Proposal Defense September 2026</a:t>
            </a:r>
            <a:endParaRPr lang="en-US" sz="120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An operator selects a ground area. Nearby UAVs offer suitable views. A compute Provider analyzes the images. The operator receives original images with annotations. UAV A view 1 UAV B view 2 Compute Provider Operator Who can participate now, and which Data may each selected Provider use?</a:t>
            </a:r>
            <a:endParaRPr lang="en-US" sz="1200"/>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Discover current willingness: reachability, sensors, load, and deadlines affect participation. 2. Authorize before execution: exposing a service does not grant everyone permission to use it. 3. Enforce the chosen collaboration: an authentic image is useful only if it satisfies an assigned dependency. The contribution must explain the mechanism and its cost, not just demonstrate that two UAVs can exchange images.</a:t>
            </a:r>
            <a:endParaRPr lang="en-US" sz="1200"/>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NDN building block Remaining application responsibility Named Data and signatures [1] Decide which signer may perform which task; validate content under trust rules Interest retrieval and caching [1,26] Enforce task identity, dependencies, and deadlines; caching is not persistent storage Dataset synchronization / SVS [2,3] Discover new names, then retrieve Data; define service-message state transitions NAC [4] / enhanced NAC-ABE [19] Relate decryption permission to execution authorization and key lifecycle NAC: Name-based Access Control; ABE: attribute-based encryption; SVS: State Vector Sync. NDNSF builds on these mechanisms; it does not invent them.</a:t>
            </a:r>
            <a:endParaRPr lang="en-US" sz="1200"/>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How can a requester discover and authorize currently willing Providers without making the discovery descriptor public, and at what cost? RQ2: How can Providers selected at runtime follow task roles and named dependencies, whether Data comes from producers or caches? RQ3: When do these mechanisms improve completion, latency, or execution efficiency, and when do their costs outweigh the benefits? UAV and distributed inference test the same questions. They are not separate contributions merely because both are implemented.</a:t>
            </a:r>
            <a:endParaRPr lang="en-US" sz="1200"/>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Prior work What the comparison must acknowledge NFN [6], NFaaS [7] Named computation and function execution/placement RICE [9], NSC [10] Invocation and security mechanisms; NSC validates signed calls using application trust rules DNMP [12] Role- and command-constrained signing and verification CaSCON [15] Service-composition research; requires a feature-level comparison before claiming a new composition mechanism gRPC [17,27] Complete configurations can include discovery/resolver integration, not only fixed addresses Candidate increment: connect runtime assignment to enforceable object-admission rules. This is not a claim to be the first NDN service framework.</a:t>
            </a:r>
            <a:endParaRPr lang="en-US" sz="1200"/>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Intended contribution Current evidence boundary Discovery / authorization design and tradeoffs Invocation implementation and bounded experiments exist; full alternative lifecycle-cost comparison remains open ACK-derived plan and local depen- dency admission Design and implementation work; complete direct/cache and failure acceptance gates remain open Cross-case empirical findings Existing mobility/work-efficiency and small-model results support limited configurations, not all new collaboration claims Proposal status, September 2026: implemented, locally tested, measured, and fully qualified are not interchangeable. [28]</a:t>
            </a:r>
            <a:endParaRPr lang="en-US" sz="1200"/>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User: requests and coordinates the invocation. Provider: offers and executes a service. A node may play both roles. Controller: administers identities and service permissions approved by the organization. Participants use provisioned trust anchors and validation rules for certificates and Controller material. Unknown runtime candidates are not unregistered authorization identities. The User discovers current participation; the Controller does not choose this task’s Providers.</a:t>
            </a:r>
            <a:endParaRPr lang="en-US" sz="1200"/>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Data Logical purpose Request Describe required service and participation constraints; include protected discovery information and Requester Challenge ACK Report positive or negative participation; positive ACK supplies selection information and Provider Challenge Selection Authorize selected execution; provide input/references and protected request-scoped keys Response Return status, result Data, or authorized result references Sync helps discover names; Interests retrieve the Data. A positive ACK does not itself start execution.</a:t>
            </a:r>
            <a:endParaRPr lang="en-US" sz="1200"/>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Discovery descriptor Needed to decide whether to participate: area, deadline, sensor/model and resource requirements. Application input Needed to execute the selected task: images, detailed processing parameters, or protected input references. The boundary follows necessity. A location needed to assess coverage belongs in the protected descriptor; an image needed only for processing can wait.</a:t>
            </a:r>
            <a:endParaRPr lang="en-US" sz="1200"/>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The User knows the service, but not yet the currently willing Provider identities. An observation area and deadline can reveal intended activity even without the full application input. ABE can protect one descriptor for a service-authorized receiver set without listing those identities. [19] Confidential from parties lacking the required decryption capability. Authorized but unselected Providers can read it; names and traffic patterns remain visible.</a:t>
            </a:r>
            <a:endParaRPr lang="en-US" sz="1200"/>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Nodes may retrieve the same encrypted Request Data; only matching decryption capabilities expose its descriptor. The User encrypts by service attributes, without listing Provider identities. The Controller still authorizes entities and issues keys. [19] Different entities retain overlapping service permissions in individual policy keys, independently of identity-signing credentials. Architectural benefit: shared dissemination with distinct access scopes. Aggregation preserves distinctions only while objects retain separate encryption scopes.</a:t>
            </a:r>
            <a:endParaRPr lang="en-US" sz="1200"/>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Design Execution authorization Discovery confidentiality DNMP-inspired roles [12] Role/command signing rules, credential and request-state checks Add encryption and group/key distribution NDNSF ABE-backed Identity signature, encrypted challenges, and authorization/request state Service-level ABE protection of descriptor Content Trust Schema [16] validates signing relationships; it alone does not encrypt Content. NAC [4] also protects distributed content. ABE contributes attribute-policy-based decryption.</a:t>
            </a:r>
            <a:endParaRPr lang="en-US" sz="1200"/>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Known Providers and simple rules: signed invocation plus recipient encryption may be sufficient. A small, stable receiver group: ordinary group-key management may be attractive. Rich command-argument restrictions: DNMP-style rules make those constraints explicit. [12] Many changing entitlements: measure both policy/key updates and credential/rule updates before claiming a management advantage. ABE is a justified option for NDNSF’s requirements, not universally superior authorization.</a:t>
            </a:r>
            <a:endParaRPr lang="en-US" sz="1200"/>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Challenges check decryption capability; signatures, service permissions and request state still determine invocation acceptance. Request-scoped keys protect input/results. Selection delivers keys to selected Providers; the requesting User retains access. Withdrawal requires retrieved, validated Controller status. Current ABE rotation is Controller-wide. [28] Lifecycle requirement, not a third advantage: measure policy/key size, challenge cost, propagation and rekeying. No immediate disconnected revocation or recall of old plaintext/keys.</a:t>
            </a:r>
            <a:endParaRPr lang="en-US" sz="1200"/>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Trusted: Controller authorization and the User’s planning decision. Untrusted delivery: an object may arrive through a producer, forwarder, cache, or repository and still requires validation. Adversarial cases to test: wrong identities, permissions, challenges, request state, roles, dependencies, or execution identities. Not established by signatures/ABE: honest resource reports, correct inference, truthful images, or resistance to authorized key sharing. No Byzantine-coordinator consensus claim; no traffic-analysis or instantaneous-revocation guarantee.</a:t>
            </a:r>
            <a:endParaRPr lang="en-US" sz="1200"/>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Application supplies roles, dependency template, constraints and deadline; the template may be handwritten. 2. Close the ACK collection window and validate eligible positive ACKs. 3. A replaceable policy assigns Providers to roles and produces a signed plan. 4. Each Provider derives its permitted input edges and rechecks local resource admission before starting. The snapshot freezes observed candidates for this decision, not every Provider in the network or their future availability.</a:t>
            </a:r>
            <a:endParaRPr lang="en-US" sz="1200"/>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Existing request ID Proposed task-specific plan rules Binds messages to a request Assigns exact Providers to collection and processing roles Does not alone specify pre- decessors Declares which producer role may supply each named dependency Does not alone describe key scope Associates permitted objects, execution identity, and authorization/key scope Example: within the same request, a service-authorized UAV that was not assigned “view 1” must not satisfy the view-1 dependency.</a:t>
            </a:r>
            <a:endParaRPr lang="en-US" sz="1200"/>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Validate the Data signature using the appropriate trust rules. 2. Match the current request, plan and execution identity. 3. Verify that the signer is the assigned predecessor Provider. 4. Match the declared dependency edge, name, data schema and key scope. 5. Require complete validated input before the dependent computation starts. Apply the same rules to direct, cached and repository-fetched Data. This is a proposed acceptance contract; full end-to-end qualification remains required.</a:t>
            </a:r>
            <a:endParaRPr lang="en-US" sz="1200"/>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Event Required behavior Late ACK Do not silently change the committed plan Duplicate Selection Follow recorded one-time state; do not implicitly repeat a side effect Incomplete dependency Wait within policy/deadline, recover, or fail; do not execute on partial data Provider replacement Authorize a new assignment; define fencing and whether existing results may be reused Cancellation Prevent late messages from reauthorizing cancelled work Network re-retrieval is not task re-execution. Compensation is not an atomic transaction or exactly-once physical action.</a:t>
            </a:r>
            <a:endParaRPr lang="en-US" sz="1200"/>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Sensing UAVs publish encrypted ViewImage Data in their own authorized namespaces. 2. The compute Provider retrieves images over assigned edges and publishes Annotation Data. 3. The result references the original images and securely provides permitted image keys to the requester. 4. The requester retrieves the original images and displays the annotations. No need to republish the same images as if the compute Provider produced them. GPS alone does not establish camera visibility or accurate triangulation.</a:t>
            </a:r>
            <a:endParaRPr lang="en-US" sz="1200"/>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A complete authorized collection--processing--return task before the deadline. Correct handling of unavailable views, delayed images and a failed processing Provider. Wrong-role/edge rejection without rejecting an authorized cached image. MiniNDN [22] and PX4 SITL [23] results clearly distinguished from physical-flight evidence. Higher recognition/localization accuracy is a separate claim requiring ground truth and a single-view control. It is not assumed here.</a:t>
            </a:r>
            <a:endParaRPr lang="en-US" sz="1200"/>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 A layer group 1 Provider B layer group 2 Provider C output stage activation activation Pipeline: sequential layers/groups; tensor partitioning additionally needs supported collectives. ONNX [25] describes the graph; export alone does not implement distributed execution. Repo [24] stores artifacts; forwarding caches do not guarantee persistence. The framework contribution is checked runtime assignment and data exchange, not model partitioning itself.</a:t>
            </a:r>
            <a:endParaRPr lang="en-US" sz="1200"/>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Model weights, reusable artifacts, request activations and KV state have different lifetimes. Autoregressive decoding requires retained K/V and next-step inputs; resident weights do not remove that state dependency. Native/local tests are not cross-process or multi-device qualification. Freeze one supported model/partition first; tensor/hybrid and LLM streaming need their own evidence if claimed. Earlier small-model measurements do not qualify all current V3/native features. [28]</a:t>
            </a:r>
            <a:endParaRPr lang="en-US" sz="1200"/>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NSC [10]: named service calls; describe the tested executor, timeout, queue and recovery behavior. gRPC [17]: describe resolver, sequential/parallel policy, deadlines, retry and cancellation. Match Provider count, capacity, task, topology/traces, publication times and measurement windows. Report fixed-list and dynamically discovered configurations as different configurations. An incomplete baseline cannot establish a limitation of the full framework. Historical unmatched data remain diagnostics.</a:t>
            </a:r>
            <a:endParaRPr lang="en-US" sz="1200"/>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(62--71), four Providers/system, 2 m/s; mean seed completion rate. [28] AP radius NDNSF gRPC NSC 50 m 54.57% 53.80% 55.47% 100 m 97.97% 97.97% 98.33% 150 m 100.00% 100.00% 100.00% These overall controls do not establish NDNSF superiority. The next slide examines the separately registered switching subset, not all requests.</a:t>
            </a:r>
            <a:endParaRPr lang="en-US" sz="1200"/>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Ten seeds; four Providers/system; 100 m, 2 m/s; 1,312 matched requests requiring a Provider switch. [28] Comparison Seed-p95 difference 95% CI NDNSF minus gRPC-SEQ-4 -597 ms [-992, -200] ms NDNSF minus NSC-4 -2618 ms [-2916, -2315] ms This is a conditional latency result, not general completion-rate superiority. Preserve the registered subset definition, overall coverage controls, and failed requests.</a:t>
            </a:r>
            <a:endParaRPr lang="en-US" sz="1200"/>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Six-seed, capacity-matched comparison; 1,800 requests per system. [28] Configuration Completed requests Execution starts NDNSF 1,798 / 1,800 1,800 gRPC-PAR-4 1,800 / 1,800 7,180 NSC-4 also completed 1,800/1,800, with 1.002 starts/request (rounded). No work-efficiency advantage over NSC is claimed. Fewer starts than gRPC-PAR-4 is not proof of fewer bytes, less CPU time or lower energy. Similar observed completion is not proven equivalence.</a:t>
            </a:r>
            <a:endParaRPr lang="en-US" sz="1200"/>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Earlier small Qwen-style ONNX model; ten successful runs per layout. [28] Layout Mean latency p95 Shared-backbone distributed layout 259.4 ms 283.9 ms Single Provider 186.8 ms 206.3 ms Do not split merely because several Providers exist. Communication/setup overhead is a candidate explanation, not a causal result established by this measurement. This campaign does not validate the newer canonical-layer, tensor/hybrid or multi-accelerator design.</a:t>
            </a:r>
            <a:endParaRPr lang="en-US" sz="1200"/>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 Required evidence Outcome and cost RQ1 Full authorization alternatives; unauthorized call, challenge/replay and withdrawal cases No unauthorized handler start; discovery delay, key/policy size, status delay and rekey traffic RQ2 One UAV and one DI graph; wrong role/edge; direct/cache parity; cancellation/replacement Correct task completion; validation, transfer and recovery cost RQ3 Matched workload and failure schedules; feasible single-device control; cold/warm state Completion plus latency, redundant work, bytes, uncertainty, and cases with no advantage Planned tests are not completed findings. Record all scheduled runs and failure boundaries.</a:t>
            </a:r>
            <a:endParaRPr lang="en-US" sz="1200"/>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Internal target Completion gate September 2026 Agree scope/RQs; freeze one UAV graph and one DI partition; resolve correctness blockers October--November 2026 Complete registered experiments; freeze evidence and write bounded RQ answers December 2026 Complete integrated advisor-review draft January 2027 Committee review and readiness decision; reduce scope or revise timing if core evidence is missing February 2027 Target defense, conditional on evidence and committee approval CS guidance: advisor-approved complete draft to committee two weeks before defense. Spring 2027 final ProQuest deadline: March 26, 2027; recheck before filing. [29,30]</a:t>
            </a:r>
            <a:endParaRPr lang="en-US" sz="1200"/>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RQ1 answer: when ABE-backed discovery/authorization is preferable, including management and revocation costs. RQ2 answer: exactly which task-assignment mistakes are rejected and which recovery behavior is supported. RQ3 answer: measured benefits, negative results and deployment limits. Distinguish the candidate’s research from shared implementations and reused NDN/AI libraries. This proposal defines those obligations. It does not label the remaining collaboration evidence as finished.</a:t>
            </a:r>
            <a:endParaRPr lang="en-US" sz="1200"/>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Are the three research questions specific enough to support defensible answers? 2. Are the authorization alternatives complete and fairly configured? 3. Are one UAV graph and one supported DI partition sufficient to test the abstraction? 4. Which optional features should be excluded if they delay the core evidence? NDNSF: runtime service discovery and authorization, connected to explicit named-data execution rules.</a:t>
            </a:r>
            <a:endParaRPr lang="en-US" sz="1200"/>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Provider-transition configuration Completed NDNSF, no pre-registered Provider addresses 357 / 357 Static-list NSC/gRPC configurations 0 / 357 Pre-registered baseline variants 357 / 357 This isolates the configured discovery boundary. Resolver/discovery integration can update candidates; it is not proof that gRPC or NSC cannot do so. [27,28]</a:t>
            </a:r>
            <a:endParaRPr lang="en-US" sz="1200"/>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Historical per-link loss NDNSF completed requests 1% 599 / 600 3% 598 / 600 10% (best recorded run) 539 / 600 A selected run is not an aggregate estimate. Do not combine these numbers with another batch and label the result “matched.” [28] 1 -(1 -ell)4 assumes four independent equal-loss packet traversals; it is not service failure probability after retries.</a:t>
            </a:r>
            <a:endParaRPr lang="en-US" sz="1200"/>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[1] L. Zhang et al., “Named Data Networking,” ACM SIGCOMM CCR, 2014. [2] T. Li et al., “A Brief Introduction to NDN Dataset Synchronization (NDN Sync),” MILCOM, 2018. [3] P. Moll et al., “A Brief Introduction to State Vector Sync,” NDN-0073, rev. 2, 2021. [4] Z. Zhang et al., “NAC: Automating Access Control via Named Data,” MILCOM, 2018. [12] K. Nichols, “Lessons Learned Building a Secure Network Measurement Framework using Basic NDN,” ACM ICN, 2019. [16] Y. Yu et al., “Schematizing Trust in Named Data Networking,” ACM ICN, 2015. [19] S. Dulal et al., “Enhancing NAC-ABE to Support Access Control for mHealth Applications and Beyond,” arXiv:2311.07299, 2023. [26] NDN Project, “Data Packet,” NDN Packet Format Specification. docs.named-data.net/NDN-packet-spec/current/data.html (accessed Sept. 2026).</a:t>
            </a:r>
            <a:endParaRPr lang="en-US" sz="1200"/>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[6] C. Tschudin and M. Sifalakis, “Named Functions and Cached Computations,” IEEE CCNC, 2014. [7] M. Krol and I. Psaras, “NFaaS: Named Function as a Service,” ACM ICN, 2017. [9] M. Krol et al., “RICE: Remote Method Invocation in ICN,” ACM ICN, 2018. [10] D. Meirovitch and L. Zhang, “NSC---Named Service Calls, or a Remote Procedure Call for NDN,” NDN-0074, rev. 1, 2021. [15] CaSCON, SMARTCOMP 2025. Primary publication record: RIT, “Barrios presents at IEEE SmartComp.” Full feature-level comparison remains a research obligation. [17] gRPC Authors, “Core Concepts, Architecture and Lifecycle,” gRPC documentation. [27] gRPC Authors, “Custom Name Resolution,” grpc.io/docs/guides/custom-name-resolution/ (accessed Sept. 2026).</a:t>
            </a:r>
            <a:endParaRPr lang="en-US" sz="1200"/>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a:xfrm>
            <a:off x="685800" y="914400"/>
            <a:ext cx="7772400" cy="5486400"/>
          </a:xfrm>
          <a:prstGeom prst="rect">
            <a:avLst/>
          </a:prstGeom>
        </p:spPr>
        <p:txBody>
          <a:bodyPr wrap="square"/>
          <a:lstStyle/>
          <a:p>
            <a:r>
              <a:rPr lang="en-US" sz="1200"/>
              <a:t>[22] Mini-NDN, project documentation: minindn.ndn.today. [23] PX4, “Software-in-the-Loop Simulation,” PX4 User Guide. [24] NDN Project, “Repo Protocol Specification,” repo-ng documentation. [25] ONNX, “Open Neural Network Exchange Intermediate Representation Specification.” [28] NDNSF, research-revision-audit.md, companion claim/evidence ledger, September 9, 2026. Contains campaign paths and unresolved acceptance gates. [29] University of Memphis CS, “Information for Computer Science Ph.D. Students,” forms_grad_phd_programinfo.pdf (accessed September 9, 2026). [30] University of Memphis Graduate School, “Graduation Information,” Spring 2027 calendar (accessed September 9, 2026).</a:t>
            </a:r>
            <a:endParaRPr lang="en-US" sz="1200"/>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png" /><Relationship Id="rId3" Type="http://schemas.openxmlformats.org/officeDocument/2006/relationships/notesSlide" Target="../notesSlides/notesSlide2.xml" /></Relationships>
</file>

<file path=ppt/slides/_rels/slide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png" /><Relationship Id="rId3" Type="http://schemas.openxmlformats.org/officeDocument/2006/relationships/notesSlide" Target="../notesSlides/notesSlide3.xml" /></Relationships>
</file>

<file path=ppt/slides/_rels/slide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4.png" /><Relationship Id="rId3" Type="http://schemas.openxmlformats.org/officeDocument/2006/relationships/notesSlide" Target="../notesSlides/notesSlide4.xml" /></Relationships>
</file>

<file path=ppt/slides/_rels/slide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5.xml" /></Relationships>
</file>

<file path=ppt/slides/_rels/slide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6.png" /><Relationship Id="rId3" Type="http://schemas.openxmlformats.org/officeDocument/2006/relationships/notesSlide" Target="../notesSlides/notesSlide6.xml" /></Relationships>
</file>

<file path=ppt/slides/_rels/slide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7.png" /><Relationship Id="rId3" Type="http://schemas.openxmlformats.org/officeDocument/2006/relationships/notesSlide" Target="../notesSlides/notesSlide7.xml" /></Relationships>
</file>

<file path=ppt/slides/_rels/slide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8.png" /><Relationship Id="rId3" Type="http://schemas.openxmlformats.org/officeDocument/2006/relationships/notesSlide" Target="../notesSlides/notesSlide8.xml" /></Relationships>
</file>

<file path=ppt/slides/_rels/slide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9.png" /><Relationship Id="rId3" Type="http://schemas.openxmlformats.org/officeDocument/2006/relationships/notesSlide" Target="../notesSlides/notesSlide9.xml" /></Relationships>
</file>

<file path=ppt/slides/_rels/slide1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0.png" /><Relationship Id="rId3" Type="http://schemas.openxmlformats.org/officeDocument/2006/relationships/notesSlide" Target="../notesSlides/notesSlide10.xml" /></Relationships>
</file>

<file path=ppt/slides/_rels/slide1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1.png" /><Relationship Id="rId3" Type="http://schemas.openxmlformats.org/officeDocument/2006/relationships/notesSlide" Target="../notesSlides/notesSlide11.xml" /></Relationships>
</file>

<file path=ppt/slides/_rels/slide1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5.png" /><Relationship Id="rId3" Type="http://schemas.openxmlformats.org/officeDocument/2006/relationships/notesSlide" Target="../notesSlides/notesSlide12.xml" /></Relationships>
</file>

<file path=ppt/slides/_rels/slide1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2.png" /><Relationship Id="rId3" Type="http://schemas.openxmlformats.org/officeDocument/2006/relationships/notesSlide" Target="../notesSlides/notesSlide13.xml" /></Relationships>
</file>

<file path=ppt/slides/_rels/slide1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3.png" /><Relationship Id="rId3" Type="http://schemas.openxmlformats.org/officeDocument/2006/relationships/notesSlide" Target="../notesSlides/notesSlide14.xml" /></Relationships>
</file>

<file path=ppt/slides/_rels/slide1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4.png" /><Relationship Id="rId3" Type="http://schemas.openxmlformats.org/officeDocument/2006/relationships/notesSlide" Target="../notesSlides/notesSlide15.xml" /></Relationships>
</file>

<file path=ppt/slides/_rels/slide1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5.png" /><Relationship Id="rId3" Type="http://schemas.openxmlformats.org/officeDocument/2006/relationships/notesSlide" Target="../notesSlides/notesSlide16.xml" /></Relationships>
</file>

<file path=ppt/slides/_rels/slide1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6.png" /><Relationship Id="rId3" Type="http://schemas.openxmlformats.org/officeDocument/2006/relationships/notesSlide" Target="../notesSlides/notesSlide17.xml" /></Relationships>
</file>

<file path=ppt/slides/_rels/slide1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7.png" /><Relationship Id="rId3" Type="http://schemas.openxmlformats.org/officeDocument/2006/relationships/notesSlide" Target="../notesSlides/notesSlide18.xml" /></Relationships>
</file>

<file path=ppt/slides/_rels/slide1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8.png" /><Relationship Id="rId3" Type="http://schemas.openxmlformats.org/officeDocument/2006/relationships/notesSlide" Target="../notesSlides/notesSlide19.xml" /></Relationships>
</file>

<file path=ppt/slides/_rels/slide2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9.png" /><Relationship Id="rId3" Type="http://schemas.openxmlformats.org/officeDocument/2006/relationships/notesSlide" Target="../notesSlides/notesSlide20.xml" /></Relationships>
</file>

<file path=ppt/slides/_rels/slide2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0.png" /><Relationship Id="rId3" Type="http://schemas.openxmlformats.org/officeDocument/2006/relationships/notesSlide" Target="../notesSlides/notesSlide21.xml" /></Relationships>
</file>

<file path=ppt/slides/_rels/slide2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1.png" /><Relationship Id="rId3" Type="http://schemas.openxmlformats.org/officeDocument/2006/relationships/notesSlide" Target="../notesSlides/notesSlide22.xml" /></Relationships>
</file>

<file path=ppt/slides/_rels/slide2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2.png" /><Relationship Id="rId3" Type="http://schemas.openxmlformats.org/officeDocument/2006/relationships/notesSlide" Target="../notesSlides/notesSlide23.xml" /></Relationships>
</file>

<file path=ppt/slides/_rels/slide2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3.png" /><Relationship Id="rId3" Type="http://schemas.openxmlformats.org/officeDocument/2006/relationships/notesSlide" Target="../notesSlides/notesSlide24.xml" /></Relationships>
</file>

<file path=ppt/slides/_rels/slide2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4.png" /><Relationship Id="rId3" Type="http://schemas.openxmlformats.org/officeDocument/2006/relationships/notesSlide" Target="../notesSlides/notesSlide25.xml" /></Relationships>
</file>

<file path=ppt/slides/_rels/slide2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5.png" /><Relationship Id="rId3" Type="http://schemas.openxmlformats.org/officeDocument/2006/relationships/notesSlide" Target="../notesSlides/notesSlide26.xml" /></Relationships>
</file>

<file path=ppt/slides/_rels/slide2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6.png" /><Relationship Id="rId3" Type="http://schemas.openxmlformats.org/officeDocument/2006/relationships/notesSlide" Target="../notesSlides/notesSlide27.xml" /></Relationships>
</file>

<file path=ppt/slides/_rels/slide2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7.png" /><Relationship Id="rId3" Type="http://schemas.openxmlformats.org/officeDocument/2006/relationships/notesSlide" Target="../notesSlides/notesSlide28.xml" /></Relationships>
</file>

<file path=ppt/slides/_rels/slide29.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8.png" /><Relationship Id="rId3" Type="http://schemas.openxmlformats.org/officeDocument/2006/relationships/notesSlide" Target="../notesSlides/notesSlide29.xml" /></Relationships>
</file>

<file path=ppt/slides/_rels/slide30.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29.png" /><Relationship Id="rId3" Type="http://schemas.openxmlformats.org/officeDocument/2006/relationships/notesSlide" Target="../notesSlides/notesSlide30.xml" /></Relationships>
</file>

<file path=ppt/slides/_rels/slide31.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0.png" /><Relationship Id="rId3" Type="http://schemas.openxmlformats.org/officeDocument/2006/relationships/notesSlide" Target="../notesSlides/notesSlide31.xml" /></Relationships>
</file>

<file path=ppt/slides/_rels/slide32.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1.png" /><Relationship Id="rId3" Type="http://schemas.openxmlformats.org/officeDocument/2006/relationships/notesSlide" Target="../notesSlides/notesSlide32.xml" /></Relationships>
</file>

<file path=ppt/slides/_rels/slide33.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2.png" /><Relationship Id="rId3" Type="http://schemas.openxmlformats.org/officeDocument/2006/relationships/notesSlide" Target="../notesSlides/notesSlide33.xml" /></Relationships>
</file>

<file path=ppt/slides/_rels/slide34.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3.png" /><Relationship Id="rId3" Type="http://schemas.openxmlformats.org/officeDocument/2006/relationships/notesSlide" Target="../notesSlides/notesSlide34.xml" /></Relationships>
</file>

<file path=ppt/slides/_rels/slide35.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34.png" /><Relationship Id="rId3" Type="http://schemas.openxmlformats.org/officeDocument/2006/relationships/notesSlide" Target="../notesSlides/notesSlide35.xml" /></Relationships>
</file>

<file path=ppt/slides/_rels/slide36.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6.xml" /></Relationships>
</file>

<file path=ppt/slides/_rels/slide37.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7.xml" /></Relationships>
</file>

<file path=ppt/slides/_rels/slide38.xml.rels><?xml version='1.0' encoding='utf-8'?>
<Relationships xmlns="http://schemas.openxmlformats.org/package/2006/relationships"><Relationship Id="rId1" Type="http://schemas.openxmlformats.org/officeDocument/2006/relationships/slideLayout" Target="../slideLayouts/slideLayout7.xml" /><Relationship Id="rId2" Type="http://schemas.openxmlformats.org/officeDocument/2006/relationships/image" Target="../media/image1.png" /><Relationship Id="rId3" Type="http://schemas.openxmlformats.org/officeDocument/2006/relationships/notesSlide" Target="../notesSlides/notesSlide38.xml" /></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1"/>
          <p:cNvSpPr txBox="1"/>
          <p:nvPr/>
        </p:nvSpPr>
        <p:spPr>
          <a:xfrm>
            <a:off x="1182437" y="1001302"/>
            <a:ext cx="12272303" cy="2190278"/>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4235" b="1" i="0">
                <a:solidFill>
                  <a:srgbClr val="1A3E79"/>
                </a:solidFill>
                <a:latin typeface="Latin Modern Sans"/>
              </a:rPr>
              <a:t>NDNSF: A Data-Centric Service Framework for</a:t>
            </a:r>
            <a:br/>
            <a:r>
              <a:rPr sz="4235" b="1" i="0">
                <a:solidFill>
                  <a:srgbClr val="1A3E79"/>
                </a:solidFill>
                <a:latin typeface="Latin Modern Sans"/>
              </a:rPr>
              <a:t>Secure, Collaborative, and Dynamic Networked</a:t>
            </a:r>
            <a:br/>
            <a:r>
              <a:rPr sz="4235" b="1" i="0">
                <a:solidFill>
                  <a:srgbClr val="1A3E79"/>
                </a:solidFill>
                <a:latin typeface="Latin Modern Sans"/>
              </a:rPr>
              <a:t>Applications</a:t>
            </a:r>
          </a:p>
        </p:txBody>
      </p:sp>
      <p:sp>
        <p:nvSpPr>
          <p:cNvPr id="4" name="PDF_TEXT_GROUP_2"/>
          <p:cNvSpPr txBox="1"/>
          <p:nvPr/>
        </p:nvSpPr>
        <p:spPr>
          <a:xfrm>
            <a:off x="6278410" y="3812127"/>
            <a:ext cx="2080186" cy="440633"/>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Tianxing Ma</a:t>
            </a:r>
          </a:p>
        </p:txBody>
      </p:sp>
      <p:sp>
        <p:nvSpPr>
          <p:cNvPr id="5" name="PDF_TEXT_GROUP_3"/>
          <p:cNvSpPr txBox="1"/>
          <p:nvPr/>
        </p:nvSpPr>
        <p:spPr>
          <a:xfrm>
            <a:off x="5346841" y="4672735"/>
            <a:ext cx="3943493" cy="657639"/>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Department of Computer Science</a:t>
            </a:r>
            <a:br/>
            <a:r>
              <a:rPr sz="1863" b="0" i="0">
                <a:solidFill>
                  <a:srgbClr val="000000"/>
                </a:solidFill>
                <a:latin typeface="Latin Modern Sans"/>
              </a:rPr>
              <a:t>University of Memphis</a:t>
            </a:r>
          </a:p>
        </p:txBody>
      </p:sp>
      <p:sp>
        <p:nvSpPr>
          <p:cNvPr id="6" name="PDF_TEXT_GROUP_4"/>
          <p:cNvSpPr txBox="1"/>
          <p:nvPr/>
        </p:nvSpPr>
        <p:spPr>
          <a:xfrm>
            <a:off x="5865295" y="5393880"/>
            <a:ext cx="2906580" cy="302935"/>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1863" b="0" i="0">
                <a:solidFill>
                  <a:srgbClr val="000000"/>
                </a:solidFill>
                <a:latin typeface="Latin Modern Sans"/>
              </a:rPr>
              <a:t>Advisor: Dr. Lan Wang</a:t>
            </a:r>
          </a:p>
        </p:txBody>
      </p:sp>
      <p:sp>
        <p:nvSpPr>
          <p:cNvPr id="7" name="PDF_TEXT_GROUP_5"/>
          <p:cNvSpPr txBox="1"/>
          <p:nvPr/>
        </p:nvSpPr>
        <p:spPr>
          <a:xfrm>
            <a:off x="5593987" y="6170166"/>
            <a:ext cx="3449080" cy="92992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710" b="0" i="0">
                <a:solidFill>
                  <a:srgbClr val="000000"/>
                </a:solidFill>
                <a:latin typeface="Latin Modern Sans"/>
              </a:rPr>
              <a:t>PhD Proposal Defense</a:t>
            </a:r>
            <a:br/>
            <a:r>
              <a:rPr sz="2710" b="0" i="0">
                <a:solidFill>
                  <a:srgbClr val="000000"/>
                </a:solidFill>
                <a:latin typeface="Latin Modern Sans"/>
              </a:rPr>
              <a:t>September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 descr="background-002.png"/>
          <p:cNvPicPr>
            <a:picLocks noChangeAspect="1"/>
          </p:cNvPicPr>
          <p:nvPr/>
        </p:nvPicPr>
        <p:blipFill>
          <a:blip r:embed="rId2"/>
          <a:stretch>
            <a:fillRect/>
          </a:stretch>
        </p:blipFill>
        <p:spPr>
          <a:xfrm>
            <a:off x="0" y="0"/>
            <a:ext cx="14630400" cy="8229600"/>
          </a:xfrm>
          <a:prstGeom prst="rect">
            <a:avLst/>
          </a:prstGeom>
        </p:spPr>
      </p:pic>
      <p:sp>
        <p:nvSpPr>
          <p:cNvPr id="3" name="PDF_TEXT_GROUP_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Start with a Task: Several Views, One Result</a:t>
            </a:r>
          </a:p>
        </p:txBody>
      </p:sp>
      <p:sp>
        <p:nvSpPr>
          <p:cNvPr id="4" name="PDF_TEXT_GROUP_7"/>
          <p:cNvSpPr txBox="1"/>
          <p:nvPr/>
        </p:nvSpPr>
        <p:spPr>
          <a:xfrm>
            <a:off x="1618972" y="1900555"/>
            <a:ext cx="547765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operator selects a ground area.</a:t>
            </a:r>
          </a:p>
        </p:txBody>
      </p:sp>
      <p:sp>
        <p:nvSpPr>
          <p:cNvPr id="5" name="PDF_TEXT_GROUP_8"/>
          <p:cNvSpPr txBox="1"/>
          <p:nvPr/>
        </p:nvSpPr>
        <p:spPr>
          <a:xfrm>
            <a:off x="8035833" y="1963469"/>
            <a:ext cx="106351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A</a:t>
            </a:r>
            <a:r>
              <a:rPr sz="2371" b="0" i="0">
                <a:solidFill>
                  <a:srgbClr val="000000"/>
                </a:solidFill>
                <a:latin typeface="Latin Modern Sans"/>
              </a:rPr>
              <a:t> view 1</a:t>
            </a:r>
          </a:p>
        </p:txBody>
      </p:sp>
      <p:sp>
        <p:nvSpPr>
          <p:cNvPr id="6" name="PDF_TEXT_GROUP_9"/>
          <p:cNvSpPr txBox="1"/>
          <p:nvPr/>
        </p:nvSpPr>
        <p:spPr>
          <a:xfrm>
            <a:off x="1618972" y="2434984"/>
            <a:ext cx="53365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Nearby UAVs offer suitable views.</a:t>
            </a:r>
          </a:p>
        </p:txBody>
      </p:sp>
      <p:sp>
        <p:nvSpPr>
          <p:cNvPr id="7" name="PDF_TEXT_GROUP_10"/>
          <p:cNvSpPr txBox="1"/>
          <p:nvPr/>
        </p:nvSpPr>
        <p:spPr>
          <a:xfrm>
            <a:off x="11346617" y="2787894"/>
            <a:ext cx="134089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Compute</a:t>
            </a:r>
            <a:r>
              <a:rPr sz="2371" b="0" i="0">
                <a:solidFill>
                  <a:srgbClr val="000000"/>
                </a:solidFill>
                <a:latin typeface="Latin Modern Sans"/>
              </a:rPr>
              <a:t> Provider</a:t>
            </a:r>
          </a:p>
        </p:txBody>
      </p:sp>
      <p:sp>
        <p:nvSpPr>
          <p:cNvPr id="8" name="PDF_TEXT_GROUP_11"/>
          <p:cNvSpPr txBox="1"/>
          <p:nvPr/>
        </p:nvSpPr>
        <p:spPr>
          <a:xfrm>
            <a:off x="1618972" y="2969412"/>
            <a:ext cx="499487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compute Provider analyzes the</a:t>
            </a:r>
            <a:r>
              <a:rPr sz="2710" b="0" i="0">
                <a:solidFill>
                  <a:srgbClr val="000000"/>
                </a:solidFill>
                <a:latin typeface="Latin Modern Sans"/>
              </a:rPr>
              <a:t> images.</a:t>
            </a:r>
          </a:p>
        </p:txBody>
      </p:sp>
      <p:sp>
        <p:nvSpPr>
          <p:cNvPr id="9" name="PDF_TEXT_GROUP_12"/>
          <p:cNvSpPr txBox="1"/>
          <p:nvPr/>
        </p:nvSpPr>
        <p:spPr>
          <a:xfrm>
            <a:off x="8035833" y="3625180"/>
            <a:ext cx="11162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UAV B</a:t>
            </a:r>
          </a:p>
        </p:txBody>
      </p:sp>
      <p:sp>
        <p:nvSpPr>
          <p:cNvPr id="10" name="PDF_TEXT_GROUP_13"/>
          <p:cNvSpPr txBox="1"/>
          <p:nvPr/>
        </p:nvSpPr>
        <p:spPr>
          <a:xfrm>
            <a:off x="1618972" y="3941679"/>
            <a:ext cx="447905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operator receives original</a:t>
            </a:r>
            <a:r>
              <a:rPr sz="2710" b="0" i="0">
                <a:solidFill>
                  <a:srgbClr val="000000"/>
                </a:solidFill>
                <a:latin typeface="Latin Modern Sans"/>
              </a:rPr>
              <a:t> images with annotations.</a:t>
            </a:r>
          </a:p>
        </p:txBody>
      </p:sp>
      <p:sp>
        <p:nvSpPr>
          <p:cNvPr id="11" name="PDF_TEXT_GROUP_14"/>
          <p:cNvSpPr txBox="1"/>
          <p:nvPr/>
        </p:nvSpPr>
        <p:spPr>
          <a:xfrm>
            <a:off x="8075819" y="4011508"/>
            <a:ext cx="10362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view 2</a:t>
            </a:r>
          </a:p>
        </p:txBody>
      </p:sp>
      <p:sp>
        <p:nvSpPr>
          <p:cNvPr id="12" name="PDF_TEXT_GROUP_15"/>
          <p:cNvSpPr txBox="1"/>
          <p:nvPr/>
        </p:nvSpPr>
        <p:spPr>
          <a:xfrm>
            <a:off x="11354685" y="4977861"/>
            <a:ext cx="13775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Operator</a:t>
            </a:r>
          </a:p>
        </p:txBody>
      </p:sp>
      <p:sp>
        <p:nvSpPr>
          <p:cNvPr id="13" name="PDF_TEXT_GROUP_16"/>
          <p:cNvSpPr txBox="1"/>
          <p:nvPr/>
        </p:nvSpPr>
        <p:spPr>
          <a:xfrm>
            <a:off x="1143656" y="6331322"/>
            <a:ext cx="11995401"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Who can participate now, and which Data may each selected Provider use?</a:t>
            </a:r>
          </a:p>
        </p:txBody>
      </p:sp>
      <p:sp>
        <p:nvSpPr>
          <p:cNvPr id="14" name="PDF_TEXT_GROUP_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2/38</a:t>
            </a:r>
          </a:p>
        </p:txBody>
      </p:sp>
      <p:sp>
        <p:nvSpPr>
          <p:cNvPr id="19" name="PDF_BULLET_SPAN_11"/>
          <p:cNvSpPr/>
          <p:nvPr/>
        </p:nvSpPr>
        <p:spPr>
          <a:xfrm rot="5400000">
            <a:off x="1207424" y="198634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13"/>
          <p:cNvSpPr/>
          <p:nvPr/>
        </p:nvSpPr>
        <p:spPr>
          <a:xfrm rot="5400000">
            <a:off x="1207424" y="252077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PDF_BULLET_SPAN_15"/>
          <p:cNvSpPr/>
          <p:nvPr/>
        </p:nvSpPr>
        <p:spPr>
          <a:xfrm rot="5400000">
            <a:off x="1207424" y="305520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PDF_BULLET_SPAN_18"/>
          <p:cNvSpPr/>
          <p:nvPr/>
        </p:nvSpPr>
        <p:spPr>
          <a:xfrm rot="5400000">
            <a:off x="1207424" y="40274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 descr="background-003.png"/>
          <p:cNvPicPr>
            <a:picLocks noChangeAspect="1"/>
          </p:cNvPicPr>
          <p:nvPr/>
        </p:nvPicPr>
        <p:blipFill>
          <a:blip r:embed="rId2"/>
          <a:stretch>
            <a:fillRect/>
          </a:stretch>
        </p:blipFill>
        <p:spPr>
          <a:xfrm>
            <a:off x="0" y="0"/>
            <a:ext cx="14630400" cy="8229600"/>
          </a:xfrm>
          <a:prstGeom prst="rect">
            <a:avLst/>
          </a:prstGeom>
        </p:spPr>
      </p:pic>
      <p:sp>
        <p:nvSpPr>
          <p:cNvPr id="3" name="PDF_TEXT_GROUP_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The Task Creates Three Requirements</a:t>
            </a:r>
          </a:p>
        </p:txBody>
      </p:sp>
      <p:sp>
        <p:nvSpPr>
          <p:cNvPr id="4" name="PDF_TEXT_GROUP_23"/>
          <p:cNvSpPr txBox="1"/>
          <p:nvPr/>
        </p:nvSpPr>
        <p:spPr>
          <a:xfrm>
            <a:off x="1169087" y="1992912"/>
            <a:ext cx="1214795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1.</a:t>
            </a:r>
            <a:r>
              <a:rPr sz="2710" b="1" i="0">
                <a:solidFill>
                  <a:srgbClr val="000000"/>
                </a:solidFill>
                <a:latin typeface="Latin Modern Sans"/>
              </a:rPr>
              <a:t> Discover current willingness:</a:t>
            </a:r>
            <a:r>
              <a:rPr sz="2710" b="0" i="0">
                <a:solidFill>
                  <a:srgbClr val="000000"/>
                </a:solidFill>
                <a:latin typeface="Latin Modern Sans"/>
              </a:rPr>
              <a:t> reachability, sensors, load, and deadlines affect</a:t>
            </a:r>
            <a:r>
              <a:rPr sz="2710" b="0" i="0">
                <a:solidFill>
                  <a:srgbClr val="000000"/>
                </a:solidFill>
                <a:latin typeface="Latin Modern Sans"/>
              </a:rPr>
              <a:t> participation.</a:t>
            </a:r>
          </a:p>
        </p:txBody>
      </p:sp>
      <p:sp>
        <p:nvSpPr>
          <p:cNvPr id="5" name="PDF_TEXT_GROUP_24"/>
          <p:cNvSpPr txBox="1"/>
          <p:nvPr/>
        </p:nvSpPr>
        <p:spPr>
          <a:xfrm>
            <a:off x="1169087" y="2965179"/>
            <a:ext cx="11455166" cy="929924"/>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2.</a:t>
            </a:r>
            <a:r>
              <a:rPr sz="2710" b="1" i="0">
                <a:solidFill>
                  <a:srgbClr val="000000"/>
                </a:solidFill>
                <a:latin typeface="Latin Modern Sans"/>
              </a:rPr>
              <a:t> Authorize before execution:</a:t>
            </a:r>
            <a:r>
              <a:rPr sz="2710" b="0" i="0">
                <a:solidFill>
                  <a:srgbClr val="000000"/>
                </a:solidFill>
                <a:latin typeface="Latin Modern Sans"/>
              </a:rPr>
              <a:t> exposing a service does not grant everyone</a:t>
            </a:r>
            <a:r>
              <a:rPr sz="2710" b="0" i="0">
                <a:solidFill>
                  <a:srgbClr val="000000"/>
                </a:solidFill>
                <a:latin typeface="Latin Modern Sans"/>
              </a:rPr>
              <a:t> permission to use it.</a:t>
            </a:r>
          </a:p>
        </p:txBody>
      </p:sp>
      <p:sp>
        <p:nvSpPr>
          <p:cNvPr id="6" name="PDF_TEXT_GROUP_25"/>
          <p:cNvSpPr txBox="1"/>
          <p:nvPr/>
        </p:nvSpPr>
        <p:spPr>
          <a:xfrm>
            <a:off x="1169087" y="3937478"/>
            <a:ext cx="11584615" cy="929891"/>
          </a:xfrm>
          <a:prstGeom prst="rect">
            <a:avLst/>
          </a:prstGeom>
          <a:noFill/>
          <a:ln>
            <a:noFill/>
          </a:ln>
        </p:spPr>
        <p:txBody>
          <a:bodyPr wrap="square" anchor="t" lIns="0" rIns="0" tIns="0" bIns="0">
            <a:noAutofit/>
          </a:bodyPr>
          <a:lstStyle/>
          <a:p>
            <a:pPr algn="l" marL="449884" indent="-449884">
              <a:lnSpc>
                <a:spcPct val="100000"/>
              </a:lnSpc>
              <a:spcBef>
                <a:spcPts val="0"/>
              </a:spcBef>
              <a:spcAft>
                <a:spcPts val="0"/>
              </a:spcAft>
            </a:pPr>
            <a:r>
              <a:rPr sz="2710" b="0" i="0">
                <a:solidFill>
                  <a:srgbClr val="3333B2"/>
                </a:solidFill>
                <a:latin typeface="Latin Modern Sans"/>
              </a:rPr>
              <a:t>3.</a:t>
            </a:r>
            <a:r>
              <a:rPr sz="2710" b="1" i="0">
                <a:solidFill>
                  <a:srgbClr val="000000"/>
                </a:solidFill>
                <a:latin typeface="Latin Modern Sans"/>
              </a:rPr>
              <a:t> Enforce the chosen collaboration:</a:t>
            </a:r>
            <a:r>
              <a:rPr sz="2710" b="0" i="0">
                <a:solidFill>
                  <a:srgbClr val="000000"/>
                </a:solidFill>
                <a:latin typeface="Latin Modern Sans"/>
              </a:rPr>
              <a:t> an authentic image is useful only if it</a:t>
            </a:r>
            <a:r>
              <a:rPr sz="2710" b="0" i="0">
                <a:solidFill>
                  <a:srgbClr val="000000"/>
                </a:solidFill>
                <a:latin typeface="Latin Modern Sans"/>
              </a:rPr>
              <a:t> satisfies an assigned dependency.</a:t>
            </a:r>
          </a:p>
        </p:txBody>
      </p:sp>
      <p:sp>
        <p:nvSpPr>
          <p:cNvPr id="7" name="PDF_TEXT_GROUP_26"/>
          <p:cNvSpPr txBox="1"/>
          <p:nvPr/>
        </p:nvSpPr>
        <p:spPr>
          <a:xfrm>
            <a:off x="1143656" y="5622747"/>
            <a:ext cx="1201515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contribution must explain the mechanism and its cost, not just demonstrate</a:t>
            </a:r>
            <a:r>
              <a:rPr sz="2710" b="0" i="0">
                <a:solidFill>
                  <a:srgbClr val="000000"/>
                </a:solidFill>
                <a:latin typeface="Latin Modern Sans"/>
              </a:rPr>
              <a:t> that two UAVs can exchange images.</a:t>
            </a:r>
          </a:p>
        </p:txBody>
      </p:sp>
      <p:sp>
        <p:nvSpPr>
          <p:cNvPr id="8" name="PDF_TEXT_GROUP_2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2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2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3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3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4" descr="background-004.png"/>
          <p:cNvPicPr>
            <a:picLocks noChangeAspect="1"/>
          </p:cNvPicPr>
          <p:nvPr/>
        </p:nvPicPr>
        <p:blipFill>
          <a:blip r:embed="rId2"/>
          <a:stretch>
            <a:fillRect/>
          </a:stretch>
        </p:blipFill>
        <p:spPr>
          <a:xfrm>
            <a:off x="0" y="0"/>
            <a:ext cx="14630400" cy="8229600"/>
          </a:xfrm>
          <a:prstGeom prst="rect">
            <a:avLst/>
          </a:prstGeom>
        </p:spPr>
      </p:pic>
      <p:sp>
        <p:nvSpPr>
          <p:cNvPr id="3" name="PDF_TEXT_GROUP_3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NDN Provides—and What It Does Not</a:t>
            </a:r>
          </a:p>
        </p:txBody>
      </p:sp>
      <p:sp>
        <p:nvSpPr>
          <p:cNvPr id="4" name="PDF_TEXT_GROUP_33"/>
          <p:cNvSpPr txBox="1"/>
          <p:nvPr/>
        </p:nvSpPr>
        <p:spPr>
          <a:xfrm>
            <a:off x="1107736" y="1358464"/>
            <a:ext cx="28839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 building block</a:t>
            </a:r>
          </a:p>
        </p:txBody>
      </p:sp>
      <p:sp>
        <p:nvSpPr>
          <p:cNvPr id="5" name="PDF_TEXT_GROUP_34"/>
          <p:cNvSpPr txBox="1"/>
          <p:nvPr/>
        </p:nvSpPr>
        <p:spPr>
          <a:xfrm>
            <a:off x="6488510" y="1358464"/>
            <a:ext cx="519355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Remaining application responsibility</a:t>
            </a:r>
          </a:p>
        </p:txBody>
      </p:sp>
      <p:sp>
        <p:nvSpPr>
          <p:cNvPr id="6" name="PDF_TEXT_GROUP_35"/>
          <p:cNvSpPr txBox="1"/>
          <p:nvPr/>
        </p:nvSpPr>
        <p:spPr>
          <a:xfrm>
            <a:off x="1107736" y="1926823"/>
            <a:ext cx="454198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Data and signatures [1]</a:t>
            </a:r>
          </a:p>
        </p:txBody>
      </p:sp>
      <p:sp>
        <p:nvSpPr>
          <p:cNvPr id="7" name="PDF_TEXT_GROUP_36"/>
          <p:cNvSpPr txBox="1"/>
          <p:nvPr/>
        </p:nvSpPr>
        <p:spPr>
          <a:xfrm>
            <a:off x="6488446" y="1926823"/>
            <a:ext cx="6230414"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Decide which signer may perform which task;</a:t>
            </a:r>
            <a:r>
              <a:rPr sz="2371" b="0" i="0">
                <a:solidFill>
                  <a:srgbClr val="000000"/>
                </a:solidFill>
                <a:latin typeface="Latin Modern Sans"/>
              </a:rPr>
              <a:t> validate content under trust rules</a:t>
            </a:r>
          </a:p>
        </p:txBody>
      </p:sp>
      <p:sp>
        <p:nvSpPr>
          <p:cNvPr id="8" name="PDF_TEXT_GROUP_37"/>
          <p:cNvSpPr txBox="1"/>
          <p:nvPr/>
        </p:nvSpPr>
        <p:spPr>
          <a:xfrm>
            <a:off x="1107736" y="2881511"/>
            <a:ext cx="51489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Interest retrieval and caching [1,26]</a:t>
            </a:r>
          </a:p>
        </p:txBody>
      </p:sp>
      <p:sp>
        <p:nvSpPr>
          <p:cNvPr id="9" name="PDF_TEXT_GROUP_38"/>
          <p:cNvSpPr txBox="1"/>
          <p:nvPr/>
        </p:nvSpPr>
        <p:spPr>
          <a:xfrm>
            <a:off x="6488381" y="2881511"/>
            <a:ext cx="69166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Enforce task identity, dependencies, and deadlines;</a:t>
            </a:r>
            <a:r>
              <a:rPr sz="2371" b="0" i="0">
                <a:solidFill>
                  <a:srgbClr val="000000"/>
                </a:solidFill>
                <a:latin typeface="Latin Modern Sans"/>
              </a:rPr>
              <a:t> caching is not persistent storage</a:t>
            </a:r>
          </a:p>
        </p:txBody>
      </p:sp>
      <p:sp>
        <p:nvSpPr>
          <p:cNvPr id="10" name="PDF_TEXT_GROUP_39"/>
          <p:cNvSpPr txBox="1"/>
          <p:nvPr/>
        </p:nvSpPr>
        <p:spPr>
          <a:xfrm>
            <a:off x="1107736" y="3836198"/>
            <a:ext cx="52610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Dataset synchronization / SVS [2,3]</a:t>
            </a:r>
          </a:p>
        </p:txBody>
      </p:sp>
      <p:sp>
        <p:nvSpPr>
          <p:cNvPr id="11" name="PDF_TEXT_GROUP_40"/>
          <p:cNvSpPr txBox="1"/>
          <p:nvPr/>
        </p:nvSpPr>
        <p:spPr>
          <a:xfrm>
            <a:off x="6488413" y="3836198"/>
            <a:ext cx="6485960"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 new names, then retrieve Data; define</a:t>
            </a:r>
            <a:r>
              <a:rPr sz="2371" b="0" i="0">
                <a:solidFill>
                  <a:srgbClr val="000000"/>
                </a:solidFill>
                <a:latin typeface="Latin Modern Sans"/>
              </a:rPr>
              <a:t> service-message state transitions</a:t>
            </a:r>
          </a:p>
        </p:txBody>
      </p:sp>
      <p:sp>
        <p:nvSpPr>
          <p:cNvPr id="12" name="PDF_TEXT_GROUP_41"/>
          <p:cNvSpPr txBox="1"/>
          <p:nvPr/>
        </p:nvSpPr>
        <p:spPr>
          <a:xfrm>
            <a:off x="1107736" y="4790918"/>
            <a:ext cx="51875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NAC [4] / enhanced NAC-ABE [19]</a:t>
            </a:r>
          </a:p>
        </p:txBody>
      </p:sp>
      <p:sp>
        <p:nvSpPr>
          <p:cNvPr id="13" name="PDF_TEXT_GROUP_42"/>
          <p:cNvSpPr txBox="1"/>
          <p:nvPr/>
        </p:nvSpPr>
        <p:spPr>
          <a:xfrm>
            <a:off x="6488446" y="4790918"/>
            <a:ext cx="57433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Relate decryption permission to execution</a:t>
            </a:r>
            <a:r>
              <a:rPr sz="2371" b="0" i="0">
                <a:solidFill>
                  <a:srgbClr val="000000"/>
                </a:solidFill>
                <a:latin typeface="Latin Modern Sans"/>
              </a:rPr>
              <a:t> authorization and key lifecycle</a:t>
            </a:r>
          </a:p>
        </p:txBody>
      </p:sp>
      <p:sp>
        <p:nvSpPr>
          <p:cNvPr id="14" name="PDF_TEXT_GROUP_43"/>
          <p:cNvSpPr txBox="1"/>
          <p:nvPr/>
        </p:nvSpPr>
        <p:spPr>
          <a:xfrm>
            <a:off x="914808" y="5639573"/>
            <a:ext cx="1155456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NAC: Name-based Access Control; ABE: attribute-based encryption; SVS: State Vector Sync.</a:t>
            </a:r>
          </a:p>
        </p:txBody>
      </p:sp>
      <p:sp>
        <p:nvSpPr>
          <p:cNvPr id="15" name="PDF_TEXT_GROUP_44"/>
          <p:cNvSpPr txBox="1"/>
          <p:nvPr/>
        </p:nvSpPr>
        <p:spPr>
          <a:xfrm>
            <a:off x="1092471" y="6471566"/>
            <a:ext cx="89934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builds on these mechanisms; it does not invent them.</a:t>
            </a:r>
          </a:p>
        </p:txBody>
      </p:sp>
      <p:sp>
        <p:nvSpPr>
          <p:cNvPr id="16" name="PDF_TEXT_GROUP_4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4/38</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5"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5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Three Research Questions</a:t>
            </a:r>
          </a:p>
        </p:txBody>
      </p:sp>
      <p:sp>
        <p:nvSpPr>
          <p:cNvPr id="4" name="PDF_TEXT_GROUP_51"/>
          <p:cNvSpPr txBox="1"/>
          <p:nvPr/>
        </p:nvSpPr>
        <p:spPr>
          <a:xfrm>
            <a:off x="1618972" y="2029557"/>
            <a:ext cx="1147110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a:t>
            </a:r>
            <a:r>
              <a:rPr sz="2710" b="0" i="0">
                <a:solidFill>
                  <a:srgbClr val="000000"/>
                </a:solidFill>
                <a:latin typeface="Latin Modern Sans"/>
              </a:rPr>
              <a:t> How can a requester discover and authorize currently willing Providers</a:t>
            </a:r>
            <a:r>
              <a:rPr sz="2710" b="0" i="0">
                <a:solidFill>
                  <a:srgbClr val="000000"/>
                </a:solidFill>
                <a:latin typeface="Latin Modern Sans"/>
              </a:rPr>
              <a:t> without making the discovery descriptor public, and at what cost?</a:t>
            </a:r>
          </a:p>
        </p:txBody>
      </p:sp>
      <p:sp>
        <p:nvSpPr>
          <p:cNvPr id="5" name="PDF_TEXT_GROUP_52"/>
          <p:cNvSpPr txBox="1"/>
          <p:nvPr/>
        </p:nvSpPr>
        <p:spPr>
          <a:xfrm>
            <a:off x="1618972" y="3001824"/>
            <a:ext cx="110292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a:t>
            </a:r>
            <a:r>
              <a:rPr sz="2710" b="0" i="0">
                <a:solidFill>
                  <a:srgbClr val="000000"/>
                </a:solidFill>
                <a:latin typeface="Latin Modern Sans"/>
              </a:rPr>
              <a:t> How can Providers selected at runtime follow task roles and named</a:t>
            </a:r>
            <a:r>
              <a:rPr sz="2710" b="0" i="0">
                <a:solidFill>
                  <a:srgbClr val="000000"/>
                </a:solidFill>
                <a:latin typeface="Latin Modern Sans"/>
              </a:rPr>
              <a:t> dependencies, whether Data comes from producers or caches?</a:t>
            </a:r>
          </a:p>
        </p:txBody>
      </p:sp>
      <p:sp>
        <p:nvSpPr>
          <p:cNvPr id="6" name="PDF_TEXT_GROUP_53"/>
          <p:cNvSpPr txBox="1"/>
          <p:nvPr/>
        </p:nvSpPr>
        <p:spPr>
          <a:xfrm>
            <a:off x="1618972" y="3974091"/>
            <a:ext cx="11406927"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a:t>
            </a:r>
            <a:r>
              <a:rPr sz="2710" b="0" i="0">
                <a:solidFill>
                  <a:srgbClr val="000000"/>
                </a:solidFill>
                <a:latin typeface="Latin Modern Sans"/>
              </a:rPr>
              <a:t> When do these mechanisms improve completion, latency, or execution</a:t>
            </a:r>
            <a:r>
              <a:rPr sz="2710" b="0" i="0">
                <a:solidFill>
                  <a:srgbClr val="000000"/>
                </a:solidFill>
                <a:latin typeface="Latin Modern Sans"/>
              </a:rPr>
              <a:t> efficiency, and when do their costs outweigh the benefits?</a:t>
            </a:r>
          </a:p>
        </p:txBody>
      </p:sp>
      <p:sp>
        <p:nvSpPr>
          <p:cNvPr id="7" name="PDF_TEXT_GROUP_54"/>
          <p:cNvSpPr txBox="1"/>
          <p:nvPr/>
        </p:nvSpPr>
        <p:spPr>
          <a:xfrm>
            <a:off x="1143656" y="5567779"/>
            <a:ext cx="1160288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UAV and distributed inference test the same questions. They are not separate</a:t>
            </a:r>
            <a:r>
              <a:rPr sz="2710" b="0" i="0">
                <a:solidFill>
                  <a:srgbClr val="000000"/>
                </a:solidFill>
                <a:latin typeface="Latin Modern Sans"/>
              </a:rPr>
              <a:t> contributions merely because both are implemented.</a:t>
            </a:r>
          </a:p>
        </p:txBody>
      </p:sp>
      <p:sp>
        <p:nvSpPr>
          <p:cNvPr id="8" name="PDF_TEXT_GROUP_5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5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5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5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59"/>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5/38</a:t>
            </a:r>
          </a:p>
        </p:txBody>
      </p:sp>
      <p:sp>
        <p:nvSpPr>
          <p:cNvPr id="13" name="PDF_BULLET_SPAN_77"/>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81"/>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85"/>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6" descr="background-006.png"/>
          <p:cNvPicPr>
            <a:picLocks noChangeAspect="1"/>
          </p:cNvPicPr>
          <p:nvPr/>
        </p:nvPicPr>
        <p:blipFill>
          <a:blip r:embed="rId2"/>
          <a:stretch>
            <a:fillRect/>
          </a:stretch>
        </p:blipFill>
        <p:spPr>
          <a:xfrm>
            <a:off x="0" y="0"/>
            <a:ext cx="14630400" cy="8229600"/>
          </a:xfrm>
          <a:prstGeom prst="rect">
            <a:avLst/>
          </a:prstGeom>
        </p:spPr>
      </p:pic>
      <p:sp>
        <p:nvSpPr>
          <p:cNvPr id="3" name="PDF_TEXT_GROUP_6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Related Work Already Provides Important Pieces</a:t>
            </a:r>
          </a:p>
        </p:txBody>
      </p:sp>
      <p:sp>
        <p:nvSpPr>
          <p:cNvPr id="4" name="PDF_TEXT_GROUP_61"/>
          <p:cNvSpPr txBox="1"/>
          <p:nvPr/>
        </p:nvSpPr>
        <p:spPr>
          <a:xfrm>
            <a:off x="1107736" y="1280196"/>
            <a:ext cx="15713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Prior work</a:t>
            </a:r>
          </a:p>
        </p:txBody>
      </p:sp>
      <p:sp>
        <p:nvSpPr>
          <p:cNvPr id="5" name="PDF_TEXT_GROUP_62"/>
          <p:cNvSpPr txBox="1"/>
          <p:nvPr/>
        </p:nvSpPr>
        <p:spPr>
          <a:xfrm>
            <a:off x="4951568" y="1280196"/>
            <a:ext cx="58797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What the comparison must acknowledge</a:t>
            </a:r>
          </a:p>
        </p:txBody>
      </p:sp>
      <p:sp>
        <p:nvSpPr>
          <p:cNvPr id="6" name="PDF_TEXT_GROUP_63"/>
          <p:cNvSpPr txBox="1"/>
          <p:nvPr/>
        </p:nvSpPr>
        <p:spPr>
          <a:xfrm>
            <a:off x="1107736" y="1848556"/>
            <a:ext cx="28424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NFN [6], NFaaS [7]</a:t>
            </a:r>
          </a:p>
        </p:txBody>
      </p:sp>
      <p:sp>
        <p:nvSpPr>
          <p:cNvPr id="7" name="PDF_TEXT_GROUP_64"/>
          <p:cNvSpPr txBox="1"/>
          <p:nvPr/>
        </p:nvSpPr>
        <p:spPr>
          <a:xfrm>
            <a:off x="4951408" y="1848556"/>
            <a:ext cx="801814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Named computation and function execution/placement</a:t>
            </a:r>
          </a:p>
        </p:txBody>
      </p:sp>
      <p:sp>
        <p:nvSpPr>
          <p:cNvPr id="8" name="PDF_TEXT_GROUP_65"/>
          <p:cNvSpPr txBox="1"/>
          <p:nvPr/>
        </p:nvSpPr>
        <p:spPr>
          <a:xfrm>
            <a:off x="1107736" y="2416915"/>
            <a:ext cx="2776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RICE [9], NSC [10]</a:t>
            </a:r>
          </a:p>
        </p:txBody>
      </p:sp>
      <p:sp>
        <p:nvSpPr>
          <p:cNvPr id="9" name="PDF_TEXT_GROUP_66"/>
          <p:cNvSpPr txBox="1"/>
          <p:nvPr/>
        </p:nvSpPr>
        <p:spPr>
          <a:xfrm>
            <a:off x="4951472" y="2416915"/>
            <a:ext cx="865009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and security mechanisms; NSC validates signed calls</a:t>
            </a:r>
            <a:r>
              <a:rPr sz="2371" b="0" i="0">
                <a:solidFill>
                  <a:srgbClr val="000000"/>
                </a:solidFill>
                <a:latin typeface="Latin Modern Sans"/>
              </a:rPr>
              <a:t> using application trust rules</a:t>
            </a:r>
          </a:p>
        </p:txBody>
      </p:sp>
      <p:sp>
        <p:nvSpPr>
          <p:cNvPr id="10" name="PDF_TEXT_GROUP_67"/>
          <p:cNvSpPr txBox="1"/>
          <p:nvPr/>
        </p:nvSpPr>
        <p:spPr>
          <a:xfrm>
            <a:off x="1107736" y="3371603"/>
            <a:ext cx="17417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 [12]</a:t>
            </a:r>
          </a:p>
        </p:txBody>
      </p:sp>
      <p:sp>
        <p:nvSpPr>
          <p:cNvPr id="11" name="PDF_TEXT_GROUP_68"/>
          <p:cNvSpPr txBox="1"/>
          <p:nvPr/>
        </p:nvSpPr>
        <p:spPr>
          <a:xfrm>
            <a:off x="4951601" y="3371603"/>
            <a:ext cx="81393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 and command-constrained signing and verification</a:t>
            </a:r>
          </a:p>
        </p:txBody>
      </p:sp>
      <p:sp>
        <p:nvSpPr>
          <p:cNvPr id="12" name="PDF_TEXT_GROUP_69"/>
          <p:cNvSpPr txBox="1"/>
          <p:nvPr/>
        </p:nvSpPr>
        <p:spPr>
          <a:xfrm>
            <a:off x="1107736" y="3939962"/>
            <a:ext cx="2003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CaSCON [15]</a:t>
            </a:r>
          </a:p>
        </p:txBody>
      </p:sp>
      <p:sp>
        <p:nvSpPr>
          <p:cNvPr id="13" name="PDF_TEXT_GROUP_70"/>
          <p:cNvSpPr txBox="1"/>
          <p:nvPr/>
        </p:nvSpPr>
        <p:spPr>
          <a:xfrm>
            <a:off x="4951536" y="3939962"/>
            <a:ext cx="799088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Service-composition research; requires a feature-level</a:t>
            </a:r>
            <a:r>
              <a:rPr sz="2371" b="0" i="0">
                <a:solidFill>
                  <a:srgbClr val="000000"/>
                </a:solidFill>
                <a:latin typeface="Latin Modern Sans"/>
              </a:rPr>
              <a:t> comparison before claiming a new composition mechanism</a:t>
            </a:r>
          </a:p>
        </p:txBody>
      </p:sp>
      <p:sp>
        <p:nvSpPr>
          <p:cNvPr id="14" name="PDF_TEXT_GROUP_71"/>
          <p:cNvSpPr txBox="1"/>
          <p:nvPr/>
        </p:nvSpPr>
        <p:spPr>
          <a:xfrm>
            <a:off x="1107736" y="4894682"/>
            <a:ext cx="198517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 [17,27]</a:t>
            </a:r>
          </a:p>
        </p:txBody>
      </p:sp>
      <p:sp>
        <p:nvSpPr>
          <p:cNvPr id="15" name="PDF_TEXT_GROUP_72"/>
          <p:cNvSpPr txBox="1"/>
          <p:nvPr/>
        </p:nvSpPr>
        <p:spPr>
          <a:xfrm>
            <a:off x="4951601" y="4894682"/>
            <a:ext cx="749547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configurations can include discovery/resolver</a:t>
            </a:r>
            <a:r>
              <a:rPr sz="2371" b="0" i="0">
                <a:solidFill>
                  <a:srgbClr val="000000"/>
                </a:solidFill>
                <a:latin typeface="Latin Modern Sans"/>
              </a:rPr>
              <a:t> integration, not only fixed addresses</a:t>
            </a:r>
          </a:p>
        </p:txBody>
      </p:sp>
      <p:sp>
        <p:nvSpPr>
          <p:cNvPr id="16" name="PDF_TEXT_GROUP_73"/>
          <p:cNvSpPr txBox="1"/>
          <p:nvPr/>
        </p:nvSpPr>
        <p:spPr>
          <a:xfrm>
            <a:off x="1123808" y="6162374"/>
            <a:ext cx="1203919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Candidate increment: connect runtime assignment to enforceable object-admission rules.</a:t>
            </a:r>
            <a:r>
              <a:rPr sz="2371" b="0" i="0">
                <a:solidFill>
                  <a:srgbClr val="000000"/>
                </a:solidFill>
                <a:latin typeface="Latin Modern Sans"/>
              </a:rPr>
              <a:t> This is not a claim to be the first NDN service framework.</a:t>
            </a:r>
          </a:p>
        </p:txBody>
      </p:sp>
      <p:sp>
        <p:nvSpPr>
          <p:cNvPr id="17" name="PDF_TEXT_GROUP_7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7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7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7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78"/>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6/38</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7" descr="background-007.png"/>
          <p:cNvPicPr>
            <a:picLocks noChangeAspect="1"/>
          </p:cNvPicPr>
          <p:nvPr/>
        </p:nvPicPr>
        <p:blipFill>
          <a:blip r:embed="rId2"/>
          <a:stretch>
            <a:fillRect/>
          </a:stretch>
        </p:blipFill>
        <p:spPr>
          <a:xfrm>
            <a:off x="0" y="0"/>
            <a:ext cx="14630400" cy="8229600"/>
          </a:xfrm>
          <a:prstGeom prst="rect">
            <a:avLst/>
          </a:prstGeom>
        </p:spPr>
      </p:pic>
      <p:sp>
        <p:nvSpPr>
          <p:cNvPr id="3" name="PDF_TEXT_GROUP_7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Contributions and Evidence Are Different Things</a:t>
            </a:r>
          </a:p>
        </p:txBody>
      </p:sp>
      <p:sp>
        <p:nvSpPr>
          <p:cNvPr id="4" name="PDF_TEXT_GROUP_80"/>
          <p:cNvSpPr txBox="1"/>
          <p:nvPr/>
        </p:nvSpPr>
        <p:spPr>
          <a:xfrm>
            <a:off x="1107736" y="1202446"/>
            <a:ext cx="31184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Intended contribution</a:t>
            </a:r>
          </a:p>
        </p:txBody>
      </p:sp>
      <p:sp>
        <p:nvSpPr>
          <p:cNvPr id="5" name="PDF_TEXT_GROUP_81"/>
          <p:cNvSpPr txBox="1"/>
          <p:nvPr/>
        </p:nvSpPr>
        <p:spPr>
          <a:xfrm>
            <a:off x="6360351" y="1202446"/>
            <a:ext cx="38852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Current evidence boundary</a:t>
            </a:r>
          </a:p>
        </p:txBody>
      </p:sp>
      <p:sp>
        <p:nvSpPr>
          <p:cNvPr id="6" name="PDF_TEXT_GROUP_82"/>
          <p:cNvSpPr txBox="1"/>
          <p:nvPr/>
        </p:nvSpPr>
        <p:spPr>
          <a:xfrm>
            <a:off x="1107736" y="1770805"/>
            <a:ext cx="499483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 authorization design and</a:t>
            </a:r>
            <a:r>
              <a:rPr sz="2371" b="0" i="0">
                <a:solidFill>
                  <a:srgbClr val="000000"/>
                </a:solidFill>
                <a:latin typeface="Latin Modern Sans"/>
              </a:rPr>
              <a:t> tradeoffs</a:t>
            </a:r>
          </a:p>
        </p:txBody>
      </p:sp>
      <p:sp>
        <p:nvSpPr>
          <p:cNvPr id="7" name="PDF_TEXT_GROUP_83"/>
          <p:cNvSpPr txBox="1"/>
          <p:nvPr/>
        </p:nvSpPr>
        <p:spPr>
          <a:xfrm>
            <a:off x="6360480" y="1770805"/>
            <a:ext cx="7249705"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Invocation implementation and bounded experiments</a:t>
            </a:r>
            <a:r>
              <a:rPr sz="2371" b="0" i="0">
                <a:solidFill>
                  <a:srgbClr val="000000"/>
                </a:solidFill>
                <a:latin typeface="Latin Modern Sans"/>
              </a:rPr>
              <a:t> exist; full alternative lifecycle-cost comparison</a:t>
            </a:r>
            <a:r>
              <a:rPr sz="2371" b="0" i="0">
                <a:solidFill>
                  <a:srgbClr val="000000"/>
                </a:solidFill>
                <a:latin typeface="Latin Modern Sans"/>
              </a:rPr>
              <a:t> remains open</a:t>
            </a:r>
          </a:p>
        </p:txBody>
      </p:sp>
      <p:sp>
        <p:nvSpPr>
          <p:cNvPr id="8" name="PDF_TEXT_GROUP_84"/>
          <p:cNvSpPr txBox="1"/>
          <p:nvPr/>
        </p:nvSpPr>
        <p:spPr>
          <a:xfrm>
            <a:off x="1107736" y="3111853"/>
            <a:ext cx="499467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ACK-derived plan and local depen-</a:t>
            </a:r>
            <a:r>
              <a:rPr sz="2371" b="0" i="0">
                <a:solidFill>
                  <a:srgbClr val="000000"/>
                </a:solidFill>
                <a:latin typeface="Latin Modern Sans"/>
              </a:rPr>
              <a:t>dency admission</a:t>
            </a:r>
          </a:p>
        </p:txBody>
      </p:sp>
      <p:sp>
        <p:nvSpPr>
          <p:cNvPr id="9" name="PDF_TEXT_GROUP_85"/>
          <p:cNvSpPr txBox="1"/>
          <p:nvPr/>
        </p:nvSpPr>
        <p:spPr>
          <a:xfrm>
            <a:off x="6360480" y="3111853"/>
            <a:ext cx="671530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 and implementation work; complete</a:t>
            </a:r>
            <a:r>
              <a:rPr sz="2371" b="0" i="0">
                <a:solidFill>
                  <a:srgbClr val="000000"/>
                </a:solidFill>
                <a:latin typeface="Latin Modern Sans"/>
              </a:rPr>
              <a:t> direct/cache and failure acceptance gates remain</a:t>
            </a:r>
            <a:r>
              <a:rPr sz="2371" b="0" i="0">
                <a:solidFill>
                  <a:srgbClr val="000000"/>
                </a:solidFill>
                <a:latin typeface="Latin Modern Sans"/>
              </a:rPr>
              <a:t> open</a:t>
            </a:r>
          </a:p>
        </p:txBody>
      </p:sp>
      <p:sp>
        <p:nvSpPr>
          <p:cNvPr id="10" name="PDF_TEXT_GROUP_86"/>
          <p:cNvSpPr txBox="1"/>
          <p:nvPr/>
        </p:nvSpPr>
        <p:spPr>
          <a:xfrm>
            <a:off x="1107736" y="4452869"/>
            <a:ext cx="41484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Cross-case empirical findings</a:t>
            </a:r>
          </a:p>
        </p:txBody>
      </p:sp>
      <p:sp>
        <p:nvSpPr>
          <p:cNvPr id="11" name="PDF_TEXT_GROUP_87"/>
          <p:cNvSpPr txBox="1"/>
          <p:nvPr/>
        </p:nvSpPr>
        <p:spPr>
          <a:xfrm>
            <a:off x="6360351" y="4452869"/>
            <a:ext cx="6794172" cy="1215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mobility/work-efficiency and small-model</a:t>
            </a:r>
            <a:r>
              <a:rPr sz="2371" b="0" i="0">
                <a:solidFill>
                  <a:srgbClr val="000000"/>
                </a:solidFill>
                <a:latin typeface="Latin Modern Sans"/>
              </a:rPr>
              <a:t> results support limited configurations, not all new</a:t>
            </a:r>
            <a:r>
              <a:rPr sz="2371" b="0" i="0">
                <a:solidFill>
                  <a:srgbClr val="000000"/>
                </a:solidFill>
                <a:latin typeface="Latin Modern Sans"/>
              </a:rPr>
              <a:t> collaboration claims</a:t>
            </a:r>
          </a:p>
        </p:txBody>
      </p:sp>
      <p:sp>
        <p:nvSpPr>
          <p:cNvPr id="12" name="PDF_TEXT_GROUP_88"/>
          <p:cNvSpPr txBox="1"/>
          <p:nvPr/>
        </p:nvSpPr>
        <p:spPr>
          <a:xfrm>
            <a:off x="1123808" y="6106921"/>
            <a:ext cx="1251698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Proposal status, September 2026: implemented, locally tested, measured, and fully qualified</a:t>
            </a:r>
            <a:r>
              <a:rPr sz="2371" b="0" i="0">
                <a:solidFill>
                  <a:srgbClr val="000000"/>
                </a:solidFill>
                <a:latin typeface="Latin Modern Sans"/>
              </a:rPr>
              <a:t> are not interchangeable. [28]</a:t>
            </a:r>
          </a:p>
        </p:txBody>
      </p:sp>
      <p:sp>
        <p:nvSpPr>
          <p:cNvPr id="13" name="PDF_TEXT_GROUP_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93"/>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7/38</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8" descr="background-008.png"/>
          <p:cNvPicPr>
            <a:picLocks noChangeAspect="1"/>
          </p:cNvPicPr>
          <p:nvPr/>
        </p:nvPicPr>
        <p:blipFill>
          <a:blip r:embed="rId2"/>
          <a:stretch>
            <a:fillRect/>
          </a:stretch>
        </p:blipFill>
        <p:spPr>
          <a:xfrm>
            <a:off x="0" y="0"/>
            <a:ext cx="14630400" cy="8229600"/>
          </a:xfrm>
          <a:prstGeom prst="rect">
            <a:avLst/>
          </a:prstGeom>
        </p:spPr>
      </p:pic>
      <p:sp>
        <p:nvSpPr>
          <p:cNvPr id="3" name="PDF_TEXT_GROUP_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Participants and Trust Bootstrap</a:t>
            </a:r>
          </a:p>
        </p:txBody>
      </p:sp>
      <p:sp>
        <p:nvSpPr>
          <p:cNvPr id="4" name="PDF_TEXT_GROUP_95"/>
          <p:cNvSpPr txBox="1"/>
          <p:nvPr/>
        </p:nvSpPr>
        <p:spPr>
          <a:xfrm>
            <a:off x="1618972" y="2018344"/>
            <a:ext cx="738867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User: requests and coordinates the invocation.</a:t>
            </a:r>
          </a:p>
        </p:txBody>
      </p:sp>
      <p:sp>
        <p:nvSpPr>
          <p:cNvPr id="5" name="PDF_TEXT_GROUP_96"/>
          <p:cNvSpPr txBox="1"/>
          <p:nvPr/>
        </p:nvSpPr>
        <p:spPr>
          <a:xfrm>
            <a:off x="1618972" y="2552772"/>
            <a:ext cx="108714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Provider: offers and executes a service. A node may play both roles.</a:t>
            </a:r>
          </a:p>
        </p:txBody>
      </p:sp>
      <p:sp>
        <p:nvSpPr>
          <p:cNvPr id="6" name="PDF_TEXT_GROUP_97"/>
          <p:cNvSpPr txBox="1"/>
          <p:nvPr/>
        </p:nvSpPr>
        <p:spPr>
          <a:xfrm>
            <a:off x="1618972" y="3087201"/>
            <a:ext cx="109315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Controller: administers identities and service permissions approved by the</a:t>
            </a:r>
            <a:r>
              <a:rPr sz="2710" b="0" i="0">
                <a:solidFill>
                  <a:srgbClr val="000000"/>
                </a:solidFill>
                <a:latin typeface="Latin Modern Sans"/>
              </a:rPr>
              <a:t> organization.</a:t>
            </a:r>
          </a:p>
        </p:txBody>
      </p:sp>
      <p:sp>
        <p:nvSpPr>
          <p:cNvPr id="7" name="PDF_TEXT_GROUP_98"/>
          <p:cNvSpPr txBox="1"/>
          <p:nvPr/>
        </p:nvSpPr>
        <p:spPr>
          <a:xfrm>
            <a:off x="1618972" y="4059468"/>
            <a:ext cx="1208469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Participants use provisioned trust anchors and validation rules for certificates and</a:t>
            </a:r>
            <a:r>
              <a:rPr sz="2710" b="0" i="0">
                <a:solidFill>
                  <a:srgbClr val="000000"/>
                </a:solidFill>
                <a:latin typeface="Latin Modern Sans"/>
              </a:rPr>
              <a:t> Controller material.</a:t>
            </a:r>
          </a:p>
        </p:txBody>
      </p:sp>
      <p:sp>
        <p:nvSpPr>
          <p:cNvPr id="8" name="PDF_TEXT_GROUP_99"/>
          <p:cNvSpPr txBox="1"/>
          <p:nvPr/>
        </p:nvSpPr>
        <p:spPr>
          <a:xfrm>
            <a:off x="1143656" y="5584615"/>
            <a:ext cx="1247774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Unknown runtime candidates are not unregistered authorization identities. The User</a:t>
            </a:r>
            <a:r>
              <a:rPr sz="2710" b="0" i="0">
                <a:solidFill>
                  <a:srgbClr val="000000"/>
                </a:solidFill>
                <a:latin typeface="Latin Modern Sans"/>
              </a:rPr>
              <a:t> discovers current participation; the Controller does not choose this task’s Providers.</a:t>
            </a:r>
          </a:p>
        </p:txBody>
      </p:sp>
      <p:sp>
        <p:nvSpPr>
          <p:cNvPr id="9" name="PDF_TEXT_GROUP_1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04"/>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8/38</a:t>
            </a:r>
          </a:p>
        </p:txBody>
      </p:sp>
      <p:sp>
        <p:nvSpPr>
          <p:cNvPr id="14" name="PDF_BULLET_SPAN_144"/>
          <p:cNvSpPr/>
          <p:nvPr/>
        </p:nvSpPr>
        <p:spPr>
          <a:xfrm rot="5400000">
            <a:off x="1207424" y="21041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146"/>
          <p:cNvSpPr/>
          <p:nvPr/>
        </p:nvSpPr>
        <p:spPr>
          <a:xfrm rot="5400000">
            <a:off x="1207424" y="263856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148"/>
          <p:cNvSpPr/>
          <p:nvPr/>
        </p:nvSpPr>
        <p:spPr>
          <a:xfrm rot="5400000">
            <a:off x="1207424" y="317299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151"/>
          <p:cNvSpPr/>
          <p:nvPr/>
        </p:nvSpPr>
        <p:spPr>
          <a:xfrm rot="5400000">
            <a:off x="1207424" y="414525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9" descr="background-009.png"/>
          <p:cNvPicPr>
            <a:picLocks noChangeAspect="1"/>
          </p:cNvPicPr>
          <p:nvPr/>
        </p:nvPicPr>
        <p:blipFill>
          <a:blip r:embed="rId2"/>
          <a:stretch>
            <a:fillRect/>
          </a:stretch>
        </p:blipFill>
        <p:spPr>
          <a:xfrm>
            <a:off x="0" y="0"/>
            <a:ext cx="14630400" cy="8229600"/>
          </a:xfrm>
          <a:prstGeom prst="rect">
            <a:avLst/>
          </a:prstGeom>
        </p:spPr>
      </p:pic>
      <p:sp>
        <p:nvSpPr>
          <p:cNvPr id="3" name="PDF_TEXT_GROUP_1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One Invocation, Four Named Data Types</a:t>
            </a:r>
          </a:p>
        </p:txBody>
      </p:sp>
      <p:sp>
        <p:nvSpPr>
          <p:cNvPr id="4" name="PDF_TEXT_GROUP_106"/>
          <p:cNvSpPr txBox="1"/>
          <p:nvPr/>
        </p:nvSpPr>
        <p:spPr>
          <a:xfrm>
            <a:off x="1107736" y="1470921"/>
            <a:ext cx="838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Data</a:t>
            </a:r>
          </a:p>
        </p:txBody>
      </p:sp>
      <p:sp>
        <p:nvSpPr>
          <p:cNvPr id="5" name="PDF_TEXT_GROUP_107"/>
          <p:cNvSpPr txBox="1"/>
          <p:nvPr/>
        </p:nvSpPr>
        <p:spPr>
          <a:xfrm>
            <a:off x="3414434" y="1470921"/>
            <a:ext cx="227869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Logical purpose</a:t>
            </a:r>
          </a:p>
        </p:txBody>
      </p:sp>
      <p:sp>
        <p:nvSpPr>
          <p:cNvPr id="6" name="PDF_TEXT_GROUP_108"/>
          <p:cNvSpPr txBox="1"/>
          <p:nvPr/>
        </p:nvSpPr>
        <p:spPr>
          <a:xfrm>
            <a:off x="1107736" y="2039280"/>
            <a:ext cx="124580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Request</a:t>
            </a:r>
          </a:p>
        </p:txBody>
      </p:sp>
      <p:sp>
        <p:nvSpPr>
          <p:cNvPr id="7" name="PDF_TEXT_GROUP_109"/>
          <p:cNvSpPr txBox="1"/>
          <p:nvPr/>
        </p:nvSpPr>
        <p:spPr>
          <a:xfrm>
            <a:off x="3414531" y="2039280"/>
            <a:ext cx="989059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Describe required service and participation constraints; include protected</a:t>
            </a:r>
            <a:r>
              <a:rPr sz="2371" b="0" i="0">
                <a:solidFill>
                  <a:srgbClr val="000000"/>
                </a:solidFill>
                <a:latin typeface="Latin Modern Sans"/>
              </a:rPr>
              <a:t> discovery information and Requester Challenge</a:t>
            </a:r>
          </a:p>
        </p:txBody>
      </p:sp>
      <p:sp>
        <p:nvSpPr>
          <p:cNvPr id="8" name="PDF_TEXT_GROUP_110"/>
          <p:cNvSpPr txBox="1"/>
          <p:nvPr/>
        </p:nvSpPr>
        <p:spPr>
          <a:xfrm>
            <a:off x="1107736" y="2993967"/>
            <a:ext cx="8147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ACK</a:t>
            </a:r>
          </a:p>
        </p:txBody>
      </p:sp>
      <p:sp>
        <p:nvSpPr>
          <p:cNvPr id="9" name="PDF_TEXT_GROUP_111"/>
          <p:cNvSpPr txBox="1"/>
          <p:nvPr/>
        </p:nvSpPr>
        <p:spPr>
          <a:xfrm>
            <a:off x="3414606" y="2993967"/>
            <a:ext cx="988666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Report positive or negative participation; positive ACK supplies selection</a:t>
            </a:r>
            <a:r>
              <a:rPr sz="2371" b="0" i="0">
                <a:solidFill>
                  <a:srgbClr val="000000"/>
                </a:solidFill>
                <a:latin typeface="Latin Modern Sans"/>
              </a:rPr>
              <a:t> information and Provider Challenge</a:t>
            </a:r>
          </a:p>
        </p:txBody>
      </p:sp>
      <p:sp>
        <p:nvSpPr>
          <p:cNvPr id="10" name="PDF_TEXT_GROUP_112"/>
          <p:cNvSpPr txBox="1"/>
          <p:nvPr/>
        </p:nvSpPr>
        <p:spPr>
          <a:xfrm>
            <a:off x="1107736" y="3948655"/>
            <a:ext cx="1384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Selection</a:t>
            </a:r>
          </a:p>
        </p:txBody>
      </p:sp>
      <p:sp>
        <p:nvSpPr>
          <p:cNvPr id="11" name="PDF_TEXT_GROUP_113"/>
          <p:cNvSpPr txBox="1"/>
          <p:nvPr/>
        </p:nvSpPr>
        <p:spPr>
          <a:xfrm>
            <a:off x="3414531" y="3948655"/>
            <a:ext cx="932953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selected execution; provide input/references and protected</a:t>
            </a:r>
            <a:r>
              <a:rPr sz="2371" b="0" i="0">
                <a:solidFill>
                  <a:srgbClr val="000000"/>
                </a:solidFill>
                <a:latin typeface="Latin Modern Sans"/>
              </a:rPr>
              <a:t> request-scoped keys</a:t>
            </a:r>
          </a:p>
        </p:txBody>
      </p:sp>
      <p:sp>
        <p:nvSpPr>
          <p:cNvPr id="12" name="PDF_TEXT_GROUP_114"/>
          <p:cNvSpPr txBox="1"/>
          <p:nvPr/>
        </p:nvSpPr>
        <p:spPr>
          <a:xfrm>
            <a:off x="1107736" y="4903342"/>
            <a:ext cx="14227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Response</a:t>
            </a:r>
          </a:p>
        </p:txBody>
      </p:sp>
      <p:sp>
        <p:nvSpPr>
          <p:cNvPr id="13" name="PDF_TEXT_GROUP_115"/>
          <p:cNvSpPr txBox="1"/>
          <p:nvPr/>
        </p:nvSpPr>
        <p:spPr>
          <a:xfrm>
            <a:off x="3105079" y="4903342"/>
            <a:ext cx="8356917" cy="385554"/>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Return status, result Data, or authorized result references</a:t>
            </a:r>
          </a:p>
        </p:txBody>
      </p:sp>
      <p:sp>
        <p:nvSpPr>
          <p:cNvPr id="14" name="PDF_TEXT_GROUP_116"/>
          <p:cNvSpPr txBox="1"/>
          <p:nvPr/>
        </p:nvSpPr>
        <p:spPr>
          <a:xfrm>
            <a:off x="1123808" y="5784707"/>
            <a:ext cx="12427083"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Sync helps discover names; Interests retrieve the Data. A positive ACK does not itself start</a:t>
            </a:r>
            <a:r>
              <a:rPr sz="2371" b="0" i="0">
                <a:solidFill>
                  <a:srgbClr val="000000"/>
                </a:solidFill>
                <a:latin typeface="Latin Modern Sans"/>
              </a:rPr>
              <a:t> execution.</a:t>
            </a:r>
          </a:p>
        </p:txBody>
      </p:sp>
      <p:sp>
        <p:nvSpPr>
          <p:cNvPr id="15" name="PDF_TEXT_GROUP_11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11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11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12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121"/>
          <p:cNvSpPr txBox="1"/>
          <p:nvPr/>
        </p:nvSpPr>
        <p:spPr>
          <a:xfrm>
            <a:off x="11416980" y="7853512"/>
            <a:ext cx="6886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9/38</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0" descr="background-010.png"/>
          <p:cNvPicPr>
            <a:picLocks noChangeAspect="1"/>
          </p:cNvPicPr>
          <p:nvPr/>
        </p:nvPicPr>
        <p:blipFill>
          <a:blip r:embed="rId2"/>
          <a:stretch>
            <a:fillRect/>
          </a:stretch>
        </p:blipFill>
        <p:spPr>
          <a:xfrm>
            <a:off x="0" y="0"/>
            <a:ext cx="14630400" cy="8229600"/>
          </a:xfrm>
          <a:prstGeom prst="rect">
            <a:avLst/>
          </a:prstGeom>
        </p:spPr>
      </p:pic>
      <p:sp>
        <p:nvSpPr>
          <p:cNvPr id="3" name="PDF_TEXT_GROUP_12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Descriptor Before Selection; Input After Selection</a:t>
            </a:r>
          </a:p>
        </p:txBody>
      </p:sp>
      <p:sp>
        <p:nvSpPr>
          <p:cNvPr id="4" name="PDF_TEXT_GROUP_123"/>
          <p:cNvSpPr txBox="1"/>
          <p:nvPr/>
        </p:nvSpPr>
        <p:spPr>
          <a:xfrm>
            <a:off x="914808" y="2470595"/>
            <a:ext cx="3411280"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Discovery descriptor</a:t>
            </a:r>
          </a:p>
        </p:txBody>
      </p:sp>
      <p:sp>
        <p:nvSpPr>
          <p:cNvPr id="5" name="PDF_TEXT_GROUP_124"/>
          <p:cNvSpPr txBox="1"/>
          <p:nvPr/>
        </p:nvSpPr>
        <p:spPr>
          <a:xfrm>
            <a:off x="7574782" y="2470595"/>
            <a:ext cx="2924004" cy="46817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880" b="0" i="0">
                <a:solidFill>
                  <a:srgbClr val="3333B2"/>
                </a:solidFill>
                <a:latin typeface="Latin Modern Sans"/>
              </a:rPr>
              <a:t>Application input</a:t>
            </a:r>
          </a:p>
        </p:txBody>
      </p:sp>
      <p:sp>
        <p:nvSpPr>
          <p:cNvPr id="6" name="PDF_TEXT_GROUP_125"/>
          <p:cNvSpPr txBox="1"/>
          <p:nvPr/>
        </p:nvSpPr>
        <p:spPr>
          <a:xfrm>
            <a:off x="914808" y="3039213"/>
            <a:ext cx="648398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decide whether to participate:</a:t>
            </a:r>
          </a:p>
        </p:txBody>
      </p:sp>
      <p:sp>
        <p:nvSpPr>
          <p:cNvPr id="7" name="PDF_TEXT_GROUP_126"/>
          <p:cNvSpPr txBox="1"/>
          <p:nvPr/>
        </p:nvSpPr>
        <p:spPr>
          <a:xfrm>
            <a:off x="7574782" y="3039213"/>
            <a:ext cx="5821804"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Needed to execute the selected task:</a:t>
            </a:r>
          </a:p>
        </p:txBody>
      </p:sp>
      <p:sp>
        <p:nvSpPr>
          <p:cNvPr id="8" name="PDF_TEXT_GROUP_127"/>
          <p:cNvSpPr txBox="1"/>
          <p:nvPr/>
        </p:nvSpPr>
        <p:spPr>
          <a:xfrm>
            <a:off x="914808" y="3477084"/>
            <a:ext cx="627548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area, deadline, sensor/model and resource</a:t>
            </a:r>
            <a:r>
              <a:rPr sz="2710" b="0" i="0">
                <a:solidFill>
                  <a:srgbClr val="000000"/>
                </a:solidFill>
                <a:latin typeface="Latin Modern Sans"/>
              </a:rPr>
              <a:t> requirements.</a:t>
            </a:r>
          </a:p>
        </p:txBody>
      </p:sp>
      <p:sp>
        <p:nvSpPr>
          <p:cNvPr id="9" name="PDF_TEXT_GROUP_128"/>
          <p:cNvSpPr txBox="1"/>
          <p:nvPr/>
        </p:nvSpPr>
        <p:spPr>
          <a:xfrm>
            <a:off x="7574782" y="3477084"/>
            <a:ext cx="592641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images, detailed processing parameters,</a:t>
            </a:r>
            <a:r>
              <a:rPr sz="2710" b="0" i="0">
                <a:solidFill>
                  <a:srgbClr val="000000"/>
                </a:solidFill>
                <a:latin typeface="Latin Modern Sans"/>
              </a:rPr>
              <a:t> or protected input references.</a:t>
            </a:r>
          </a:p>
        </p:txBody>
      </p:sp>
      <p:sp>
        <p:nvSpPr>
          <p:cNvPr id="10" name="PDF_TEXT_GROUP_129"/>
          <p:cNvSpPr txBox="1"/>
          <p:nvPr/>
        </p:nvSpPr>
        <p:spPr>
          <a:xfrm>
            <a:off x="1143656" y="5183293"/>
            <a:ext cx="1247802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boundary follows necessity. A location needed to assess coverage belongs in the</a:t>
            </a:r>
            <a:r>
              <a:rPr sz="2710" b="0" i="0">
                <a:solidFill>
                  <a:srgbClr val="000000"/>
                </a:solidFill>
                <a:latin typeface="Latin Modern Sans"/>
              </a:rPr>
              <a:t> protected descriptor; an image needed only for processing can wait.</a:t>
            </a:r>
          </a:p>
        </p:txBody>
      </p:sp>
      <p:sp>
        <p:nvSpPr>
          <p:cNvPr id="11" name="PDF_TEXT_GROUP_13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2" name="PDF_TEXT_GROUP_13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3" name="PDF_TEXT_GROUP_13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4" name="PDF_TEXT_GROUP_13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5" name="PDF_TEXT_GROUP_13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10/38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1" descr="background-011.png"/>
          <p:cNvPicPr>
            <a:picLocks noChangeAspect="1"/>
          </p:cNvPicPr>
          <p:nvPr/>
        </p:nvPicPr>
        <p:blipFill>
          <a:blip r:embed="rId2"/>
          <a:stretch>
            <a:fillRect/>
          </a:stretch>
        </p:blipFill>
        <p:spPr>
          <a:xfrm>
            <a:off x="0" y="0"/>
            <a:ext cx="14630400" cy="8229600"/>
          </a:xfrm>
          <a:prstGeom prst="rect">
            <a:avLst/>
          </a:prstGeom>
        </p:spPr>
      </p:pic>
      <p:sp>
        <p:nvSpPr>
          <p:cNvPr id="3" name="PDF_TEXT_GROUP_13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1: Confidential Discovery Before Selection</a:t>
            </a:r>
          </a:p>
        </p:txBody>
      </p:sp>
      <p:sp>
        <p:nvSpPr>
          <p:cNvPr id="4" name="PDF_TEXT_GROUP_136"/>
          <p:cNvSpPr txBox="1"/>
          <p:nvPr/>
        </p:nvSpPr>
        <p:spPr>
          <a:xfrm>
            <a:off x="1618972" y="2196853"/>
            <a:ext cx="1276149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knows the service, but not yet the currently willing Provider identities.</a:t>
            </a:r>
          </a:p>
        </p:txBody>
      </p:sp>
      <p:sp>
        <p:nvSpPr>
          <p:cNvPr id="5" name="PDF_TEXT_GROUP_137"/>
          <p:cNvSpPr txBox="1"/>
          <p:nvPr/>
        </p:nvSpPr>
        <p:spPr>
          <a:xfrm>
            <a:off x="1618972" y="2731282"/>
            <a:ext cx="117530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observation area and deadline can reveal intended activity even without the</a:t>
            </a:r>
            <a:r>
              <a:rPr sz="2710" b="0" i="0">
                <a:solidFill>
                  <a:srgbClr val="000000"/>
                </a:solidFill>
                <a:latin typeface="Latin Modern Sans"/>
              </a:rPr>
              <a:t> full application input.</a:t>
            </a:r>
          </a:p>
        </p:txBody>
      </p:sp>
      <p:sp>
        <p:nvSpPr>
          <p:cNvPr id="6" name="PDF_TEXT_GROUP_138"/>
          <p:cNvSpPr txBox="1"/>
          <p:nvPr/>
        </p:nvSpPr>
        <p:spPr>
          <a:xfrm>
            <a:off x="1618972" y="3703548"/>
            <a:ext cx="1223147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can protect one descriptor for a service-authorized receiver set without listing</a:t>
            </a:r>
            <a:r>
              <a:rPr sz="2710" b="0" i="0">
                <a:solidFill>
                  <a:srgbClr val="000000"/>
                </a:solidFill>
                <a:latin typeface="Latin Modern Sans"/>
              </a:rPr>
              <a:t> those identities. [19]</a:t>
            </a:r>
          </a:p>
        </p:txBody>
      </p:sp>
      <p:sp>
        <p:nvSpPr>
          <p:cNvPr id="7" name="PDF_TEXT_GROUP_139"/>
          <p:cNvSpPr txBox="1"/>
          <p:nvPr/>
        </p:nvSpPr>
        <p:spPr>
          <a:xfrm>
            <a:off x="1143656" y="5316819"/>
            <a:ext cx="1235715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Confidential from parties lacking the required decryption capability. Authorized but</a:t>
            </a:r>
            <a:r>
              <a:rPr sz="2710" b="0" i="0">
                <a:solidFill>
                  <a:srgbClr val="000000"/>
                </a:solidFill>
                <a:latin typeface="Latin Modern Sans"/>
              </a:rPr>
              <a:t> unselected Providers can read it; names and traffic patterns remain visible.</a:t>
            </a:r>
          </a:p>
        </p:txBody>
      </p:sp>
      <p:sp>
        <p:nvSpPr>
          <p:cNvPr id="8" name="PDF_TEXT_GROUP_1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11/38</a:t>
            </a:r>
          </a:p>
        </p:txBody>
      </p:sp>
      <p:sp>
        <p:nvSpPr>
          <p:cNvPr id="13" name="PDF_BULLET_SPAN_199"/>
          <p:cNvSpPr/>
          <p:nvPr/>
        </p:nvSpPr>
        <p:spPr>
          <a:xfrm rot="5400000">
            <a:off x="1207424" y="228264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01"/>
          <p:cNvSpPr/>
          <p:nvPr/>
        </p:nvSpPr>
        <p:spPr>
          <a:xfrm rot="5400000">
            <a:off x="1207424" y="28170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04"/>
          <p:cNvSpPr/>
          <p:nvPr/>
        </p:nvSpPr>
        <p:spPr>
          <a:xfrm rot="5400000">
            <a:off x="1207424" y="378933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2" descr="background-005.png"/>
          <p:cNvPicPr>
            <a:picLocks noChangeAspect="1"/>
          </p:cNvPicPr>
          <p:nvPr/>
        </p:nvPicPr>
        <p:blipFill>
          <a:blip r:embed="rId2"/>
          <a:stretch>
            <a:fillRect/>
          </a:stretch>
        </p:blipFill>
        <p:spPr>
          <a:xfrm>
            <a:off x="0" y="0"/>
            <a:ext cx="14630400" cy="8229600"/>
          </a:xfrm>
          <a:prstGeom prst="rect">
            <a:avLst/>
          </a:prstGeom>
        </p:spPr>
      </p:pic>
      <p:sp>
        <p:nvSpPr>
          <p:cNvPr id="3" name="PDF_TEXT_GROUP_1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Reason 2: Separate Dissemination from Access</a:t>
            </a:r>
          </a:p>
        </p:txBody>
      </p:sp>
      <p:sp>
        <p:nvSpPr>
          <p:cNvPr id="4" name="PDF_TEXT_GROUP_146"/>
          <p:cNvSpPr txBox="1"/>
          <p:nvPr/>
        </p:nvSpPr>
        <p:spPr>
          <a:xfrm>
            <a:off x="1618972" y="2029557"/>
            <a:ext cx="1199921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Nodes may retrieve the same encrypted Request Data; only matching decryption</a:t>
            </a:r>
            <a:r>
              <a:rPr sz="2710" b="0" i="0">
                <a:solidFill>
                  <a:srgbClr val="000000"/>
                </a:solidFill>
                <a:latin typeface="Latin Modern Sans"/>
              </a:rPr>
              <a:t> capabilities expose its descriptor.</a:t>
            </a:r>
          </a:p>
        </p:txBody>
      </p:sp>
      <p:sp>
        <p:nvSpPr>
          <p:cNvPr id="5" name="PDF_TEXT_GROUP_147"/>
          <p:cNvSpPr txBox="1"/>
          <p:nvPr/>
        </p:nvSpPr>
        <p:spPr>
          <a:xfrm>
            <a:off x="1618972" y="3001824"/>
            <a:ext cx="1181923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User encrypts by service attributes, without listing Provider identities. The</a:t>
            </a:r>
            <a:r>
              <a:rPr sz="2710" b="0" i="0">
                <a:solidFill>
                  <a:srgbClr val="000000"/>
                </a:solidFill>
                <a:latin typeface="Latin Modern Sans"/>
              </a:rPr>
              <a:t> Controller still authorizes entities and issues keys. [19]</a:t>
            </a:r>
          </a:p>
        </p:txBody>
      </p:sp>
      <p:sp>
        <p:nvSpPr>
          <p:cNvPr id="6" name="PDF_TEXT_GROUP_148"/>
          <p:cNvSpPr txBox="1"/>
          <p:nvPr/>
        </p:nvSpPr>
        <p:spPr>
          <a:xfrm>
            <a:off x="1618972" y="3974091"/>
            <a:ext cx="11916509"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Different entities retain overlapping service permissions in individual policy keys,</a:t>
            </a:r>
            <a:r>
              <a:rPr sz="2710" b="0" i="0">
                <a:solidFill>
                  <a:srgbClr val="000000"/>
                </a:solidFill>
                <a:latin typeface="Latin Modern Sans"/>
              </a:rPr>
              <a:t> independently of identity-signing credentials.</a:t>
            </a:r>
          </a:p>
        </p:txBody>
      </p:sp>
      <p:sp>
        <p:nvSpPr>
          <p:cNvPr id="7" name="PDF_TEXT_GROUP_149"/>
          <p:cNvSpPr txBox="1"/>
          <p:nvPr/>
        </p:nvSpPr>
        <p:spPr>
          <a:xfrm>
            <a:off x="1143656" y="5567779"/>
            <a:ext cx="124779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Architectural benefit: shared dissemination with distinct access scopes. Aggregation</a:t>
            </a:r>
            <a:r>
              <a:rPr sz="2710" b="0" i="0">
                <a:solidFill>
                  <a:srgbClr val="000000"/>
                </a:solidFill>
                <a:latin typeface="Latin Modern Sans"/>
              </a:rPr>
              <a:t> preserves distinctions only while objects retain separate encryption scopes.</a:t>
            </a:r>
          </a:p>
        </p:txBody>
      </p:sp>
      <p:sp>
        <p:nvSpPr>
          <p:cNvPr id="8" name="PDF_TEXT_GROUP_15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5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5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5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5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12/38</a:t>
            </a:r>
          </a:p>
        </p:txBody>
      </p:sp>
      <p:sp>
        <p:nvSpPr>
          <p:cNvPr id="13" name="PDF_BULLET_SPAN_215"/>
          <p:cNvSpPr/>
          <p:nvPr/>
        </p:nvSpPr>
        <p:spPr>
          <a:xfrm rot="5400000">
            <a:off x="1207424" y="211534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18"/>
          <p:cNvSpPr/>
          <p:nvPr/>
        </p:nvSpPr>
        <p:spPr>
          <a:xfrm rot="5400000">
            <a:off x="1207424" y="30876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21"/>
          <p:cNvSpPr/>
          <p:nvPr/>
        </p:nvSpPr>
        <p:spPr>
          <a:xfrm rot="5400000">
            <a:off x="1207424" y="40598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3" descr="background-013.png"/>
          <p:cNvPicPr>
            <a:picLocks noChangeAspect="1"/>
          </p:cNvPicPr>
          <p:nvPr/>
        </p:nvPicPr>
        <p:blipFill>
          <a:blip r:embed="rId2"/>
          <a:stretch>
            <a:fillRect/>
          </a:stretch>
        </p:blipFill>
        <p:spPr>
          <a:xfrm>
            <a:off x="0" y="0"/>
            <a:ext cx="14630400" cy="8229600"/>
          </a:xfrm>
          <a:prstGeom prst="rect">
            <a:avLst/>
          </a:prstGeom>
        </p:spPr>
      </p:pic>
      <p:sp>
        <p:nvSpPr>
          <p:cNvPr id="3" name="PDF_TEXT_GROUP_15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Fair Comparison Includes Encryption on Both Sides</a:t>
            </a:r>
          </a:p>
        </p:txBody>
      </p:sp>
      <p:sp>
        <p:nvSpPr>
          <p:cNvPr id="4" name="PDF_TEXT_GROUP_156"/>
          <p:cNvSpPr txBox="1"/>
          <p:nvPr/>
        </p:nvSpPr>
        <p:spPr>
          <a:xfrm>
            <a:off x="1107736" y="1733449"/>
            <a:ext cx="108279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Design</a:t>
            </a:r>
          </a:p>
        </p:txBody>
      </p:sp>
      <p:sp>
        <p:nvSpPr>
          <p:cNvPr id="5" name="PDF_TEXT_GROUP_157"/>
          <p:cNvSpPr txBox="1"/>
          <p:nvPr/>
        </p:nvSpPr>
        <p:spPr>
          <a:xfrm>
            <a:off x="4951729" y="1733449"/>
            <a:ext cx="34284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authorization</a:t>
            </a:r>
          </a:p>
        </p:txBody>
      </p:sp>
      <p:sp>
        <p:nvSpPr>
          <p:cNvPr id="6" name="PDF_TEXT_GROUP_158"/>
          <p:cNvSpPr txBox="1"/>
          <p:nvPr/>
        </p:nvSpPr>
        <p:spPr>
          <a:xfrm>
            <a:off x="9433494" y="1733449"/>
            <a:ext cx="352730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confidentiality</a:t>
            </a:r>
          </a:p>
        </p:txBody>
      </p:sp>
      <p:sp>
        <p:nvSpPr>
          <p:cNvPr id="7" name="PDF_TEXT_GROUP_159"/>
          <p:cNvSpPr txBox="1"/>
          <p:nvPr/>
        </p:nvSpPr>
        <p:spPr>
          <a:xfrm>
            <a:off x="1107736" y="2301809"/>
            <a:ext cx="369061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DNMP-inspired roles [12]</a:t>
            </a:r>
          </a:p>
        </p:txBody>
      </p:sp>
      <p:sp>
        <p:nvSpPr>
          <p:cNvPr id="8" name="PDF_TEXT_GROUP_160"/>
          <p:cNvSpPr txBox="1"/>
          <p:nvPr/>
        </p:nvSpPr>
        <p:spPr>
          <a:xfrm>
            <a:off x="4951633" y="2301809"/>
            <a:ext cx="421547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Role/command signing rules,</a:t>
            </a:r>
          </a:p>
        </p:txBody>
      </p:sp>
      <p:sp>
        <p:nvSpPr>
          <p:cNvPr id="9" name="PDF_TEXT_GROUP_161"/>
          <p:cNvSpPr txBox="1"/>
          <p:nvPr/>
        </p:nvSpPr>
        <p:spPr>
          <a:xfrm>
            <a:off x="9433445" y="2301809"/>
            <a:ext cx="442371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Add encryption and group/key</a:t>
            </a:r>
          </a:p>
        </p:txBody>
      </p:sp>
      <p:sp>
        <p:nvSpPr>
          <p:cNvPr id="10" name="PDF_TEXT_GROUP_162"/>
          <p:cNvSpPr txBox="1"/>
          <p:nvPr/>
        </p:nvSpPr>
        <p:spPr>
          <a:xfrm>
            <a:off x="4951637" y="2688137"/>
            <a:ext cx="385130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credential and request-state</a:t>
            </a:r>
            <a:r>
              <a:rPr sz="2371" b="0" i="0">
                <a:solidFill>
                  <a:srgbClr val="000000"/>
                </a:solidFill>
                <a:latin typeface="Latin Modern Sans"/>
              </a:rPr>
              <a:t> checks</a:t>
            </a:r>
          </a:p>
        </p:txBody>
      </p:sp>
      <p:sp>
        <p:nvSpPr>
          <p:cNvPr id="11" name="PDF_TEXT_GROUP_163"/>
          <p:cNvSpPr txBox="1"/>
          <p:nvPr/>
        </p:nvSpPr>
        <p:spPr>
          <a:xfrm>
            <a:off x="9433445" y="2688137"/>
            <a:ext cx="1701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distribution</a:t>
            </a:r>
          </a:p>
        </p:txBody>
      </p:sp>
      <p:sp>
        <p:nvSpPr>
          <p:cNvPr id="12" name="PDF_TEXT_GROUP_164"/>
          <p:cNvSpPr txBox="1"/>
          <p:nvPr/>
        </p:nvSpPr>
        <p:spPr>
          <a:xfrm>
            <a:off x="1107736" y="3642824"/>
            <a:ext cx="30294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ABE-backed</a:t>
            </a:r>
          </a:p>
        </p:txBody>
      </p:sp>
      <p:sp>
        <p:nvSpPr>
          <p:cNvPr id="13" name="PDF_TEXT_GROUP_165"/>
          <p:cNvSpPr txBox="1"/>
          <p:nvPr/>
        </p:nvSpPr>
        <p:spPr>
          <a:xfrm>
            <a:off x="4951637" y="3642824"/>
            <a:ext cx="3962070" cy="121520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Identity signature, encrypted</a:t>
            </a:r>
            <a:r>
              <a:rPr sz="2371" b="0" i="0">
                <a:solidFill>
                  <a:srgbClr val="000000"/>
                </a:solidFill>
                <a:latin typeface="Latin Modern Sans"/>
              </a:rPr>
              <a:t> challenges, and</a:t>
            </a:r>
            <a:r>
              <a:rPr sz="2371" b="0" i="0">
                <a:solidFill>
                  <a:srgbClr val="000000"/>
                </a:solidFill>
                <a:latin typeface="Latin Modern Sans"/>
              </a:rPr>
              <a:t> authorization/request state</a:t>
            </a:r>
          </a:p>
        </p:txBody>
      </p:sp>
      <p:sp>
        <p:nvSpPr>
          <p:cNvPr id="14" name="PDF_TEXT_GROUP_166"/>
          <p:cNvSpPr txBox="1"/>
          <p:nvPr/>
        </p:nvSpPr>
        <p:spPr>
          <a:xfrm>
            <a:off x="9433445" y="3642824"/>
            <a:ext cx="394953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Service-level ABE protection</a:t>
            </a:r>
            <a:r>
              <a:rPr sz="2371" b="0" i="0">
                <a:solidFill>
                  <a:srgbClr val="000000"/>
                </a:solidFill>
                <a:latin typeface="Latin Modern Sans"/>
              </a:rPr>
              <a:t> of descriptor Content</a:t>
            </a:r>
          </a:p>
        </p:txBody>
      </p:sp>
      <p:sp>
        <p:nvSpPr>
          <p:cNvPr id="15" name="PDF_TEXT_GROUP_167"/>
          <p:cNvSpPr txBox="1"/>
          <p:nvPr/>
        </p:nvSpPr>
        <p:spPr>
          <a:xfrm>
            <a:off x="1123808" y="5310417"/>
            <a:ext cx="1227612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Trust Schema [16] validates signing relationships; it alone does not encrypt Content. NAC</a:t>
            </a:r>
            <a:r>
              <a:rPr sz="2371" b="0" i="0">
                <a:solidFill>
                  <a:srgbClr val="000000"/>
                </a:solidFill>
                <a:latin typeface="Latin Modern Sans"/>
              </a:rPr>
              <a:t> [4] also protects distributed content. ABE contributes attribute-policy-based decryption.</a:t>
            </a:r>
          </a:p>
        </p:txBody>
      </p:sp>
      <p:sp>
        <p:nvSpPr>
          <p:cNvPr id="16" name="PDF_TEXT_GROUP_1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1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1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1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1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13/38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4" descr="background-014.png"/>
          <p:cNvPicPr>
            <a:picLocks noChangeAspect="1"/>
          </p:cNvPicPr>
          <p:nvPr/>
        </p:nvPicPr>
        <p:blipFill>
          <a:blip r:embed="rId2"/>
          <a:stretch>
            <a:fillRect/>
          </a:stretch>
        </p:blipFill>
        <p:spPr>
          <a:xfrm>
            <a:off x="0" y="0"/>
            <a:ext cx="14630400" cy="8229600"/>
          </a:xfrm>
          <a:prstGeom prst="rect">
            <a:avLst/>
          </a:prstGeom>
        </p:spPr>
      </p:pic>
      <p:sp>
        <p:nvSpPr>
          <p:cNvPr id="3" name="PDF_TEXT_GROUP_1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When Another Authorization Design May Be Better</a:t>
            </a:r>
          </a:p>
        </p:txBody>
      </p:sp>
      <p:sp>
        <p:nvSpPr>
          <p:cNvPr id="4" name="PDF_TEXT_GROUP_174"/>
          <p:cNvSpPr txBox="1"/>
          <p:nvPr/>
        </p:nvSpPr>
        <p:spPr>
          <a:xfrm>
            <a:off x="1618972" y="1835375"/>
            <a:ext cx="116142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Known Providers and simple rules: signed invocation plus recipient encryption</a:t>
            </a:r>
            <a:r>
              <a:rPr sz="2710" b="0" i="0">
                <a:solidFill>
                  <a:srgbClr val="000000"/>
                </a:solidFill>
                <a:latin typeface="Latin Modern Sans"/>
              </a:rPr>
              <a:t> may be sufficient.</a:t>
            </a:r>
          </a:p>
        </p:txBody>
      </p:sp>
      <p:sp>
        <p:nvSpPr>
          <p:cNvPr id="5" name="PDF_TEXT_GROUP_175"/>
          <p:cNvSpPr txBox="1"/>
          <p:nvPr/>
        </p:nvSpPr>
        <p:spPr>
          <a:xfrm>
            <a:off x="1618972" y="2807642"/>
            <a:ext cx="1301142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small, stable receiver group: ordinary group-key management may be attractive.</a:t>
            </a:r>
          </a:p>
        </p:txBody>
      </p:sp>
      <p:sp>
        <p:nvSpPr>
          <p:cNvPr id="6" name="PDF_TEXT_GROUP_176"/>
          <p:cNvSpPr txBox="1"/>
          <p:nvPr/>
        </p:nvSpPr>
        <p:spPr>
          <a:xfrm>
            <a:off x="1618972" y="3342071"/>
            <a:ext cx="1189059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Rich command-argument restrictions: DNMP-style rules make those constraints</a:t>
            </a:r>
            <a:r>
              <a:rPr sz="2710" b="0" i="0">
                <a:solidFill>
                  <a:srgbClr val="000000"/>
                </a:solidFill>
                <a:latin typeface="Latin Modern Sans"/>
              </a:rPr>
              <a:t> explicit. [12]</a:t>
            </a:r>
          </a:p>
        </p:txBody>
      </p:sp>
      <p:sp>
        <p:nvSpPr>
          <p:cNvPr id="7" name="PDF_TEXT_GROUP_177"/>
          <p:cNvSpPr txBox="1"/>
          <p:nvPr/>
        </p:nvSpPr>
        <p:spPr>
          <a:xfrm>
            <a:off x="1618972" y="4314338"/>
            <a:ext cx="1007673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Many changing entitlements: measure both policy/key updates and</a:t>
            </a:r>
            <a:r>
              <a:rPr sz="2710" b="0" i="0">
                <a:solidFill>
                  <a:srgbClr val="000000"/>
                </a:solidFill>
                <a:latin typeface="Latin Modern Sans"/>
              </a:rPr>
              <a:t> credential/rule updates before claiming a management advantage.</a:t>
            </a:r>
          </a:p>
        </p:txBody>
      </p:sp>
      <p:sp>
        <p:nvSpPr>
          <p:cNvPr id="8" name="PDF_TEXT_GROUP_178"/>
          <p:cNvSpPr txBox="1"/>
          <p:nvPr/>
        </p:nvSpPr>
        <p:spPr>
          <a:xfrm>
            <a:off x="1143656" y="5927609"/>
            <a:ext cx="1136386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ABE is a justified option for NDNSF’s requirements, not universally superior</a:t>
            </a:r>
            <a:r>
              <a:rPr sz="2710" b="0" i="0">
                <a:solidFill>
                  <a:srgbClr val="000000"/>
                </a:solidFill>
                <a:latin typeface="Latin Modern Sans"/>
              </a:rPr>
              <a:t> authorization.</a:t>
            </a:r>
          </a:p>
        </p:txBody>
      </p:sp>
      <p:sp>
        <p:nvSpPr>
          <p:cNvPr id="9" name="PDF_TEXT_GROUP_1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1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1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1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1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14/38</a:t>
            </a:r>
          </a:p>
        </p:txBody>
      </p:sp>
      <p:sp>
        <p:nvSpPr>
          <p:cNvPr id="14" name="PDF_BULLET_SPAN_255"/>
          <p:cNvSpPr/>
          <p:nvPr/>
        </p:nvSpPr>
        <p:spPr>
          <a:xfrm rot="5400000">
            <a:off x="1207424" y="192116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58"/>
          <p:cNvSpPr/>
          <p:nvPr/>
        </p:nvSpPr>
        <p:spPr>
          <a:xfrm rot="5400000">
            <a:off x="1207424" y="289343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60"/>
          <p:cNvSpPr/>
          <p:nvPr/>
        </p:nvSpPr>
        <p:spPr>
          <a:xfrm rot="5400000">
            <a:off x="1207424" y="342786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263"/>
          <p:cNvSpPr/>
          <p:nvPr/>
        </p:nvSpPr>
        <p:spPr>
          <a:xfrm rot="5400000">
            <a:off x="1207424" y="440012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5" descr="background-015.png"/>
          <p:cNvPicPr>
            <a:picLocks noChangeAspect="1"/>
          </p:cNvPicPr>
          <p:nvPr/>
        </p:nvPicPr>
        <p:blipFill>
          <a:blip r:embed="rId2"/>
          <a:stretch>
            <a:fillRect/>
          </a:stretch>
        </p:blipFill>
        <p:spPr>
          <a:xfrm>
            <a:off x="0" y="0"/>
            <a:ext cx="14630400" cy="8229600"/>
          </a:xfrm>
          <a:prstGeom prst="rect">
            <a:avLst/>
          </a:prstGeom>
        </p:spPr>
      </p:pic>
      <p:sp>
        <p:nvSpPr>
          <p:cNvPr id="3" name="PDF_TEXT_GROUP_1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Authorization Lifecycle and Costs</a:t>
            </a:r>
          </a:p>
        </p:txBody>
      </p:sp>
      <p:sp>
        <p:nvSpPr>
          <p:cNvPr id="4" name="PDF_TEXT_GROUP_185"/>
          <p:cNvSpPr txBox="1"/>
          <p:nvPr/>
        </p:nvSpPr>
        <p:spPr>
          <a:xfrm>
            <a:off x="1618972" y="1832822"/>
            <a:ext cx="1223129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Challenges check decryption capability; signatures, service permissions and request</a:t>
            </a:r>
            <a:r>
              <a:rPr sz="2710" b="0" i="0">
                <a:solidFill>
                  <a:srgbClr val="000000"/>
                </a:solidFill>
                <a:latin typeface="Latin Modern Sans"/>
              </a:rPr>
              <a:t> state still determine invocation acceptance.</a:t>
            </a:r>
          </a:p>
        </p:txBody>
      </p:sp>
      <p:sp>
        <p:nvSpPr>
          <p:cNvPr id="5" name="PDF_TEXT_GROUP_186"/>
          <p:cNvSpPr txBox="1"/>
          <p:nvPr/>
        </p:nvSpPr>
        <p:spPr>
          <a:xfrm>
            <a:off x="1618972" y="2805089"/>
            <a:ext cx="1148170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Request-scoped keys protect input/results. Selection delivers keys to selected</a:t>
            </a:r>
            <a:r>
              <a:rPr sz="2710" b="0" i="0">
                <a:solidFill>
                  <a:srgbClr val="000000"/>
                </a:solidFill>
                <a:latin typeface="Latin Modern Sans"/>
              </a:rPr>
              <a:t> Providers; the requesting User retains access.</a:t>
            </a:r>
          </a:p>
        </p:txBody>
      </p:sp>
      <p:sp>
        <p:nvSpPr>
          <p:cNvPr id="6" name="PDF_TEXT_GROUP_187"/>
          <p:cNvSpPr txBox="1"/>
          <p:nvPr/>
        </p:nvSpPr>
        <p:spPr>
          <a:xfrm>
            <a:off x="1618972" y="3777356"/>
            <a:ext cx="11972030"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Withdrawal requires retrieved, validated Controller status. Current ABE rotation</a:t>
            </a:r>
            <a:r>
              <a:rPr sz="2710" b="0" i="0">
                <a:solidFill>
                  <a:srgbClr val="000000"/>
                </a:solidFill>
                <a:latin typeface="Latin Modern Sans"/>
              </a:rPr>
              <a:t> is Controller-wide. [28]</a:t>
            </a:r>
          </a:p>
        </p:txBody>
      </p:sp>
      <p:sp>
        <p:nvSpPr>
          <p:cNvPr id="7" name="PDF_TEXT_GROUP_188"/>
          <p:cNvSpPr txBox="1"/>
          <p:nvPr/>
        </p:nvSpPr>
        <p:spPr>
          <a:xfrm>
            <a:off x="1143656" y="5405460"/>
            <a:ext cx="12278260" cy="1367730"/>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Lifecycle requirement, not a third advantage: measure policy/key size, challenge</a:t>
            </a:r>
            <a:r>
              <a:rPr sz="2710" b="0" i="0">
                <a:solidFill>
                  <a:srgbClr val="000000"/>
                </a:solidFill>
                <a:latin typeface="Latin Modern Sans"/>
              </a:rPr>
              <a:t> cost, propagation and rekeying. No immediate disconnected revocation or recall of</a:t>
            </a:r>
            <a:r>
              <a:rPr sz="2710" b="0" i="0">
                <a:solidFill>
                  <a:srgbClr val="000000"/>
                </a:solidFill>
                <a:latin typeface="Latin Modern Sans"/>
              </a:rPr>
              <a:t> old plaintext/keys.</a:t>
            </a:r>
          </a:p>
        </p:txBody>
      </p:sp>
      <p:sp>
        <p:nvSpPr>
          <p:cNvPr id="8" name="PDF_TEXT_GROUP_18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9" name="PDF_TEXT_GROUP_19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0" name="PDF_TEXT_GROUP_19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1" name="PDF_TEXT_GROUP_19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2" name="PDF_TEXT_GROUP_19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15/38</a:t>
            </a:r>
          </a:p>
        </p:txBody>
      </p:sp>
      <p:sp>
        <p:nvSpPr>
          <p:cNvPr id="13" name="PDF_BULLET_SPAN_274"/>
          <p:cNvSpPr/>
          <p:nvPr/>
        </p:nvSpPr>
        <p:spPr>
          <a:xfrm rot="5400000">
            <a:off x="1207424" y="1918613"/>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PDF_BULLET_SPAN_277"/>
          <p:cNvSpPr/>
          <p:nvPr/>
        </p:nvSpPr>
        <p:spPr>
          <a:xfrm rot="5400000">
            <a:off x="1207424" y="289088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80"/>
          <p:cNvSpPr/>
          <p:nvPr/>
        </p:nvSpPr>
        <p:spPr>
          <a:xfrm rot="5400000">
            <a:off x="1207424" y="386314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6" descr="background-016.png"/>
          <p:cNvPicPr>
            <a:picLocks noChangeAspect="1"/>
          </p:cNvPicPr>
          <p:nvPr/>
        </p:nvPicPr>
        <p:blipFill>
          <a:blip r:embed="rId2"/>
          <a:stretch>
            <a:fillRect/>
          </a:stretch>
        </p:blipFill>
        <p:spPr>
          <a:xfrm>
            <a:off x="0" y="0"/>
            <a:ext cx="14630400" cy="8229600"/>
          </a:xfrm>
          <a:prstGeom prst="rect">
            <a:avLst/>
          </a:prstGeom>
        </p:spPr>
      </p:pic>
      <p:sp>
        <p:nvSpPr>
          <p:cNvPr id="3" name="PDF_TEXT_GROUP_19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Threat Model: What Is Trusted?</a:t>
            </a:r>
          </a:p>
        </p:txBody>
      </p:sp>
      <p:sp>
        <p:nvSpPr>
          <p:cNvPr id="4" name="PDF_TEXT_GROUP_195"/>
          <p:cNvSpPr txBox="1"/>
          <p:nvPr/>
        </p:nvSpPr>
        <p:spPr>
          <a:xfrm>
            <a:off x="1618972" y="1925696"/>
            <a:ext cx="1061077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Trusted: Controller authorization and the User’s planning decision.</a:t>
            </a:r>
          </a:p>
        </p:txBody>
      </p:sp>
      <p:sp>
        <p:nvSpPr>
          <p:cNvPr id="5" name="PDF_TEXT_GROUP_196"/>
          <p:cNvSpPr txBox="1"/>
          <p:nvPr/>
        </p:nvSpPr>
        <p:spPr>
          <a:xfrm>
            <a:off x="1618972" y="2460125"/>
            <a:ext cx="12118385"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Untrusted delivery: an object may arrive through a producer, forwarder, cache, or</a:t>
            </a:r>
            <a:r>
              <a:rPr sz="2710" b="0" i="0">
                <a:solidFill>
                  <a:srgbClr val="000000"/>
                </a:solidFill>
                <a:latin typeface="Latin Modern Sans"/>
              </a:rPr>
              <a:t> repository and still requires validation.</a:t>
            </a:r>
          </a:p>
        </p:txBody>
      </p:sp>
      <p:sp>
        <p:nvSpPr>
          <p:cNvPr id="6" name="PDF_TEXT_GROUP_197"/>
          <p:cNvSpPr txBox="1"/>
          <p:nvPr/>
        </p:nvSpPr>
        <p:spPr>
          <a:xfrm>
            <a:off x="1618972" y="3432424"/>
            <a:ext cx="12059344"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Adversarial cases to test: wrong identities, permissions, challenges, request state,</a:t>
            </a:r>
            <a:r>
              <a:rPr sz="2710" b="0" i="0">
                <a:solidFill>
                  <a:srgbClr val="000000"/>
                </a:solidFill>
                <a:latin typeface="Latin Modern Sans"/>
              </a:rPr>
              <a:t> roles, dependencies, or execution identities.</a:t>
            </a:r>
          </a:p>
        </p:txBody>
      </p:sp>
      <p:sp>
        <p:nvSpPr>
          <p:cNvPr id="7" name="PDF_TEXT_GROUP_198"/>
          <p:cNvSpPr txBox="1"/>
          <p:nvPr/>
        </p:nvSpPr>
        <p:spPr>
          <a:xfrm>
            <a:off x="1618972" y="4404691"/>
            <a:ext cx="116465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Not established by signatures/ABE: honest resource reports, correct inference,</a:t>
            </a:r>
            <a:r>
              <a:rPr sz="2710" b="0" i="0">
                <a:solidFill>
                  <a:srgbClr val="000000"/>
                </a:solidFill>
                <a:latin typeface="Latin Modern Sans"/>
              </a:rPr>
              <a:t> truthful images, or resistance to authorized key sharing.</a:t>
            </a:r>
          </a:p>
        </p:txBody>
      </p:sp>
      <p:sp>
        <p:nvSpPr>
          <p:cNvPr id="8" name="PDF_TEXT_GROUP_199"/>
          <p:cNvSpPr txBox="1"/>
          <p:nvPr/>
        </p:nvSpPr>
        <p:spPr>
          <a:xfrm>
            <a:off x="1143656" y="5723538"/>
            <a:ext cx="9538426"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Byzantine-coordinator consensus claim; no traffic-analysis or</a:t>
            </a:r>
            <a:r>
              <a:rPr sz="2710" b="0" i="0">
                <a:solidFill>
                  <a:srgbClr val="000000"/>
                </a:solidFill>
                <a:latin typeface="Latin Modern Sans"/>
              </a:rPr>
              <a:t> instantaneous-revocation guarantee.</a:t>
            </a:r>
          </a:p>
        </p:txBody>
      </p:sp>
      <p:sp>
        <p:nvSpPr>
          <p:cNvPr id="9" name="PDF_TEXT_GROUP_20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0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0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0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0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16/38</a:t>
            </a:r>
          </a:p>
        </p:txBody>
      </p:sp>
      <p:sp>
        <p:nvSpPr>
          <p:cNvPr id="14" name="PDF_BULLET_SPAN_292"/>
          <p:cNvSpPr/>
          <p:nvPr/>
        </p:nvSpPr>
        <p:spPr>
          <a:xfrm rot="5400000">
            <a:off x="1207424" y="201148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294"/>
          <p:cNvSpPr/>
          <p:nvPr/>
        </p:nvSpPr>
        <p:spPr>
          <a:xfrm rot="5400000">
            <a:off x="1207424" y="254591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297"/>
          <p:cNvSpPr/>
          <p:nvPr/>
        </p:nvSpPr>
        <p:spPr>
          <a:xfrm rot="5400000">
            <a:off x="1207424" y="351821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300"/>
          <p:cNvSpPr/>
          <p:nvPr/>
        </p:nvSpPr>
        <p:spPr>
          <a:xfrm rot="5400000">
            <a:off x="1207424" y="449048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7" descr="background-017.png"/>
          <p:cNvPicPr>
            <a:picLocks noChangeAspect="1"/>
          </p:cNvPicPr>
          <p:nvPr/>
        </p:nvPicPr>
        <p:blipFill>
          <a:blip r:embed="rId2"/>
          <a:stretch>
            <a:fillRect/>
          </a:stretch>
        </p:blipFill>
        <p:spPr>
          <a:xfrm>
            <a:off x="0" y="0"/>
            <a:ext cx="14630400" cy="8229600"/>
          </a:xfrm>
          <a:prstGeom prst="rect">
            <a:avLst/>
          </a:prstGeom>
        </p:spPr>
      </p:pic>
      <p:sp>
        <p:nvSpPr>
          <p:cNvPr id="3" name="PDF_TEXT_GROUP_20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RQ2: Generate the Plan from Eligible Positive ACKs</a:t>
            </a:r>
          </a:p>
        </p:txBody>
      </p:sp>
      <p:sp>
        <p:nvSpPr>
          <p:cNvPr id="4" name="PDF_TEXT_GROUP_206"/>
          <p:cNvSpPr txBox="1"/>
          <p:nvPr/>
        </p:nvSpPr>
        <p:spPr>
          <a:xfrm>
            <a:off x="1169087" y="1990908"/>
            <a:ext cx="12062407" cy="929924"/>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Application supplies roles, dependency template, constraints and deadline; the</a:t>
            </a:r>
            <a:r>
              <a:rPr sz="2710" b="0" i="0">
                <a:solidFill>
                  <a:srgbClr val="000000"/>
                </a:solidFill>
                <a:latin typeface="Latin Modern Sans"/>
              </a:rPr>
              <a:t> template may be handwritten.</a:t>
            </a:r>
          </a:p>
        </p:txBody>
      </p:sp>
      <p:sp>
        <p:nvSpPr>
          <p:cNvPr id="5" name="PDF_TEXT_GROUP_207"/>
          <p:cNvSpPr txBox="1"/>
          <p:nvPr/>
        </p:nvSpPr>
        <p:spPr>
          <a:xfrm>
            <a:off x="1169087" y="2963208"/>
            <a:ext cx="1149052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Close the ACK collection window and validate eligible positive ACKs.</a:t>
            </a:r>
          </a:p>
        </p:txBody>
      </p:sp>
      <p:sp>
        <p:nvSpPr>
          <p:cNvPr id="6" name="PDF_TEXT_GROUP_208"/>
          <p:cNvSpPr txBox="1"/>
          <p:nvPr/>
        </p:nvSpPr>
        <p:spPr>
          <a:xfrm>
            <a:off x="1169087" y="3497636"/>
            <a:ext cx="12335559"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 replaceable policy assigns Providers to roles and produces a signed plan.</a:t>
            </a:r>
          </a:p>
        </p:txBody>
      </p:sp>
      <p:sp>
        <p:nvSpPr>
          <p:cNvPr id="7" name="PDF_TEXT_GROUP_209"/>
          <p:cNvSpPr txBox="1"/>
          <p:nvPr/>
        </p:nvSpPr>
        <p:spPr>
          <a:xfrm>
            <a:off x="1169087" y="4032065"/>
            <a:ext cx="11676962"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Each Provider derives its permitted input edges and rechecks local resource</a:t>
            </a:r>
            <a:r>
              <a:rPr sz="2710" b="0" i="0">
                <a:solidFill>
                  <a:srgbClr val="000000"/>
                </a:solidFill>
                <a:latin typeface="Latin Modern Sans"/>
              </a:rPr>
              <a:t> admission before starting.</a:t>
            </a:r>
          </a:p>
        </p:txBody>
      </p:sp>
      <p:sp>
        <p:nvSpPr>
          <p:cNvPr id="8" name="PDF_TEXT_GROUP_210"/>
          <p:cNvSpPr txBox="1"/>
          <p:nvPr/>
        </p:nvSpPr>
        <p:spPr>
          <a:xfrm>
            <a:off x="1143656" y="5625720"/>
            <a:ext cx="11995161"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snapshot freezes observed candidates for this decision, not every Provider in</a:t>
            </a:r>
            <a:r>
              <a:rPr sz="2710" b="0" i="0">
                <a:solidFill>
                  <a:srgbClr val="000000"/>
                </a:solidFill>
                <a:latin typeface="Latin Modern Sans"/>
              </a:rPr>
              <a:t> the network or their future availability.</a:t>
            </a:r>
          </a:p>
        </p:txBody>
      </p:sp>
      <p:sp>
        <p:nvSpPr>
          <p:cNvPr id="9" name="PDF_TEXT_GROUP_211"/>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12"/>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13"/>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14"/>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15"/>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17/38</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8" descr="background-018.png"/>
          <p:cNvPicPr>
            <a:picLocks noChangeAspect="1"/>
          </p:cNvPicPr>
          <p:nvPr/>
        </p:nvPicPr>
        <p:blipFill>
          <a:blip r:embed="rId2"/>
          <a:stretch>
            <a:fillRect/>
          </a:stretch>
        </p:blipFill>
        <p:spPr>
          <a:xfrm>
            <a:off x="0" y="0"/>
            <a:ext cx="14630400" cy="8229600"/>
          </a:xfrm>
          <a:prstGeom prst="rect">
            <a:avLst/>
          </a:prstGeom>
        </p:spPr>
      </p:pic>
      <p:sp>
        <p:nvSpPr>
          <p:cNvPr id="3" name="PDF_TEXT_GROUP_216"/>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Plan Is More Than a Request ID</a:t>
            </a:r>
          </a:p>
        </p:txBody>
      </p:sp>
      <p:sp>
        <p:nvSpPr>
          <p:cNvPr id="4" name="PDF_TEXT_GROUP_217"/>
          <p:cNvSpPr txBox="1"/>
          <p:nvPr/>
        </p:nvSpPr>
        <p:spPr>
          <a:xfrm>
            <a:off x="1107736" y="1791099"/>
            <a:ext cx="27684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Existing request ID</a:t>
            </a:r>
          </a:p>
        </p:txBody>
      </p:sp>
      <p:sp>
        <p:nvSpPr>
          <p:cNvPr id="5" name="PDF_TEXT_GROUP_218"/>
          <p:cNvSpPr txBox="1"/>
          <p:nvPr/>
        </p:nvSpPr>
        <p:spPr>
          <a:xfrm>
            <a:off x="5335981" y="1791099"/>
            <a:ext cx="473304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Proposed task-specific plan rules</a:t>
            </a:r>
          </a:p>
        </p:txBody>
      </p:sp>
      <p:sp>
        <p:nvSpPr>
          <p:cNvPr id="6" name="PDF_TEXT_GROUP_219"/>
          <p:cNvSpPr txBox="1"/>
          <p:nvPr/>
        </p:nvSpPr>
        <p:spPr>
          <a:xfrm>
            <a:off x="1107736" y="2359459"/>
            <a:ext cx="410414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Binds messages to a request</a:t>
            </a:r>
          </a:p>
        </p:txBody>
      </p:sp>
      <p:sp>
        <p:nvSpPr>
          <p:cNvPr id="7" name="PDF_TEXT_GROUP_220"/>
          <p:cNvSpPr txBox="1"/>
          <p:nvPr/>
        </p:nvSpPr>
        <p:spPr>
          <a:xfrm>
            <a:off x="5335820" y="2359459"/>
            <a:ext cx="831465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Assigns exact Providers to collection and processing roles</a:t>
            </a:r>
          </a:p>
        </p:txBody>
      </p:sp>
      <p:sp>
        <p:nvSpPr>
          <p:cNvPr id="8" name="PDF_TEXT_GROUP_221"/>
          <p:cNvSpPr txBox="1"/>
          <p:nvPr/>
        </p:nvSpPr>
        <p:spPr>
          <a:xfrm>
            <a:off x="1107736" y="2927818"/>
            <a:ext cx="39702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specify pre-</a:t>
            </a:r>
            <a:r>
              <a:rPr sz="2371" b="0" i="0">
                <a:solidFill>
                  <a:srgbClr val="000000"/>
                </a:solidFill>
                <a:latin typeface="Latin Modern Sans"/>
              </a:rPr>
              <a:t>decessors</a:t>
            </a:r>
          </a:p>
        </p:txBody>
      </p:sp>
      <p:sp>
        <p:nvSpPr>
          <p:cNvPr id="9" name="PDF_TEXT_GROUP_222"/>
          <p:cNvSpPr txBox="1"/>
          <p:nvPr/>
        </p:nvSpPr>
        <p:spPr>
          <a:xfrm>
            <a:off x="5335879" y="2927818"/>
            <a:ext cx="73086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Declares which producer role may supply each named</a:t>
            </a:r>
            <a:r>
              <a:rPr sz="2371" b="0" i="0">
                <a:solidFill>
                  <a:srgbClr val="000000"/>
                </a:solidFill>
                <a:latin typeface="Latin Modern Sans"/>
              </a:rPr>
              <a:t> dependency</a:t>
            </a:r>
          </a:p>
        </p:txBody>
      </p:sp>
      <p:sp>
        <p:nvSpPr>
          <p:cNvPr id="10" name="PDF_TEXT_GROUP_223"/>
          <p:cNvSpPr txBox="1"/>
          <p:nvPr/>
        </p:nvSpPr>
        <p:spPr>
          <a:xfrm>
            <a:off x="1107736" y="3882506"/>
            <a:ext cx="397043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Does not alone describe key</a:t>
            </a:r>
            <a:r>
              <a:rPr sz="2371" b="0" i="0">
                <a:solidFill>
                  <a:srgbClr val="000000"/>
                </a:solidFill>
                <a:latin typeface="Latin Modern Sans"/>
              </a:rPr>
              <a:t> scope</a:t>
            </a:r>
          </a:p>
        </p:txBody>
      </p:sp>
      <p:sp>
        <p:nvSpPr>
          <p:cNvPr id="11" name="PDF_TEXT_GROUP_224"/>
          <p:cNvSpPr txBox="1"/>
          <p:nvPr/>
        </p:nvSpPr>
        <p:spPr>
          <a:xfrm>
            <a:off x="5335879" y="3882506"/>
            <a:ext cx="719154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Associates permitted objects, execution identity, and</a:t>
            </a:r>
            <a:r>
              <a:rPr sz="2371" b="0" i="0">
                <a:solidFill>
                  <a:srgbClr val="000000"/>
                </a:solidFill>
                <a:latin typeface="Latin Modern Sans"/>
              </a:rPr>
              <a:t> authorization/key scope</a:t>
            </a:r>
          </a:p>
        </p:txBody>
      </p:sp>
      <p:sp>
        <p:nvSpPr>
          <p:cNvPr id="12" name="PDF_TEXT_GROUP_225"/>
          <p:cNvSpPr txBox="1"/>
          <p:nvPr/>
        </p:nvSpPr>
        <p:spPr>
          <a:xfrm>
            <a:off x="1123808" y="5150230"/>
            <a:ext cx="1251714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Example: within the same request, a service-authorized UAV that was not assigned “view 1”</a:t>
            </a:r>
            <a:r>
              <a:rPr sz="2371" b="0" i="0">
                <a:solidFill>
                  <a:srgbClr val="000000"/>
                </a:solidFill>
                <a:latin typeface="Latin Modern Sans"/>
              </a:rPr>
              <a:t> must not satisfy the view-1 dependency.</a:t>
            </a:r>
          </a:p>
        </p:txBody>
      </p:sp>
      <p:sp>
        <p:nvSpPr>
          <p:cNvPr id="13" name="PDF_TEXT_GROUP_2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3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18/38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19" descr="background-019.png"/>
          <p:cNvPicPr>
            <a:picLocks noChangeAspect="1"/>
          </p:cNvPicPr>
          <p:nvPr/>
        </p:nvPicPr>
        <p:blipFill>
          <a:blip r:embed="rId2"/>
          <a:stretch>
            <a:fillRect/>
          </a:stretch>
        </p:blipFill>
        <p:spPr>
          <a:xfrm>
            <a:off x="0" y="0"/>
            <a:ext cx="14630400" cy="8229600"/>
          </a:xfrm>
          <a:prstGeom prst="rect">
            <a:avLst/>
          </a:prstGeom>
        </p:spPr>
      </p:pic>
      <p:sp>
        <p:nvSpPr>
          <p:cNvPr id="3" name="PDF_TEXT_GROUP_2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Plan-to-Data Enforcement: Check Before Advancing</a:t>
            </a:r>
          </a:p>
        </p:txBody>
      </p:sp>
      <p:sp>
        <p:nvSpPr>
          <p:cNvPr id="4" name="PDF_TEXT_GROUP_232"/>
          <p:cNvSpPr txBox="1"/>
          <p:nvPr/>
        </p:nvSpPr>
        <p:spPr>
          <a:xfrm>
            <a:off x="1169087" y="2127440"/>
            <a:ext cx="10198756"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Validate the Data signature using the appropriate trust rules.</a:t>
            </a:r>
          </a:p>
        </p:txBody>
      </p:sp>
      <p:sp>
        <p:nvSpPr>
          <p:cNvPr id="5" name="PDF_TEXT_GROUP_233"/>
          <p:cNvSpPr txBox="1"/>
          <p:nvPr/>
        </p:nvSpPr>
        <p:spPr>
          <a:xfrm>
            <a:off x="1169087" y="2661869"/>
            <a:ext cx="926387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Match the current request, plan and execution identity.</a:t>
            </a:r>
          </a:p>
        </p:txBody>
      </p:sp>
      <p:sp>
        <p:nvSpPr>
          <p:cNvPr id="6" name="PDF_TEXT_GROUP_234"/>
          <p:cNvSpPr txBox="1"/>
          <p:nvPr/>
        </p:nvSpPr>
        <p:spPr>
          <a:xfrm>
            <a:off x="1169087" y="3196297"/>
            <a:ext cx="977852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Verify that the signer is the assigned predecessor Provider.</a:t>
            </a:r>
          </a:p>
        </p:txBody>
      </p:sp>
      <p:sp>
        <p:nvSpPr>
          <p:cNvPr id="7" name="PDF_TEXT_GROUP_235"/>
          <p:cNvSpPr txBox="1"/>
          <p:nvPr/>
        </p:nvSpPr>
        <p:spPr>
          <a:xfrm>
            <a:off x="1169087" y="3730726"/>
            <a:ext cx="12143084"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Match the declared dependency edge, name, data schema and key scope.</a:t>
            </a:r>
          </a:p>
        </p:txBody>
      </p:sp>
      <p:sp>
        <p:nvSpPr>
          <p:cNvPr id="8" name="PDF_TEXT_GROUP_236"/>
          <p:cNvSpPr txBox="1"/>
          <p:nvPr/>
        </p:nvSpPr>
        <p:spPr>
          <a:xfrm>
            <a:off x="1169087" y="4265154"/>
            <a:ext cx="12433241"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5.</a:t>
            </a:r>
            <a:r>
              <a:rPr sz="2710" b="0" i="0">
                <a:solidFill>
                  <a:srgbClr val="000000"/>
                </a:solidFill>
                <a:latin typeface="Latin Modern Sans"/>
              </a:rPr>
              <a:t> Require complete validated input before the dependent computation starts.</a:t>
            </a:r>
          </a:p>
        </p:txBody>
      </p:sp>
      <p:sp>
        <p:nvSpPr>
          <p:cNvPr id="9" name="PDF_TEXT_GROUP_237"/>
          <p:cNvSpPr txBox="1"/>
          <p:nvPr/>
        </p:nvSpPr>
        <p:spPr>
          <a:xfrm>
            <a:off x="1143656" y="5420971"/>
            <a:ext cx="115381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Apply the same rules to direct, cached and repository-fetched Data. This is a</a:t>
            </a:r>
            <a:r>
              <a:rPr sz="2710" b="0" i="0">
                <a:solidFill>
                  <a:srgbClr val="000000"/>
                </a:solidFill>
                <a:latin typeface="Latin Modern Sans"/>
              </a:rPr>
              <a:t> proposed acceptance contract; full end-to-end qualification remains required.</a:t>
            </a:r>
          </a:p>
        </p:txBody>
      </p:sp>
      <p:sp>
        <p:nvSpPr>
          <p:cNvPr id="10" name="PDF_TEXT_GROUP_2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1" name="PDF_TEXT_GROUP_2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2" name="PDF_TEXT_GROUP_2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3" name="PDF_TEXT_GROUP_2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4" name="PDF_TEXT_GROUP_2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19/38</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0" descr="background-020.png"/>
          <p:cNvPicPr>
            <a:picLocks noChangeAspect="1"/>
          </p:cNvPicPr>
          <p:nvPr/>
        </p:nvPicPr>
        <p:blipFill>
          <a:blip r:embed="rId2"/>
          <a:stretch>
            <a:fillRect/>
          </a:stretch>
        </p:blipFill>
        <p:spPr>
          <a:xfrm>
            <a:off x="0" y="0"/>
            <a:ext cx="14630400" cy="8229600"/>
          </a:xfrm>
          <a:prstGeom prst="rect">
            <a:avLst/>
          </a:prstGeom>
        </p:spPr>
      </p:pic>
      <p:sp>
        <p:nvSpPr>
          <p:cNvPr id="3" name="PDF_TEXT_GROUP_2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Failure Handling Needs Explicit State</a:t>
            </a:r>
          </a:p>
        </p:txBody>
      </p:sp>
      <p:sp>
        <p:nvSpPr>
          <p:cNvPr id="4" name="PDF_TEXT_GROUP_244"/>
          <p:cNvSpPr txBox="1"/>
          <p:nvPr/>
        </p:nvSpPr>
        <p:spPr>
          <a:xfrm>
            <a:off x="1107736" y="1218507"/>
            <a:ext cx="9461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Event</a:t>
            </a:r>
          </a:p>
        </p:txBody>
      </p:sp>
      <p:sp>
        <p:nvSpPr>
          <p:cNvPr id="5" name="PDF_TEXT_GROUP_245"/>
          <p:cNvSpPr txBox="1"/>
          <p:nvPr/>
        </p:nvSpPr>
        <p:spPr>
          <a:xfrm>
            <a:off x="5335948" y="1218507"/>
            <a:ext cx="260384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behavior</a:t>
            </a:r>
          </a:p>
        </p:txBody>
      </p:sp>
      <p:sp>
        <p:nvSpPr>
          <p:cNvPr id="6" name="PDF_TEXT_GROUP_246"/>
          <p:cNvSpPr txBox="1"/>
          <p:nvPr/>
        </p:nvSpPr>
        <p:spPr>
          <a:xfrm>
            <a:off x="1107736" y="1786866"/>
            <a:ext cx="15095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Late ACK</a:t>
            </a:r>
          </a:p>
        </p:txBody>
      </p:sp>
      <p:sp>
        <p:nvSpPr>
          <p:cNvPr id="7" name="PDF_TEXT_GROUP_247"/>
          <p:cNvSpPr txBox="1"/>
          <p:nvPr/>
        </p:nvSpPr>
        <p:spPr>
          <a:xfrm>
            <a:off x="5335691" y="1786866"/>
            <a:ext cx="62215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silently change the committed plan</a:t>
            </a:r>
          </a:p>
        </p:txBody>
      </p:sp>
      <p:sp>
        <p:nvSpPr>
          <p:cNvPr id="8" name="PDF_TEXT_GROUP_248"/>
          <p:cNvSpPr txBox="1"/>
          <p:nvPr/>
        </p:nvSpPr>
        <p:spPr>
          <a:xfrm>
            <a:off x="1107736" y="2355226"/>
            <a:ext cx="279239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Duplicate Selection</a:t>
            </a:r>
          </a:p>
        </p:txBody>
      </p:sp>
      <p:sp>
        <p:nvSpPr>
          <p:cNvPr id="9" name="PDF_TEXT_GROUP_249"/>
          <p:cNvSpPr txBox="1"/>
          <p:nvPr/>
        </p:nvSpPr>
        <p:spPr>
          <a:xfrm>
            <a:off x="5335879" y="2355226"/>
            <a:ext cx="7866744"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Follow recorded one-time state; do not implicitly repeat a</a:t>
            </a:r>
            <a:r>
              <a:rPr sz="2371" b="0" i="0">
                <a:solidFill>
                  <a:srgbClr val="000000"/>
                </a:solidFill>
                <a:latin typeface="Latin Modern Sans"/>
              </a:rPr>
              <a:t> side effect</a:t>
            </a:r>
          </a:p>
        </p:txBody>
      </p:sp>
      <p:sp>
        <p:nvSpPr>
          <p:cNvPr id="10" name="PDF_TEXT_GROUP_250"/>
          <p:cNvSpPr txBox="1"/>
          <p:nvPr/>
        </p:nvSpPr>
        <p:spPr>
          <a:xfrm>
            <a:off x="1107736" y="3309945"/>
            <a:ext cx="33761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Incomplete dependency</a:t>
            </a:r>
          </a:p>
        </p:txBody>
      </p:sp>
      <p:sp>
        <p:nvSpPr>
          <p:cNvPr id="11" name="PDF_TEXT_GROUP_251"/>
          <p:cNvSpPr txBox="1"/>
          <p:nvPr/>
        </p:nvSpPr>
        <p:spPr>
          <a:xfrm>
            <a:off x="5335879" y="3309945"/>
            <a:ext cx="81479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Wait within policy/deadline, recover, or fail; do not execute</a:t>
            </a:r>
            <a:r>
              <a:rPr sz="2371" b="0" i="0">
                <a:solidFill>
                  <a:srgbClr val="000000"/>
                </a:solidFill>
                <a:latin typeface="Latin Modern Sans"/>
              </a:rPr>
              <a:t> on partial data</a:t>
            </a:r>
          </a:p>
        </p:txBody>
      </p:sp>
      <p:sp>
        <p:nvSpPr>
          <p:cNvPr id="12" name="PDF_TEXT_GROUP_252"/>
          <p:cNvSpPr txBox="1"/>
          <p:nvPr/>
        </p:nvSpPr>
        <p:spPr>
          <a:xfrm>
            <a:off x="1107736" y="4264633"/>
            <a:ext cx="30712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 replacement</a:t>
            </a:r>
          </a:p>
        </p:txBody>
      </p:sp>
      <p:sp>
        <p:nvSpPr>
          <p:cNvPr id="13" name="PDF_TEXT_GROUP_253"/>
          <p:cNvSpPr txBox="1"/>
          <p:nvPr/>
        </p:nvSpPr>
        <p:spPr>
          <a:xfrm>
            <a:off x="5335879" y="4264633"/>
            <a:ext cx="770534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Authorize a new assignment; define fencing and whether</a:t>
            </a:r>
            <a:r>
              <a:rPr sz="2371" b="0" i="0">
                <a:solidFill>
                  <a:srgbClr val="000000"/>
                </a:solidFill>
                <a:latin typeface="Latin Modern Sans"/>
              </a:rPr>
              <a:t> existing results may be reused</a:t>
            </a:r>
          </a:p>
        </p:txBody>
      </p:sp>
      <p:sp>
        <p:nvSpPr>
          <p:cNvPr id="14" name="PDF_TEXT_GROUP_254"/>
          <p:cNvSpPr txBox="1"/>
          <p:nvPr/>
        </p:nvSpPr>
        <p:spPr>
          <a:xfrm>
            <a:off x="1107736" y="5219320"/>
            <a:ext cx="182052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Cancellation</a:t>
            </a:r>
          </a:p>
        </p:txBody>
      </p:sp>
      <p:sp>
        <p:nvSpPr>
          <p:cNvPr id="15" name="PDF_TEXT_GROUP_255"/>
          <p:cNvSpPr txBox="1"/>
          <p:nvPr/>
        </p:nvSpPr>
        <p:spPr>
          <a:xfrm>
            <a:off x="5335788" y="5219320"/>
            <a:ext cx="82021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Prevent late messages from reauthorizing cancelled work</a:t>
            </a:r>
          </a:p>
        </p:txBody>
      </p:sp>
      <p:sp>
        <p:nvSpPr>
          <p:cNvPr id="16" name="PDF_TEXT_GROUP_256"/>
          <p:cNvSpPr txBox="1"/>
          <p:nvPr/>
        </p:nvSpPr>
        <p:spPr>
          <a:xfrm>
            <a:off x="1123808" y="6100685"/>
            <a:ext cx="12423450"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Network re-retrieval is not task re-execution. Compensation is not an atomic transaction or</a:t>
            </a:r>
            <a:r>
              <a:rPr sz="2371" b="0" i="0">
                <a:solidFill>
                  <a:srgbClr val="000000"/>
                </a:solidFill>
                <a:latin typeface="Latin Modern Sans"/>
              </a:rPr>
              <a:t> exactly-once physical action.</a:t>
            </a:r>
          </a:p>
        </p:txBody>
      </p:sp>
      <p:sp>
        <p:nvSpPr>
          <p:cNvPr id="17" name="PDF_TEXT_GROUP_2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2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2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26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26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20/38</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1" descr="background-021.png"/>
          <p:cNvPicPr>
            <a:picLocks noChangeAspect="1"/>
          </p:cNvPicPr>
          <p:nvPr/>
        </p:nvPicPr>
        <p:blipFill>
          <a:blip r:embed="rId2"/>
          <a:stretch>
            <a:fillRect/>
          </a:stretch>
        </p:blipFill>
        <p:spPr>
          <a:xfrm>
            <a:off x="0" y="0"/>
            <a:ext cx="14630400" cy="8229600"/>
          </a:xfrm>
          <a:prstGeom prst="rect">
            <a:avLst/>
          </a:prstGeom>
        </p:spPr>
      </p:pic>
      <p:sp>
        <p:nvSpPr>
          <p:cNvPr id="3" name="PDF_TEXT_GROUP_2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UAV Flow: Capture, Analyze and Return</a:t>
            </a:r>
          </a:p>
        </p:txBody>
      </p:sp>
      <p:sp>
        <p:nvSpPr>
          <p:cNvPr id="4" name="PDF_TEXT_GROUP_263"/>
          <p:cNvSpPr txBox="1"/>
          <p:nvPr/>
        </p:nvSpPr>
        <p:spPr>
          <a:xfrm>
            <a:off x="1169087" y="1815792"/>
            <a:ext cx="11360029"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Sensing UAVs publish encrypted ViewImage Data in their own authorized</a:t>
            </a:r>
            <a:r>
              <a:rPr sz="2710" b="0" i="0">
                <a:solidFill>
                  <a:srgbClr val="000000"/>
                </a:solidFill>
                <a:latin typeface="Latin Modern Sans"/>
              </a:rPr>
              <a:t> namespaces.</a:t>
            </a:r>
          </a:p>
        </p:txBody>
      </p:sp>
      <p:sp>
        <p:nvSpPr>
          <p:cNvPr id="5" name="PDF_TEXT_GROUP_264"/>
          <p:cNvSpPr txBox="1"/>
          <p:nvPr/>
        </p:nvSpPr>
        <p:spPr>
          <a:xfrm>
            <a:off x="1169087" y="2788059"/>
            <a:ext cx="11412734"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The compute Provider retrieves images over assigned edges and publishes</a:t>
            </a:r>
            <a:r>
              <a:rPr sz="2710" b="0" i="0">
                <a:solidFill>
                  <a:srgbClr val="000000"/>
                </a:solidFill>
                <a:latin typeface="Latin Modern Sans"/>
              </a:rPr>
              <a:t> Annotation Data.</a:t>
            </a:r>
          </a:p>
        </p:txBody>
      </p:sp>
      <p:sp>
        <p:nvSpPr>
          <p:cNvPr id="6" name="PDF_TEXT_GROUP_265"/>
          <p:cNvSpPr txBox="1"/>
          <p:nvPr/>
        </p:nvSpPr>
        <p:spPr>
          <a:xfrm>
            <a:off x="1169087" y="3760326"/>
            <a:ext cx="1227843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The result references the original images and securely provides permitted image</a:t>
            </a:r>
            <a:r>
              <a:rPr sz="2710" b="0" i="0">
                <a:solidFill>
                  <a:srgbClr val="000000"/>
                </a:solidFill>
                <a:latin typeface="Latin Modern Sans"/>
              </a:rPr>
              <a:t> keys to the requester.</a:t>
            </a:r>
          </a:p>
        </p:txBody>
      </p:sp>
      <p:sp>
        <p:nvSpPr>
          <p:cNvPr id="7" name="PDF_TEXT_GROUP_266"/>
          <p:cNvSpPr txBox="1"/>
          <p:nvPr/>
        </p:nvSpPr>
        <p:spPr>
          <a:xfrm>
            <a:off x="1169087" y="4732593"/>
            <a:ext cx="1198798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The requester retrieves the original images and displays the annotations.</a:t>
            </a:r>
          </a:p>
        </p:txBody>
      </p:sp>
      <p:sp>
        <p:nvSpPr>
          <p:cNvPr id="8" name="PDF_TEXT_GROUP_267"/>
          <p:cNvSpPr txBox="1"/>
          <p:nvPr/>
        </p:nvSpPr>
        <p:spPr>
          <a:xfrm>
            <a:off x="1143656" y="5888443"/>
            <a:ext cx="122002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No need to republish the same images as if the compute Provider produced them.</a:t>
            </a:r>
            <a:r>
              <a:rPr sz="2710" b="0" i="0">
                <a:solidFill>
                  <a:srgbClr val="000000"/>
                </a:solidFill>
                <a:latin typeface="Latin Modern Sans"/>
              </a:rPr>
              <a:t> GPS alone does not establish camera visibility or accurate triangulation.</a:t>
            </a:r>
          </a:p>
        </p:txBody>
      </p:sp>
      <p:sp>
        <p:nvSpPr>
          <p:cNvPr id="9" name="PDF_TEXT_GROUP_26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6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7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7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7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21/38</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2" descr="background-022.png"/>
          <p:cNvPicPr>
            <a:picLocks noChangeAspect="1"/>
          </p:cNvPicPr>
          <p:nvPr/>
        </p:nvPicPr>
        <p:blipFill>
          <a:blip r:embed="rId2"/>
          <a:stretch>
            <a:fillRect/>
          </a:stretch>
        </p:blipFill>
        <p:spPr>
          <a:xfrm>
            <a:off x="0" y="0"/>
            <a:ext cx="14630400" cy="8229600"/>
          </a:xfrm>
          <a:prstGeom prst="rect">
            <a:avLst/>
          </a:prstGeom>
        </p:spPr>
      </p:pic>
      <p:sp>
        <p:nvSpPr>
          <p:cNvPr id="3" name="PDF_TEXT_GROUP_27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the UAV Case Must Demonstrate</a:t>
            </a:r>
          </a:p>
        </p:txBody>
      </p:sp>
      <p:sp>
        <p:nvSpPr>
          <p:cNvPr id="4" name="PDF_TEXT_GROUP_274"/>
          <p:cNvSpPr txBox="1"/>
          <p:nvPr/>
        </p:nvSpPr>
        <p:spPr>
          <a:xfrm>
            <a:off x="1618972" y="2012398"/>
            <a:ext cx="1218726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 complete authorized collection–processing–return task before the deadline.</a:t>
            </a:r>
          </a:p>
        </p:txBody>
      </p:sp>
      <p:sp>
        <p:nvSpPr>
          <p:cNvPr id="5" name="PDF_TEXT_GROUP_275"/>
          <p:cNvSpPr txBox="1"/>
          <p:nvPr/>
        </p:nvSpPr>
        <p:spPr>
          <a:xfrm>
            <a:off x="1618972" y="2546826"/>
            <a:ext cx="1146086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Correct handling of unavailable views, delayed images and a failed processing</a:t>
            </a:r>
            <a:r>
              <a:rPr sz="2710" b="0" i="0">
                <a:solidFill>
                  <a:srgbClr val="000000"/>
                </a:solidFill>
                <a:latin typeface="Latin Modern Sans"/>
              </a:rPr>
              <a:t> Provider.</a:t>
            </a:r>
          </a:p>
        </p:txBody>
      </p:sp>
      <p:sp>
        <p:nvSpPr>
          <p:cNvPr id="6" name="PDF_TEXT_GROUP_276"/>
          <p:cNvSpPr txBox="1"/>
          <p:nvPr/>
        </p:nvSpPr>
        <p:spPr>
          <a:xfrm>
            <a:off x="1618972" y="3519126"/>
            <a:ext cx="11624179"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Wrong-role/edge rejection without rejecting an authorized cached image.</a:t>
            </a:r>
          </a:p>
        </p:txBody>
      </p:sp>
      <p:sp>
        <p:nvSpPr>
          <p:cNvPr id="7" name="PDF_TEXT_GROUP_277"/>
          <p:cNvSpPr txBox="1"/>
          <p:nvPr/>
        </p:nvSpPr>
        <p:spPr>
          <a:xfrm>
            <a:off x="1618972" y="4053554"/>
            <a:ext cx="1218432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MiniNDN [22] and PX4 SITL [23] results clearly distinguished from physical-flight</a:t>
            </a:r>
            <a:r>
              <a:rPr sz="2710" b="0" i="0">
                <a:solidFill>
                  <a:srgbClr val="000000"/>
                </a:solidFill>
                <a:latin typeface="Latin Modern Sans"/>
              </a:rPr>
              <a:t> evidence.</a:t>
            </a:r>
          </a:p>
        </p:txBody>
      </p:sp>
      <p:sp>
        <p:nvSpPr>
          <p:cNvPr id="8" name="PDF_TEXT_GROUP_278"/>
          <p:cNvSpPr txBox="1"/>
          <p:nvPr/>
        </p:nvSpPr>
        <p:spPr>
          <a:xfrm>
            <a:off x="1143656" y="5593502"/>
            <a:ext cx="12287519"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Higher recognition/localization accuracy is a separate claim requiring ground truth</a:t>
            </a:r>
            <a:r>
              <a:rPr sz="2710" b="0" i="0">
                <a:solidFill>
                  <a:srgbClr val="000000"/>
                </a:solidFill>
                <a:latin typeface="Latin Modern Sans"/>
              </a:rPr>
              <a:t> and a single-view control. It is not assumed here.</a:t>
            </a:r>
          </a:p>
        </p:txBody>
      </p:sp>
      <p:sp>
        <p:nvSpPr>
          <p:cNvPr id="9" name="PDF_TEXT_GROUP_27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28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28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28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28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22/38</a:t>
            </a:r>
          </a:p>
        </p:txBody>
      </p:sp>
      <p:sp>
        <p:nvSpPr>
          <p:cNvPr id="14" name="PDF_BULLET_SPAN_409"/>
          <p:cNvSpPr/>
          <p:nvPr/>
        </p:nvSpPr>
        <p:spPr>
          <a:xfrm rot="5400000">
            <a:off x="1207424" y="209818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11"/>
          <p:cNvSpPr/>
          <p:nvPr/>
        </p:nvSpPr>
        <p:spPr>
          <a:xfrm rot="5400000">
            <a:off x="1207424" y="26326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14"/>
          <p:cNvSpPr/>
          <p:nvPr/>
        </p:nvSpPr>
        <p:spPr>
          <a:xfrm rot="5400000">
            <a:off x="1207424" y="360491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16"/>
          <p:cNvSpPr/>
          <p:nvPr/>
        </p:nvSpPr>
        <p:spPr>
          <a:xfrm rot="5400000">
            <a:off x="1207424" y="413934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3" descr="background-023.png"/>
          <p:cNvPicPr>
            <a:picLocks noChangeAspect="1"/>
          </p:cNvPicPr>
          <p:nvPr/>
        </p:nvPicPr>
        <p:blipFill>
          <a:blip r:embed="rId2"/>
          <a:stretch>
            <a:fillRect/>
          </a:stretch>
        </p:blipFill>
        <p:spPr>
          <a:xfrm>
            <a:off x="0" y="0"/>
            <a:ext cx="14630400" cy="8229600"/>
          </a:xfrm>
          <a:prstGeom prst="rect">
            <a:avLst/>
          </a:prstGeom>
        </p:spPr>
      </p:pic>
      <p:sp>
        <p:nvSpPr>
          <p:cNvPr id="3" name="PDF_TEXT_GROUP_28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Proposed DI Flow: Compute Follows Named Dependencies</a:t>
            </a:r>
          </a:p>
        </p:txBody>
      </p:sp>
      <p:sp>
        <p:nvSpPr>
          <p:cNvPr id="4" name="PDF_TEXT_GROUP_285"/>
          <p:cNvSpPr txBox="1"/>
          <p:nvPr/>
        </p:nvSpPr>
        <p:spPr>
          <a:xfrm>
            <a:off x="1830768"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A</a:t>
            </a:r>
            <a:br/>
            <a:r>
              <a:rPr sz="2371" b="0" i="0">
                <a:solidFill>
                  <a:srgbClr val="000000"/>
                </a:solidFill>
                <a:latin typeface="Latin Modern Sans"/>
              </a:rPr>
              <a:t>layer group 1</a:t>
            </a:r>
          </a:p>
        </p:txBody>
      </p:sp>
      <p:sp>
        <p:nvSpPr>
          <p:cNvPr id="5" name="PDF_TEXT_GROUP_286"/>
          <p:cNvSpPr txBox="1"/>
          <p:nvPr/>
        </p:nvSpPr>
        <p:spPr>
          <a:xfrm>
            <a:off x="6377993" y="1869367"/>
            <a:ext cx="1881213"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B</a:t>
            </a:r>
            <a:br/>
            <a:r>
              <a:rPr sz="2371" b="0" i="0">
                <a:solidFill>
                  <a:srgbClr val="000000"/>
                </a:solidFill>
                <a:latin typeface="Latin Modern Sans"/>
              </a:rPr>
              <a:t>layer group 2</a:t>
            </a:r>
          </a:p>
        </p:txBody>
      </p:sp>
      <p:sp>
        <p:nvSpPr>
          <p:cNvPr id="6" name="PDF_TEXT_GROUP_287"/>
          <p:cNvSpPr txBox="1"/>
          <p:nvPr/>
        </p:nvSpPr>
        <p:spPr>
          <a:xfrm>
            <a:off x="10953780" y="1869367"/>
            <a:ext cx="1823950" cy="828877"/>
          </a:xfrm>
          <a:prstGeom prst="rect">
            <a:avLst/>
          </a:prstGeom>
          <a:noFill/>
          <a:ln>
            <a:noFill/>
          </a:ln>
        </p:spPr>
        <p:txBody>
          <a:bodyPr wrap="square" anchor="t" lIns="0" rIns="0" tIns="0" bIns="0">
            <a:noAutofit/>
          </a:bodyPr>
          <a:lstStyle/>
          <a:p>
            <a:pPr algn="ctr">
              <a:lnSpc>
                <a:spcPct val="100000"/>
              </a:lnSpc>
              <a:spcBef>
                <a:spcPts val="0"/>
              </a:spcBef>
              <a:spcAft>
                <a:spcPts val="0"/>
              </a:spcAft>
            </a:pPr>
            <a:r>
              <a:rPr sz="2371" b="0" i="0">
                <a:solidFill>
                  <a:srgbClr val="000000"/>
                </a:solidFill>
                <a:latin typeface="Latin Modern Sans"/>
              </a:rPr>
              <a:t>Provider C</a:t>
            </a:r>
            <a:br/>
            <a:r>
              <a:rPr sz="2371" b="0" i="0">
                <a:solidFill>
                  <a:srgbClr val="000000"/>
                </a:solidFill>
                <a:latin typeface="Latin Modern Sans"/>
              </a:rPr>
              <a:t>output stage</a:t>
            </a:r>
          </a:p>
        </p:txBody>
      </p:sp>
      <p:sp>
        <p:nvSpPr>
          <p:cNvPr id="7" name="PDF_TEXT_GROUP_288"/>
          <p:cNvSpPr txBox="1"/>
          <p:nvPr/>
        </p:nvSpPr>
        <p:spPr>
          <a:xfrm>
            <a:off x="4487229"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8" name="PDF_TEXT_GROUP_289"/>
          <p:cNvSpPr txBox="1"/>
          <p:nvPr/>
        </p:nvSpPr>
        <p:spPr>
          <a:xfrm>
            <a:off x="9034422" y="1896376"/>
            <a:ext cx="12575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activation</a:t>
            </a:r>
          </a:p>
        </p:txBody>
      </p:sp>
      <p:sp>
        <p:nvSpPr>
          <p:cNvPr id="9" name="PDF_TEXT_GROUP_290"/>
          <p:cNvSpPr txBox="1"/>
          <p:nvPr/>
        </p:nvSpPr>
        <p:spPr>
          <a:xfrm>
            <a:off x="1618972" y="3341069"/>
            <a:ext cx="12231540"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Pipeline: sequential layers/groups; tensor partitioning additionally needs supported</a:t>
            </a:r>
            <a:r>
              <a:rPr sz="2710" b="0" i="0">
                <a:solidFill>
                  <a:srgbClr val="000000"/>
                </a:solidFill>
                <a:latin typeface="Latin Modern Sans"/>
              </a:rPr>
              <a:t> collectives.</a:t>
            </a:r>
          </a:p>
        </p:txBody>
      </p:sp>
      <p:sp>
        <p:nvSpPr>
          <p:cNvPr id="10" name="PDF_TEXT_GROUP_291"/>
          <p:cNvSpPr txBox="1"/>
          <p:nvPr/>
        </p:nvSpPr>
        <p:spPr>
          <a:xfrm>
            <a:off x="1618972" y="4313336"/>
            <a:ext cx="1148906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ONNX [25] describes the graph; export alone does not implement distributed</a:t>
            </a:r>
            <a:r>
              <a:rPr sz="2710" b="0" i="0">
                <a:solidFill>
                  <a:srgbClr val="000000"/>
                </a:solidFill>
                <a:latin typeface="Latin Modern Sans"/>
              </a:rPr>
              <a:t> execution.</a:t>
            </a:r>
          </a:p>
        </p:txBody>
      </p:sp>
      <p:sp>
        <p:nvSpPr>
          <p:cNvPr id="11" name="PDF_TEXT_GROUP_292"/>
          <p:cNvSpPr txBox="1"/>
          <p:nvPr/>
        </p:nvSpPr>
        <p:spPr>
          <a:xfrm>
            <a:off x="1618972" y="5285603"/>
            <a:ext cx="11817223"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 [24] stores artifacts; forwarding caches do not guarantee persistence.</a:t>
            </a:r>
          </a:p>
        </p:txBody>
      </p:sp>
      <p:sp>
        <p:nvSpPr>
          <p:cNvPr id="12" name="PDF_TEXT_GROUP_293"/>
          <p:cNvSpPr txBox="1"/>
          <p:nvPr/>
        </p:nvSpPr>
        <p:spPr>
          <a:xfrm>
            <a:off x="1143656" y="6186227"/>
            <a:ext cx="1241412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The framework contribution is checked runtime assignment and data exchange, not</a:t>
            </a:r>
            <a:r>
              <a:rPr sz="2710" b="0" i="0">
                <a:solidFill>
                  <a:srgbClr val="000000"/>
                </a:solidFill>
                <a:latin typeface="Latin Modern Sans"/>
              </a:rPr>
              <a:t> model partitioning itself.</a:t>
            </a:r>
          </a:p>
        </p:txBody>
      </p:sp>
      <p:sp>
        <p:nvSpPr>
          <p:cNvPr id="13" name="PDF_TEXT_GROUP_2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2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2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2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2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23/38</a:t>
            </a:r>
          </a:p>
        </p:txBody>
      </p:sp>
      <p:sp>
        <p:nvSpPr>
          <p:cNvPr id="18" name="PDF_BULLET_SPAN_435"/>
          <p:cNvSpPr/>
          <p:nvPr/>
        </p:nvSpPr>
        <p:spPr>
          <a:xfrm rot="5400000">
            <a:off x="1207424" y="342686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PDF_BULLET_SPAN_438"/>
          <p:cNvSpPr/>
          <p:nvPr/>
        </p:nvSpPr>
        <p:spPr>
          <a:xfrm rot="5400000">
            <a:off x="1207424" y="4399127"/>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PDF_BULLET_SPAN_441"/>
          <p:cNvSpPr/>
          <p:nvPr/>
        </p:nvSpPr>
        <p:spPr>
          <a:xfrm rot="5400000">
            <a:off x="1207424" y="5371394"/>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4" descr="background-024.png"/>
          <p:cNvPicPr>
            <a:picLocks noChangeAspect="1"/>
          </p:cNvPicPr>
          <p:nvPr/>
        </p:nvPicPr>
        <p:blipFill>
          <a:blip r:embed="rId2"/>
          <a:stretch>
            <a:fillRect/>
          </a:stretch>
        </p:blipFill>
        <p:spPr>
          <a:xfrm>
            <a:off x="0" y="0"/>
            <a:ext cx="14630400" cy="8229600"/>
          </a:xfrm>
          <a:prstGeom prst="rect">
            <a:avLst/>
          </a:prstGeom>
        </p:spPr>
      </p:pic>
      <p:sp>
        <p:nvSpPr>
          <p:cNvPr id="3" name="PDF_TEXT_GROUP_2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 State and Evidence Boundaries</a:t>
            </a:r>
          </a:p>
        </p:txBody>
      </p:sp>
      <p:sp>
        <p:nvSpPr>
          <p:cNvPr id="4" name="PDF_TEXT_GROUP_300"/>
          <p:cNvSpPr txBox="1"/>
          <p:nvPr/>
        </p:nvSpPr>
        <p:spPr>
          <a:xfrm>
            <a:off x="1618972" y="2004578"/>
            <a:ext cx="1211884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Model weights, reusable artifacts, request activations and KV state have different</a:t>
            </a:r>
            <a:r>
              <a:rPr sz="2710" b="0" i="0">
                <a:solidFill>
                  <a:srgbClr val="000000"/>
                </a:solidFill>
                <a:latin typeface="Latin Modern Sans"/>
              </a:rPr>
              <a:t> lifetimes.</a:t>
            </a:r>
          </a:p>
        </p:txBody>
      </p:sp>
      <p:sp>
        <p:nvSpPr>
          <p:cNvPr id="5" name="PDF_TEXT_GROUP_301"/>
          <p:cNvSpPr txBox="1"/>
          <p:nvPr/>
        </p:nvSpPr>
        <p:spPr>
          <a:xfrm>
            <a:off x="1618972" y="2976845"/>
            <a:ext cx="1145494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Autoregressive decoding requires retained K/V and next-step inputs; resident</a:t>
            </a:r>
            <a:r>
              <a:rPr sz="2710" b="0" i="0">
                <a:solidFill>
                  <a:srgbClr val="000000"/>
                </a:solidFill>
                <a:latin typeface="Latin Modern Sans"/>
              </a:rPr>
              <a:t> weights do not remove that state dependency.</a:t>
            </a:r>
          </a:p>
        </p:txBody>
      </p:sp>
      <p:sp>
        <p:nvSpPr>
          <p:cNvPr id="6" name="PDF_TEXT_GROUP_302"/>
          <p:cNvSpPr txBox="1"/>
          <p:nvPr/>
        </p:nvSpPr>
        <p:spPr>
          <a:xfrm>
            <a:off x="1618972" y="3949112"/>
            <a:ext cx="10875687"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Native/local tests are not cross-process or multi-device qualification.</a:t>
            </a:r>
          </a:p>
        </p:txBody>
      </p:sp>
      <p:sp>
        <p:nvSpPr>
          <p:cNvPr id="7" name="PDF_TEXT_GROUP_303"/>
          <p:cNvSpPr txBox="1"/>
          <p:nvPr/>
        </p:nvSpPr>
        <p:spPr>
          <a:xfrm>
            <a:off x="1618972" y="4483540"/>
            <a:ext cx="11550358"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Freeze one supported model/partition first; tensor/hybrid and LLM streaming</a:t>
            </a:r>
            <a:r>
              <a:rPr sz="2710" b="0" i="0">
                <a:solidFill>
                  <a:srgbClr val="000000"/>
                </a:solidFill>
                <a:latin typeface="Latin Modern Sans"/>
              </a:rPr>
              <a:t> need their own evidence if claimed.</a:t>
            </a:r>
          </a:p>
        </p:txBody>
      </p:sp>
      <p:sp>
        <p:nvSpPr>
          <p:cNvPr id="8" name="PDF_TEXT_GROUP_304"/>
          <p:cNvSpPr txBox="1"/>
          <p:nvPr/>
        </p:nvSpPr>
        <p:spPr>
          <a:xfrm>
            <a:off x="1143656" y="6023520"/>
            <a:ext cx="13337742"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Earlier small-model measurements do not qualify all current V3/native features. [28]</a:t>
            </a:r>
          </a:p>
        </p:txBody>
      </p:sp>
      <p:sp>
        <p:nvSpPr>
          <p:cNvPr id="9" name="PDF_TEXT_GROUP_30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0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0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0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0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24/38</a:t>
            </a:r>
          </a:p>
        </p:txBody>
      </p:sp>
      <p:sp>
        <p:nvSpPr>
          <p:cNvPr id="14" name="PDF_BULLET_SPAN_451"/>
          <p:cNvSpPr/>
          <p:nvPr/>
        </p:nvSpPr>
        <p:spPr>
          <a:xfrm rot="5400000">
            <a:off x="1207424" y="2090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54"/>
          <p:cNvSpPr/>
          <p:nvPr/>
        </p:nvSpPr>
        <p:spPr>
          <a:xfrm rot="5400000">
            <a:off x="1207424" y="306263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57"/>
          <p:cNvSpPr/>
          <p:nvPr/>
        </p:nvSpPr>
        <p:spPr>
          <a:xfrm rot="5400000">
            <a:off x="1207424" y="403490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59"/>
          <p:cNvSpPr/>
          <p:nvPr/>
        </p:nvSpPr>
        <p:spPr>
          <a:xfrm rot="5400000">
            <a:off x="1207424" y="456933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5" descr="background-025.png"/>
          <p:cNvPicPr>
            <a:picLocks noChangeAspect="1"/>
          </p:cNvPicPr>
          <p:nvPr/>
        </p:nvPicPr>
        <p:blipFill>
          <a:blip r:embed="rId2"/>
          <a:stretch>
            <a:fillRect/>
          </a:stretch>
        </p:blipFill>
        <p:spPr>
          <a:xfrm>
            <a:off x="0" y="0"/>
            <a:ext cx="14630400" cy="8229600"/>
          </a:xfrm>
          <a:prstGeom prst="rect">
            <a:avLst/>
          </a:prstGeom>
        </p:spPr>
      </p:pic>
      <p:sp>
        <p:nvSpPr>
          <p:cNvPr id="3" name="PDF_TEXT_GROUP_31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RQ3: Define the Baselines Before Comparing</a:t>
            </a:r>
          </a:p>
        </p:txBody>
      </p:sp>
      <p:sp>
        <p:nvSpPr>
          <p:cNvPr id="4" name="PDF_TEXT_GROUP_311"/>
          <p:cNvSpPr txBox="1"/>
          <p:nvPr/>
        </p:nvSpPr>
        <p:spPr>
          <a:xfrm>
            <a:off x="1618972" y="1750580"/>
            <a:ext cx="1192731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NSC [10]: named service calls; describe the tested executor, timeout, queue and</a:t>
            </a:r>
            <a:r>
              <a:rPr sz="2710" b="0" i="0">
                <a:solidFill>
                  <a:srgbClr val="000000"/>
                </a:solidFill>
                <a:latin typeface="Latin Modern Sans"/>
              </a:rPr>
              <a:t> recovery behavior.</a:t>
            </a:r>
          </a:p>
        </p:txBody>
      </p:sp>
      <p:sp>
        <p:nvSpPr>
          <p:cNvPr id="5" name="PDF_TEXT_GROUP_312"/>
          <p:cNvSpPr txBox="1"/>
          <p:nvPr/>
        </p:nvSpPr>
        <p:spPr>
          <a:xfrm>
            <a:off x="1618972" y="2722847"/>
            <a:ext cx="1124891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gRPC [17]: describe resolver, sequential/parallel policy, deadlines, retry and</a:t>
            </a:r>
            <a:r>
              <a:rPr sz="2710" b="0" i="0">
                <a:solidFill>
                  <a:srgbClr val="000000"/>
                </a:solidFill>
                <a:latin typeface="Latin Modern Sans"/>
              </a:rPr>
              <a:t> cancellation.</a:t>
            </a:r>
          </a:p>
        </p:txBody>
      </p:sp>
      <p:sp>
        <p:nvSpPr>
          <p:cNvPr id="6" name="PDF_TEXT_GROUP_313"/>
          <p:cNvSpPr txBox="1"/>
          <p:nvPr/>
        </p:nvSpPr>
        <p:spPr>
          <a:xfrm>
            <a:off x="1618972" y="3695114"/>
            <a:ext cx="11455898"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Match Provider count, capacity, task, topology/traces, publication times and</a:t>
            </a:r>
            <a:r>
              <a:rPr sz="2710" b="0" i="0">
                <a:solidFill>
                  <a:srgbClr val="000000"/>
                </a:solidFill>
                <a:latin typeface="Latin Modern Sans"/>
              </a:rPr>
              <a:t> measurement windows.</a:t>
            </a:r>
          </a:p>
        </p:txBody>
      </p:sp>
      <p:sp>
        <p:nvSpPr>
          <p:cNvPr id="7" name="PDF_TEXT_GROUP_314"/>
          <p:cNvSpPr txBox="1"/>
          <p:nvPr/>
        </p:nvSpPr>
        <p:spPr>
          <a:xfrm>
            <a:off x="1618972" y="4667381"/>
            <a:ext cx="10507741"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Report fixed-list and dynamically discovered configurations as different</a:t>
            </a:r>
            <a:r>
              <a:rPr sz="2710" b="0" i="0">
                <a:solidFill>
                  <a:srgbClr val="000000"/>
                </a:solidFill>
                <a:latin typeface="Latin Modern Sans"/>
              </a:rPr>
              <a:t> configurations.</a:t>
            </a:r>
          </a:p>
        </p:txBody>
      </p:sp>
      <p:sp>
        <p:nvSpPr>
          <p:cNvPr id="8" name="PDF_TEXT_GROUP_315"/>
          <p:cNvSpPr txBox="1"/>
          <p:nvPr/>
        </p:nvSpPr>
        <p:spPr>
          <a:xfrm>
            <a:off x="1143656" y="5986261"/>
            <a:ext cx="11093196"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An incomplete baseline cannot establish a limitation of the full framework.</a:t>
            </a:r>
            <a:r>
              <a:rPr sz="2710" b="0" i="0">
                <a:solidFill>
                  <a:srgbClr val="000000"/>
                </a:solidFill>
                <a:latin typeface="Latin Modern Sans"/>
              </a:rPr>
              <a:t> Historical unmatched data remain diagnostics.</a:t>
            </a:r>
          </a:p>
        </p:txBody>
      </p:sp>
      <p:sp>
        <p:nvSpPr>
          <p:cNvPr id="9" name="PDF_TEXT_GROUP_31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31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31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31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32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25/38</a:t>
            </a:r>
          </a:p>
        </p:txBody>
      </p:sp>
      <p:sp>
        <p:nvSpPr>
          <p:cNvPr id="14" name="PDF_BULLET_SPAN_469"/>
          <p:cNvSpPr/>
          <p:nvPr/>
        </p:nvSpPr>
        <p:spPr>
          <a:xfrm rot="5400000">
            <a:off x="1207424" y="1836371"/>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472"/>
          <p:cNvSpPr/>
          <p:nvPr/>
        </p:nvSpPr>
        <p:spPr>
          <a:xfrm rot="5400000">
            <a:off x="1207424" y="2808638"/>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475"/>
          <p:cNvSpPr/>
          <p:nvPr/>
        </p:nvSpPr>
        <p:spPr>
          <a:xfrm rot="5400000">
            <a:off x="1207424" y="378090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478"/>
          <p:cNvSpPr/>
          <p:nvPr/>
        </p:nvSpPr>
        <p:spPr>
          <a:xfrm rot="5400000">
            <a:off x="1207424" y="4753172"/>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6" descr="background-026.png"/>
          <p:cNvPicPr>
            <a:picLocks noChangeAspect="1"/>
          </p:cNvPicPr>
          <p:nvPr/>
        </p:nvPicPr>
        <p:blipFill>
          <a:blip r:embed="rId2"/>
          <a:stretch>
            <a:fillRect/>
          </a:stretch>
        </p:blipFill>
        <p:spPr>
          <a:xfrm>
            <a:off x="0" y="0"/>
            <a:ext cx="14630400" cy="8229600"/>
          </a:xfrm>
          <a:prstGeom prst="rect">
            <a:avLst/>
          </a:prstGeom>
        </p:spPr>
      </p:pic>
      <p:sp>
        <p:nvSpPr>
          <p:cNvPr id="3" name="PDF_TEXT_GROUP_32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Overall Completion Depends on Coverage</a:t>
            </a:r>
          </a:p>
        </p:txBody>
      </p:sp>
      <p:sp>
        <p:nvSpPr>
          <p:cNvPr id="4" name="PDF_TEXT_GROUP_322"/>
          <p:cNvSpPr txBox="1"/>
          <p:nvPr/>
        </p:nvSpPr>
        <p:spPr>
          <a:xfrm>
            <a:off x="914808" y="1720717"/>
            <a:ext cx="1205579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(62–71), four Providers/system, 2 m/s; mean seed completion rate. [28]</a:t>
            </a:r>
          </a:p>
        </p:txBody>
      </p:sp>
      <p:sp>
        <p:nvSpPr>
          <p:cNvPr id="5" name="PDF_TEXT_GROUP_323"/>
          <p:cNvSpPr txBox="1"/>
          <p:nvPr/>
        </p:nvSpPr>
        <p:spPr>
          <a:xfrm>
            <a:off x="1107736" y="2233688"/>
            <a:ext cx="15042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AP radius</a:t>
            </a:r>
          </a:p>
        </p:txBody>
      </p:sp>
      <p:sp>
        <p:nvSpPr>
          <p:cNvPr id="6" name="PDF_TEXT_GROUP_324"/>
          <p:cNvSpPr txBox="1"/>
          <p:nvPr/>
        </p:nvSpPr>
        <p:spPr>
          <a:xfrm>
            <a:off x="9386102" y="2233688"/>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7" name="PDF_TEXT_GROUP_325"/>
          <p:cNvSpPr txBox="1"/>
          <p:nvPr/>
        </p:nvSpPr>
        <p:spPr>
          <a:xfrm>
            <a:off x="11203250" y="2233688"/>
            <a:ext cx="9599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a:t>
            </a:r>
          </a:p>
        </p:txBody>
      </p:sp>
      <p:sp>
        <p:nvSpPr>
          <p:cNvPr id="8" name="PDF_TEXT_GROUP_326"/>
          <p:cNvSpPr txBox="1"/>
          <p:nvPr/>
        </p:nvSpPr>
        <p:spPr>
          <a:xfrm>
            <a:off x="12917479" y="2233688"/>
            <a:ext cx="7924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a:t>
            </a:r>
          </a:p>
        </p:txBody>
      </p:sp>
      <p:sp>
        <p:nvSpPr>
          <p:cNvPr id="9" name="PDF_TEXT_GROUP_327"/>
          <p:cNvSpPr txBox="1"/>
          <p:nvPr/>
        </p:nvSpPr>
        <p:spPr>
          <a:xfrm>
            <a:off x="1107736" y="2802048"/>
            <a:ext cx="86473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50 m</a:t>
            </a:r>
          </a:p>
        </p:txBody>
      </p:sp>
      <p:sp>
        <p:nvSpPr>
          <p:cNvPr id="10" name="PDF_TEXT_GROUP_328"/>
          <p:cNvSpPr txBox="1"/>
          <p:nvPr/>
        </p:nvSpPr>
        <p:spPr>
          <a:xfrm>
            <a:off x="9435295"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54.57%</a:t>
            </a:r>
          </a:p>
        </p:txBody>
      </p:sp>
      <p:sp>
        <p:nvSpPr>
          <p:cNvPr id="11" name="PDF_TEXT_GROUP_329"/>
          <p:cNvSpPr txBox="1"/>
          <p:nvPr/>
        </p:nvSpPr>
        <p:spPr>
          <a:xfrm>
            <a:off x="10982171"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53.80%</a:t>
            </a:r>
          </a:p>
        </p:txBody>
      </p:sp>
      <p:sp>
        <p:nvSpPr>
          <p:cNvPr id="12" name="PDF_TEXT_GROUP_330"/>
          <p:cNvSpPr txBox="1"/>
          <p:nvPr/>
        </p:nvSpPr>
        <p:spPr>
          <a:xfrm>
            <a:off x="12529048" y="2802048"/>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55.47%</a:t>
            </a:r>
          </a:p>
        </p:txBody>
      </p:sp>
      <p:sp>
        <p:nvSpPr>
          <p:cNvPr id="13" name="PDF_TEXT_GROUP_331"/>
          <p:cNvSpPr txBox="1"/>
          <p:nvPr/>
        </p:nvSpPr>
        <p:spPr>
          <a:xfrm>
            <a:off x="1107736" y="3370407"/>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 m</a:t>
            </a:r>
          </a:p>
        </p:txBody>
      </p:sp>
      <p:sp>
        <p:nvSpPr>
          <p:cNvPr id="14" name="PDF_TEXT_GROUP_332"/>
          <p:cNvSpPr txBox="1"/>
          <p:nvPr/>
        </p:nvSpPr>
        <p:spPr>
          <a:xfrm>
            <a:off x="9435295"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5" name="PDF_TEXT_GROUP_333"/>
          <p:cNvSpPr txBox="1"/>
          <p:nvPr/>
        </p:nvSpPr>
        <p:spPr>
          <a:xfrm>
            <a:off x="10982171"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97.97%</a:t>
            </a:r>
          </a:p>
        </p:txBody>
      </p:sp>
      <p:sp>
        <p:nvSpPr>
          <p:cNvPr id="16" name="PDF_TEXT_GROUP_334"/>
          <p:cNvSpPr txBox="1"/>
          <p:nvPr/>
        </p:nvSpPr>
        <p:spPr>
          <a:xfrm>
            <a:off x="12529048" y="3370407"/>
            <a:ext cx="11810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98.33%</a:t>
            </a:r>
          </a:p>
        </p:txBody>
      </p:sp>
      <p:sp>
        <p:nvSpPr>
          <p:cNvPr id="17" name="PDF_TEXT_GROUP_335"/>
          <p:cNvSpPr txBox="1"/>
          <p:nvPr/>
        </p:nvSpPr>
        <p:spPr>
          <a:xfrm>
            <a:off x="1107736" y="3938766"/>
            <a:ext cx="102549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150 m</a:t>
            </a:r>
          </a:p>
        </p:txBody>
      </p:sp>
      <p:sp>
        <p:nvSpPr>
          <p:cNvPr id="18" name="PDF_TEXT_GROUP_336"/>
          <p:cNvSpPr txBox="1"/>
          <p:nvPr/>
        </p:nvSpPr>
        <p:spPr>
          <a:xfrm>
            <a:off x="9274534"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19" name="PDF_TEXT_GROUP_337"/>
          <p:cNvSpPr txBox="1"/>
          <p:nvPr/>
        </p:nvSpPr>
        <p:spPr>
          <a:xfrm>
            <a:off x="10821410"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0" name="PDF_TEXT_GROUP_338"/>
          <p:cNvSpPr txBox="1"/>
          <p:nvPr/>
        </p:nvSpPr>
        <p:spPr>
          <a:xfrm>
            <a:off x="12368286" y="3938766"/>
            <a:ext cx="134177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100.00%</a:t>
            </a:r>
          </a:p>
        </p:txBody>
      </p:sp>
      <p:sp>
        <p:nvSpPr>
          <p:cNvPr id="21" name="PDF_TEXT_GROUP_339"/>
          <p:cNvSpPr txBox="1"/>
          <p:nvPr/>
        </p:nvSpPr>
        <p:spPr>
          <a:xfrm>
            <a:off x="1123808" y="5186553"/>
            <a:ext cx="1190808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These overall controls do not establish NDNSF superiority. The next slide examines the</a:t>
            </a:r>
            <a:r>
              <a:rPr sz="2371" b="0" i="0">
                <a:solidFill>
                  <a:srgbClr val="000000"/>
                </a:solidFill>
                <a:latin typeface="Latin Modern Sans"/>
              </a:rPr>
              <a:t> separately registered switching subset, not all requests.</a:t>
            </a:r>
          </a:p>
        </p:txBody>
      </p:sp>
      <p:sp>
        <p:nvSpPr>
          <p:cNvPr id="22" name="PDF_TEXT_GROUP_34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3" name="PDF_TEXT_GROUP_34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4" name="PDF_TEXT_GROUP_34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5" name="PDF_TEXT_GROUP_34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6" name="PDF_TEXT_GROUP_34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26/38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7" descr="background-027.png"/>
          <p:cNvPicPr>
            <a:picLocks noChangeAspect="1"/>
          </p:cNvPicPr>
          <p:nvPr/>
        </p:nvPicPr>
        <p:blipFill>
          <a:blip r:embed="rId2"/>
          <a:stretch>
            <a:fillRect/>
          </a:stretch>
        </p:blipFill>
        <p:spPr>
          <a:xfrm>
            <a:off x="0" y="0"/>
            <a:ext cx="14630400" cy="8229600"/>
          </a:xfrm>
          <a:prstGeom prst="rect">
            <a:avLst/>
          </a:prstGeom>
        </p:spPr>
      </p:pic>
      <p:sp>
        <p:nvSpPr>
          <p:cNvPr id="3" name="PDF_TEXT_GROUP_34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Mobility: Lower Tail Latency in a Defined Subset</a:t>
            </a:r>
          </a:p>
        </p:txBody>
      </p:sp>
      <p:sp>
        <p:nvSpPr>
          <p:cNvPr id="4" name="PDF_TEXT_GROUP_346"/>
          <p:cNvSpPr txBox="1"/>
          <p:nvPr/>
        </p:nvSpPr>
        <p:spPr>
          <a:xfrm>
            <a:off x="914808" y="1793523"/>
            <a:ext cx="12780726"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Ten seeds; four Providers/system; 100 m, 2 m/s; 1,312 matched requests requiring a Provider</a:t>
            </a:r>
            <a:r>
              <a:rPr sz="2371" b="0" i="0">
                <a:solidFill>
                  <a:srgbClr val="000000"/>
                </a:solidFill>
                <a:latin typeface="Latin Modern Sans"/>
              </a:rPr>
              <a:t> switch. [28]</a:t>
            </a:r>
          </a:p>
        </p:txBody>
      </p:sp>
      <p:sp>
        <p:nvSpPr>
          <p:cNvPr id="5" name="PDF_TEXT_GROUP_347"/>
          <p:cNvSpPr txBox="1"/>
          <p:nvPr/>
        </p:nvSpPr>
        <p:spPr>
          <a:xfrm>
            <a:off x="1107736" y="2692855"/>
            <a:ext cx="175075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Comparison</a:t>
            </a:r>
          </a:p>
        </p:txBody>
      </p:sp>
      <p:sp>
        <p:nvSpPr>
          <p:cNvPr id="6" name="PDF_TEXT_GROUP_348"/>
          <p:cNvSpPr txBox="1"/>
          <p:nvPr/>
        </p:nvSpPr>
        <p:spPr>
          <a:xfrm>
            <a:off x="7937869" y="2692855"/>
            <a:ext cx="281910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Seed-p95 difference</a:t>
            </a:r>
          </a:p>
        </p:txBody>
      </p:sp>
      <p:sp>
        <p:nvSpPr>
          <p:cNvPr id="7" name="PDF_TEXT_GROUP_349"/>
          <p:cNvSpPr txBox="1"/>
          <p:nvPr/>
        </p:nvSpPr>
        <p:spPr>
          <a:xfrm>
            <a:off x="12538050" y="2692855"/>
            <a:ext cx="11719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95% CI</a:t>
            </a:r>
          </a:p>
        </p:txBody>
      </p:sp>
      <p:sp>
        <p:nvSpPr>
          <p:cNvPr id="8" name="PDF_TEXT_GROUP_350"/>
          <p:cNvSpPr txBox="1"/>
          <p:nvPr/>
        </p:nvSpPr>
        <p:spPr>
          <a:xfrm>
            <a:off x="9330171" y="3243185"/>
            <a:ext cx="1398901"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597</a:t>
            </a:r>
            <a:r>
              <a:rPr sz="2371" b="0" i="0">
                <a:solidFill>
                  <a:srgbClr val="000000"/>
                </a:solidFill>
                <a:latin typeface="Latin Modern Sans"/>
              </a:rPr>
              <a:t> ms</a:t>
            </a:r>
          </a:p>
        </p:txBody>
      </p:sp>
      <p:sp>
        <p:nvSpPr>
          <p:cNvPr id="9" name="PDF_TEXT_GROUP_352"/>
          <p:cNvSpPr txBox="1"/>
          <p:nvPr/>
        </p:nvSpPr>
        <p:spPr>
          <a:xfrm>
            <a:off x="1107736" y="3261214"/>
            <a:ext cx="411821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gRPC-SEQ-4</a:t>
            </a:r>
          </a:p>
        </p:txBody>
      </p:sp>
      <p:sp>
        <p:nvSpPr>
          <p:cNvPr id="10" name="PDF_TEXT_GROUP_351"/>
          <p:cNvSpPr txBox="1"/>
          <p:nvPr/>
        </p:nvSpPr>
        <p:spPr>
          <a:xfrm>
            <a:off x="11255736" y="3243185"/>
            <a:ext cx="2455552"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992</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200]</a:t>
            </a:r>
            <a:r>
              <a:rPr sz="2371" b="0" i="0">
                <a:solidFill>
                  <a:srgbClr val="000000"/>
                </a:solidFill>
                <a:latin typeface="Latin Modern Sans"/>
              </a:rPr>
              <a:t> ms</a:t>
            </a:r>
          </a:p>
        </p:txBody>
      </p:sp>
      <p:sp>
        <p:nvSpPr>
          <p:cNvPr id="11" name="PDF_TEXT_GROUP_353"/>
          <p:cNvSpPr txBox="1"/>
          <p:nvPr/>
        </p:nvSpPr>
        <p:spPr>
          <a:xfrm>
            <a:off x="9169388" y="3811545"/>
            <a:ext cx="1559685"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Cambria Math"/>
              </a:rPr>
              <a:t>−</a:t>
            </a:r>
            <a:r>
              <a:rPr sz="2371" b="0" i="0">
                <a:solidFill>
                  <a:srgbClr val="000000"/>
                </a:solidFill>
                <a:latin typeface="Latin Modern Roman"/>
              </a:rPr>
              <a:t>2618</a:t>
            </a:r>
            <a:r>
              <a:rPr sz="2371" b="0" i="0">
                <a:solidFill>
                  <a:srgbClr val="000000"/>
                </a:solidFill>
                <a:latin typeface="Latin Modern Sans"/>
              </a:rPr>
              <a:t> ms</a:t>
            </a:r>
          </a:p>
        </p:txBody>
      </p:sp>
      <p:sp>
        <p:nvSpPr>
          <p:cNvPr id="12" name="PDF_TEXT_GROUP_355"/>
          <p:cNvSpPr txBox="1"/>
          <p:nvPr/>
        </p:nvSpPr>
        <p:spPr>
          <a:xfrm>
            <a:off x="1107736" y="3829573"/>
            <a:ext cx="316537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minus NSC-4</a:t>
            </a:r>
          </a:p>
        </p:txBody>
      </p:sp>
      <p:sp>
        <p:nvSpPr>
          <p:cNvPr id="13" name="PDF_TEXT_GROUP_354"/>
          <p:cNvSpPr txBox="1"/>
          <p:nvPr/>
        </p:nvSpPr>
        <p:spPr>
          <a:xfrm>
            <a:off x="10934201" y="3811545"/>
            <a:ext cx="2802810" cy="394278"/>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Roman"/>
              </a:rPr>
              <a:t>[</a:t>
            </a:r>
            <a:r>
              <a:rPr sz="2371" b="0" i="0">
                <a:solidFill>
                  <a:srgbClr val="000000"/>
                </a:solidFill>
                <a:latin typeface="Cambria Math"/>
              </a:rPr>
              <a:t>−</a:t>
            </a:r>
            <a:r>
              <a:rPr sz="2371" b="0" i="0">
                <a:solidFill>
                  <a:srgbClr val="000000"/>
                </a:solidFill>
                <a:latin typeface="Latin Modern Roman"/>
              </a:rPr>
              <a:t>2916</a:t>
            </a:r>
            <a:r>
              <a:rPr sz="2371" b="0" i="1">
                <a:solidFill>
                  <a:srgbClr val="000000"/>
                </a:solidFill>
                <a:latin typeface="Cambria Math"/>
              </a:rPr>
              <a:t>,</a:t>
            </a:r>
            <a:r>
              <a:rPr sz="2371" b="0" i="0">
                <a:solidFill>
                  <a:srgbClr val="000000"/>
                </a:solidFill>
                <a:latin typeface="Cambria Math"/>
              </a:rPr>
              <a:t> −</a:t>
            </a:r>
            <a:r>
              <a:rPr sz="2371" b="0" i="0">
                <a:solidFill>
                  <a:srgbClr val="000000"/>
                </a:solidFill>
                <a:latin typeface="Latin Modern Roman"/>
              </a:rPr>
              <a:t>2315]</a:t>
            </a:r>
            <a:r>
              <a:rPr sz="2371" b="0" i="0">
                <a:solidFill>
                  <a:srgbClr val="000000"/>
                </a:solidFill>
                <a:latin typeface="Latin Modern Sans"/>
              </a:rPr>
              <a:t> ms</a:t>
            </a:r>
          </a:p>
        </p:txBody>
      </p:sp>
      <p:sp>
        <p:nvSpPr>
          <p:cNvPr id="14" name="PDF_TEXT_GROUP_356"/>
          <p:cNvSpPr txBox="1"/>
          <p:nvPr/>
        </p:nvSpPr>
        <p:spPr>
          <a:xfrm>
            <a:off x="1123808" y="5077327"/>
            <a:ext cx="12010712"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 a conditional latency result, not general completion-rate superiority. Preserve the</a:t>
            </a:r>
            <a:r>
              <a:rPr sz="2371" b="0" i="0">
                <a:solidFill>
                  <a:srgbClr val="000000"/>
                </a:solidFill>
                <a:latin typeface="Latin Modern Sans"/>
              </a:rPr>
              <a:t> registered subset definition, overall coverage controls, and failed requests.</a:t>
            </a:r>
          </a:p>
        </p:txBody>
      </p:sp>
      <p:sp>
        <p:nvSpPr>
          <p:cNvPr id="15" name="PDF_TEXT_GROUP_357"/>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358"/>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359"/>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360"/>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361"/>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27/38</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8" descr="background-028.png"/>
          <p:cNvPicPr>
            <a:picLocks noChangeAspect="1"/>
          </p:cNvPicPr>
          <p:nvPr/>
        </p:nvPicPr>
        <p:blipFill>
          <a:blip r:embed="rId2"/>
          <a:stretch>
            <a:fillRect/>
          </a:stretch>
        </p:blipFill>
        <p:spPr>
          <a:xfrm>
            <a:off x="0" y="0"/>
            <a:ext cx="14630400" cy="8229600"/>
          </a:xfrm>
          <a:prstGeom prst="rect">
            <a:avLst/>
          </a:prstGeom>
        </p:spPr>
      </p:pic>
      <p:sp>
        <p:nvSpPr>
          <p:cNvPr id="3" name="PDF_TEXT_GROUP_362"/>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Selection Avoids Redundant Starts in This Comparison</a:t>
            </a:r>
          </a:p>
        </p:txBody>
      </p:sp>
      <p:sp>
        <p:nvSpPr>
          <p:cNvPr id="4" name="PDF_TEXT_GROUP_363"/>
          <p:cNvSpPr txBox="1"/>
          <p:nvPr/>
        </p:nvSpPr>
        <p:spPr>
          <a:xfrm>
            <a:off x="914808" y="1587481"/>
            <a:ext cx="104317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Six-seed, capacity-matched comparison; 1,800 requests per system. [28]</a:t>
            </a:r>
          </a:p>
        </p:txBody>
      </p:sp>
      <p:sp>
        <p:nvSpPr>
          <p:cNvPr id="5" name="PDF_TEXT_GROUP_364"/>
          <p:cNvSpPr txBox="1"/>
          <p:nvPr/>
        </p:nvSpPr>
        <p:spPr>
          <a:xfrm>
            <a:off x="1107736" y="2100453"/>
            <a:ext cx="199646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Configuration</a:t>
            </a:r>
          </a:p>
        </p:txBody>
      </p:sp>
      <p:sp>
        <p:nvSpPr>
          <p:cNvPr id="6" name="PDF_TEXT_GROUP_365"/>
          <p:cNvSpPr txBox="1"/>
          <p:nvPr/>
        </p:nvSpPr>
        <p:spPr>
          <a:xfrm>
            <a:off x="8360092" y="2100453"/>
            <a:ext cx="28406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 requests</a:t>
            </a:r>
          </a:p>
        </p:txBody>
      </p:sp>
      <p:sp>
        <p:nvSpPr>
          <p:cNvPr id="7" name="PDF_TEXT_GROUP_366"/>
          <p:cNvSpPr txBox="1"/>
          <p:nvPr/>
        </p:nvSpPr>
        <p:spPr>
          <a:xfrm>
            <a:off x="11376133" y="2100453"/>
            <a:ext cx="233386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Execution starts</a:t>
            </a:r>
          </a:p>
        </p:txBody>
      </p:sp>
      <p:sp>
        <p:nvSpPr>
          <p:cNvPr id="8" name="PDF_TEXT_GROUP_367"/>
          <p:cNvSpPr txBox="1"/>
          <p:nvPr/>
        </p:nvSpPr>
        <p:spPr>
          <a:xfrm>
            <a:off x="1107736" y="2668812"/>
            <a:ext cx="12300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a:t>
            </a:r>
          </a:p>
        </p:txBody>
      </p:sp>
      <p:sp>
        <p:nvSpPr>
          <p:cNvPr id="9" name="PDF_TEXT_GROUP_368"/>
          <p:cNvSpPr txBox="1"/>
          <p:nvPr/>
        </p:nvSpPr>
        <p:spPr>
          <a:xfrm>
            <a:off x="9150522" y="2668812"/>
            <a:ext cx="202035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1,798 / 1,800</a:t>
            </a:r>
          </a:p>
        </p:txBody>
      </p:sp>
      <p:sp>
        <p:nvSpPr>
          <p:cNvPr id="10" name="PDF_TEXT_GROUP_369"/>
          <p:cNvSpPr txBox="1"/>
          <p:nvPr/>
        </p:nvSpPr>
        <p:spPr>
          <a:xfrm>
            <a:off x="12797101" y="266881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a:t>
            </a:r>
          </a:p>
        </p:txBody>
      </p:sp>
      <p:sp>
        <p:nvSpPr>
          <p:cNvPr id="11" name="PDF_TEXT_GROUP_370"/>
          <p:cNvSpPr txBox="1"/>
          <p:nvPr/>
        </p:nvSpPr>
        <p:spPr>
          <a:xfrm>
            <a:off x="1107736" y="3237172"/>
            <a:ext cx="19357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gRPC-PAR-4</a:t>
            </a:r>
          </a:p>
        </p:txBody>
      </p:sp>
      <p:sp>
        <p:nvSpPr>
          <p:cNvPr id="12" name="PDF_TEXT_GROUP_371"/>
          <p:cNvSpPr txBox="1"/>
          <p:nvPr/>
        </p:nvSpPr>
        <p:spPr>
          <a:xfrm>
            <a:off x="9150490" y="3237172"/>
            <a:ext cx="202067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1,800 / 1,800</a:t>
            </a:r>
          </a:p>
        </p:txBody>
      </p:sp>
      <p:sp>
        <p:nvSpPr>
          <p:cNvPr id="13" name="PDF_TEXT_GROUP_372"/>
          <p:cNvSpPr txBox="1"/>
          <p:nvPr/>
        </p:nvSpPr>
        <p:spPr>
          <a:xfrm>
            <a:off x="12797069" y="3237172"/>
            <a:ext cx="91309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7,180</a:t>
            </a:r>
          </a:p>
        </p:txBody>
      </p:sp>
      <p:sp>
        <p:nvSpPr>
          <p:cNvPr id="14" name="PDF_TEXT_GROUP_373"/>
          <p:cNvSpPr txBox="1"/>
          <p:nvPr/>
        </p:nvSpPr>
        <p:spPr>
          <a:xfrm>
            <a:off x="914808" y="4079499"/>
            <a:ext cx="1341418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NSC-4 also completed 1,800/1,800, with 1.002 starts/request (rounded). No work-efficiency</a:t>
            </a:r>
          </a:p>
        </p:txBody>
      </p:sp>
      <p:sp>
        <p:nvSpPr>
          <p:cNvPr id="15" name="PDF_TEXT_GROUP_374"/>
          <p:cNvSpPr txBox="1"/>
          <p:nvPr/>
        </p:nvSpPr>
        <p:spPr>
          <a:xfrm>
            <a:off x="914808" y="4740635"/>
            <a:ext cx="461244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advantage over NSC is claimed.</a:t>
            </a:r>
          </a:p>
        </p:txBody>
      </p:sp>
      <p:sp>
        <p:nvSpPr>
          <p:cNvPr id="16" name="PDF_TEXT_GROUP_375"/>
          <p:cNvSpPr txBox="1"/>
          <p:nvPr/>
        </p:nvSpPr>
        <p:spPr>
          <a:xfrm>
            <a:off x="1123808" y="5478003"/>
            <a:ext cx="1226387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Fewer starts than gRPC-PAR-4 is not proof of fewer bytes, less CPU time or lower energy.</a:t>
            </a:r>
            <a:r>
              <a:rPr sz="2371" b="0" i="0">
                <a:solidFill>
                  <a:srgbClr val="000000"/>
                </a:solidFill>
                <a:latin typeface="Latin Modern Sans"/>
              </a:rPr>
              <a:t> Similar observed completion is not proven equivalence.</a:t>
            </a:r>
          </a:p>
        </p:txBody>
      </p:sp>
      <p:sp>
        <p:nvSpPr>
          <p:cNvPr id="17" name="PDF_TEXT_GROUP_37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37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37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37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38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28/38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29" descr="background-029.png"/>
          <p:cNvPicPr>
            <a:picLocks noChangeAspect="1"/>
          </p:cNvPicPr>
          <p:nvPr/>
        </p:nvPicPr>
        <p:blipFill>
          <a:blip r:embed="rId2"/>
          <a:stretch>
            <a:fillRect/>
          </a:stretch>
        </p:blipFill>
        <p:spPr>
          <a:xfrm>
            <a:off x="0" y="0"/>
            <a:ext cx="14630400" cy="8229600"/>
          </a:xfrm>
          <a:prstGeom prst="rect">
            <a:avLst/>
          </a:prstGeom>
        </p:spPr>
      </p:pic>
      <p:sp>
        <p:nvSpPr>
          <p:cNvPr id="3" name="PDF_TEXT_GROUP_38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Useful Negative Result: Splitting Can Be Slower</a:t>
            </a:r>
          </a:p>
        </p:txBody>
      </p:sp>
      <p:sp>
        <p:nvSpPr>
          <p:cNvPr id="4" name="PDF_TEXT_GROUP_382"/>
          <p:cNvSpPr txBox="1"/>
          <p:nvPr/>
        </p:nvSpPr>
        <p:spPr>
          <a:xfrm>
            <a:off x="914808" y="1827519"/>
            <a:ext cx="1084533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Earlier small Qwen-style ONNX model; ten successful runs per layout. [28]</a:t>
            </a:r>
          </a:p>
        </p:txBody>
      </p:sp>
      <p:sp>
        <p:nvSpPr>
          <p:cNvPr id="5" name="PDF_TEXT_GROUP_383"/>
          <p:cNvSpPr txBox="1"/>
          <p:nvPr/>
        </p:nvSpPr>
        <p:spPr>
          <a:xfrm>
            <a:off x="1107736" y="2340490"/>
            <a:ext cx="10826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Layout</a:t>
            </a:r>
          </a:p>
        </p:txBody>
      </p:sp>
      <p:sp>
        <p:nvSpPr>
          <p:cNvPr id="6" name="PDF_TEXT_GROUP_384"/>
          <p:cNvSpPr txBox="1"/>
          <p:nvPr/>
        </p:nvSpPr>
        <p:spPr>
          <a:xfrm>
            <a:off x="10125828" y="2340490"/>
            <a:ext cx="19802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Mean latency</a:t>
            </a:r>
          </a:p>
        </p:txBody>
      </p:sp>
      <p:sp>
        <p:nvSpPr>
          <p:cNvPr id="7" name="PDF_TEXT_GROUP_385"/>
          <p:cNvSpPr txBox="1"/>
          <p:nvPr/>
        </p:nvSpPr>
        <p:spPr>
          <a:xfrm>
            <a:off x="13041715" y="2340490"/>
            <a:ext cx="66838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p95</a:t>
            </a:r>
          </a:p>
        </p:txBody>
      </p:sp>
      <p:sp>
        <p:nvSpPr>
          <p:cNvPr id="8" name="PDF_TEXT_GROUP_386"/>
          <p:cNvSpPr txBox="1"/>
          <p:nvPr/>
        </p:nvSpPr>
        <p:spPr>
          <a:xfrm>
            <a:off x="1107736" y="2908849"/>
            <a:ext cx="510518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Shared-backbone distributed layout</a:t>
            </a:r>
          </a:p>
        </p:txBody>
      </p:sp>
      <p:sp>
        <p:nvSpPr>
          <p:cNvPr id="9" name="PDF_TEXT_GROUP_387"/>
          <p:cNvSpPr txBox="1"/>
          <p:nvPr/>
        </p:nvSpPr>
        <p:spPr>
          <a:xfrm>
            <a:off x="10707109"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259.4 ms</a:t>
            </a:r>
          </a:p>
        </p:txBody>
      </p:sp>
      <p:sp>
        <p:nvSpPr>
          <p:cNvPr id="10" name="PDF_TEXT_GROUP_388"/>
          <p:cNvSpPr txBox="1"/>
          <p:nvPr/>
        </p:nvSpPr>
        <p:spPr>
          <a:xfrm>
            <a:off x="12311023" y="290884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283.9 ms</a:t>
            </a:r>
          </a:p>
        </p:txBody>
      </p:sp>
      <p:sp>
        <p:nvSpPr>
          <p:cNvPr id="11" name="PDF_TEXT_GROUP_389"/>
          <p:cNvSpPr txBox="1"/>
          <p:nvPr/>
        </p:nvSpPr>
        <p:spPr>
          <a:xfrm>
            <a:off x="1107736" y="3477209"/>
            <a:ext cx="220985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Single Provider</a:t>
            </a:r>
          </a:p>
        </p:txBody>
      </p:sp>
      <p:sp>
        <p:nvSpPr>
          <p:cNvPr id="12" name="PDF_TEXT_GROUP_390"/>
          <p:cNvSpPr txBox="1"/>
          <p:nvPr/>
        </p:nvSpPr>
        <p:spPr>
          <a:xfrm>
            <a:off x="10707109" y="3477209"/>
            <a:ext cx="139881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186.8 ms</a:t>
            </a:r>
          </a:p>
        </p:txBody>
      </p:sp>
      <p:sp>
        <p:nvSpPr>
          <p:cNvPr id="13" name="PDF_TEXT_GROUP_391"/>
          <p:cNvSpPr txBox="1"/>
          <p:nvPr/>
        </p:nvSpPr>
        <p:spPr>
          <a:xfrm>
            <a:off x="12311023" y="3477209"/>
            <a:ext cx="139913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206.3 ms</a:t>
            </a:r>
          </a:p>
        </p:txBody>
      </p:sp>
      <p:sp>
        <p:nvSpPr>
          <p:cNvPr id="14" name="PDF_TEXT_GROUP_392"/>
          <p:cNvSpPr txBox="1"/>
          <p:nvPr/>
        </p:nvSpPr>
        <p:spPr>
          <a:xfrm>
            <a:off x="1123808" y="4738535"/>
            <a:ext cx="120240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Do not split merely because several Providers exist. Communication/setup overhead is a</a:t>
            </a:r>
            <a:r>
              <a:rPr sz="2371" b="0" i="0">
                <a:solidFill>
                  <a:srgbClr val="000000"/>
                </a:solidFill>
                <a:latin typeface="Latin Modern Sans"/>
              </a:rPr>
              <a:t> candidate explanation, not a causal result established by this measurement.</a:t>
            </a:r>
          </a:p>
        </p:txBody>
      </p:sp>
      <p:sp>
        <p:nvSpPr>
          <p:cNvPr id="15" name="PDF_TEXT_GROUP_393"/>
          <p:cNvSpPr txBox="1"/>
          <p:nvPr/>
        </p:nvSpPr>
        <p:spPr>
          <a:xfrm>
            <a:off x="914808" y="6194392"/>
            <a:ext cx="1247959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This campaign does not validate the newer canonical-layer, tensor/hybrid or multi-accelerator design.</a:t>
            </a:r>
          </a:p>
        </p:txBody>
      </p:sp>
      <p:sp>
        <p:nvSpPr>
          <p:cNvPr id="16" name="PDF_TEXT_GROUP_394"/>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395"/>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396"/>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397"/>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398"/>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29/38</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0" descr="background-030.png"/>
          <p:cNvPicPr>
            <a:picLocks noChangeAspect="1"/>
          </p:cNvPicPr>
          <p:nvPr/>
        </p:nvPicPr>
        <p:blipFill>
          <a:blip r:embed="rId2"/>
          <a:stretch>
            <a:fillRect/>
          </a:stretch>
        </p:blipFill>
        <p:spPr>
          <a:xfrm>
            <a:off x="0" y="0"/>
            <a:ext cx="14630400" cy="8229600"/>
          </a:xfrm>
          <a:prstGeom prst="rect">
            <a:avLst/>
          </a:prstGeom>
        </p:spPr>
      </p:pic>
      <p:sp>
        <p:nvSpPr>
          <p:cNvPr id="3" name="PDF_TEXT_GROUP_399"/>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Remaining Experiments Follow the Claims</a:t>
            </a:r>
          </a:p>
        </p:txBody>
      </p:sp>
      <p:sp>
        <p:nvSpPr>
          <p:cNvPr id="4" name="PDF_TEXT_GROUP_400"/>
          <p:cNvSpPr txBox="1"/>
          <p:nvPr/>
        </p:nvSpPr>
        <p:spPr>
          <a:xfrm>
            <a:off x="1107736" y="1400797"/>
            <a:ext cx="62504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a:t>
            </a:r>
          </a:p>
        </p:txBody>
      </p:sp>
      <p:sp>
        <p:nvSpPr>
          <p:cNvPr id="5" name="PDF_TEXT_GROUP_401"/>
          <p:cNvSpPr txBox="1"/>
          <p:nvPr/>
        </p:nvSpPr>
        <p:spPr>
          <a:xfrm>
            <a:off x="2646188" y="1400797"/>
            <a:ext cx="26077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Required evidence</a:t>
            </a:r>
          </a:p>
        </p:txBody>
      </p:sp>
      <p:sp>
        <p:nvSpPr>
          <p:cNvPr id="6" name="PDF_TEXT_GROUP_402"/>
          <p:cNvSpPr txBox="1"/>
          <p:nvPr/>
        </p:nvSpPr>
        <p:spPr>
          <a:xfrm>
            <a:off x="8280836" y="1400797"/>
            <a:ext cx="266200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Outcome and cost</a:t>
            </a:r>
          </a:p>
        </p:txBody>
      </p:sp>
      <p:sp>
        <p:nvSpPr>
          <p:cNvPr id="7" name="PDF_TEXT_GROUP_403"/>
          <p:cNvSpPr txBox="1"/>
          <p:nvPr/>
        </p:nvSpPr>
        <p:spPr>
          <a:xfrm>
            <a:off x="1107736" y="1969156"/>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RQ1</a:t>
            </a:r>
          </a:p>
        </p:txBody>
      </p:sp>
      <p:sp>
        <p:nvSpPr>
          <p:cNvPr id="8" name="PDF_TEXT_GROUP_404"/>
          <p:cNvSpPr txBox="1"/>
          <p:nvPr/>
        </p:nvSpPr>
        <p:spPr>
          <a:xfrm>
            <a:off x="2646188" y="1969156"/>
            <a:ext cx="44075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Full authorization alternatives;</a:t>
            </a:r>
          </a:p>
        </p:txBody>
      </p:sp>
      <p:sp>
        <p:nvSpPr>
          <p:cNvPr id="9" name="PDF_TEXT_GROUP_405"/>
          <p:cNvSpPr txBox="1"/>
          <p:nvPr/>
        </p:nvSpPr>
        <p:spPr>
          <a:xfrm>
            <a:off x="8280720" y="1969156"/>
            <a:ext cx="444417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No unauthorized handler start;</a:t>
            </a:r>
          </a:p>
        </p:txBody>
      </p:sp>
      <p:sp>
        <p:nvSpPr>
          <p:cNvPr id="10" name="PDF_TEXT_GROUP_406"/>
          <p:cNvSpPr txBox="1"/>
          <p:nvPr/>
        </p:nvSpPr>
        <p:spPr>
          <a:xfrm>
            <a:off x="2646187" y="2355484"/>
            <a:ext cx="537654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unauthorized call, challenge/replay and</a:t>
            </a:r>
            <a:r>
              <a:rPr sz="2371" b="0" i="0">
                <a:solidFill>
                  <a:srgbClr val="000000"/>
                </a:solidFill>
                <a:latin typeface="Latin Modern Sans"/>
              </a:rPr>
              <a:t> withdrawal cases</a:t>
            </a:r>
          </a:p>
        </p:txBody>
      </p:sp>
      <p:sp>
        <p:nvSpPr>
          <p:cNvPr id="11" name="PDF_TEXT_GROUP_407"/>
          <p:cNvSpPr txBox="1"/>
          <p:nvPr/>
        </p:nvSpPr>
        <p:spPr>
          <a:xfrm>
            <a:off x="8280720" y="2355484"/>
            <a:ext cx="5270155"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discovery delay, key/policy size, status</a:t>
            </a:r>
            <a:r>
              <a:rPr sz="2371" b="0" i="0">
                <a:solidFill>
                  <a:srgbClr val="000000"/>
                </a:solidFill>
                <a:latin typeface="Latin Modern Sans"/>
              </a:rPr>
              <a:t> delay and rekey traffic</a:t>
            </a:r>
          </a:p>
        </p:txBody>
      </p:sp>
      <p:sp>
        <p:nvSpPr>
          <p:cNvPr id="12" name="PDF_TEXT_GROUP_408"/>
          <p:cNvSpPr txBox="1"/>
          <p:nvPr/>
        </p:nvSpPr>
        <p:spPr>
          <a:xfrm>
            <a:off x="1107736" y="3310172"/>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RQ2</a:t>
            </a:r>
          </a:p>
        </p:txBody>
      </p:sp>
      <p:sp>
        <p:nvSpPr>
          <p:cNvPr id="13" name="PDF_TEXT_GROUP_409"/>
          <p:cNvSpPr txBox="1"/>
          <p:nvPr/>
        </p:nvSpPr>
        <p:spPr>
          <a:xfrm>
            <a:off x="2646188" y="3310172"/>
            <a:ext cx="512407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One UAV and one DI graph; wrong</a:t>
            </a:r>
          </a:p>
        </p:txBody>
      </p:sp>
      <p:sp>
        <p:nvSpPr>
          <p:cNvPr id="14" name="PDF_TEXT_GROUP_410"/>
          <p:cNvSpPr txBox="1"/>
          <p:nvPr/>
        </p:nvSpPr>
        <p:spPr>
          <a:xfrm>
            <a:off x="8280720" y="3310172"/>
            <a:ext cx="517491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Correct task completion; validation,</a:t>
            </a:r>
          </a:p>
        </p:txBody>
      </p:sp>
      <p:sp>
        <p:nvSpPr>
          <p:cNvPr id="15" name="PDF_TEXT_GROUP_411"/>
          <p:cNvSpPr txBox="1"/>
          <p:nvPr/>
        </p:nvSpPr>
        <p:spPr>
          <a:xfrm>
            <a:off x="2646187" y="3696500"/>
            <a:ext cx="4203151"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role/edge; direct/cache parity;</a:t>
            </a:r>
            <a:r>
              <a:rPr sz="2371" b="0" i="0">
                <a:solidFill>
                  <a:srgbClr val="000000"/>
                </a:solidFill>
                <a:latin typeface="Latin Modern Sans"/>
              </a:rPr>
              <a:t> cancellation/replacement</a:t>
            </a:r>
          </a:p>
        </p:txBody>
      </p:sp>
      <p:sp>
        <p:nvSpPr>
          <p:cNvPr id="16" name="PDF_TEXT_GROUP_412"/>
          <p:cNvSpPr txBox="1"/>
          <p:nvPr/>
        </p:nvSpPr>
        <p:spPr>
          <a:xfrm>
            <a:off x="8280720" y="3696500"/>
            <a:ext cx="375610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transfer and recovery cost</a:t>
            </a:r>
          </a:p>
        </p:txBody>
      </p:sp>
      <p:sp>
        <p:nvSpPr>
          <p:cNvPr id="17" name="PDF_TEXT_GROUP_413"/>
          <p:cNvSpPr txBox="1"/>
          <p:nvPr/>
        </p:nvSpPr>
        <p:spPr>
          <a:xfrm>
            <a:off x="1107736" y="4651187"/>
            <a:ext cx="78580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RQ3</a:t>
            </a:r>
          </a:p>
        </p:txBody>
      </p:sp>
      <p:sp>
        <p:nvSpPr>
          <p:cNvPr id="18" name="PDF_TEXT_GROUP_414"/>
          <p:cNvSpPr txBox="1"/>
          <p:nvPr/>
        </p:nvSpPr>
        <p:spPr>
          <a:xfrm>
            <a:off x="2646188" y="4651187"/>
            <a:ext cx="431055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Matched workload and failure</a:t>
            </a:r>
          </a:p>
        </p:txBody>
      </p:sp>
      <p:sp>
        <p:nvSpPr>
          <p:cNvPr id="19" name="PDF_TEXT_GROUP_415"/>
          <p:cNvSpPr txBox="1"/>
          <p:nvPr/>
        </p:nvSpPr>
        <p:spPr>
          <a:xfrm>
            <a:off x="8280720" y="4651187"/>
            <a:ext cx="512466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plus latency, redundant</a:t>
            </a:r>
          </a:p>
        </p:txBody>
      </p:sp>
      <p:sp>
        <p:nvSpPr>
          <p:cNvPr id="20" name="PDF_TEXT_GROUP_416"/>
          <p:cNvSpPr txBox="1"/>
          <p:nvPr/>
        </p:nvSpPr>
        <p:spPr>
          <a:xfrm>
            <a:off x="2646187" y="5037515"/>
            <a:ext cx="4337226"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schedules; feasible single-device</a:t>
            </a:r>
            <a:r>
              <a:rPr sz="2371" b="0" i="0">
                <a:solidFill>
                  <a:srgbClr val="000000"/>
                </a:solidFill>
                <a:latin typeface="Latin Modern Sans"/>
              </a:rPr>
              <a:t> control; cold/warm state</a:t>
            </a:r>
          </a:p>
        </p:txBody>
      </p:sp>
      <p:sp>
        <p:nvSpPr>
          <p:cNvPr id="21" name="PDF_TEXT_GROUP_417"/>
          <p:cNvSpPr txBox="1"/>
          <p:nvPr/>
        </p:nvSpPr>
        <p:spPr>
          <a:xfrm>
            <a:off x="8280720" y="5037515"/>
            <a:ext cx="4785428" cy="828877"/>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work, bytes, uncertainty, and cases</a:t>
            </a:r>
            <a:r>
              <a:rPr sz="2371" b="0" i="0">
                <a:solidFill>
                  <a:srgbClr val="000000"/>
                </a:solidFill>
                <a:latin typeface="Latin Modern Sans"/>
              </a:rPr>
              <a:t> with no advantage</a:t>
            </a:r>
          </a:p>
        </p:txBody>
      </p:sp>
      <p:sp>
        <p:nvSpPr>
          <p:cNvPr id="22" name="PDF_TEXT_GROUP_418"/>
          <p:cNvSpPr txBox="1"/>
          <p:nvPr/>
        </p:nvSpPr>
        <p:spPr>
          <a:xfrm>
            <a:off x="1123808" y="6305240"/>
            <a:ext cx="1325733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Planned tests are not completed findings. Record all scheduled runs and failure boundaries.</a:t>
            </a:r>
          </a:p>
        </p:txBody>
      </p:sp>
      <p:sp>
        <p:nvSpPr>
          <p:cNvPr id="23" name="PDF_TEXT_GROUP_41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24" name="PDF_TEXT_GROUP_42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25" name="PDF_TEXT_GROUP_42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6" name="PDF_TEXT_GROUP_42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7" name="PDF_TEXT_GROUP_42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30/38</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1" descr="background-031.png"/>
          <p:cNvPicPr>
            <a:picLocks noChangeAspect="1"/>
          </p:cNvPicPr>
          <p:nvPr/>
        </p:nvPicPr>
        <p:blipFill>
          <a:blip r:embed="rId2"/>
          <a:stretch>
            <a:fillRect/>
          </a:stretch>
        </p:blipFill>
        <p:spPr>
          <a:xfrm>
            <a:off x="0" y="0"/>
            <a:ext cx="14630400" cy="8229600"/>
          </a:xfrm>
          <a:prstGeom prst="rect">
            <a:avLst/>
          </a:prstGeom>
        </p:spPr>
      </p:pic>
      <p:sp>
        <p:nvSpPr>
          <p:cNvPr id="3" name="PDF_TEXT_GROUP_42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A Bounded Path to Spring 2027</a:t>
            </a:r>
          </a:p>
        </p:txBody>
      </p:sp>
      <p:sp>
        <p:nvSpPr>
          <p:cNvPr id="4" name="PDF_TEXT_GROUP_425"/>
          <p:cNvSpPr txBox="1"/>
          <p:nvPr/>
        </p:nvSpPr>
        <p:spPr>
          <a:xfrm>
            <a:off x="1107736" y="1248010"/>
            <a:ext cx="210079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Internal target</a:t>
            </a:r>
          </a:p>
        </p:txBody>
      </p:sp>
      <p:sp>
        <p:nvSpPr>
          <p:cNvPr id="5" name="PDF_TEXT_GROUP_426"/>
          <p:cNvSpPr txBox="1"/>
          <p:nvPr/>
        </p:nvSpPr>
        <p:spPr>
          <a:xfrm>
            <a:off x="4695540" y="1248010"/>
            <a:ext cx="238933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Completion gate</a:t>
            </a:r>
          </a:p>
        </p:txBody>
      </p:sp>
      <p:sp>
        <p:nvSpPr>
          <p:cNvPr id="6" name="PDF_TEXT_GROUP_427"/>
          <p:cNvSpPr txBox="1"/>
          <p:nvPr/>
        </p:nvSpPr>
        <p:spPr>
          <a:xfrm>
            <a:off x="1107736" y="1816370"/>
            <a:ext cx="2360843"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September 2026</a:t>
            </a:r>
          </a:p>
        </p:txBody>
      </p:sp>
      <p:sp>
        <p:nvSpPr>
          <p:cNvPr id="7" name="PDF_TEXT_GROUP_428"/>
          <p:cNvSpPr txBox="1"/>
          <p:nvPr/>
        </p:nvSpPr>
        <p:spPr>
          <a:xfrm>
            <a:off x="4695454" y="1816370"/>
            <a:ext cx="8545172"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Agree scope/RQs; freeze one UAV graph and one DI partition;</a:t>
            </a:r>
            <a:r>
              <a:rPr sz="2371" b="0" i="0">
                <a:solidFill>
                  <a:srgbClr val="000000"/>
                </a:solidFill>
                <a:latin typeface="Latin Modern Sans"/>
              </a:rPr>
              <a:t> resolve correctness blockers</a:t>
            </a:r>
          </a:p>
        </p:txBody>
      </p:sp>
      <p:sp>
        <p:nvSpPr>
          <p:cNvPr id="8" name="PDF_TEXT_GROUP_429"/>
          <p:cNvSpPr txBox="1"/>
          <p:nvPr/>
        </p:nvSpPr>
        <p:spPr>
          <a:xfrm>
            <a:off x="1107736" y="2771057"/>
            <a:ext cx="2735819"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October–November</a:t>
            </a:r>
            <a:r>
              <a:rPr sz="2371" b="0" i="0">
                <a:solidFill>
                  <a:srgbClr val="000000"/>
                </a:solidFill>
                <a:latin typeface="Latin Modern Sans"/>
              </a:rPr>
              <a:t> 2026</a:t>
            </a:r>
          </a:p>
        </p:txBody>
      </p:sp>
      <p:sp>
        <p:nvSpPr>
          <p:cNvPr id="9" name="PDF_TEXT_GROUP_430"/>
          <p:cNvSpPr txBox="1"/>
          <p:nvPr/>
        </p:nvSpPr>
        <p:spPr>
          <a:xfrm>
            <a:off x="4695454" y="2771057"/>
            <a:ext cx="807550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registered experiments; freeze evidence and write</a:t>
            </a:r>
            <a:r>
              <a:rPr sz="2371" b="0" i="0">
                <a:solidFill>
                  <a:srgbClr val="000000"/>
                </a:solidFill>
                <a:latin typeface="Latin Modern Sans"/>
              </a:rPr>
              <a:t> bounded RQ answers</a:t>
            </a:r>
          </a:p>
        </p:txBody>
      </p:sp>
      <p:sp>
        <p:nvSpPr>
          <p:cNvPr id="10" name="PDF_TEXT_GROUP_431"/>
          <p:cNvSpPr txBox="1"/>
          <p:nvPr/>
        </p:nvSpPr>
        <p:spPr>
          <a:xfrm>
            <a:off x="1107736" y="3725745"/>
            <a:ext cx="22751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December 2026</a:t>
            </a:r>
          </a:p>
        </p:txBody>
      </p:sp>
      <p:sp>
        <p:nvSpPr>
          <p:cNvPr id="11" name="PDF_TEXT_GROUP_432"/>
          <p:cNvSpPr txBox="1"/>
          <p:nvPr/>
        </p:nvSpPr>
        <p:spPr>
          <a:xfrm>
            <a:off x="4695283" y="3725745"/>
            <a:ext cx="590026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 integrated advisor-review draft</a:t>
            </a:r>
          </a:p>
        </p:txBody>
      </p:sp>
      <p:sp>
        <p:nvSpPr>
          <p:cNvPr id="12" name="PDF_TEXT_GROUP_433"/>
          <p:cNvSpPr txBox="1"/>
          <p:nvPr/>
        </p:nvSpPr>
        <p:spPr>
          <a:xfrm>
            <a:off x="1107736" y="4294104"/>
            <a:ext cx="197302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January 2027</a:t>
            </a:r>
          </a:p>
        </p:txBody>
      </p:sp>
      <p:sp>
        <p:nvSpPr>
          <p:cNvPr id="13" name="PDF_TEXT_GROUP_434"/>
          <p:cNvSpPr txBox="1"/>
          <p:nvPr/>
        </p:nvSpPr>
        <p:spPr>
          <a:xfrm>
            <a:off x="4695412" y="4294104"/>
            <a:ext cx="875619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Committee review and readiness decision; reduce scope or revise</a:t>
            </a:r>
            <a:r>
              <a:rPr sz="2371" b="0" i="0">
                <a:solidFill>
                  <a:srgbClr val="000000"/>
                </a:solidFill>
                <a:latin typeface="Latin Modern Sans"/>
              </a:rPr>
              <a:t> timing if core evidence is missing</a:t>
            </a:r>
          </a:p>
        </p:txBody>
      </p:sp>
      <p:sp>
        <p:nvSpPr>
          <p:cNvPr id="14" name="PDF_TEXT_GROUP_435"/>
          <p:cNvSpPr txBox="1"/>
          <p:nvPr/>
        </p:nvSpPr>
        <p:spPr>
          <a:xfrm>
            <a:off x="1107736" y="5248824"/>
            <a:ext cx="208488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February 2027</a:t>
            </a:r>
          </a:p>
        </p:txBody>
      </p:sp>
      <p:sp>
        <p:nvSpPr>
          <p:cNvPr id="15" name="PDF_TEXT_GROUP_436"/>
          <p:cNvSpPr txBox="1"/>
          <p:nvPr/>
        </p:nvSpPr>
        <p:spPr>
          <a:xfrm>
            <a:off x="4695379" y="5248824"/>
            <a:ext cx="932322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Target defense, conditional on evidence and committee approval</a:t>
            </a:r>
          </a:p>
        </p:txBody>
      </p:sp>
      <p:sp>
        <p:nvSpPr>
          <p:cNvPr id="16" name="PDF_TEXT_GROUP_437"/>
          <p:cNvSpPr txBox="1"/>
          <p:nvPr/>
        </p:nvSpPr>
        <p:spPr>
          <a:xfrm>
            <a:off x="1123808" y="6130188"/>
            <a:ext cx="11811497"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CS guidance: advisor-approved complete draft to committee two weeks before defense.</a:t>
            </a:r>
            <a:r>
              <a:rPr sz="2371" b="0" i="0">
                <a:solidFill>
                  <a:srgbClr val="000000"/>
                </a:solidFill>
                <a:latin typeface="Latin Modern Sans"/>
              </a:rPr>
              <a:t> Spring 2027 final ProQuest deadline: March 26, 2027; recheck before filing. [29,30]</a:t>
            </a:r>
          </a:p>
        </p:txBody>
      </p:sp>
      <p:sp>
        <p:nvSpPr>
          <p:cNvPr id="17" name="PDF_TEXT_GROUP_438"/>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8" name="PDF_TEXT_GROUP_439"/>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9" name="PDF_TEXT_GROUP_440"/>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20" name="PDF_TEXT_GROUP_441"/>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1" name="PDF_TEXT_GROUP_442"/>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31/38</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2" descr="background-032.png"/>
          <p:cNvPicPr>
            <a:picLocks noChangeAspect="1"/>
          </p:cNvPicPr>
          <p:nvPr/>
        </p:nvPicPr>
        <p:blipFill>
          <a:blip r:embed="rId2"/>
          <a:stretch>
            <a:fillRect/>
          </a:stretch>
        </p:blipFill>
        <p:spPr>
          <a:xfrm>
            <a:off x="0" y="0"/>
            <a:ext cx="14630400" cy="8229600"/>
          </a:xfrm>
          <a:prstGeom prst="rect">
            <a:avLst/>
          </a:prstGeom>
        </p:spPr>
      </p:pic>
      <p:sp>
        <p:nvSpPr>
          <p:cNvPr id="3" name="PDF_TEXT_GROUP_443"/>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What a Final Defense Must Be Able to Claim</a:t>
            </a:r>
          </a:p>
        </p:txBody>
      </p:sp>
      <p:sp>
        <p:nvSpPr>
          <p:cNvPr id="4" name="PDF_TEXT_GROUP_444"/>
          <p:cNvSpPr txBox="1"/>
          <p:nvPr/>
        </p:nvSpPr>
        <p:spPr>
          <a:xfrm>
            <a:off x="1618972" y="1945279"/>
            <a:ext cx="11975552" cy="92992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RQ1 answer:</a:t>
            </a:r>
            <a:r>
              <a:rPr sz="2710" b="0" i="0">
                <a:solidFill>
                  <a:srgbClr val="000000"/>
                </a:solidFill>
                <a:latin typeface="Latin Modern Sans"/>
              </a:rPr>
              <a:t> when ABE-backed discovery/authorization is preferable, including</a:t>
            </a:r>
            <a:r>
              <a:rPr sz="2710" b="0" i="0">
                <a:solidFill>
                  <a:srgbClr val="000000"/>
                </a:solidFill>
                <a:latin typeface="Latin Modern Sans"/>
              </a:rPr>
              <a:t> management and revocation costs.</a:t>
            </a:r>
          </a:p>
        </p:txBody>
      </p:sp>
      <p:sp>
        <p:nvSpPr>
          <p:cNvPr id="5" name="PDF_TEXT_GROUP_445"/>
          <p:cNvSpPr txBox="1"/>
          <p:nvPr/>
        </p:nvSpPr>
        <p:spPr>
          <a:xfrm>
            <a:off x="1618972" y="2917579"/>
            <a:ext cx="11578665"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RQ2 answer:</a:t>
            </a:r>
            <a:r>
              <a:rPr sz="2710" b="0" i="0">
                <a:solidFill>
                  <a:srgbClr val="000000"/>
                </a:solidFill>
                <a:latin typeface="Latin Modern Sans"/>
              </a:rPr>
              <a:t> exactly which task-assignment mistakes are rejected and which</a:t>
            </a:r>
            <a:r>
              <a:rPr sz="2710" b="0" i="0">
                <a:solidFill>
                  <a:srgbClr val="000000"/>
                </a:solidFill>
                <a:latin typeface="Latin Modern Sans"/>
              </a:rPr>
              <a:t> recovery behavior is supported.</a:t>
            </a:r>
          </a:p>
        </p:txBody>
      </p:sp>
      <p:sp>
        <p:nvSpPr>
          <p:cNvPr id="6" name="PDF_TEXT_GROUP_446"/>
          <p:cNvSpPr txBox="1"/>
          <p:nvPr/>
        </p:nvSpPr>
        <p:spPr>
          <a:xfrm>
            <a:off x="1618972" y="3889845"/>
            <a:ext cx="11646728" cy="44063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1" i="0">
                <a:solidFill>
                  <a:srgbClr val="000000"/>
                </a:solidFill>
                <a:latin typeface="Latin Modern Sans"/>
              </a:rPr>
              <a:t>RQ3 answer:</a:t>
            </a:r>
            <a:r>
              <a:rPr sz="2710" b="0" i="0">
                <a:solidFill>
                  <a:srgbClr val="000000"/>
                </a:solidFill>
                <a:latin typeface="Latin Modern Sans"/>
              </a:rPr>
              <a:t> measured benefits, negative results and deployment limits.</a:t>
            </a:r>
          </a:p>
        </p:txBody>
      </p:sp>
      <p:sp>
        <p:nvSpPr>
          <p:cNvPr id="7" name="PDF_TEXT_GROUP_447"/>
          <p:cNvSpPr txBox="1"/>
          <p:nvPr/>
        </p:nvSpPr>
        <p:spPr>
          <a:xfrm>
            <a:off x="1618972" y="4424274"/>
            <a:ext cx="11473607"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Distinguish the candidate’s research from shared implementations and reused</a:t>
            </a:r>
            <a:r>
              <a:rPr sz="2710" b="0" i="0">
                <a:solidFill>
                  <a:srgbClr val="000000"/>
                </a:solidFill>
                <a:latin typeface="Latin Modern Sans"/>
              </a:rPr>
              <a:t> NDN/AI libraries.</a:t>
            </a:r>
          </a:p>
        </p:txBody>
      </p:sp>
      <p:sp>
        <p:nvSpPr>
          <p:cNvPr id="8" name="PDF_TEXT_GROUP_448"/>
          <p:cNvSpPr txBox="1"/>
          <p:nvPr/>
        </p:nvSpPr>
        <p:spPr>
          <a:xfrm>
            <a:off x="1143656" y="5762737"/>
            <a:ext cx="10610053"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This proposal defines those obligations. It does not label the remaining</a:t>
            </a:r>
            <a:r>
              <a:rPr sz="2710" b="0" i="0">
                <a:solidFill>
                  <a:srgbClr val="000000"/>
                </a:solidFill>
                <a:latin typeface="Latin Modern Sans"/>
              </a:rPr>
              <a:t> collaboration evidence as finished.</a:t>
            </a:r>
          </a:p>
        </p:txBody>
      </p:sp>
      <p:sp>
        <p:nvSpPr>
          <p:cNvPr id="9" name="PDF_TEXT_GROUP_449"/>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50"/>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51"/>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52"/>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53"/>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32/38</a:t>
            </a:r>
          </a:p>
        </p:txBody>
      </p:sp>
      <p:sp>
        <p:nvSpPr>
          <p:cNvPr id="14" name="PDF_BULLET_SPAN_642"/>
          <p:cNvSpPr/>
          <p:nvPr/>
        </p:nvSpPr>
        <p:spPr>
          <a:xfrm rot="5400000">
            <a:off x="1207424" y="2031070"/>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PDF_BULLET_SPAN_646"/>
          <p:cNvSpPr/>
          <p:nvPr/>
        </p:nvSpPr>
        <p:spPr>
          <a:xfrm rot="5400000">
            <a:off x="1207424" y="3003369"/>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PDF_BULLET_SPAN_650"/>
          <p:cNvSpPr/>
          <p:nvPr/>
        </p:nvSpPr>
        <p:spPr>
          <a:xfrm rot="5400000">
            <a:off x="1207424" y="3975636"/>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PDF_BULLET_SPAN_653"/>
          <p:cNvSpPr/>
          <p:nvPr/>
        </p:nvSpPr>
        <p:spPr>
          <a:xfrm rot="5400000">
            <a:off x="1207424" y="4510065"/>
            <a:ext cx="197164" cy="197164"/>
          </a:xfrm>
          <a:prstGeom prst="triangle">
            <a:avLst/>
          </a:prstGeom>
          <a:solidFill>
            <a:srgbClr val="1A3E79"/>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3" descr="background-033.png"/>
          <p:cNvPicPr>
            <a:picLocks noChangeAspect="1"/>
          </p:cNvPicPr>
          <p:nvPr/>
        </p:nvPicPr>
        <p:blipFill>
          <a:blip r:embed="rId2"/>
          <a:stretch>
            <a:fillRect/>
          </a:stretch>
        </p:blipFill>
        <p:spPr>
          <a:xfrm>
            <a:off x="0" y="0"/>
            <a:ext cx="14630400" cy="8229600"/>
          </a:xfrm>
          <a:prstGeom prst="rect">
            <a:avLst/>
          </a:prstGeom>
        </p:spPr>
      </p:pic>
      <p:sp>
        <p:nvSpPr>
          <p:cNvPr id="3" name="PDF_TEXT_GROUP_454"/>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Discussion: Is This Scope Sufficient and Feasible?</a:t>
            </a:r>
          </a:p>
        </p:txBody>
      </p:sp>
      <p:sp>
        <p:nvSpPr>
          <p:cNvPr id="4" name="PDF_TEXT_GROUP_455"/>
          <p:cNvSpPr txBox="1"/>
          <p:nvPr/>
        </p:nvSpPr>
        <p:spPr>
          <a:xfrm>
            <a:off x="1169087" y="2156847"/>
            <a:ext cx="13110552"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1.</a:t>
            </a:r>
            <a:r>
              <a:rPr sz="2710" b="0" i="0">
                <a:solidFill>
                  <a:srgbClr val="000000"/>
                </a:solidFill>
                <a:latin typeface="Latin Modern Sans"/>
              </a:rPr>
              <a:t> Are the three research questions specific enough to support defensible answers?</a:t>
            </a:r>
          </a:p>
        </p:txBody>
      </p:sp>
      <p:sp>
        <p:nvSpPr>
          <p:cNvPr id="5" name="PDF_TEXT_GROUP_456"/>
          <p:cNvSpPr txBox="1"/>
          <p:nvPr/>
        </p:nvSpPr>
        <p:spPr>
          <a:xfrm>
            <a:off x="1169087" y="2691275"/>
            <a:ext cx="10917475"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2.</a:t>
            </a:r>
            <a:r>
              <a:rPr sz="2710" b="0" i="0">
                <a:solidFill>
                  <a:srgbClr val="000000"/>
                </a:solidFill>
                <a:latin typeface="Latin Modern Sans"/>
              </a:rPr>
              <a:t> Are the authorization alternatives complete and fairly configured?</a:t>
            </a:r>
          </a:p>
        </p:txBody>
      </p:sp>
      <p:sp>
        <p:nvSpPr>
          <p:cNvPr id="6" name="PDF_TEXT_GROUP_457"/>
          <p:cNvSpPr txBox="1"/>
          <p:nvPr/>
        </p:nvSpPr>
        <p:spPr>
          <a:xfrm>
            <a:off x="1169087" y="3225704"/>
            <a:ext cx="11221526" cy="929891"/>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3.</a:t>
            </a:r>
            <a:r>
              <a:rPr sz="2710" b="0" i="0">
                <a:solidFill>
                  <a:srgbClr val="000000"/>
                </a:solidFill>
                <a:latin typeface="Latin Modern Sans"/>
              </a:rPr>
              <a:t> Are one UAV graph and one supported DI partition sufficient to test the</a:t>
            </a:r>
            <a:r>
              <a:rPr sz="2710" b="0" i="0">
                <a:solidFill>
                  <a:srgbClr val="000000"/>
                </a:solidFill>
                <a:latin typeface="Latin Modern Sans"/>
              </a:rPr>
              <a:t> abstraction?</a:t>
            </a:r>
          </a:p>
        </p:txBody>
      </p:sp>
      <p:sp>
        <p:nvSpPr>
          <p:cNvPr id="7" name="PDF_TEXT_GROUP_458"/>
          <p:cNvSpPr txBox="1"/>
          <p:nvPr/>
        </p:nvSpPr>
        <p:spPr>
          <a:xfrm>
            <a:off x="1169087" y="4197971"/>
            <a:ext cx="12521417" cy="440633"/>
          </a:xfrm>
          <a:prstGeom prst="rect">
            <a:avLst/>
          </a:prstGeom>
          <a:noFill/>
          <a:ln>
            <a:noFill/>
          </a:ln>
        </p:spPr>
        <p:txBody>
          <a:bodyPr wrap="square" anchor="t" lIns="0" rIns="0" tIns="0" bIns="0">
            <a:noAutofit/>
          </a:bodyPr>
          <a:lstStyle/>
          <a:p>
            <a:pPr algn="l" marL="449873" indent="-449873">
              <a:lnSpc>
                <a:spcPct val="100000"/>
              </a:lnSpc>
              <a:spcBef>
                <a:spcPts val="0"/>
              </a:spcBef>
              <a:spcAft>
                <a:spcPts val="0"/>
              </a:spcAft>
            </a:pPr>
            <a:r>
              <a:rPr sz="2710" b="0" i="0">
                <a:solidFill>
                  <a:srgbClr val="3333B2"/>
                </a:solidFill>
                <a:latin typeface="Latin Modern Sans"/>
              </a:rPr>
              <a:t>4.</a:t>
            </a:r>
            <a:r>
              <a:rPr sz="2710" b="0" i="0">
                <a:solidFill>
                  <a:srgbClr val="000000"/>
                </a:solidFill>
                <a:latin typeface="Latin Modern Sans"/>
              </a:rPr>
              <a:t> Which optional features should be excluded if they delay the core evidence?</a:t>
            </a:r>
          </a:p>
        </p:txBody>
      </p:sp>
      <p:sp>
        <p:nvSpPr>
          <p:cNvPr id="8" name="PDF_TEXT_GROUP_459"/>
          <p:cNvSpPr txBox="1"/>
          <p:nvPr/>
        </p:nvSpPr>
        <p:spPr>
          <a:xfrm>
            <a:off x="1143656" y="5445401"/>
            <a:ext cx="11118862" cy="929891"/>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710" b="0" i="0">
                <a:solidFill>
                  <a:srgbClr val="000000"/>
                </a:solidFill>
                <a:latin typeface="Latin Modern Sans"/>
              </a:rPr>
              <a:t>NDNSF: runtime service discovery and authorization, connected to explicit</a:t>
            </a:r>
            <a:r>
              <a:rPr sz="2710" b="0" i="0">
                <a:solidFill>
                  <a:srgbClr val="000000"/>
                </a:solidFill>
                <a:latin typeface="Latin Modern Sans"/>
              </a:rPr>
              <a:t> named-data execution rules.</a:t>
            </a:r>
          </a:p>
        </p:txBody>
      </p:sp>
      <p:sp>
        <p:nvSpPr>
          <p:cNvPr id="9" name="PDF_TEXT_GROUP_46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0" name="PDF_TEXT_GROUP_46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1" name="PDF_TEXT_GROUP_46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2" name="PDF_TEXT_GROUP_46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3" name="PDF_TEXT_GROUP_46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33/38</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4" descr="background-034.png"/>
          <p:cNvPicPr>
            <a:picLocks noChangeAspect="1"/>
          </p:cNvPicPr>
          <p:nvPr/>
        </p:nvPicPr>
        <p:blipFill>
          <a:blip r:embed="rId2"/>
          <a:stretch>
            <a:fillRect/>
          </a:stretch>
        </p:blipFill>
        <p:spPr>
          <a:xfrm>
            <a:off x="0" y="0"/>
            <a:ext cx="14630400" cy="8229600"/>
          </a:xfrm>
          <a:prstGeom prst="rect">
            <a:avLst/>
          </a:prstGeom>
        </p:spPr>
      </p:pic>
      <p:sp>
        <p:nvSpPr>
          <p:cNvPr id="3" name="PDF_TEXT_GROUP_46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Discovery Configuration Is Not Framework Capability</a:t>
            </a:r>
          </a:p>
        </p:txBody>
      </p:sp>
      <p:sp>
        <p:nvSpPr>
          <p:cNvPr id="4" name="PDF_TEXT_GROUP_466"/>
          <p:cNvSpPr txBox="1"/>
          <p:nvPr/>
        </p:nvSpPr>
        <p:spPr>
          <a:xfrm>
            <a:off x="1107736" y="2050946"/>
            <a:ext cx="470224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Provider-transition configuration</a:t>
            </a:r>
          </a:p>
        </p:txBody>
      </p:sp>
      <p:sp>
        <p:nvSpPr>
          <p:cNvPr id="5" name="PDF_TEXT_GROUP_467"/>
          <p:cNvSpPr txBox="1"/>
          <p:nvPr/>
        </p:nvSpPr>
        <p:spPr>
          <a:xfrm>
            <a:off x="12096922" y="2050946"/>
            <a:ext cx="16130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Completed</a:t>
            </a:r>
          </a:p>
        </p:txBody>
      </p:sp>
      <p:sp>
        <p:nvSpPr>
          <p:cNvPr id="6" name="PDF_TEXT_GROUP_468"/>
          <p:cNvSpPr txBox="1"/>
          <p:nvPr/>
        </p:nvSpPr>
        <p:spPr>
          <a:xfrm>
            <a:off x="1107736" y="2619305"/>
            <a:ext cx="6560936"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no pre-registered Provider addresses</a:t>
            </a:r>
          </a:p>
        </p:txBody>
      </p:sp>
      <p:sp>
        <p:nvSpPr>
          <p:cNvPr id="7" name="PDF_TEXT_GROUP_469"/>
          <p:cNvSpPr txBox="1"/>
          <p:nvPr/>
        </p:nvSpPr>
        <p:spPr>
          <a:xfrm>
            <a:off x="12189745" y="2619305"/>
            <a:ext cx="1520190"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8" name="PDF_TEXT_GROUP_470"/>
          <p:cNvSpPr txBox="1"/>
          <p:nvPr/>
        </p:nvSpPr>
        <p:spPr>
          <a:xfrm>
            <a:off x="1107736" y="3187665"/>
            <a:ext cx="5321725"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Static-list NSC/gRPC configurations</a:t>
            </a:r>
          </a:p>
        </p:txBody>
      </p:sp>
      <p:sp>
        <p:nvSpPr>
          <p:cNvPr id="9" name="PDF_TEXT_GROUP_471"/>
          <p:cNvSpPr txBox="1"/>
          <p:nvPr/>
        </p:nvSpPr>
        <p:spPr>
          <a:xfrm>
            <a:off x="12511042" y="3187665"/>
            <a:ext cx="119898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0 / 357</a:t>
            </a:r>
          </a:p>
        </p:txBody>
      </p:sp>
      <p:sp>
        <p:nvSpPr>
          <p:cNvPr id="10" name="PDF_TEXT_GROUP_472"/>
          <p:cNvSpPr txBox="1"/>
          <p:nvPr/>
        </p:nvSpPr>
        <p:spPr>
          <a:xfrm>
            <a:off x="1107736" y="3756024"/>
            <a:ext cx="4493721"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Pre-registered baseline variants</a:t>
            </a:r>
          </a:p>
        </p:txBody>
      </p:sp>
      <p:sp>
        <p:nvSpPr>
          <p:cNvPr id="11" name="PDF_TEXT_GROUP_473"/>
          <p:cNvSpPr txBox="1"/>
          <p:nvPr/>
        </p:nvSpPr>
        <p:spPr>
          <a:xfrm>
            <a:off x="12189681" y="3756024"/>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357 / 357</a:t>
            </a:r>
          </a:p>
        </p:txBody>
      </p:sp>
      <p:sp>
        <p:nvSpPr>
          <p:cNvPr id="12" name="PDF_TEXT_GROUP_474"/>
          <p:cNvSpPr txBox="1"/>
          <p:nvPr/>
        </p:nvSpPr>
        <p:spPr>
          <a:xfrm>
            <a:off x="1123808" y="4650961"/>
            <a:ext cx="12343423"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This isolates the configured discovery boundary. Resolver/discovery integration can update</a:t>
            </a:r>
            <a:r>
              <a:rPr sz="2371" b="0" i="0">
                <a:solidFill>
                  <a:srgbClr val="000000"/>
                </a:solidFill>
                <a:latin typeface="Latin Modern Sans"/>
              </a:rPr>
              <a:t> candidates; it is not proof that gRPC or NSC cannot do so. [27,28]</a:t>
            </a:r>
          </a:p>
        </p:txBody>
      </p:sp>
      <p:sp>
        <p:nvSpPr>
          <p:cNvPr id="13" name="PDF_TEXT_GROUP_475"/>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4" name="PDF_TEXT_GROUP_476"/>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5" name="PDF_TEXT_GROUP_477"/>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6" name="PDF_TEXT_GROUP_478"/>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7" name="PDF_TEXT_GROUP_479"/>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34/38</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5" descr="background-035.png"/>
          <p:cNvPicPr>
            <a:picLocks noChangeAspect="1"/>
          </p:cNvPicPr>
          <p:nvPr/>
        </p:nvPicPr>
        <p:blipFill>
          <a:blip r:embed="rId2"/>
          <a:stretch>
            <a:fillRect/>
          </a:stretch>
        </p:blipFill>
        <p:spPr>
          <a:xfrm>
            <a:off x="0" y="0"/>
            <a:ext cx="14630400" cy="8229600"/>
          </a:xfrm>
          <a:prstGeom prst="rect">
            <a:avLst/>
          </a:prstGeom>
        </p:spPr>
      </p:pic>
      <p:sp>
        <p:nvSpPr>
          <p:cNvPr id="3" name="PDF_TEXT_GROUP_480"/>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Backup: Historical Loss Evidence Is Not a New Matched Test</a:t>
            </a:r>
          </a:p>
        </p:txBody>
      </p:sp>
      <p:sp>
        <p:nvSpPr>
          <p:cNvPr id="4" name="PDF_TEXT_GROUP_481"/>
          <p:cNvSpPr txBox="1"/>
          <p:nvPr/>
        </p:nvSpPr>
        <p:spPr>
          <a:xfrm>
            <a:off x="1107736" y="1929602"/>
            <a:ext cx="3204438"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Historical per-link loss</a:t>
            </a:r>
          </a:p>
        </p:txBody>
      </p:sp>
      <p:sp>
        <p:nvSpPr>
          <p:cNvPr id="5" name="PDF_TEXT_GROUP_482"/>
          <p:cNvSpPr txBox="1"/>
          <p:nvPr/>
        </p:nvSpPr>
        <p:spPr>
          <a:xfrm>
            <a:off x="9804981" y="1929602"/>
            <a:ext cx="4022407"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NDNSF completed requests</a:t>
            </a:r>
          </a:p>
        </p:txBody>
      </p:sp>
      <p:sp>
        <p:nvSpPr>
          <p:cNvPr id="6" name="PDF_TEXT_GROUP_483"/>
          <p:cNvSpPr txBox="1"/>
          <p:nvPr/>
        </p:nvSpPr>
        <p:spPr>
          <a:xfrm>
            <a:off x="1107736" y="2497962"/>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a:t>
            </a:r>
          </a:p>
        </p:txBody>
      </p:sp>
      <p:sp>
        <p:nvSpPr>
          <p:cNvPr id="7" name="PDF_TEXT_GROUP_484"/>
          <p:cNvSpPr txBox="1"/>
          <p:nvPr/>
        </p:nvSpPr>
        <p:spPr>
          <a:xfrm>
            <a:off x="12189748" y="2497962"/>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599 / 600</a:t>
            </a:r>
          </a:p>
        </p:txBody>
      </p:sp>
      <p:sp>
        <p:nvSpPr>
          <p:cNvPr id="8" name="PDF_TEXT_GROUP_485"/>
          <p:cNvSpPr txBox="1"/>
          <p:nvPr/>
        </p:nvSpPr>
        <p:spPr>
          <a:xfrm>
            <a:off x="1107736" y="3066321"/>
            <a:ext cx="609414"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3%</a:t>
            </a:r>
          </a:p>
        </p:txBody>
      </p:sp>
      <p:sp>
        <p:nvSpPr>
          <p:cNvPr id="9" name="PDF_TEXT_GROUP_486"/>
          <p:cNvSpPr txBox="1"/>
          <p:nvPr/>
        </p:nvSpPr>
        <p:spPr>
          <a:xfrm>
            <a:off x="12189748" y="306632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598 / 600</a:t>
            </a:r>
          </a:p>
        </p:txBody>
      </p:sp>
      <p:sp>
        <p:nvSpPr>
          <p:cNvPr id="10" name="PDF_TEXT_GROUP_487"/>
          <p:cNvSpPr txBox="1"/>
          <p:nvPr/>
        </p:nvSpPr>
        <p:spPr>
          <a:xfrm>
            <a:off x="1107736" y="3634681"/>
            <a:ext cx="3556509"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10% (best recorded run)</a:t>
            </a:r>
          </a:p>
        </p:txBody>
      </p:sp>
      <p:sp>
        <p:nvSpPr>
          <p:cNvPr id="11" name="PDF_TEXT_GROUP_488"/>
          <p:cNvSpPr txBox="1"/>
          <p:nvPr/>
        </p:nvSpPr>
        <p:spPr>
          <a:xfrm>
            <a:off x="12189681" y="3634681"/>
            <a:ext cx="1520512" cy="38555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539 / 600</a:t>
            </a:r>
          </a:p>
        </p:txBody>
      </p:sp>
      <p:sp>
        <p:nvSpPr>
          <p:cNvPr id="12" name="PDF_TEXT_GROUP_489"/>
          <p:cNvSpPr txBox="1"/>
          <p:nvPr/>
        </p:nvSpPr>
        <p:spPr>
          <a:xfrm>
            <a:off x="1123808" y="4516045"/>
            <a:ext cx="12230408" cy="828844"/>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2371" b="0" i="0">
                <a:solidFill>
                  <a:srgbClr val="000000"/>
                </a:solidFill>
                <a:latin typeface="Latin Modern Sans"/>
              </a:rPr>
              <a:t>A selected run is not an aggregate estimate. Do not combine these numbers with another</a:t>
            </a:r>
            <a:r>
              <a:rPr sz="2371" b="0" i="0">
                <a:solidFill>
                  <a:srgbClr val="000000"/>
                </a:solidFill>
                <a:latin typeface="Latin Modern Sans"/>
              </a:rPr>
              <a:t> batch and label the result “matched.” [28]</a:t>
            </a:r>
          </a:p>
        </p:txBody>
      </p:sp>
      <p:sp>
        <p:nvSpPr>
          <p:cNvPr id="13" name="PDF_TEXT_GROUP_490"/>
          <p:cNvSpPr txBox="1"/>
          <p:nvPr/>
        </p:nvSpPr>
        <p:spPr>
          <a:xfrm>
            <a:off x="2180392" y="5944553"/>
            <a:ext cx="227618" cy="222203"/>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355" b="0" i="0">
                <a:solidFill>
                  <a:srgbClr val="000000"/>
                </a:solidFill>
                <a:latin typeface="Latin Modern Roman"/>
              </a:rPr>
              <a:t>4</a:t>
            </a:r>
          </a:p>
        </p:txBody>
      </p:sp>
      <p:sp>
        <p:nvSpPr>
          <p:cNvPr id="14" name="PDF_TEXT_GROUP_491"/>
          <p:cNvSpPr txBox="1"/>
          <p:nvPr/>
        </p:nvSpPr>
        <p:spPr>
          <a:xfrm>
            <a:off x="914808" y="5975381"/>
            <a:ext cx="13195280" cy="314132"/>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Roman"/>
              </a:rPr>
              <a:t>1</a:t>
            </a:r>
            <a:r>
              <a:rPr sz="1863" b="0" i="0">
                <a:solidFill>
                  <a:srgbClr val="000000"/>
                </a:solidFill>
                <a:latin typeface="Cambria Math"/>
              </a:rPr>
              <a:t> −</a:t>
            </a:r>
            <a:r>
              <a:rPr sz="1863" b="0" i="0">
                <a:solidFill>
                  <a:srgbClr val="000000"/>
                </a:solidFill>
                <a:latin typeface="Latin Modern Roman"/>
              </a:rPr>
              <a:t> (1</a:t>
            </a:r>
            <a:r>
              <a:rPr sz="1863" b="0" i="0">
                <a:solidFill>
                  <a:srgbClr val="000000"/>
                </a:solidFill>
                <a:latin typeface="Cambria Math"/>
              </a:rPr>
              <a:t> −</a:t>
            </a:r>
            <a:r>
              <a:rPr sz="1863" b="0" i="1">
                <a:solidFill>
                  <a:srgbClr val="000000"/>
                </a:solidFill>
                <a:latin typeface="Cambria Math"/>
              </a:rPr>
              <a:t> `</a:t>
            </a:r>
            <a:r>
              <a:rPr sz="1863" b="0" i="0">
                <a:solidFill>
                  <a:srgbClr val="000000"/>
                </a:solidFill>
                <a:latin typeface="Latin Modern Roman"/>
              </a:rPr>
              <a:t>)</a:t>
            </a:r>
            <a:r>
              <a:rPr sz="1863" b="0" i="0">
                <a:solidFill>
                  <a:srgbClr val="000000"/>
                </a:solidFill>
                <a:latin typeface="Latin Modern Sans"/>
              </a:rPr>
              <a:t> assumes four independent equal-loss packet traversals; it is not service failure probability after</a:t>
            </a:r>
          </a:p>
        </p:txBody>
      </p:sp>
      <p:sp>
        <p:nvSpPr>
          <p:cNvPr id="15" name="PDF_TEXT_GROUP_492"/>
          <p:cNvSpPr txBox="1"/>
          <p:nvPr/>
        </p:nvSpPr>
        <p:spPr>
          <a:xfrm>
            <a:off x="914808" y="6478830"/>
            <a:ext cx="91617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retries.</a:t>
            </a:r>
          </a:p>
        </p:txBody>
      </p:sp>
      <p:sp>
        <p:nvSpPr>
          <p:cNvPr id="16" name="PDF_TEXT_GROUP_493"/>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7" name="PDF_TEXT_GROUP_494"/>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8" name="PDF_TEXT_GROUP_495"/>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9" name="PDF_TEXT_GROUP_496"/>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20" name="PDF_TEXT_GROUP_497"/>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35/38</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6"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498"/>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NDN and Authorization</a:t>
            </a:r>
          </a:p>
        </p:txBody>
      </p:sp>
      <p:sp>
        <p:nvSpPr>
          <p:cNvPr id="4" name="PDF_TEXT_GROUP_499"/>
          <p:cNvSpPr txBox="1"/>
          <p:nvPr/>
        </p:nvSpPr>
        <p:spPr>
          <a:xfrm>
            <a:off x="1122356" y="2099218"/>
            <a:ext cx="965227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a:t>
            </a:r>
            <a:r>
              <a:rPr sz="1863" b="0" i="0">
                <a:solidFill>
                  <a:srgbClr val="000000"/>
                </a:solidFill>
                <a:latin typeface="Latin Modern Sans"/>
              </a:rPr>
              <a:t> L. Zhang et al., “Named Data Networking,” ACM SIGCOMM CCR, 2014.</a:t>
            </a:r>
          </a:p>
        </p:txBody>
      </p:sp>
      <p:sp>
        <p:nvSpPr>
          <p:cNvPr id="5" name="PDF_TEXT_GROUP_500"/>
          <p:cNvSpPr txBox="1"/>
          <p:nvPr/>
        </p:nvSpPr>
        <p:spPr>
          <a:xfrm>
            <a:off x="1122356" y="2514985"/>
            <a:ext cx="1281495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a:t>
            </a:r>
            <a:r>
              <a:rPr sz="1863" b="0" i="0">
                <a:solidFill>
                  <a:srgbClr val="000000"/>
                </a:solidFill>
                <a:latin typeface="Latin Modern Sans"/>
              </a:rPr>
              <a:t> T. Li et al., “A Brief Introduction to NDN Dataset Synchronization (NDN Sync),” MILCOM, 2018.</a:t>
            </a:r>
          </a:p>
        </p:txBody>
      </p:sp>
      <p:sp>
        <p:nvSpPr>
          <p:cNvPr id="6" name="PDF_TEXT_GROUP_501"/>
          <p:cNvSpPr txBox="1"/>
          <p:nvPr/>
        </p:nvSpPr>
        <p:spPr>
          <a:xfrm>
            <a:off x="1122356" y="2930752"/>
            <a:ext cx="110089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a:t>
            </a:r>
            <a:r>
              <a:rPr sz="1863" b="0" i="0">
                <a:solidFill>
                  <a:srgbClr val="000000"/>
                </a:solidFill>
                <a:latin typeface="Latin Modern Sans"/>
              </a:rPr>
              <a:t> P. Moll et al., “A Brief Introduction to State Vector Sync,” NDN-0073, rev. 2, 2021.</a:t>
            </a:r>
          </a:p>
        </p:txBody>
      </p:sp>
      <p:sp>
        <p:nvSpPr>
          <p:cNvPr id="7" name="PDF_TEXT_GROUP_502"/>
          <p:cNvSpPr txBox="1"/>
          <p:nvPr/>
        </p:nvSpPr>
        <p:spPr>
          <a:xfrm>
            <a:off x="1122356" y="3346520"/>
            <a:ext cx="1126618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[4]</a:t>
            </a:r>
            <a:r>
              <a:rPr sz="1863" b="0" i="0">
                <a:solidFill>
                  <a:srgbClr val="000000"/>
                </a:solidFill>
                <a:latin typeface="Latin Modern Sans"/>
              </a:rPr>
              <a:t> Z. Zhang et al., “NAC: Automating Access Control via Named Data,” MILCOM, 2018.</a:t>
            </a:r>
          </a:p>
        </p:txBody>
      </p:sp>
      <p:sp>
        <p:nvSpPr>
          <p:cNvPr id="8" name="PDF_TEXT_GROUP_503"/>
          <p:cNvSpPr txBox="1"/>
          <p:nvPr/>
        </p:nvSpPr>
        <p:spPr>
          <a:xfrm>
            <a:off x="985712" y="3762287"/>
            <a:ext cx="1324170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[12]</a:t>
            </a:r>
            <a:r>
              <a:rPr sz="1863" b="0" i="0">
                <a:solidFill>
                  <a:srgbClr val="000000"/>
                </a:solidFill>
                <a:latin typeface="Latin Modern Sans"/>
              </a:rPr>
              <a:t> K. Nichols, “Lessons Learned Building a Secure Network Measurement Framework using Basic NDN,”</a:t>
            </a:r>
          </a:p>
        </p:txBody>
      </p:sp>
      <p:sp>
        <p:nvSpPr>
          <p:cNvPr id="9" name="PDF_TEXT_GROUP_504"/>
          <p:cNvSpPr txBox="1"/>
          <p:nvPr/>
        </p:nvSpPr>
        <p:spPr>
          <a:xfrm>
            <a:off x="1582632" y="4068150"/>
            <a:ext cx="20647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ACM ICN, 2019.</a:t>
            </a:r>
          </a:p>
        </p:txBody>
      </p:sp>
      <p:sp>
        <p:nvSpPr>
          <p:cNvPr id="10" name="PDF_TEXT_GROUP_505"/>
          <p:cNvSpPr txBox="1"/>
          <p:nvPr/>
        </p:nvSpPr>
        <p:spPr>
          <a:xfrm>
            <a:off x="985712" y="4483917"/>
            <a:ext cx="1063258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[16]</a:t>
            </a:r>
            <a:r>
              <a:rPr sz="1863" b="0" i="0">
                <a:solidFill>
                  <a:srgbClr val="000000"/>
                </a:solidFill>
                <a:latin typeface="Latin Modern Sans"/>
              </a:rPr>
              <a:t> Y. Yu et al., “Schematizing Trust in Named Data Networking,” ACM ICN, 2015.</a:t>
            </a:r>
          </a:p>
        </p:txBody>
      </p:sp>
      <p:sp>
        <p:nvSpPr>
          <p:cNvPr id="11" name="PDF_TEXT_GROUP_506"/>
          <p:cNvSpPr txBox="1"/>
          <p:nvPr/>
        </p:nvSpPr>
        <p:spPr>
          <a:xfrm>
            <a:off x="985712" y="4899684"/>
            <a:ext cx="1361178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[19]</a:t>
            </a:r>
            <a:r>
              <a:rPr sz="1863" b="0" i="0">
                <a:solidFill>
                  <a:srgbClr val="000000"/>
                </a:solidFill>
                <a:latin typeface="Latin Modern Sans"/>
              </a:rPr>
              <a:t> S. Dulal et al., “Enhancing NAC-ABE to Support Access Control for mHealth Applications and Beyond,”</a:t>
            </a:r>
          </a:p>
        </p:txBody>
      </p:sp>
      <p:sp>
        <p:nvSpPr>
          <p:cNvPr id="12" name="PDF_TEXT_GROUP_507"/>
          <p:cNvSpPr txBox="1"/>
          <p:nvPr/>
        </p:nvSpPr>
        <p:spPr>
          <a:xfrm>
            <a:off x="1582632" y="5205515"/>
            <a:ext cx="298244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arXiv:2311.07299, 2023.</a:t>
            </a:r>
          </a:p>
        </p:txBody>
      </p:sp>
      <p:sp>
        <p:nvSpPr>
          <p:cNvPr id="13" name="PDF_TEXT_GROUP_508"/>
          <p:cNvSpPr txBox="1"/>
          <p:nvPr/>
        </p:nvSpPr>
        <p:spPr>
          <a:xfrm>
            <a:off x="985712" y="5621282"/>
            <a:ext cx="870940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[26]</a:t>
            </a:r>
            <a:r>
              <a:rPr sz="1863" b="0" i="0">
                <a:solidFill>
                  <a:srgbClr val="000000"/>
                </a:solidFill>
                <a:latin typeface="Latin Modern Sans"/>
              </a:rPr>
              <a:t> NDN Project, “Data Packet,” NDN Packet Format Specification.</a:t>
            </a:r>
          </a:p>
        </p:txBody>
      </p:sp>
      <p:sp>
        <p:nvSpPr>
          <p:cNvPr id="14" name="PDF_TEXT_GROUP_509"/>
          <p:cNvSpPr txBox="1"/>
          <p:nvPr/>
        </p:nvSpPr>
        <p:spPr>
          <a:xfrm>
            <a:off x="1582632" y="5927113"/>
            <a:ext cx="1013958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docs.named-data.net/NDN-packet-spec/current/data.html (accessed Sept. 2026).</a:t>
            </a:r>
          </a:p>
        </p:txBody>
      </p:sp>
      <p:sp>
        <p:nvSpPr>
          <p:cNvPr id="15" name="PDF_TEXT_GROUP_510"/>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6" name="PDF_TEXT_GROUP_511"/>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7" name="PDF_TEXT_GROUP_512"/>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8" name="PDF_TEXT_GROUP_513"/>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9" name="PDF_TEXT_GROUP_514"/>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36/38</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7"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15"/>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Invocation and Composition</a:t>
            </a:r>
          </a:p>
        </p:txBody>
      </p:sp>
      <p:sp>
        <p:nvSpPr>
          <p:cNvPr id="4" name="PDF_TEXT_GROUP_516"/>
          <p:cNvSpPr txBox="1"/>
          <p:nvPr/>
        </p:nvSpPr>
        <p:spPr>
          <a:xfrm>
            <a:off x="1122356" y="2265544"/>
            <a:ext cx="12539574"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[6]</a:t>
            </a:r>
            <a:r>
              <a:rPr sz="1863" b="0" i="0">
                <a:solidFill>
                  <a:srgbClr val="000000"/>
                </a:solidFill>
                <a:latin typeface="Latin Modern Sans"/>
              </a:rPr>
              <a:t> C. Tschudin and M. Sifalakis, “Named Functions and Cached Computations,” IEEE CCNC, 2014.</a:t>
            </a:r>
          </a:p>
        </p:txBody>
      </p:sp>
      <p:sp>
        <p:nvSpPr>
          <p:cNvPr id="5" name="PDF_TEXT_GROUP_517"/>
          <p:cNvSpPr txBox="1"/>
          <p:nvPr/>
        </p:nvSpPr>
        <p:spPr>
          <a:xfrm>
            <a:off x="1122356" y="2681311"/>
            <a:ext cx="1045382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[7]</a:t>
            </a:r>
            <a:r>
              <a:rPr sz="1863" b="0" i="0">
                <a:solidFill>
                  <a:srgbClr val="000000"/>
                </a:solidFill>
                <a:latin typeface="Latin Modern Sans"/>
              </a:rPr>
              <a:t> M. Krol and I. Psaras, “NFaaS: Named Function as a Service,” ACM ICN, 2017.</a:t>
            </a:r>
          </a:p>
        </p:txBody>
      </p:sp>
      <p:sp>
        <p:nvSpPr>
          <p:cNvPr id="6" name="PDF_TEXT_GROUP_518"/>
          <p:cNvSpPr txBox="1"/>
          <p:nvPr/>
        </p:nvSpPr>
        <p:spPr>
          <a:xfrm>
            <a:off x="1122356" y="3097079"/>
            <a:ext cx="998026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[9]</a:t>
            </a:r>
            <a:r>
              <a:rPr sz="1863" b="0" i="0">
                <a:solidFill>
                  <a:srgbClr val="000000"/>
                </a:solidFill>
                <a:latin typeface="Latin Modern Sans"/>
              </a:rPr>
              <a:t> M. Krol et al., “RICE: Remote Method Invocation in ICN,” ACM ICN, 2018.</a:t>
            </a:r>
          </a:p>
        </p:txBody>
      </p:sp>
      <p:sp>
        <p:nvSpPr>
          <p:cNvPr id="7" name="PDF_TEXT_GROUP_519"/>
          <p:cNvSpPr txBox="1"/>
          <p:nvPr/>
        </p:nvSpPr>
        <p:spPr>
          <a:xfrm>
            <a:off x="985712" y="3512846"/>
            <a:ext cx="1278309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[10]</a:t>
            </a:r>
            <a:r>
              <a:rPr sz="1863" b="0" i="0">
                <a:solidFill>
                  <a:srgbClr val="000000"/>
                </a:solidFill>
                <a:latin typeface="Latin Modern Sans"/>
              </a:rPr>
              <a:t> D. Meirovitch and L. Zhang, “NSC—Named Service Calls, or a Remote Procedure Call for NDN,”</a:t>
            </a:r>
          </a:p>
        </p:txBody>
      </p:sp>
      <p:sp>
        <p:nvSpPr>
          <p:cNvPr id="8" name="PDF_TEXT_GROUP_520"/>
          <p:cNvSpPr txBox="1"/>
          <p:nvPr/>
        </p:nvSpPr>
        <p:spPr>
          <a:xfrm>
            <a:off x="1582632" y="3818677"/>
            <a:ext cx="308031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NDN-0074, rev. 1, 2021.</a:t>
            </a:r>
          </a:p>
        </p:txBody>
      </p:sp>
      <p:sp>
        <p:nvSpPr>
          <p:cNvPr id="9" name="PDF_TEXT_GROUP_521"/>
          <p:cNvSpPr txBox="1"/>
          <p:nvPr/>
        </p:nvSpPr>
        <p:spPr>
          <a:xfrm>
            <a:off x="985712" y="4234444"/>
            <a:ext cx="136446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[15]</a:t>
            </a:r>
            <a:r>
              <a:rPr sz="1863" b="0" i="0">
                <a:solidFill>
                  <a:srgbClr val="000000"/>
                </a:solidFill>
                <a:latin typeface="Latin Modern Sans"/>
              </a:rPr>
              <a:t> CaSCON, SMARTCOMP 2025. Primary publication record: RIT, “Barrios presents at IEEE SmartComp.”</a:t>
            </a:r>
          </a:p>
        </p:txBody>
      </p:sp>
      <p:sp>
        <p:nvSpPr>
          <p:cNvPr id="10" name="PDF_TEXT_GROUP_522"/>
          <p:cNvSpPr txBox="1"/>
          <p:nvPr/>
        </p:nvSpPr>
        <p:spPr>
          <a:xfrm>
            <a:off x="1582632" y="4540307"/>
            <a:ext cx="728870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Full feature-level comparison remains a research obligation.</a:t>
            </a:r>
          </a:p>
        </p:txBody>
      </p:sp>
      <p:sp>
        <p:nvSpPr>
          <p:cNvPr id="11" name="PDF_TEXT_GROUP_523"/>
          <p:cNvSpPr txBox="1"/>
          <p:nvPr/>
        </p:nvSpPr>
        <p:spPr>
          <a:xfrm>
            <a:off x="985712" y="4956074"/>
            <a:ext cx="10952248"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[17]</a:t>
            </a:r>
            <a:r>
              <a:rPr sz="1863" b="0" i="0">
                <a:solidFill>
                  <a:srgbClr val="000000"/>
                </a:solidFill>
                <a:latin typeface="Latin Modern Sans"/>
              </a:rPr>
              <a:t> gRPC Authors, “Core Concepts, Architecture and Lifecycle,” gRPC documentation.</a:t>
            </a:r>
          </a:p>
        </p:txBody>
      </p:sp>
      <p:sp>
        <p:nvSpPr>
          <p:cNvPr id="12" name="PDF_TEXT_GROUP_524"/>
          <p:cNvSpPr txBox="1"/>
          <p:nvPr/>
        </p:nvSpPr>
        <p:spPr>
          <a:xfrm>
            <a:off x="985712" y="5371809"/>
            <a:ext cx="1313275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[27]</a:t>
            </a:r>
            <a:r>
              <a:rPr sz="1863" b="0" i="0">
                <a:solidFill>
                  <a:srgbClr val="000000"/>
                </a:solidFill>
                <a:latin typeface="Latin Modern Sans"/>
              </a:rPr>
              <a:t> gRPC Authors, “Custom Name Resolution,” grpc.io/docs/guides/custom-name-resolution/ (accessed</a:t>
            </a:r>
          </a:p>
        </p:txBody>
      </p:sp>
      <p:sp>
        <p:nvSpPr>
          <p:cNvPr id="13" name="PDF_TEXT_GROUP_525"/>
          <p:cNvSpPr txBox="1"/>
          <p:nvPr/>
        </p:nvSpPr>
        <p:spPr>
          <a:xfrm>
            <a:off x="1582632" y="5677672"/>
            <a:ext cx="158124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 2026).</a:t>
            </a:r>
          </a:p>
        </p:txBody>
      </p:sp>
      <p:sp>
        <p:nvSpPr>
          <p:cNvPr id="14" name="PDF_TEXT_GROUP_526"/>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27"/>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28"/>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29"/>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30"/>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37/38</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TEXT_FREE_BACKGROUND_38" descr="background-001.png"/>
          <p:cNvPicPr>
            <a:picLocks noChangeAspect="1"/>
          </p:cNvPicPr>
          <p:nvPr/>
        </p:nvPicPr>
        <p:blipFill>
          <a:blip r:embed="rId2"/>
          <a:stretch>
            <a:fillRect/>
          </a:stretch>
        </p:blipFill>
        <p:spPr>
          <a:xfrm>
            <a:off x="0" y="0"/>
            <a:ext cx="14630400" cy="8229600"/>
          </a:xfrm>
          <a:prstGeom prst="rect">
            <a:avLst/>
          </a:prstGeom>
        </p:spPr>
      </p:pic>
      <p:sp>
        <p:nvSpPr>
          <p:cNvPr id="3" name="PDF_TEXT_GROUP_531"/>
          <p:cNvSpPr txBox="1"/>
          <p:nvPr/>
        </p:nvSpPr>
        <p:spPr>
          <a:xfrm>
            <a:off x="183009" y="320073"/>
            <a:ext cx="14401670" cy="578331"/>
          </a:xfrm>
          <a:prstGeom prst="rect">
            <a:avLst/>
          </a:prstGeom>
          <a:noFill/>
          <a:ln>
            <a:noFill/>
          </a:ln>
        </p:spPr>
        <p:txBody>
          <a:bodyPr wrap="none" anchor="t" rIns="0" tIns="0" bIns="0">
            <a:noAutofit/>
          </a:bodyPr>
          <a:lstStyle/>
          <a:p>
            <a:pPr algn="l">
              <a:lnSpc>
                <a:spcPct val="100000"/>
              </a:lnSpc>
              <a:spcBef>
                <a:spcPts val="0"/>
              </a:spcBef>
              <a:spcAft>
                <a:spcPts val="0"/>
              </a:spcAft>
            </a:pPr>
            <a:r>
              <a:rPr sz="3557" b="1" i="0">
                <a:solidFill>
                  <a:srgbClr val="1A3E79"/>
                </a:solidFill>
                <a:latin typeface="Latin Modern Sans"/>
              </a:rPr>
              <a:t>References: Tools, Evidence and Degree Planning</a:t>
            </a:r>
          </a:p>
        </p:txBody>
      </p:sp>
      <p:sp>
        <p:nvSpPr>
          <p:cNvPr id="4" name="PDF_TEXT_GROUP_532"/>
          <p:cNvSpPr txBox="1"/>
          <p:nvPr/>
        </p:nvSpPr>
        <p:spPr>
          <a:xfrm>
            <a:off x="985712" y="2265544"/>
            <a:ext cx="7438656"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[22]</a:t>
            </a:r>
            <a:r>
              <a:rPr sz="1863" b="0" i="0">
                <a:solidFill>
                  <a:srgbClr val="000000"/>
                </a:solidFill>
                <a:latin typeface="Latin Modern Sans"/>
              </a:rPr>
              <a:t> Mini-NDN, project documentation: minindn.ndn.today.</a:t>
            </a:r>
          </a:p>
        </p:txBody>
      </p:sp>
      <p:sp>
        <p:nvSpPr>
          <p:cNvPr id="5" name="PDF_TEXT_GROUP_533"/>
          <p:cNvSpPr txBox="1"/>
          <p:nvPr/>
        </p:nvSpPr>
        <p:spPr>
          <a:xfrm>
            <a:off x="985712" y="2681311"/>
            <a:ext cx="7872545"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[23]</a:t>
            </a:r>
            <a:r>
              <a:rPr sz="1863" b="0" i="0">
                <a:solidFill>
                  <a:srgbClr val="000000"/>
                </a:solidFill>
                <a:latin typeface="Latin Modern Sans"/>
              </a:rPr>
              <a:t> PX4, “Software-in-the-Loop Simulation,” PX4 User Guide.</a:t>
            </a:r>
          </a:p>
        </p:txBody>
      </p:sp>
      <p:sp>
        <p:nvSpPr>
          <p:cNvPr id="6" name="PDF_TEXT_GROUP_534"/>
          <p:cNvSpPr txBox="1"/>
          <p:nvPr/>
        </p:nvSpPr>
        <p:spPr>
          <a:xfrm>
            <a:off x="985712" y="3097079"/>
            <a:ext cx="929261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[24]</a:t>
            </a:r>
            <a:r>
              <a:rPr sz="1863" b="0" i="0">
                <a:solidFill>
                  <a:srgbClr val="000000"/>
                </a:solidFill>
                <a:latin typeface="Latin Modern Sans"/>
              </a:rPr>
              <a:t> NDN Project, “Repo Protocol Specification,” repo-ng documentation.</a:t>
            </a:r>
          </a:p>
        </p:txBody>
      </p:sp>
      <p:sp>
        <p:nvSpPr>
          <p:cNvPr id="7" name="PDF_TEXT_GROUP_535"/>
          <p:cNvSpPr txBox="1"/>
          <p:nvPr/>
        </p:nvSpPr>
        <p:spPr>
          <a:xfrm>
            <a:off x="985712" y="3512846"/>
            <a:ext cx="111462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[25]</a:t>
            </a:r>
            <a:r>
              <a:rPr sz="1863" b="0" i="0">
                <a:solidFill>
                  <a:srgbClr val="000000"/>
                </a:solidFill>
                <a:latin typeface="Latin Modern Sans"/>
              </a:rPr>
              <a:t> ONNX, “Open Neural Network Exchange Intermediate Representation Specification.”</a:t>
            </a:r>
          </a:p>
        </p:txBody>
      </p:sp>
      <p:sp>
        <p:nvSpPr>
          <p:cNvPr id="8" name="PDF_TEXT_GROUP_536"/>
          <p:cNvSpPr txBox="1"/>
          <p:nvPr/>
        </p:nvSpPr>
        <p:spPr>
          <a:xfrm>
            <a:off x="985712" y="3928613"/>
            <a:ext cx="1306133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[28]</a:t>
            </a:r>
            <a:r>
              <a:rPr sz="1863" b="0" i="0">
                <a:solidFill>
                  <a:srgbClr val="000000"/>
                </a:solidFill>
                <a:latin typeface="Latin Modern Sans"/>
              </a:rPr>
              <a:t> NDNSF, research-revision-audit.md, companion claim/evidence ledger, September 9, 2026. Contains</a:t>
            </a:r>
          </a:p>
        </p:txBody>
      </p:sp>
      <p:sp>
        <p:nvSpPr>
          <p:cNvPr id="9" name="PDF_TEXT_GROUP_537"/>
          <p:cNvSpPr txBox="1"/>
          <p:nvPr/>
        </p:nvSpPr>
        <p:spPr>
          <a:xfrm>
            <a:off x="1582632" y="4234444"/>
            <a:ext cx="6137487"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campaign paths and unresolved acceptance gates.</a:t>
            </a:r>
          </a:p>
        </p:txBody>
      </p:sp>
      <p:sp>
        <p:nvSpPr>
          <p:cNvPr id="10" name="PDF_TEXT_GROUP_538"/>
          <p:cNvSpPr txBox="1"/>
          <p:nvPr/>
        </p:nvSpPr>
        <p:spPr>
          <a:xfrm>
            <a:off x="985712" y="4650211"/>
            <a:ext cx="1055697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[29]</a:t>
            </a:r>
            <a:r>
              <a:rPr sz="1863" b="0" i="0">
                <a:solidFill>
                  <a:srgbClr val="000000"/>
                </a:solidFill>
                <a:latin typeface="Latin Modern Sans"/>
              </a:rPr>
              <a:t> University of Memphis CS, “Information for Computer Science Ph.D. Students,”</a:t>
            </a:r>
          </a:p>
        </p:txBody>
      </p:sp>
      <p:sp>
        <p:nvSpPr>
          <p:cNvPr id="11" name="PDF_TEXT_GROUP_539"/>
          <p:cNvSpPr txBox="1"/>
          <p:nvPr/>
        </p:nvSpPr>
        <p:spPr>
          <a:xfrm>
            <a:off x="1582632" y="4956074"/>
            <a:ext cx="811345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forms_grad_phd_programinfo.pdf (accessed September 9, 2026).</a:t>
            </a:r>
          </a:p>
        </p:txBody>
      </p:sp>
      <p:sp>
        <p:nvSpPr>
          <p:cNvPr id="12" name="PDF_TEXT_GROUP_540"/>
          <p:cNvSpPr txBox="1"/>
          <p:nvPr/>
        </p:nvSpPr>
        <p:spPr>
          <a:xfrm>
            <a:off x="985712" y="5371809"/>
            <a:ext cx="1290170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1A3E79"/>
                </a:solidFill>
                <a:latin typeface="Latin Modern Sans"/>
              </a:rPr>
              <a:t>[30]</a:t>
            </a:r>
            <a:r>
              <a:rPr sz="1863" b="0" i="0">
                <a:solidFill>
                  <a:srgbClr val="000000"/>
                </a:solidFill>
                <a:latin typeface="Latin Modern Sans"/>
              </a:rPr>
              <a:t> University of Memphis Graduate School, “Graduation Information,” Spring 2027 calendar (accessed</a:t>
            </a:r>
          </a:p>
        </p:txBody>
      </p:sp>
      <p:sp>
        <p:nvSpPr>
          <p:cNvPr id="13" name="PDF_TEXT_GROUP_541"/>
          <p:cNvSpPr txBox="1"/>
          <p:nvPr/>
        </p:nvSpPr>
        <p:spPr>
          <a:xfrm>
            <a:off x="1582632" y="5677672"/>
            <a:ext cx="252583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000000"/>
                </a:solidFill>
                <a:latin typeface="Latin Modern Sans"/>
              </a:rPr>
              <a:t>September 9, 2026).</a:t>
            </a:r>
          </a:p>
        </p:txBody>
      </p:sp>
      <p:sp>
        <p:nvSpPr>
          <p:cNvPr id="14" name="PDF_TEXT_GROUP_542"/>
          <p:cNvSpPr txBox="1"/>
          <p:nvPr/>
        </p:nvSpPr>
        <p:spPr>
          <a:xfrm>
            <a:off x="245952" y="7853512"/>
            <a:ext cx="1595980"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Tianxing Ma</a:t>
            </a:r>
          </a:p>
        </p:txBody>
      </p:sp>
      <p:sp>
        <p:nvSpPr>
          <p:cNvPr id="15" name="PDF_TEXT_GROUP_543"/>
          <p:cNvSpPr txBox="1"/>
          <p:nvPr/>
        </p:nvSpPr>
        <p:spPr>
          <a:xfrm>
            <a:off x="2064410" y="7853512"/>
            <a:ext cx="2783933"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PhD Proposal Defense</a:t>
            </a:r>
          </a:p>
        </p:txBody>
      </p:sp>
      <p:sp>
        <p:nvSpPr>
          <p:cNvPr id="16" name="PDF_TEXT_GROUP_544"/>
          <p:cNvSpPr txBox="1"/>
          <p:nvPr/>
        </p:nvSpPr>
        <p:spPr>
          <a:xfrm>
            <a:off x="5006347" y="7853512"/>
            <a:ext cx="2757459"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University of Memphis</a:t>
            </a:r>
          </a:p>
        </p:txBody>
      </p:sp>
      <p:sp>
        <p:nvSpPr>
          <p:cNvPr id="17" name="PDF_TEXT_GROUP_545"/>
          <p:cNvSpPr txBox="1"/>
          <p:nvPr/>
        </p:nvSpPr>
        <p:spPr>
          <a:xfrm>
            <a:off x="7924029" y="7853512"/>
            <a:ext cx="2000881"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3333B2"/>
                </a:solidFill>
                <a:latin typeface="Latin Modern Sans"/>
              </a:rPr>
              <a:t>September 2026</a:t>
            </a:r>
          </a:p>
        </p:txBody>
      </p:sp>
      <p:sp>
        <p:nvSpPr>
          <p:cNvPr id="18" name="PDF_TEXT_GROUP_546"/>
          <p:cNvSpPr txBox="1"/>
          <p:nvPr/>
        </p:nvSpPr>
        <p:spPr>
          <a:xfrm>
            <a:off x="11416980" y="7853512"/>
            <a:ext cx="825302" cy="302935"/>
          </a:xfrm>
          <a:prstGeom prst="rect">
            <a:avLst/>
          </a:prstGeom>
          <a:noFill/>
          <a:ln>
            <a:noFill/>
          </a:ln>
        </p:spPr>
        <p:txBody>
          <a:bodyPr wrap="square" anchor="t" lIns="0" rIns="0" tIns="0" bIns="0">
            <a:noAutofit/>
          </a:bodyPr>
          <a:lstStyle/>
          <a:p>
            <a:pPr algn="l">
              <a:lnSpc>
                <a:spcPct val="100000"/>
              </a:lnSpc>
              <a:spcBef>
                <a:spcPts val="0"/>
              </a:spcBef>
              <a:spcAft>
                <a:spcPts val="0"/>
              </a:spcAft>
            </a:pPr>
            <a:r>
              <a:rPr sz="1863" b="0" i="0">
                <a:solidFill>
                  <a:srgbClr val="262685"/>
                </a:solidFill>
                <a:latin typeface="Latin Modern Sans"/>
              </a:rPr>
              <a:t>38/38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