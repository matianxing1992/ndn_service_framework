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unmanned aerial vehicles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Check task inputs: a valid image signature does not show that its producer was assigned to this task’s dependency. The research connects participation decisions to authorized execution and task-specific input checks, then measures the cost.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and signing-key relationships under trust rules; check task permissions separately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Providers selected at runtime follow task roles and named dependencies, whether Data comes from producers or caches? RQ3: When do these mechanisms improve completion, latency, or execution efficiency, and when do their costs outweigh the benefits? UAV sensing tests dependencies between observations; distributed inference tests ordered computation and state. Both evaluate the same framework.</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Proposed contribution: each selected Provider checks whether input Data matches the task’s runtime role assignments and declared dependencies.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KP-ABE encodes an access policy in each entity’s decryption key. [19] NDNSF combines service entitlements in that policy while retaining identity-signing credentials. [28] Challenge checks reuse these permissions for invocation; User permission keys and challenge processing still add cost. This avoids a separate role-based invocation policy in NDNSF. It does not eliminate key updates or prove lower total cost; role-based designs can also reuse credentials.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places a Requester Challenge in ABE-protected Request content. 2. The Provider returns it in ACK Data; the User checks the value against the active request. 3. The Provider encrypts its challenge in ACK content. The User returns the value in Selection; the Provider checks it before execution. Both sides also validate signatures under trust rules and check service permissions and request state. Challenge responses show access to protected values; they do not grant permissions or prevent deliberate sharing.</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User/Provider check signatures, challenge responses, service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Revocation has costs: measure update propagation, rejection delay and rekey traffic. Disconnected nodes cannot learn updates immediately; previously disclosed keys and plaintext cannot be recalled.</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Each sensing UAV signs ViewImage Data containing encrypted image content and publishes it in its own authorized namespace. 2. The compute Provider retrieves images over assigned edges and publishes Annotation Data. 3. The compute Provider includes original image names and permitted image keys in its encrypted result for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ABE-encrypted discovery and ABE-backed service authorization justify their management and revocation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0.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491512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unmanned aerial vehicles</a:t>
            </a:r>
            <a:r>
              <a:rPr sz="2710" b="0" i="0">
                <a:solidFill>
                  <a:srgbClr val="000000"/>
                </a:solidFill>
                <a:latin typeface="Latin Modern Sans"/>
              </a:rPr>
              <a:t>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3407283"/>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r>
              <a:rPr sz="2371" b="0" i="0">
                <a:solidFill>
                  <a:srgbClr val="000000"/>
                </a:solidFill>
                <a:latin typeface="Latin Modern Sans"/>
              </a:rPr>
              <a:t> view 2</a:t>
            </a:r>
          </a:p>
        </p:txBody>
      </p:sp>
      <p:sp>
        <p:nvSpPr>
          <p:cNvPr id="10" name="PDF_TEXT_GROUP_13"/>
          <p:cNvSpPr txBox="1"/>
          <p:nvPr/>
        </p:nvSpPr>
        <p:spPr>
          <a:xfrm>
            <a:off x="1618972" y="4379550"/>
            <a:ext cx="447905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2" name="PDF_TEXT_GROUP_15"/>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3" name="PDF_TEXT_GROUP_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2/40</a:t>
            </a:r>
          </a:p>
        </p:txBody>
      </p:sp>
      <p:sp>
        <p:nvSpPr>
          <p:cNvPr id="18"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6"/>
          <p:cNvSpPr/>
          <p:nvPr/>
        </p:nvSpPr>
        <p:spPr>
          <a:xfrm rot="5400000">
            <a:off x="1207424" y="34930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9"/>
          <p:cNvSpPr/>
          <p:nvPr/>
        </p:nvSpPr>
        <p:spPr>
          <a:xfrm rot="5400000">
            <a:off x="1207424" y="446534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2"/>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3"/>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4"/>
          <p:cNvSpPr txBox="1"/>
          <p:nvPr/>
        </p:nvSpPr>
        <p:spPr>
          <a:xfrm>
            <a:off x="1169087" y="3937478"/>
            <a:ext cx="12571134"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Check task inputs:</a:t>
            </a:r>
            <a:r>
              <a:rPr sz="2710" b="0" i="0">
                <a:solidFill>
                  <a:srgbClr val="000000"/>
                </a:solidFill>
                <a:latin typeface="Latin Modern Sans"/>
              </a:rPr>
              <a:t> a valid image signature does not show that its producer was</a:t>
            </a:r>
            <a:r>
              <a:rPr sz="2710" b="0" i="0">
                <a:solidFill>
                  <a:srgbClr val="000000"/>
                </a:solidFill>
                <a:latin typeface="Latin Modern Sans"/>
              </a:rPr>
              <a:t> assigned to this task’s dependency.</a:t>
            </a:r>
          </a:p>
        </p:txBody>
      </p:sp>
      <p:sp>
        <p:nvSpPr>
          <p:cNvPr id="7" name="PDF_TEXT_GROUP_25"/>
          <p:cNvSpPr txBox="1"/>
          <p:nvPr/>
        </p:nvSpPr>
        <p:spPr>
          <a:xfrm>
            <a:off x="1143656" y="5622747"/>
            <a:ext cx="1096817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research connects participation decisions to authorized execution and</a:t>
            </a:r>
            <a:r>
              <a:rPr sz="2710" b="0" i="0">
                <a:solidFill>
                  <a:srgbClr val="000000"/>
                </a:solidFill>
                <a:latin typeface="Latin Modern Sans"/>
              </a:rPr>
              <a:t> task-specific input checks, then measures the cost.</a:t>
            </a:r>
          </a:p>
        </p:txBody>
      </p:sp>
      <p:sp>
        <p:nvSpPr>
          <p:cNvPr id="8"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2"/>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26823"/>
            <a:ext cx="70245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and signing-key relationships</a:t>
            </a:r>
            <a:r>
              <a:rPr sz="2371" b="0" i="0">
                <a:solidFill>
                  <a:srgbClr val="000000"/>
                </a:solidFill>
                <a:latin typeface="Latin Modern Sans"/>
              </a:rPr>
              <a:t> under trust rules; check task permissions separately</a:t>
            </a:r>
          </a:p>
        </p:txBody>
      </p:sp>
      <p:sp>
        <p:nvSpPr>
          <p:cNvPr id="8" name="PDF_TEXT_GROUP_36"/>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8"/>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0"/>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2"/>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0"/>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1"/>
          <p:cNvSpPr txBox="1"/>
          <p:nvPr/>
        </p:nvSpPr>
        <p:spPr>
          <a:xfrm>
            <a:off x="1618972" y="3264547"/>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2"/>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3"/>
          <p:cNvSpPr txBox="1"/>
          <p:nvPr/>
        </p:nvSpPr>
        <p:spPr>
          <a:xfrm>
            <a:off x="1143656" y="5830501"/>
            <a:ext cx="1202927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sensing tests dependencies between observations; distributed inference tests</a:t>
            </a:r>
            <a:r>
              <a:rPr sz="2710" b="0" i="0">
                <a:solidFill>
                  <a:srgbClr val="000000"/>
                </a:solidFill>
                <a:latin typeface="Latin Modern Sans"/>
              </a:rPr>
              <a:t> ordered computation and state. Both evaluate the same framework.</a:t>
            </a:r>
          </a:p>
        </p:txBody>
      </p:sp>
      <p:sp>
        <p:nvSpPr>
          <p:cNvPr id="8" name="PDF_TEXT_GROUP_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5/40</a:t>
            </a:r>
          </a:p>
        </p:txBody>
      </p:sp>
      <p:sp>
        <p:nvSpPr>
          <p:cNvPr id="13" name="PDF_BULLET_SPAN_78"/>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3"/>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7"/>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0"/>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1"/>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2"/>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3"/>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4"/>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5"/>
          <p:cNvSpPr txBox="1"/>
          <p:nvPr/>
        </p:nvSpPr>
        <p:spPr>
          <a:xfrm>
            <a:off x="4951472" y="2391871"/>
            <a:ext cx="8650095"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6"/>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7"/>
          <p:cNvSpPr txBox="1"/>
          <p:nvPr/>
        </p:nvSpPr>
        <p:spPr>
          <a:xfrm>
            <a:off x="4951601" y="3346591"/>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8"/>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69"/>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0"/>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1"/>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2"/>
          <p:cNvSpPr txBox="1"/>
          <p:nvPr/>
        </p:nvSpPr>
        <p:spPr>
          <a:xfrm>
            <a:off x="1123808" y="6137330"/>
            <a:ext cx="11787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contribution: each selected Provider checks whether input Data matches the</a:t>
            </a:r>
            <a:r>
              <a:rPr sz="2371" b="0" i="0">
                <a:solidFill>
                  <a:srgbClr val="000000"/>
                </a:solidFill>
                <a:latin typeface="Latin Modern Sans"/>
              </a:rPr>
              <a:t> task’s runtime role assignments and declared dependencies.</a:t>
            </a:r>
          </a:p>
        </p:txBody>
      </p:sp>
      <p:sp>
        <p:nvSpPr>
          <p:cNvPr id="17"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79"/>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0"/>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1"/>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2"/>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3"/>
          <p:cNvSpPr txBox="1"/>
          <p:nvPr/>
        </p:nvSpPr>
        <p:spPr>
          <a:xfrm>
            <a:off x="1107736" y="3266384"/>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checks</a:t>
            </a:r>
          </a:p>
        </p:txBody>
      </p:sp>
      <p:sp>
        <p:nvSpPr>
          <p:cNvPr id="9" name="PDF_TEXT_GROUP_84"/>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85"/>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6"/>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7"/>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4"/>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5"/>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6"/>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7"/>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8"/>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8/40</a:t>
            </a:r>
          </a:p>
        </p:txBody>
      </p:sp>
      <p:sp>
        <p:nvSpPr>
          <p:cNvPr id="14" name="PDF_BULLET_SPAN_145"/>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7"/>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9"/>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2"/>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5"/>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6"/>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7"/>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8"/>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09"/>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0"/>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1"/>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2"/>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3"/>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4"/>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5"/>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22"/>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3"/>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4"/>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5"/>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6"/>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7"/>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8"/>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5"/>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6"/>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7"/>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8"/>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11/40</a:t>
            </a:r>
          </a:p>
        </p:txBody>
      </p:sp>
      <p:sp>
        <p:nvSpPr>
          <p:cNvPr id="13" name="PDF_BULLET_SPAN_201"/>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3"/>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6"/>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45"/>
          <p:cNvSpPr txBox="1"/>
          <p:nvPr/>
        </p:nvSpPr>
        <p:spPr>
          <a:xfrm>
            <a:off x="1618972" y="2204706"/>
            <a:ext cx="1120306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KP-ABE encodes an access policy in each entity’s decryption key. [19]</a:t>
            </a:r>
          </a:p>
        </p:txBody>
      </p:sp>
      <p:sp>
        <p:nvSpPr>
          <p:cNvPr id="5" name="PDF_TEXT_GROUP_146"/>
          <p:cNvSpPr txBox="1"/>
          <p:nvPr/>
        </p:nvSpPr>
        <p:spPr>
          <a:xfrm>
            <a:off x="1618972" y="2739134"/>
            <a:ext cx="100906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combines service entitlements in that policy while retaining</a:t>
            </a:r>
            <a:r>
              <a:rPr sz="2710" b="0" i="0">
                <a:solidFill>
                  <a:srgbClr val="000000"/>
                </a:solidFill>
                <a:latin typeface="Latin Modern Sans"/>
              </a:rPr>
              <a:t> identity-signing credentials. [28]</a:t>
            </a:r>
          </a:p>
        </p:txBody>
      </p:sp>
      <p:sp>
        <p:nvSpPr>
          <p:cNvPr id="6" name="PDF_TEXT_GROUP_147"/>
          <p:cNvSpPr txBox="1"/>
          <p:nvPr/>
        </p:nvSpPr>
        <p:spPr>
          <a:xfrm>
            <a:off x="1618972" y="3711401"/>
            <a:ext cx="1220925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 checks reuse these permissions for invocation; User permission keys and</a:t>
            </a:r>
            <a:r>
              <a:rPr sz="2710" b="0" i="0">
                <a:solidFill>
                  <a:srgbClr val="000000"/>
                </a:solidFill>
                <a:latin typeface="Latin Modern Sans"/>
              </a:rPr>
              <a:t> challenge processing still add cost.</a:t>
            </a:r>
          </a:p>
        </p:txBody>
      </p:sp>
      <p:sp>
        <p:nvSpPr>
          <p:cNvPr id="7" name="PDF_TEXT_GROUP_148"/>
          <p:cNvSpPr txBox="1"/>
          <p:nvPr/>
        </p:nvSpPr>
        <p:spPr>
          <a:xfrm>
            <a:off x="1143656" y="5305089"/>
            <a:ext cx="124780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avoids a separate role-based invocation policy in NDNSF. It does not eliminate</a:t>
            </a:r>
            <a:r>
              <a:rPr sz="2710" b="0" i="0">
                <a:solidFill>
                  <a:srgbClr val="000000"/>
                </a:solidFill>
                <a:latin typeface="Latin Modern Sans"/>
              </a:rPr>
              <a:t> key updates or prove lower total cost; role-based designs can also reuse credentials.</a:t>
            </a:r>
          </a:p>
        </p:txBody>
      </p:sp>
      <p:sp>
        <p:nvSpPr>
          <p:cNvPr id="8" name="PDF_TEXT_GROUP_1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12/40</a:t>
            </a:r>
          </a:p>
        </p:txBody>
      </p:sp>
      <p:sp>
        <p:nvSpPr>
          <p:cNvPr id="13" name="PDF_BULLET_SPAN_217"/>
          <p:cNvSpPr/>
          <p:nvPr/>
        </p:nvSpPr>
        <p:spPr>
          <a:xfrm rot="5400000">
            <a:off x="1207424" y="229049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9"/>
          <p:cNvSpPr/>
          <p:nvPr/>
        </p:nvSpPr>
        <p:spPr>
          <a:xfrm rot="5400000">
            <a:off x="1207424" y="28249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2"/>
          <p:cNvSpPr/>
          <p:nvPr/>
        </p:nvSpPr>
        <p:spPr>
          <a:xfrm rot="5400000">
            <a:off x="1207424" y="37971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5"/>
          <p:cNvSpPr txBox="1"/>
          <p:nvPr/>
        </p:nvSpPr>
        <p:spPr>
          <a:xfrm>
            <a:off x="1169087" y="2039349"/>
            <a:ext cx="1237286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places a Requester Challenge in ABE-protected Request content.</a:t>
            </a:r>
          </a:p>
        </p:txBody>
      </p:sp>
      <p:sp>
        <p:nvSpPr>
          <p:cNvPr id="5" name="PDF_TEXT_GROUP_156"/>
          <p:cNvSpPr txBox="1"/>
          <p:nvPr/>
        </p:nvSpPr>
        <p:spPr>
          <a:xfrm>
            <a:off x="1169087" y="2573777"/>
            <a:ext cx="1268137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it in ACK Data; the User checks the value against the active</a:t>
            </a:r>
            <a:r>
              <a:rPr sz="2710" b="0" i="0">
                <a:solidFill>
                  <a:srgbClr val="000000"/>
                </a:solidFill>
                <a:latin typeface="Latin Modern Sans"/>
              </a:rPr>
              <a:t> request.</a:t>
            </a:r>
          </a:p>
        </p:txBody>
      </p:sp>
      <p:sp>
        <p:nvSpPr>
          <p:cNvPr id="6" name="PDF_TEXT_GROUP_157"/>
          <p:cNvSpPr txBox="1"/>
          <p:nvPr/>
        </p:nvSpPr>
        <p:spPr>
          <a:xfrm>
            <a:off x="1169087" y="3546044"/>
            <a:ext cx="1238335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encrypts its challenge in ACK content. The User returns the value</a:t>
            </a:r>
            <a:r>
              <a:rPr sz="2710" b="0" i="0">
                <a:solidFill>
                  <a:srgbClr val="000000"/>
                </a:solidFill>
                <a:latin typeface="Latin Modern Sans"/>
              </a:rPr>
              <a:t> in Selection; the Provider checks it before execution.</a:t>
            </a:r>
          </a:p>
        </p:txBody>
      </p:sp>
      <p:sp>
        <p:nvSpPr>
          <p:cNvPr id="7" name="PDF_TEXT_GROUP_158"/>
          <p:cNvSpPr txBox="1"/>
          <p:nvPr/>
        </p:nvSpPr>
        <p:spPr>
          <a:xfrm>
            <a:off x="1143656" y="5115237"/>
            <a:ext cx="124778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validate signatures under trust rules and check service permissions</a:t>
            </a:r>
            <a:r>
              <a:rPr sz="2710" b="0" i="0">
                <a:solidFill>
                  <a:srgbClr val="000000"/>
                </a:solidFill>
                <a:latin typeface="Latin Modern Sans"/>
              </a:rPr>
              <a:t> and request state. Challenge responses show access to protected values; they do not</a:t>
            </a:r>
            <a:r>
              <a:rPr sz="2710" b="0" i="0">
                <a:solidFill>
                  <a:srgbClr val="000000"/>
                </a:solidFill>
                <a:latin typeface="Latin Modern Sans"/>
              </a:rPr>
              <a:t> grant permissions or prevent deliberate sharing.</a:t>
            </a:r>
          </a:p>
        </p:txBody>
      </p:sp>
      <p:sp>
        <p:nvSpPr>
          <p:cNvPr id="8" name="PDF_TEXT_GROUP_15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65"/>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66"/>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67"/>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68"/>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69"/>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1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17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7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7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79"/>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180"/>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181"/>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182"/>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183"/>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18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85"/>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86"/>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87"/>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88"/>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89"/>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8" name="PDF_TEXT_GROUP_1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9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9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96"/>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97"/>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98"/>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99"/>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00"/>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16/40</a:t>
            </a:r>
          </a:p>
        </p:txBody>
      </p:sp>
      <p:sp>
        <p:nvSpPr>
          <p:cNvPr id="14" name="PDF_BULLET_SPAN_294"/>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7"/>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99"/>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02"/>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207"/>
          <p:cNvSpPr txBox="1"/>
          <p:nvPr/>
        </p:nvSpPr>
        <p:spPr>
          <a:xfrm>
            <a:off x="1618972" y="1846589"/>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208"/>
          <p:cNvSpPr txBox="1"/>
          <p:nvPr/>
        </p:nvSpPr>
        <p:spPr>
          <a:xfrm>
            <a:off x="1618972" y="2818856"/>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209"/>
          <p:cNvSpPr txBox="1"/>
          <p:nvPr/>
        </p:nvSpPr>
        <p:spPr>
          <a:xfrm>
            <a:off x="1618972" y="3791123"/>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10"/>
          <p:cNvSpPr txBox="1"/>
          <p:nvPr/>
        </p:nvSpPr>
        <p:spPr>
          <a:xfrm>
            <a:off x="1143656" y="5404393"/>
            <a:ext cx="12279316"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Revocation has costs: measure update propagation, rejection delay and rekey</a:t>
            </a:r>
            <a:r>
              <a:rPr sz="2710" b="0" i="0">
                <a:solidFill>
                  <a:srgbClr val="000000"/>
                </a:solidFill>
                <a:latin typeface="Latin Modern Sans"/>
              </a:rPr>
              <a:t> traffic. Disconnected nodes cannot learn updates immediately; previously disclosed</a:t>
            </a:r>
            <a:r>
              <a:rPr sz="2710" b="0" i="0">
                <a:solidFill>
                  <a:srgbClr val="000000"/>
                </a:solidFill>
                <a:latin typeface="Latin Modern Sans"/>
              </a:rPr>
              <a:t> keys and plaintext cannot be recalled.</a:t>
            </a:r>
          </a:p>
        </p:txBody>
      </p:sp>
      <p:sp>
        <p:nvSpPr>
          <p:cNvPr id="8" name="PDF_TEXT_GROUP_2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1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1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17/40</a:t>
            </a:r>
          </a:p>
        </p:txBody>
      </p:sp>
      <p:sp>
        <p:nvSpPr>
          <p:cNvPr id="13" name="PDF_BULLET_SPAN_313"/>
          <p:cNvSpPr/>
          <p:nvPr/>
        </p:nvSpPr>
        <p:spPr>
          <a:xfrm rot="5400000">
            <a:off x="1207424" y="1932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16"/>
          <p:cNvSpPr/>
          <p:nvPr/>
        </p:nvSpPr>
        <p:spPr>
          <a:xfrm rot="5400000">
            <a:off x="1207424" y="29046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19"/>
          <p:cNvSpPr/>
          <p:nvPr/>
        </p:nvSpPr>
        <p:spPr>
          <a:xfrm rot="5400000">
            <a:off x="1207424" y="38769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17"/>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18"/>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19"/>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20"/>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21"/>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2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18/40</a:t>
            </a:r>
          </a:p>
        </p:txBody>
      </p:sp>
      <p:sp>
        <p:nvSpPr>
          <p:cNvPr id="14" name="PDF_BULLET_SPAN_331"/>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33"/>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36"/>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39"/>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28"/>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29"/>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230"/>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31"/>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32"/>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39"/>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40"/>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41"/>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42"/>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43"/>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44"/>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45"/>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46"/>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47"/>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4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4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5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5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5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54"/>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55"/>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256"/>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57"/>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58"/>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59"/>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6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6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6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6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7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71"/>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7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7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7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7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7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7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78"/>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85"/>
          <p:cNvSpPr txBox="1"/>
          <p:nvPr/>
        </p:nvSpPr>
        <p:spPr>
          <a:xfrm>
            <a:off x="1169087" y="1815792"/>
            <a:ext cx="1266814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Each sensing UAV signs ViewImage Data containing encrypted image content and</a:t>
            </a:r>
            <a:r>
              <a:rPr sz="2710" b="0" i="0">
                <a:solidFill>
                  <a:srgbClr val="000000"/>
                </a:solidFill>
                <a:latin typeface="Latin Modern Sans"/>
              </a:rPr>
              <a:t> publishes it in its own authorized namespace.</a:t>
            </a:r>
          </a:p>
        </p:txBody>
      </p:sp>
      <p:sp>
        <p:nvSpPr>
          <p:cNvPr id="5" name="PDF_TEXT_GROUP_286"/>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87"/>
          <p:cNvSpPr txBox="1"/>
          <p:nvPr/>
        </p:nvSpPr>
        <p:spPr>
          <a:xfrm>
            <a:off x="1169087" y="3760326"/>
            <a:ext cx="1265377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compute Provider includes original image names and permitted image keys in</a:t>
            </a:r>
            <a:r>
              <a:rPr sz="2710" b="0" i="0">
                <a:solidFill>
                  <a:srgbClr val="000000"/>
                </a:solidFill>
                <a:latin typeface="Latin Modern Sans"/>
              </a:rPr>
              <a:t> its encrypted result for the requester.</a:t>
            </a:r>
          </a:p>
        </p:txBody>
      </p:sp>
      <p:sp>
        <p:nvSpPr>
          <p:cNvPr id="7" name="PDF_TEXT_GROUP_288"/>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89"/>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9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96"/>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97"/>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98"/>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299"/>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00"/>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24/40</a:t>
            </a:r>
          </a:p>
        </p:txBody>
      </p:sp>
      <p:sp>
        <p:nvSpPr>
          <p:cNvPr id="14" name="PDF_BULLET_SPAN_451"/>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53"/>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6"/>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9"/>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Named Computation Dependencies</a:t>
            </a:r>
          </a:p>
        </p:txBody>
      </p:sp>
      <p:sp>
        <p:nvSpPr>
          <p:cNvPr id="4" name="PDF_TEXT_GROUP_307"/>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08"/>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09"/>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10"/>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11"/>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12"/>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13"/>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14"/>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15"/>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25/40</a:t>
            </a:r>
          </a:p>
        </p:txBody>
      </p:sp>
      <p:sp>
        <p:nvSpPr>
          <p:cNvPr id="18" name="PDF_BULLET_SPAN_478"/>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81"/>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84"/>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22"/>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23"/>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324"/>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25"/>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26"/>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3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26/40</a:t>
            </a:r>
          </a:p>
        </p:txBody>
      </p:sp>
      <p:sp>
        <p:nvSpPr>
          <p:cNvPr id="14" name="PDF_BULLET_SPAN_494"/>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7"/>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00"/>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02"/>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33"/>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34"/>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35"/>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36"/>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37"/>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27/40</a:t>
            </a:r>
          </a:p>
        </p:txBody>
      </p:sp>
      <p:sp>
        <p:nvSpPr>
          <p:cNvPr id="14" name="PDF_BULLET_SPAN_513"/>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16"/>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19"/>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22"/>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344"/>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45"/>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46"/>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47"/>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48"/>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49"/>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50"/>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51"/>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52"/>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53"/>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54"/>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55"/>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56"/>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57"/>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58"/>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59"/>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60"/>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61"/>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3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68"/>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369"/>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70"/>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71"/>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72"/>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74"/>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73"/>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75"/>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77"/>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76"/>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78"/>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379"/>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3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3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86"/>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87"/>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88"/>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89"/>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90"/>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91"/>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92"/>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93"/>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94"/>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95"/>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96"/>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97"/>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98"/>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05"/>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06"/>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07"/>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08"/>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09"/>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10"/>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11"/>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12"/>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13"/>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14"/>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15"/>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16"/>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417"/>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4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2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24"/>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25"/>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26"/>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27"/>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28"/>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29"/>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30"/>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31"/>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32"/>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33"/>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34"/>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35"/>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36"/>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37"/>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38"/>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39"/>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40"/>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41"/>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42"/>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4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4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49"/>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50"/>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451"/>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52"/>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53"/>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54"/>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55"/>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56"/>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57"/>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58"/>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59"/>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60"/>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61"/>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4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468"/>
          <p:cNvSpPr txBox="1"/>
          <p:nvPr/>
        </p:nvSpPr>
        <p:spPr>
          <a:xfrm>
            <a:off x="1618972" y="1953132"/>
            <a:ext cx="1054900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ABE-encrypted discovery and ABE-backed service</a:t>
            </a:r>
            <a:r>
              <a:rPr sz="2710" b="0" i="0">
                <a:solidFill>
                  <a:srgbClr val="000000"/>
                </a:solidFill>
                <a:latin typeface="Latin Modern Sans"/>
              </a:rPr>
              <a:t> authorization justify their management and revocation costs.</a:t>
            </a:r>
          </a:p>
        </p:txBody>
      </p:sp>
      <p:sp>
        <p:nvSpPr>
          <p:cNvPr id="5" name="PDF_TEXT_GROUP_469"/>
          <p:cNvSpPr txBox="1"/>
          <p:nvPr/>
        </p:nvSpPr>
        <p:spPr>
          <a:xfrm>
            <a:off x="1618972" y="292539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70"/>
          <p:cNvSpPr txBox="1"/>
          <p:nvPr/>
        </p:nvSpPr>
        <p:spPr>
          <a:xfrm>
            <a:off x="1618972" y="3897666"/>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71"/>
          <p:cNvSpPr txBox="1"/>
          <p:nvPr/>
        </p:nvSpPr>
        <p:spPr>
          <a:xfrm>
            <a:off x="1618972" y="4432094"/>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472"/>
          <p:cNvSpPr txBox="1"/>
          <p:nvPr/>
        </p:nvSpPr>
        <p:spPr>
          <a:xfrm>
            <a:off x="1143656" y="5750974"/>
            <a:ext cx="1224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4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34/40</a:t>
            </a:r>
          </a:p>
        </p:txBody>
      </p:sp>
      <p:sp>
        <p:nvSpPr>
          <p:cNvPr id="14" name="PDF_BULLET_SPAN_687"/>
          <p:cNvSpPr/>
          <p:nvPr/>
        </p:nvSpPr>
        <p:spPr>
          <a:xfrm rot="5400000">
            <a:off x="1207424" y="203892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91"/>
          <p:cNvSpPr/>
          <p:nvPr/>
        </p:nvSpPr>
        <p:spPr>
          <a:xfrm rot="5400000">
            <a:off x="1207424" y="301119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5"/>
          <p:cNvSpPr/>
          <p:nvPr/>
        </p:nvSpPr>
        <p:spPr>
          <a:xfrm rot="5400000">
            <a:off x="1207424" y="398345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8"/>
          <p:cNvSpPr/>
          <p:nvPr/>
        </p:nvSpPr>
        <p:spPr>
          <a:xfrm rot="5400000">
            <a:off x="1207424" y="451788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79"/>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80"/>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81"/>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82"/>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83"/>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90"/>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91"/>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92"/>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93"/>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94"/>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95"/>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96"/>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97"/>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98"/>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5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05"/>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06"/>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07"/>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08"/>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09"/>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10"/>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11"/>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12"/>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13"/>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14"/>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515"/>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5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22"/>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23"/>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24"/>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25"/>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26"/>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27"/>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28"/>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29"/>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30"/>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31"/>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32"/>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39"/>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40"/>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41"/>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42"/>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43"/>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44"/>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45"/>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46"/>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47"/>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48"/>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55"/>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56"/>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57"/>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58"/>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59"/>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60"/>
          <p:cNvSpPr txBox="1"/>
          <p:nvPr/>
        </p:nvSpPr>
        <p:spPr>
          <a:xfrm>
            <a:off x="1582632" y="3945805"/>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61"/>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62"/>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63"/>
          <p:cNvSpPr txBox="1"/>
          <p:nvPr/>
        </p:nvSpPr>
        <p:spPr>
          <a:xfrm>
            <a:off x="985712" y="5083170"/>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64"/>
          <p:cNvSpPr txBox="1"/>
          <p:nvPr/>
        </p:nvSpPr>
        <p:spPr>
          <a:xfrm>
            <a:off x="1582632" y="5389033"/>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65"/>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566"/>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56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6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6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7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7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