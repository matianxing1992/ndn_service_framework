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required service. Reachability, capability and willingness may change. Eligible Providers return ACK Data. The User selects one Provider to execute. Candidate Providers A, B, C User selects B B executes the service Initial NDNSF: discover alternatives and select one Provider per invocation, not multiple collaborating roles. Arrows show the selection process.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Foundation: evaluate discovery and authorization The initial prototype selects one Provider. Discovery confidentiality, service permissions and management costs matter even without collaboration. Extension: coordinate complementary roles Some tasks need several Providers with different responsibilities. Separate calls do not define a shared role assignment or enforce dependencies between them. Evaluate the invocation foundation; develop and validate the collaboration extension. Existing invocation results do not establish collaboration correctness.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Validate signatures under application trust policies, expressible through a Trust Schema [16] Interest retrieval and caching [1,26] Enforce task identity, dependencies, and deadlines; caching is not persistent storage Dataset synchronization / SVS [2,3] Discover new names, then retrieve Data; define service-message state transitions NAC [4] / enhanced NAC-ABE [19] Use content encryption for read access; separately check service-invocation permissions and state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single-Provider invocation be extended to roles and named dependencies across Providers, whether Data comes from producers or caches? RQ3: When do these mechanisms improve completion, latency, or execution efficiency, and when do their costs outweigh the benefits? RQ1 evaluates the invocation foundation; RQ2 studies its collaboration extension; RQ3 measures both scopes separately.</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mechanisms; NSC checks signed calls using a Trust Schema DNMP [12] Trust Schema constrains roles and measurement commands CaSCON [15] Service-composition research; requires a feature-level comparison before claiming a new composition mechanism gRPC [17,27] Complete configurations can include discovery/resolver integration, not only fixed addresses Collaboration research: make runtime assignments constrain intermediate Data use. Discovery and authorization are evaluated separately.</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checks Design and implementation work; direct/cache and failure validation remains incomplete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 service and selects a Provider; the extension also assigns collaboration roles.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RequestNonce ACK Report positive or negative participation; positive ACK supplies selection information and ProviderChallenge Selection Assign selected execution; provide input/references, challenge response and protected request-scoped keys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KP-ABE encodes an access policy in each entity’s decryption key. [19] NDNSF combines service entitlements in that policy while retaining identity-signing credentials. [28] Challenge checks reuse these permissions for invocation; User permission keys and challenge processing still add cost. DNMP [12] expresses command permissions through role keys and a Trust Schema. Roles can cover several permissions. Compare credential, policy and key updates; reuse alone does not prove lower total cost.</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The User puts a fresh random RequestNonce in ABE-protected Request content. This is not an Interest Nonce. 2. The Provider returns RequestNonce in ACK Data; the User checks it against the active request. 3. The Provider includes ProviderChallenge in ABE-protected ACK content and checks its challenge response in Selection before execution. Both sides also check signatures under trust rules, service permissions and request state. Matching challenge responses show access to protected values, not exclusive key possession.</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Pair with service-group encryption or ABE NDNSF ABE-backed User/Provider check signatures, challenge responses, service permissions and request state User encrypts descriptor content with service-level ABE Proposed comparison: retain NDNSF discovery and Selection, with input/result protection and revocation checks in both designs. Trust Schema [16] alone does not encrypt Content; adapting DNMP authorization is not an original DNMP feature. No measured cost advantage is claimed.</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Controller publishes signed permission updates; participants apply them only after retrieval and validation. Request-scoped keys protect input/results. Selection delivers keys to selected Providers; the requesting User retains access. Status checks reject withdrawn permissions; key rotation restricts future encrypted exchanges. Current ABE rotation is Controller-wide. [28] Revocation has costs: measure update propagation, rejection delay and rekey traffic. Disconnected nodes cannot learn updates immediately; previously disclosed keys and plaintext cannot be recalled.</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The User closes the ACK window and freezes the eligible, validated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Check active request, plan, execution identity and deadline.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ground-area views from unmanned aerial vehicles (UAVs), followed by analysis. 1. Sensing UAVs sign encrypted ViewImage Data under their authorized namespaces. 2. The compute Provider retrieves images over assigned edges and publishes Annotation Data. 3. Its encrypted result gives the requester original image names and permitted image keys. 4. The requester retrieves the original images and displays the annotations. Original image Data remains under its producer’s name. GPS alone does not establish camera visibility.</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With KV caching, the runtime reuses prior key/value (K/V) tensors and supplies next-step inputs; resident weights do not replace this state. [31] An in-process test does not establish correct execution across processes or devices. Freeze one supported model/partition first; tensor/hybrid and LLM streaming need their own evidence if claimed. Earlier small-model measurements do not validate the newer distributed inference and recovery paths. [28]</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No overall NDNSF advantage is established. The next slide uses a separate holdout campaign (seeds 72--81), not a subset of these runs.</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Seeds 72--81; four Providers/system; 100 m, 2 m/s; 1,312 aligned switching requests. [28] Comparison Seed-p95 difference 95% CI NDNSF minus gRPC-SEQ-4 -597 ms [-992, -200] ms NDNSF minus NSC-4 -2618 ms [-2916, -2315] ms Completed: NDNSF 1,311; gRPC 1,297; NSC 1,296 (of 1,312 each). Mean paired seed-p95 differences; each p95 uses that system’s successful requests. Different failures limit the comparison; no general advantage is inferred.</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Retained historical diagnostic; raw-run/model provenance remains to be rechecked. Not evidence for the newer distributed design.</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ABE-backed versus DNMP-inspired rules plus encryption; unauthorized call, 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Required deliverable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Committee draft: two weeks before defense. Spring 2027 application/candidacy: February 5; final ProQuest: March 26. Recheck before filing. [29,30]</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ABE-backed authorization is preferable to DNMP-inspired role rules plus encryption, accounting for confidentiality, management and withdrawal costs. RQ2 answer: exactly which task-assignment mistakes are rejected and which recovery behavior is supported. RQ3 answer: measured benefits, negative results and deployment limits. Reproducible configurations and evidence linking each conclusion to its tested scope. The outcome is a tested service protocol and an evidence-backed account of when its mechanisms are worth their cost.</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evaluate runtime discovery and authorized invocation; extend the foundation to role-aware collaboration.</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Per-link packet loss is not the probability of service failure: retrieval retries and the request deadline also affect completion.</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 [31] ONNX Runtime, “How to configure the past present share buffer,” GenAI documentation (accessed September 11,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7.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0.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Service Discovery: Several Candidates, One Executor</a:t>
            </a:r>
          </a:p>
        </p:txBody>
      </p:sp>
      <p:sp>
        <p:nvSpPr>
          <p:cNvPr id="4" name="PDF_TEXT_GROUP_7"/>
          <p:cNvSpPr txBox="1"/>
          <p:nvPr/>
        </p:nvSpPr>
        <p:spPr>
          <a:xfrm>
            <a:off x="1618972" y="1537074"/>
            <a:ext cx="43738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required</a:t>
            </a:r>
            <a:r>
              <a:rPr sz="2710" b="0" i="0">
                <a:solidFill>
                  <a:srgbClr val="000000"/>
                </a:solidFill>
                <a:latin typeface="Latin Modern Sans"/>
              </a:rPr>
              <a:t> service.</a:t>
            </a:r>
          </a:p>
        </p:txBody>
      </p:sp>
      <p:sp>
        <p:nvSpPr>
          <p:cNvPr id="5" name="PDF_TEXT_GROUP_8"/>
          <p:cNvSpPr txBox="1"/>
          <p:nvPr/>
        </p:nvSpPr>
        <p:spPr>
          <a:xfrm>
            <a:off x="7730488" y="1579855"/>
            <a:ext cx="2826971"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Candidate Providers</a:t>
            </a:r>
            <a:br/>
            <a:r>
              <a:rPr sz="2371" b="0" i="0">
                <a:solidFill>
                  <a:srgbClr val="000000"/>
                </a:solidFill>
                <a:latin typeface="Latin Modern Sans"/>
              </a:rPr>
              <a:t>A, B, C</a:t>
            </a:r>
          </a:p>
        </p:txBody>
      </p:sp>
      <p:sp>
        <p:nvSpPr>
          <p:cNvPr id="6" name="PDF_TEXT_GROUP_9"/>
          <p:cNvSpPr txBox="1"/>
          <p:nvPr/>
        </p:nvSpPr>
        <p:spPr>
          <a:xfrm>
            <a:off x="1618972" y="2509341"/>
            <a:ext cx="4129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Reachability, capability and</a:t>
            </a:r>
            <a:r>
              <a:rPr sz="2710" b="0" i="0">
                <a:solidFill>
                  <a:srgbClr val="000000"/>
                </a:solidFill>
                <a:latin typeface="Latin Modern Sans"/>
              </a:rPr>
              <a:t> willingness may change.</a:t>
            </a:r>
          </a:p>
        </p:txBody>
      </p:sp>
      <p:sp>
        <p:nvSpPr>
          <p:cNvPr id="7" name="PDF_TEXT_GROUP_10"/>
          <p:cNvSpPr txBox="1"/>
          <p:nvPr/>
        </p:nvSpPr>
        <p:spPr>
          <a:xfrm>
            <a:off x="8197068" y="3454847"/>
            <a:ext cx="20744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selects B</a:t>
            </a:r>
          </a:p>
        </p:txBody>
      </p:sp>
      <p:sp>
        <p:nvSpPr>
          <p:cNvPr id="8" name="PDF_TEXT_GROUP_11"/>
          <p:cNvSpPr txBox="1"/>
          <p:nvPr/>
        </p:nvSpPr>
        <p:spPr>
          <a:xfrm>
            <a:off x="1618972" y="3481608"/>
            <a:ext cx="448493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Eligible Providers return ACK</a:t>
            </a:r>
            <a:r>
              <a:rPr sz="2710" b="0" i="0">
                <a:solidFill>
                  <a:srgbClr val="000000"/>
                </a:solidFill>
                <a:latin typeface="Latin Modern Sans"/>
              </a:rPr>
              <a:t> Data.</a:t>
            </a:r>
          </a:p>
        </p:txBody>
      </p:sp>
      <p:sp>
        <p:nvSpPr>
          <p:cNvPr id="9" name="PDF_TEXT_GROUP_12"/>
          <p:cNvSpPr txBox="1"/>
          <p:nvPr/>
        </p:nvSpPr>
        <p:spPr>
          <a:xfrm>
            <a:off x="1618972" y="4453907"/>
            <a:ext cx="494100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selects one Provider to</a:t>
            </a:r>
            <a:r>
              <a:rPr sz="2710" b="0" i="0">
                <a:solidFill>
                  <a:srgbClr val="000000"/>
                </a:solidFill>
                <a:latin typeface="Latin Modern Sans"/>
              </a:rPr>
              <a:t> execute.</a:t>
            </a:r>
          </a:p>
        </p:txBody>
      </p:sp>
      <p:sp>
        <p:nvSpPr>
          <p:cNvPr id="10" name="PDF_TEXT_GROUP_13"/>
          <p:cNvSpPr txBox="1"/>
          <p:nvPr/>
        </p:nvSpPr>
        <p:spPr>
          <a:xfrm>
            <a:off x="7657400" y="5116558"/>
            <a:ext cx="32112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 executes the service</a:t>
            </a:r>
          </a:p>
        </p:txBody>
      </p:sp>
      <p:sp>
        <p:nvSpPr>
          <p:cNvPr id="11" name="PDF_TEXT_GROUP_14"/>
          <p:cNvSpPr txBox="1"/>
          <p:nvPr/>
        </p:nvSpPr>
        <p:spPr>
          <a:xfrm>
            <a:off x="1143656" y="6438706"/>
            <a:ext cx="1187236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Initial NDNSF: discover alternatives and select one Provider per invocation, not</a:t>
            </a:r>
            <a:r>
              <a:rPr sz="2710" b="0" i="0">
                <a:solidFill>
                  <a:srgbClr val="000000"/>
                </a:solidFill>
                <a:latin typeface="Latin Modern Sans"/>
              </a:rPr>
              <a:t> multiple collaborating roles. Arrows show the selection process.</a:t>
            </a:r>
          </a:p>
        </p:txBody>
      </p:sp>
      <p:sp>
        <p:nvSpPr>
          <p:cNvPr id="12" name="PDF_TEXT_GROUP_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6" name="PDF_TEXT_GROUP_1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2/40</a:t>
            </a:r>
          </a:p>
        </p:txBody>
      </p:sp>
      <p:sp>
        <p:nvSpPr>
          <p:cNvPr id="17" name="PDF_BULLET_SPAN_11"/>
          <p:cNvSpPr/>
          <p:nvPr/>
        </p:nvSpPr>
        <p:spPr>
          <a:xfrm rot="5400000">
            <a:off x="1207424" y="16228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4"/>
          <p:cNvSpPr/>
          <p:nvPr/>
        </p:nvSpPr>
        <p:spPr>
          <a:xfrm rot="5400000">
            <a:off x="1207424" y="259513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7"/>
          <p:cNvSpPr/>
          <p:nvPr/>
        </p:nvSpPr>
        <p:spPr>
          <a:xfrm rot="5400000">
            <a:off x="1207424" y="356739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20"/>
          <p:cNvSpPr/>
          <p:nvPr/>
        </p:nvSpPr>
        <p:spPr>
          <a:xfrm rot="5400000">
            <a:off x="1207424" y="453969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From Invocation to Collaboration: Two Research Scopes</a:t>
            </a:r>
          </a:p>
        </p:txBody>
      </p:sp>
      <p:sp>
        <p:nvSpPr>
          <p:cNvPr id="4" name="PDF_TEXT_GROUP_21"/>
          <p:cNvSpPr txBox="1"/>
          <p:nvPr/>
        </p:nvSpPr>
        <p:spPr>
          <a:xfrm>
            <a:off x="914808" y="1818119"/>
            <a:ext cx="8371585"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Foundation: evaluate discovery and authorization</a:t>
            </a:r>
          </a:p>
        </p:txBody>
      </p:sp>
      <p:sp>
        <p:nvSpPr>
          <p:cNvPr id="5" name="PDF_TEXT_GROUP_22"/>
          <p:cNvSpPr txBox="1"/>
          <p:nvPr/>
        </p:nvSpPr>
        <p:spPr>
          <a:xfrm>
            <a:off x="914808" y="2386769"/>
            <a:ext cx="12935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initial prototype selects one Provider. Discovery confidentiality, service permissions</a:t>
            </a:r>
            <a:r>
              <a:rPr sz="2710" b="0" i="0">
                <a:solidFill>
                  <a:srgbClr val="000000"/>
                </a:solidFill>
                <a:latin typeface="Latin Modern Sans"/>
              </a:rPr>
              <a:t> and management costs matter even without collaboration.</a:t>
            </a:r>
          </a:p>
        </p:txBody>
      </p:sp>
      <p:sp>
        <p:nvSpPr>
          <p:cNvPr id="6" name="PDF_TEXT_GROUP_23"/>
          <p:cNvSpPr txBox="1"/>
          <p:nvPr/>
        </p:nvSpPr>
        <p:spPr>
          <a:xfrm>
            <a:off x="914808" y="3714794"/>
            <a:ext cx="730759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Extension: coordinate complementary roles</a:t>
            </a:r>
          </a:p>
        </p:txBody>
      </p:sp>
      <p:sp>
        <p:nvSpPr>
          <p:cNvPr id="7" name="PDF_TEXT_GROUP_24"/>
          <p:cNvSpPr txBox="1"/>
          <p:nvPr/>
        </p:nvSpPr>
        <p:spPr>
          <a:xfrm>
            <a:off x="914808" y="4283412"/>
            <a:ext cx="1282688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Some tasks need several Providers with different responsibilities. Separate calls do not</a:t>
            </a:r>
            <a:r>
              <a:rPr sz="2710" b="0" i="0">
                <a:solidFill>
                  <a:srgbClr val="000000"/>
                </a:solidFill>
                <a:latin typeface="Latin Modern Sans"/>
              </a:rPr>
              <a:t> define a shared role assignment or enforce dependencies between them.</a:t>
            </a:r>
          </a:p>
        </p:txBody>
      </p:sp>
      <p:sp>
        <p:nvSpPr>
          <p:cNvPr id="8" name="PDF_TEXT_GROUP_25"/>
          <p:cNvSpPr txBox="1"/>
          <p:nvPr/>
        </p:nvSpPr>
        <p:spPr>
          <a:xfrm>
            <a:off x="1143656" y="5994598"/>
            <a:ext cx="1186848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Evaluate the invocation foundation; develop and validate the collaboration</a:t>
            </a:r>
            <a:r>
              <a:rPr sz="2710" b="0" i="0">
                <a:solidFill>
                  <a:srgbClr val="000000"/>
                </a:solidFill>
                <a:latin typeface="Latin Modern Sans"/>
              </a:rPr>
              <a:t> extension. Existing invocation results do not establish collaboration correctness.</a:t>
            </a:r>
          </a:p>
        </p:txBody>
      </p:sp>
      <p:sp>
        <p:nvSpPr>
          <p:cNvPr id="9" name="PDF_TEXT_GROUP_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2"/>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3"/>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4"/>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5"/>
          <p:cNvSpPr txBox="1"/>
          <p:nvPr/>
        </p:nvSpPr>
        <p:spPr>
          <a:xfrm>
            <a:off x="6488446" y="1926823"/>
            <a:ext cx="700107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Validate signatures under application trust policies,</a:t>
            </a:r>
            <a:r>
              <a:rPr sz="2371" b="0" i="0">
                <a:solidFill>
                  <a:srgbClr val="000000"/>
                </a:solidFill>
                <a:latin typeface="Latin Modern Sans"/>
              </a:rPr>
              <a:t> expressible through a Trust Schema [16]</a:t>
            </a:r>
          </a:p>
        </p:txBody>
      </p:sp>
      <p:sp>
        <p:nvSpPr>
          <p:cNvPr id="8" name="PDF_TEXT_GROUP_36"/>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7"/>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8"/>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39"/>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0"/>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1"/>
          <p:cNvSpPr txBox="1"/>
          <p:nvPr/>
        </p:nvSpPr>
        <p:spPr>
          <a:xfrm>
            <a:off x="6488446" y="4790918"/>
            <a:ext cx="684352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content encryption for read access; separately</a:t>
            </a:r>
            <a:r>
              <a:rPr sz="2371" b="0" i="0">
                <a:solidFill>
                  <a:srgbClr val="000000"/>
                </a:solidFill>
                <a:latin typeface="Latin Modern Sans"/>
              </a:rPr>
              <a:t> check service-invocation permissions and state</a:t>
            </a:r>
          </a:p>
        </p:txBody>
      </p:sp>
      <p:sp>
        <p:nvSpPr>
          <p:cNvPr id="14" name="PDF_TEXT_GROUP_42"/>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3"/>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0"/>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51"/>
          <p:cNvSpPr txBox="1"/>
          <p:nvPr/>
        </p:nvSpPr>
        <p:spPr>
          <a:xfrm>
            <a:off x="1618972" y="3264547"/>
            <a:ext cx="117462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single-Provider invocation be extended to roles and named</a:t>
            </a:r>
            <a:r>
              <a:rPr sz="2710" b="0" i="0">
                <a:solidFill>
                  <a:srgbClr val="000000"/>
                </a:solidFill>
                <a:latin typeface="Latin Modern Sans"/>
              </a:rPr>
              <a:t> dependencies across Providers, whether Data comes from producers or caches?</a:t>
            </a:r>
          </a:p>
        </p:txBody>
      </p:sp>
      <p:sp>
        <p:nvSpPr>
          <p:cNvPr id="6" name="PDF_TEXT_GROUP_52"/>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3"/>
          <p:cNvSpPr txBox="1"/>
          <p:nvPr/>
        </p:nvSpPr>
        <p:spPr>
          <a:xfrm>
            <a:off x="1143656" y="5830501"/>
            <a:ext cx="121842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RQ1 evaluates the invocation foundation; RQ2 studies its collaboration extension;</a:t>
            </a:r>
            <a:r>
              <a:rPr sz="2710" b="0" i="0">
                <a:solidFill>
                  <a:srgbClr val="000000"/>
                </a:solidFill>
                <a:latin typeface="Latin Modern Sans"/>
              </a:rPr>
              <a:t> RQ3 measures both scopes separately.</a:t>
            </a:r>
          </a:p>
        </p:txBody>
      </p:sp>
      <p:sp>
        <p:nvSpPr>
          <p:cNvPr id="8" name="PDF_TEXT_GROUP_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5/40</a:t>
            </a:r>
          </a:p>
        </p:txBody>
      </p:sp>
      <p:sp>
        <p:nvSpPr>
          <p:cNvPr id="13" name="PDF_BULLET_SPAN_71"/>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76"/>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0"/>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0"/>
          <p:cNvSpPr txBox="1"/>
          <p:nvPr/>
        </p:nvSpPr>
        <p:spPr>
          <a:xfrm>
            <a:off x="1107736" y="1255152"/>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1"/>
          <p:cNvSpPr txBox="1"/>
          <p:nvPr/>
        </p:nvSpPr>
        <p:spPr>
          <a:xfrm>
            <a:off x="4951568" y="1255152"/>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2"/>
          <p:cNvSpPr txBox="1"/>
          <p:nvPr/>
        </p:nvSpPr>
        <p:spPr>
          <a:xfrm>
            <a:off x="1107736" y="1823512"/>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3"/>
          <p:cNvSpPr txBox="1"/>
          <p:nvPr/>
        </p:nvSpPr>
        <p:spPr>
          <a:xfrm>
            <a:off x="4951408" y="1823512"/>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4"/>
          <p:cNvSpPr txBox="1"/>
          <p:nvPr/>
        </p:nvSpPr>
        <p:spPr>
          <a:xfrm>
            <a:off x="1107736" y="2391871"/>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5"/>
          <p:cNvSpPr txBox="1"/>
          <p:nvPr/>
        </p:nvSpPr>
        <p:spPr>
          <a:xfrm>
            <a:off x="4951472" y="2391871"/>
            <a:ext cx="852425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mechanisms; NSC checks signed calls using a Trust</a:t>
            </a:r>
            <a:r>
              <a:rPr sz="2371" b="0" i="0">
                <a:solidFill>
                  <a:srgbClr val="000000"/>
                </a:solidFill>
                <a:latin typeface="Latin Modern Sans"/>
              </a:rPr>
              <a:t> Schema</a:t>
            </a:r>
          </a:p>
        </p:txBody>
      </p:sp>
      <p:sp>
        <p:nvSpPr>
          <p:cNvPr id="10" name="PDF_TEXT_GROUP_66"/>
          <p:cNvSpPr txBox="1"/>
          <p:nvPr/>
        </p:nvSpPr>
        <p:spPr>
          <a:xfrm>
            <a:off x="1107736" y="3346591"/>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7"/>
          <p:cNvSpPr txBox="1"/>
          <p:nvPr/>
        </p:nvSpPr>
        <p:spPr>
          <a:xfrm>
            <a:off x="4951601" y="3346591"/>
            <a:ext cx="867318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constrains roles and measurement commands</a:t>
            </a:r>
          </a:p>
        </p:txBody>
      </p:sp>
      <p:sp>
        <p:nvSpPr>
          <p:cNvPr id="12" name="PDF_TEXT_GROUP_68"/>
          <p:cNvSpPr txBox="1"/>
          <p:nvPr/>
        </p:nvSpPr>
        <p:spPr>
          <a:xfrm>
            <a:off x="1107736" y="3914950"/>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69"/>
          <p:cNvSpPr txBox="1"/>
          <p:nvPr/>
        </p:nvSpPr>
        <p:spPr>
          <a:xfrm>
            <a:off x="4951536" y="3914950"/>
            <a:ext cx="79908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0"/>
          <p:cNvSpPr txBox="1"/>
          <p:nvPr/>
        </p:nvSpPr>
        <p:spPr>
          <a:xfrm>
            <a:off x="1107736" y="4869638"/>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1"/>
          <p:cNvSpPr txBox="1"/>
          <p:nvPr/>
        </p:nvSpPr>
        <p:spPr>
          <a:xfrm>
            <a:off x="4951601" y="4869638"/>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2"/>
          <p:cNvSpPr txBox="1"/>
          <p:nvPr/>
        </p:nvSpPr>
        <p:spPr>
          <a:xfrm>
            <a:off x="1123808" y="6137330"/>
            <a:ext cx="1138371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Collaboration research: make runtime assignments constrain intermediate Data use.</a:t>
            </a:r>
            <a:r>
              <a:rPr sz="2371" b="0" i="0">
                <a:solidFill>
                  <a:srgbClr val="000000"/>
                </a:solidFill>
                <a:latin typeface="Latin Modern Sans"/>
              </a:rPr>
              <a:t> Discovery and authorization are evaluated separately.</a:t>
            </a:r>
          </a:p>
        </p:txBody>
      </p:sp>
      <p:sp>
        <p:nvSpPr>
          <p:cNvPr id="17" name="PDF_TEXT_GROUP_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79"/>
          <p:cNvSpPr txBox="1"/>
          <p:nvPr/>
        </p:nvSpPr>
        <p:spPr>
          <a:xfrm>
            <a:off x="1107736" y="1356977"/>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0"/>
          <p:cNvSpPr txBox="1"/>
          <p:nvPr/>
        </p:nvSpPr>
        <p:spPr>
          <a:xfrm>
            <a:off x="6360351" y="1356977"/>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1"/>
          <p:cNvSpPr txBox="1"/>
          <p:nvPr/>
        </p:nvSpPr>
        <p:spPr>
          <a:xfrm>
            <a:off x="1107736" y="1925337"/>
            <a:ext cx="49948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2"/>
          <p:cNvSpPr txBox="1"/>
          <p:nvPr/>
        </p:nvSpPr>
        <p:spPr>
          <a:xfrm>
            <a:off x="6360480" y="1925337"/>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3"/>
          <p:cNvSpPr txBox="1"/>
          <p:nvPr/>
        </p:nvSpPr>
        <p:spPr>
          <a:xfrm>
            <a:off x="1107736" y="3266384"/>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checks</a:t>
            </a:r>
          </a:p>
        </p:txBody>
      </p:sp>
      <p:sp>
        <p:nvSpPr>
          <p:cNvPr id="9" name="PDF_TEXT_GROUP_84"/>
          <p:cNvSpPr txBox="1"/>
          <p:nvPr/>
        </p:nvSpPr>
        <p:spPr>
          <a:xfrm>
            <a:off x="6360480" y="3266384"/>
            <a:ext cx="69958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direct/cache and</a:t>
            </a:r>
            <a:r>
              <a:rPr sz="2371" b="0" i="0">
                <a:solidFill>
                  <a:srgbClr val="000000"/>
                </a:solidFill>
                <a:latin typeface="Latin Modern Sans"/>
              </a:rPr>
              <a:t> failure validation remains incomplete</a:t>
            </a:r>
          </a:p>
        </p:txBody>
      </p:sp>
      <p:sp>
        <p:nvSpPr>
          <p:cNvPr id="10" name="PDF_TEXT_GROUP_85"/>
          <p:cNvSpPr txBox="1"/>
          <p:nvPr/>
        </p:nvSpPr>
        <p:spPr>
          <a:xfrm>
            <a:off x="1107736" y="4221072"/>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6"/>
          <p:cNvSpPr txBox="1"/>
          <p:nvPr/>
        </p:nvSpPr>
        <p:spPr>
          <a:xfrm>
            <a:off x="6360351" y="4221072"/>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7"/>
          <p:cNvSpPr txBox="1"/>
          <p:nvPr/>
        </p:nvSpPr>
        <p:spPr>
          <a:xfrm>
            <a:off x="1123808" y="5875092"/>
            <a:ext cx="1251698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4"/>
          <p:cNvSpPr txBox="1"/>
          <p:nvPr/>
        </p:nvSpPr>
        <p:spPr>
          <a:xfrm>
            <a:off x="1618972" y="1843196"/>
            <a:ext cx="109281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 service and selects a Provider; the extension also assigns</a:t>
            </a:r>
            <a:r>
              <a:rPr sz="2710" b="0" i="0">
                <a:solidFill>
                  <a:srgbClr val="000000"/>
                </a:solidFill>
                <a:latin typeface="Latin Modern Sans"/>
              </a:rPr>
              <a:t> collaboration roles.</a:t>
            </a:r>
          </a:p>
        </p:txBody>
      </p:sp>
      <p:sp>
        <p:nvSpPr>
          <p:cNvPr id="5" name="PDF_TEXT_GROUP_95"/>
          <p:cNvSpPr txBox="1"/>
          <p:nvPr/>
        </p:nvSpPr>
        <p:spPr>
          <a:xfrm>
            <a:off x="1618972" y="2815463"/>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6"/>
          <p:cNvSpPr txBox="1"/>
          <p:nvPr/>
        </p:nvSpPr>
        <p:spPr>
          <a:xfrm>
            <a:off x="1618972" y="3349891"/>
            <a:ext cx="109315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7"/>
          <p:cNvSpPr txBox="1"/>
          <p:nvPr/>
        </p:nvSpPr>
        <p:spPr>
          <a:xfrm>
            <a:off x="1618972" y="4322190"/>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8"/>
          <p:cNvSpPr txBox="1"/>
          <p:nvPr/>
        </p:nvSpPr>
        <p:spPr>
          <a:xfrm>
            <a:off x="1143656" y="584730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8/40</a:t>
            </a:r>
          </a:p>
        </p:txBody>
      </p:sp>
      <p:sp>
        <p:nvSpPr>
          <p:cNvPr id="14" name="PDF_BULLET_SPAN_138"/>
          <p:cNvSpPr/>
          <p:nvPr/>
        </p:nvSpPr>
        <p:spPr>
          <a:xfrm rot="5400000">
            <a:off x="1207424" y="19289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1"/>
          <p:cNvSpPr/>
          <p:nvPr/>
        </p:nvSpPr>
        <p:spPr>
          <a:xfrm rot="5400000">
            <a:off x="1207424" y="290125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3"/>
          <p:cNvSpPr/>
          <p:nvPr/>
        </p:nvSpPr>
        <p:spPr>
          <a:xfrm rot="5400000">
            <a:off x="1207424" y="34356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46"/>
          <p:cNvSpPr/>
          <p:nvPr/>
        </p:nvSpPr>
        <p:spPr>
          <a:xfrm rot="5400000">
            <a:off x="1207424" y="440798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Single-Provider Invocation: Four Named Data Types</a:t>
            </a:r>
          </a:p>
        </p:txBody>
      </p:sp>
      <p:sp>
        <p:nvSpPr>
          <p:cNvPr id="4" name="PDF_TEXT_GROUP_105"/>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6"/>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7"/>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8"/>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RequestNonce</a:t>
            </a:r>
          </a:p>
        </p:txBody>
      </p:sp>
      <p:sp>
        <p:nvSpPr>
          <p:cNvPr id="8" name="PDF_TEXT_GROUP_109"/>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0"/>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ProviderChallenge</a:t>
            </a:r>
          </a:p>
        </p:txBody>
      </p:sp>
      <p:sp>
        <p:nvSpPr>
          <p:cNvPr id="10" name="PDF_TEXT_GROUP_111"/>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2"/>
          <p:cNvSpPr txBox="1"/>
          <p:nvPr/>
        </p:nvSpPr>
        <p:spPr>
          <a:xfrm>
            <a:off x="3414531" y="3769079"/>
            <a:ext cx="1023455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challenge response and</a:t>
            </a:r>
            <a:r>
              <a:rPr sz="2371" b="0" i="0">
                <a:solidFill>
                  <a:srgbClr val="000000"/>
                </a:solidFill>
                <a:latin typeface="Latin Modern Sans"/>
              </a:rPr>
              <a:t> protected request-scoped keys</a:t>
            </a:r>
          </a:p>
        </p:txBody>
      </p:sp>
      <p:sp>
        <p:nvSpPr>
          <p:cNvPr id="12" name="PDF_TEXT_GROUP_113"/>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4"/>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15"/>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Discovery Descriptor; Selection: Task Input</a:t>
            </a:r>
          </a:p>
        </p:txBody>
      </p:sp>
      <p:sp>
        <p:nvSpPr>
          <p:cNvPr id="4" name="PDF_TEXT_GROUP_122"/>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3"/>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4"/>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5"/>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6"/>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7"/>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8"/>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2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35"/>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6"/>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7"/>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38"/>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11/40</a:t>
            </a:r>
          </a:p>
        </p:txBody>
      </p:sp>
      <p:sp>
        <p:nvSpPr>
          <p:cNvPr id="13" name="PDF_BULLET_SPAN_195"/>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197"/>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0"/>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Reuse Service-Permission Management</a:t>
            </a:r>
          </a:p>
        </p:txBody>
      </p:sp>
      <p:sp>
        <p:nvSpPr>
          <p:cNvPr id="4" name="PDF_TEXT_GROUP_145"/>
          <p:cNvSpPr txBox="1"/>
          <p:nvPr/>
        </p:nvSpPr>
        <p:spPr>
          <a:xfrm>
            <a:off x="1618972" y="2023644"/>
            <a:ext cx="1120306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KP-ABE encodes an access policy in each entity’s decryption key. [19]</a:t>
            </a:r>
          </a:p>
        </p:txBody>
      </p:sp>
      <p:sp>
        <p:nvSpPr>
          <p:cNvPr id="5" name="PDF_TEXT_GROUP_146"/>
          <p:cNvSpPr txBox="1"/>
          <p:nvPr/>
        </p:nvSpPr>
        <p:spPr>
          <a:xfrm>
            <a:off x="1618972" y="2558072"/>
            <a:ext cx="1009061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combines service entitlements in that policy while retaining</a:t>
            </a:r>
            <a:r>
              <a:rPr sz="2710" b="0" i="0">
                <a:solidFill>
                  <a:srgbClr val="000000"/>
                </a:solidFill>
                <a:latin typeface="Latin Modern Sans"/>
              </a:rPr>
              <a:t> identity-signing credentials. [28]</a:t>
            </a:r>
          </a:p>
        </p:txBody>
      </p:sp>
      <p:sp>
        <p:nvSpPr>
          <p:cNvPr id="6" name="PDF_TEXT_GROUP_147"/>
          <p:cNvSpPr txBox="1"/>
          <p:nvPr/>
        </p:nvSpPr>
        <p:spPr>
          <a:xfrm>
            <a:off x="1618972" y="3530339"/>
            <a:ext cx="1220925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Challenge checks reuse these permissions for invocation; User permission keys and</a:t>
            </a:r>
            <a:r>
              <a:rPr sz="2710" b="0" i="0">
                <a:solidFill>
                  <a:srgbClr val="000000"/>
                </a:solidFill>
                <a:latin typeface="Latin Modern Sans"/>
              </a:rPr>
              <a:t> challenge processing still add cost.</a:t>
            </a:r>
          </a:p>
        </p:txBody>
      </p:sp>
      <p:sp>
        <p:nvSpPr>
          <p:cNvPr id="7" name="PDF_TEXT_GROUP_148"/>
          <p:cNvSpPr txBox="1"/>
          <p:nvPr/>
        </p:nvSpPr>
        <p:spPr>
          <a:xfrm>
            <a:off x="1143656" y="5138827"/>
            <a:ext cx="12456195"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DNMP [12] expresses command permissions through role keys and a Trust Schema.</a:t>
            </a:r>
            <a:r>
              <a:rPr sz="2710" b="0" i="0">
                <a:solidFill>
                  <a:srgbClr val="000000"/>
                </a:solidFill>
                <a:latin typeface="Latin Modern Sans"/>
              </a:rPr>
              <a:t> Roles can cover several permissions. Compare credential, policy and key updates;</a:t>
            </a:r>
            <a:r>
              <a:rPr sz="2710" b="0" i="0">
                <a:solidFill>
                  <a:srgbClr val="000000"/>
                </a:solidFill>
                <a:latin typeface="Latin Modern Sans"/>
              </a:rPr>
              <a:t> reuse alone does not prove lower total cost.</a:t>
            </a:r>
          </a:p>
        </p:txBody>
      </p:sp>
      <p:sp>
        <p:nvSpPr>
          <p:cNvPr id="8" name="PDF_TEXT_GROUP_1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12/40</a:t>
            </a:r>
          </a:p>
        </p:txBody>
      </p:sp>
      <p:sp>
        <p:nvSpPr>
          <p:cNvPr id="13" name="PDF_BULLET_SPAN_211"/>
          <p:cNvSpPr/>
          <p:nvPr/>
        </p:nvSpPr>
        <p:spPr>
          <a:xfrm rot="5400000">
            <a:off x="1207424" y="21094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13"/>
          <p:cNvSpPr/>
          <p:nvPr/>
        </p:nvSpPr>
        <p:spPr>
          <a:xfrm rot="5400000">
            <a:off x="1207424" y="264386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16"/>
          <p:cNvSpPr/>
          <p:nvPr/>
        </p:nvSpPr>
        <p:spPr>
          <a:xfrm rot="5400000">
            <a:off x="1207424" y="36161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155"/>
          <p:cNvSpPr txBox="1"/>
          <p:nvPr/>
        </p:nvSpPr>
        <p:spPr>
          <a:xfrm>
            <a:off x="1169087" y="1854409"/>
            <a:ext cx="12483305"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The User puts a fresh random RequestNonce in ABE-protected Request content.</a:t>
            </a:r>
            <a:r>
              <a:rPr sz="2710" b="0" i="0">
                <a:solidFill>
                  <a:srgbClr val="000000"/>
                </a:solidFill>
                <a:latin typeface="Latin Modern Sans"/>
              </a:rPr>
              <a:t> This is not an Interest Nonce.</a:t>
            </a:r>
          </a:p>
        </p:txBody>
      </p:sp>
      <p:sp>
        <p:nvSpPr>
          <p:cNvPr id="5" name="PDF_TEXT_GROUP_156"/>
          <p:cNvSpPr txBox="1"/>
          <p:nvPr/>
        </p:nvSpPr>
        <p:spPr>
          <a:xfrm>
            <a:off x="1169087" y="2826708"/>
            <a:ext cx="1247471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Provider returns RequestNonce in ACK Data; the User checks it against the</a:t>
            </a:r>
            <a:r>
              <a:rPr sz="2710" b="0" i="0">
                <a:solidFill>
                  <a:srgbClr val="000000"/>
                </a:solidFill>
                <a:latin typeface="Latin Modern Sans"/>
              </a:rPr>
              <a:t> active request.</a:t>
            </a:r>
          </a:p>
        </p:txBody>
      </p:sp>
      <p:sp>
        <p:nvSpPr>
          <p:cNvPr id="6" name="PDF_TEXT_GROUP_157"/>
          <p:cNvSpPr txBox="1"/>
          <p:nvPr/>
        </p:nvSpPr>
        <p:spPr>
          <a:xfrm>
            <a:off x="1169087" y="3798975"/>
            <a:ext cx="11895948"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Provider includes ProviderChallenge in ABE-protected ACK content and</a:t>
            </a:r>
            <a:r>
              <a:rPr sz="2710" b="0" i="0">
                <a:solidFill>
                  <a:srgbClr val="000000"/>
                </a:solidFill>
                <a:latin typeface="Latin Modern Sans"/>
              </a:rPr>
              <a:t> checks its challenge response in Selection before execution.</a:t>
            </a:r>
          </a:p>
        </p:txBody>
      </p:sp>
      <p:sp>
        <p:nvSpPr>
          <p:cNvPr id="7" name="PDF_TEXT_GROUP_158"/>
          <p:cNvSpPr txBox="1"/>
          <p:nvPr/>
        </p:nvSpPr>
        <p:spPr>
          <a:xfrm>
            <a:off x="1143656" y="5392631"/>
            <a:ext cx="123331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sides also check signatures under trust rules, service permissions and request</a:t>
            </a:r>
            <a:r>
              <a:rPr sz="2710" b="0" i="0">
                <a:solidFill>
                  <a:srgbClr val="000000"/>
                </a:solidFill>
                <a:latin typeface="Latin Modern Sans"/>
              </a:rPr>
              <a:t> state. Matching challenge responses show access to protected values, not exclusive</a:t>
            </a:r>
            <a:r>
              <a:rPr sz="2710" b="0" i="0">
                <a:solidFill>
                  <a:srgbClr val="000000"/>
                </a:solidFill>
                <a:latin typeface="Latin Modern Sans"/>
              </a:rPr>
              <a:t> key possession.</a:t>
            </a:r>
          </a:p>
        </p:txBody>
      </p:sp>
      <p:sp>
        <p:nvSpPr>
          <p:cNvPr id="8" name="PDF_TEXT_GROUP_15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6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6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6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6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6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165"/>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166"/>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167"/>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168"/>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169"/>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1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7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176"/>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77"/>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78"/>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79"/>
          <p:cNvSpPr txBox="1"/>
          <p:nvPr/>
        </p:nvSpPr>
        <p:spPr>
          <a:xfrm>
            <a:off x="1107736" y="184535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180"/>
          <p:cNvSpPr txBox="1"/>
          <p:nvPr/>
        </p:nvSpPr>
        <p:spPr>
          <a:xfrm>
            <a:off x="4951504" y="184535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181"/>
          <p:cNvSpPr txBox="1"/>
          <p:nvPr/>
        </p:nvSpPr>
        <p:spPr>
          <a:xfrm>
            <a:off x="9433445" y="1845357"/>
            <a:ext cx="3335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Pair with service-group</a:t>
            </a:r>
          </a:p>
        </p:txBody>
      </p:sp>
      <p:sp>
        <p:nvSpPr>
          <p:cNvPr id="10" name="PDF_TEXT_GROUP_182"/>
          <p:cNvSpPr txBox="1"/>
          <p:nvPr/>
        </p:nvSpPr>
        <p:spPr>
          <a:xfrm>
            <a:off x="4951637" y="2231685"/>
            <a:ext cx="321794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183"/>
          <p:cNvSpPr txBox="1"/>
          <p:nvPr/>
        </p:nvSpPr>
        <p:spPr>
          <a:xfrm>
            <a:off x="9433445" y="2231685"/>
            <a:ext cx="26922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encryption or ABE</a:t>
            </a:r>
          </a:p>
        </p:txBody>
      </p:sp>
      <p:sp>
        <p:nvSpPr>
          <p:cNvPr id="12" name="PDF_TEXT_GROUP_184"/>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185"/>
          <p:cNvSpPr txBox="1"/>
          <p:nvPr/>
        </p:nvSpPr>
        <p:spPr>
          <a:xfrm>
            <a:off x="4951665" y="3186404"/>
            <a:ext cx="2955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User/Provider check</a:t>
            </a:r>
          </a:p>
        </p:txBody>
      </p:sp>
      <p:sp>
        <p:nvSpPr>
          <p:cNvPr id="14" name="PDF_TEXT_GROUP_186"/>
          <p:cNvSpPr txBox="1"/>
          <p:nvPr/>
        </p:nvSpPr>
        <p:spPr>
          <a:xfrm>
            <a:off x="9433445" y="3186404"/>
            <a:ext cx="34914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p>
        </p:txBody>
      </p:sp>
      <p:sp>
        <p:nvSpPr>
          <p:cNvPr id="15" name="PDF_TEXT_GROUP_187"/>
          <p:cNvSpPr txBox="1"/>
          <p:nvPr/>
        </p:nvSpPr>
        <p:spPr>
          <a:xfrm>
            <a:off x="4951637" y="3572732"/>
            <a:ext cx="4119395"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challenge</a:t>
            </a:r>
            <a:r>
              <a:rPr sz="2371" b="0" i="0">
                <a:solidFill>
                  <a:srgbClr val="000000"/>
                </a:solidFill>
                <a:latin typeface="Latin Modern Sans"/>
              </a:rPr>
              <a:t> responses, service permissions</a:t>
            </a:r>
            <a:r>
              <a:rPr sz="2371" b="0" i="0">
                <a:solidFill>
                  <a:srgbClr val="000000"/>
                </a:solidFill>
                <a:latin typeface="Latin Modern Sans"/>
              </a:rPr>
              <a:t> and request state</a:t>
            </a:r>
          </a:p>
        </p:txBody>
      </p:sp>
      <p:sp>
        <p:nvSpPr>
          <p:cNvPr id="16" name="PDF_TEXT_GROUP_188"/>
          <p:cNvSpPr txBox="1"/>
          <p:nvPr/>
        </p:nvSpPr>
        <p:spPr>
          <a:xfrm>
            <a:off x="9433445" y="3572732"/>
            <a:ext cx="4423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content with service-level ABE</a:t>
            </a:r>
          </a:p>
        </p:txBody>
      </p:sp>
      <p:sp>
        <p:nvSpPr>
          <p:cNvPr id="17" name="PDF_TEXT_GROUP_189"/>
          <p:cNvSpPr txBox="1"/>
          <p:nvPr/>
        </p:nvSpPr>
        <p:spPr>
          <a:xfrm>
            <a:off x="1123808" y="5240293"/>
            <a:ext cx="12372489"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retain NDNSF discovery and Selection, with input/result protection</a:t>
            </a:r>
            <a:r>
              <a:rPr sz="2371" b="0" i="0">
                <a:solidFill>
                  <a:srgbClr val="000000"/>
                </a:solidFill>
                <a:latin typeface="Latin Modern Sans"/>
              </a:rPr>
              <a:t> and revocation checks in both designs. Trust Schema [16] alone does not encrypt Content;</a:t>
            </a:r>
            <a:r>
              <a:rPr sz="2371" b="0" i="0">
                <a:solidFill>
                  <a:srgbClr val="000000"/>
                </a:solidFill>
                <a:latin typeface="Latin Modern Sans"/>
              </a:rPr>
              <a:t> adapting DNMP authorization is not an original DNMP feature. No measured cost</a:t>
            </a:r>
            <a:r>
              <a:rPr sz="2371" b="0" i="0">
                <a:solidFill>
                  <a:srgbClr val="000000"/>
                </a:solidFill>
                <a:latin typeface="Latin Modern Sans"/>
              </a:rPr>
              <a:t> advantage is claimed.</a:t>
            </a:r>
          </a:p>
        </p:txBody>
      </p:sp>
      <p:sp>
        <p:nvSpPr>
          <p:cNvPr id="18" name="PDF_TEXT_GROUP_19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19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19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19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2" name="PDF_TEXT_GROUP_19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96"/>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97"/>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98"/>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199"/>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200"/>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2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16/40</a:t>
            </a:r>
          </a:p>
        </p:txBody>
      </p:sp>
      <p:sp>
        <p:nvSpPr>
          <p:cNvPr id="14" name="PDF_BULLET_SPAN_290"/>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93"/>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95"/>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298"/>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Authorization Lifecycle and Costs</a:t>
            </a:r>
          </a:p>
        </p:txBody>
      </p:sp>
      <p:sp>
        <p:nvSpPr>
          <p:cNvPr id="4" name="PDF_TEXT_GROUP_207"/>
          <p:cNvSpPr txBox="1"/>
          <p:nvPr/>
        </p:nvSpPr>
        <p:spPr>
          <a:xfrm>
            <a:off x="1618972" y="1846589"/>
            <a:ext cx="1207388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Controller publishes signed permission updates; participants apply them only</a:t>
            </a:r>
            <a:r>
              <a:rPr sz="2710" b="0" i="0">
                <a:solidFill>
                  <a:srgbClr val="000000"/>
                </a:solidFill>
                <a:latin typeface="Latin Modern Sans"/>
              </a:rPr>
              <a:t> after retrieval and validation.</a:t>
            </a:r>
          </a:p>
        </p:txBody>
      </p:sp>
      <p:sp>
        <p:nvSpPr>
          <p:cNvPr id="5" name="PDF_TEXT_GROUP_208"/>
          <p:cNvSpPr txBox="1"/>
          <p:nvPr/>
        </p:nvSpPr>
        <p:spPr>
          <a:xfrm>
            <a:off x="1618972" y="2818856"/>
            <a:ext cx="114817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Request-scoped keys protect input/results. Selection delivers keys to selected</a:t>
            </a:r>
            <a:r>
              <a:rPr sz="2710" b="0" i="0">
                <a:solidFill>
                  <a:srgbClr val="000000"/>
                </a:solidFill>
                <a:latin typeface="Latin Modern Sans"/>
              </a:rPr>
              <a:t> Providers; the requesting User retains access.</a:t>
            </a:r>
          </a:p>
        </p:txBody>
      </p:sp>
      <p:sp>
        <p:nvSpPr>
          <p:cNvPr id="6" name="PDF_TEXT_GROUP_209"/>
          <p:cNvSpPr txBox="1"/>
          <p:nvPr/>
        </p:nvSpPr>
        <p:spPr>
          <a:xfrm>
            <a:off x="1618972" y="3791123"/>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Status checks reject withdrawn permissions; key rotation restricts future encrypted</a:t>
            </a:r>
            <a:r>
              <a:rPr sz="2710" b="0" i="0">
                <a:solidFill>
                  <a:srgbClr val="000000"/>
                </a:solidFill>
                <a:latin typeface="Latin Modern Sans"/>
              </a:rPr>
              <a:t> exchanges. Current ABE rotation is Controller-wide. [28]</a:t>
            </a:r>
          </a:p>
        </p:txBody>
      </p:sp>
      <p:sp>
        <p:nvSpPr>
          <p:cNvPr id="7" name="PDF_TEXT_GROUP_210"/>
          <p:cNvSpPr txBox="1"/>
          <p:nvPr/>
        </p:nvSpPr>
        <p:spPr>
          <a:xfrm>
            <a:off x="1143656" y="5404393"/>
            <a:ext cx="12279316"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Revocation has costs: measure update propagation, rejection delay and rekey</a:t>
            </a:r>
            <a:r>
              <a:rPr sz="2710" b="0" i="0">
                <a:solidFill>
                  <a:srgbClr val="000000"/>
                </a:solidFill>
                <a:latin typeface="Latin Modern Sans"/>
              </a:rPr>
              <a:t> traffic. Disconnected nodes cannot learn updates immediately; previously disclosed</a:t>
            </a:r>
            <a:r>
              <a:rPr sz="2710" b="0" i="0">
                <a:solidFill>
                  <a:srgbClr val="000000"/>
                </a:solidFill>
                <a:latin typeface="Latin Modern Sans"/>
              </a:rPr>
              <a:t> keys and plaintext cannot be recalled.</a:t>
            </a:r>
          </a:p>
        </p:txBody>
      </p:sp>
      <p:sp>
        <p:nvSpPr>
          <p:cNvPr id="8" name="PDF_TEXT_GROUP_21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1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1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1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1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17/40</a:t>
            </a:r>
          </a:p>
        </p:txBody>
      </p:sp>
      <p:sp>
        <p:nvSpPr>
          <p:cNvPr id="13" name="PDF_BULLET_SPAN_309"/>
          <p:cNvSpPr/>
          <p:nvPr/>
        </p:nvSpPr>
        <p:spPr>
          <a:xfrm rot="5400000">
            <a:off x="1207424" y="19323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312"/>
          <p:cNvSpPr/>
          <p:nvPr/>
        </p:nvSpPr>
        <p:spPr>
          <a:xfrm rot="5400000">
            <a:off x="1207424" y="29046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15"/>
          <p:cNvSpPr/>
          <p:nvPr/>
        </p:nvSpPr>
        <p:spPr>
          <a:xfrm rot="5400000">
            <a:off x="1207424" y="38769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1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17"/>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18"/>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19"/>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20"/>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21"/>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2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2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2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2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18/40</a:t>
            </a:r>
          </a:p>
        </p:txBody>
      </p:sp>
      <p:sp>
        <p:nvSpPr>
          <p:cNvPr id="14" name="PDF_BULLET_SPAN_327"/>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29"/>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32"/>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35"/>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2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Extension: From Positive ACKs to a Role Plan</a:t>
            </a:r>
          </a:p>
        </p:txBody>
      </p:sp>
      <p:sp>
        <p:nvSpPr>
          <p:cNvPr id="4" name="PDF_TEXT_GROUP_228"/>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29"/>
          <p:cNvSpPr txBox="1"/>
          <p:nvPr/>
        </p:nvSpPr>
        <p:spPr>
          <a:xfrm>
            <a:off x="1169087" y="2788059"/>
            <a:ext cx="1346131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User closes the ACK window and freezes the eligible, validated positive ACKs.</a:t>
            </a:r>
          </a:p>
        </p:txBody>
      </p:sp>
      <p:sp>
        <p:nvSpPr>
          <p:cNvPr id="6" name="PDF_TEXT_GROUP_230"/>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231"/>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232"/>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3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3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39"/>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40"/>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41"/>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242"/>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43"/>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244"/>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45"/>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46"/>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47"/>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4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4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5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5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5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5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54"/>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55"/>
          <p:cNvSpPr txBox="1"/>
          <p:nvPr/>
        </p:nvSpPr>
        <p:spPr>
          <a:xfrm>
            <a:off x="1169087" y="2486720"/>
            <a:ext cx="993168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Check active request, plan, execution identity and deadline.</a:t>
            </a:r>
          </a:p>
        </p:txBody>
      </p:sp>
      <p:sp>
        <p:nvSpPr>
          <p:cNvPr id="6" name="PDF_TEXT_GROUP_256"/>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57"/>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258"/>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59"/>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Collaboration Recovery Needs Explicit State</a:t>
            </a:r>
          </a:p>
        </p:txBody>
      </p:sp>
      <p:sp>
        <p:nvSpPr>
          <p:cNvPr id="4" name="PDF_TEXT_GROUP_266"/>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67"/>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68"/>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69"/>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70"/>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71"/>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72"/>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73"/>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74"/>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75"/>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276"/>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77"/>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78"/>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7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8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8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8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8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Collaboration: Capture, Analyze and Return</a:t>
            </a:r>
          </a:p>
        </p:txBody>
      </p:sp>
      <p:sp>
        <p:nvSpPr>
          <p:cNvPr id="4" name="PDF_TEXT_GROUP_285"/>
          <p:cNvSpPr txBox="1"/>
          <p:nvPr/>
        </p:nvSpPr>
        <p:spPr>
          <a:xfrm>
            <a:off x="914808" y="1726372"/>
            <a:ext cx="1239959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ground-area views from unmanned aerial vehicles (UAVs), followed by</a:t>
            </a:r>
            <a:r>
              <a:rPr sz="2371" b="0" i="0">
                <a:solidFill>
                  <a:srgbClr val="000000"/>
                </a:solidFill>
                <a:latin typeface="Latin Modern Sans"/>
              </a:rPr>
              <a:t> analysis.</a:t>
            </a:r>
          </a:p>
        </p:txBody>
      </p:sp>
      <p:sp>
        <p:nvSpPr>
          <p:cNvPr id="5" name="PDF_TEXT_GROUP_286"/>
          <p:cNvSpPr txBox="1"/>
          <p:nvPr/>
        </p:nvSpPr>
        <p:spPr>
          <a:xfrm>
            <a:off x="1192840" y="2692208"/>
            <a:ext cx="1240887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Sensing UAVs sign encrypted ViewImage Data under their authorized namespaces.</a:t>
            </a:r>
          </a:p>
        </p:txBody>
      </p:sp>
      <p:sp>
        <p:nvSpPr>
          <p:cNvPr id="6" name="PDF_TEXT_GROUP_287"/>
          <p:cNvSpPr txBox="1"/>
          <p:nvPr/>
        </p:nvSpPr>
        <p:spPr>
          <a:xfrm>
            <a:off x="1192840" y="3271716"/>
            <a:ext cx="12053925"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compute Provider retrieves images over assigned edges and publishes Annotation</a:t>
            </a:r>
            <a:r>
              <a:rPr sz="2371" b="0" i="0">
                <a:solidFill>
                  <a:srgbClr val="000000"/>
                </a:solidFill>
                <a:latin typeface="Latin Modern Sans"/>
              </a:rPr>
              <a:t> Data.</a:t>
            </a:r>
          </a:p>
        </p:txBody>
      </p:sp>
      <p:sp>
        <p:nvSpPr>
          <p:cNvPr id="7" name="PDF_TEXT_GROUP_288"/>
          <p:cNvSpPr txBox="1"/>
          <p:nvPr/>
        </p:nvSpPr>
        <p:spPr>
          <a:xfrm>
            <a:off x="1192840" y="4237553"/>
            <a:ext cx="13187362"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Its encrypted result gives the requester original image names and permitted image keys.</a:t>
            </a:r>
          </a:p>
        </p:txBody>
      </p:sp>
      <p:sp>
        <p:nvSpPr>
          <p:cNvPr id="8" name="PDF_TEXT_GROUP_289"/>
          <p:cNvSpPr txBox="1"/>
          <p:nvPr/>
        </p:nvSpPr>
        <p:spPr>
          <a:xfrm>
            <a:off x="1192840" y="4817061"/>
            <a:ext cx="10964200"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4.</a:t>
            </a:r>
            <a:r>
              <a:rPr sz="2371" b="0" i="0">
                <a:solidFill>
                  <a:srgbClr val="000000"/>
                </a:solidFill>
                <a:latin typeface="Latin Modern Sans"/>
              </a:rPr>
              <a:t> The requester retrieves the original images and displays the annotations.</a:t>
            </a:r>
          </a:p>
        </p:txBody>
      </p:sp>
      <p:sp>
        <p:nvSpPr>
          <p:cNvPr id="9" name="PDF_TEXT_GROUP_290"/>
          <p:cNvSpPr txBox="1"/>
          <p:nvPr/>
        </p:nvSpPr>
        <p:spPr>
          <a:xfrm>
            <a:off x="1123808" y="5930804"/>
            <a:ext cx="117276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Original image Data remains under its producer’s name. GPS alone does not establish</a:t>
            </a:r>
            <a:r>
              <a:rPr sz="2371" b="0" i="0">
                <a:solidFill>
                  <a:srgbClr val="000000"/>
                </a:solidFill>
                <a:latin typeface="Latin Modern Sans"/>
              </a:rPr>
              <a:t> camera visibility.</a:t>
            </a:r>
          </a:p>
        </p:txBody>
      </p:sp>
      <p:sp>
        <p:nvSpPr>
          <p:cNvPr id="10" name="PDF_TEXT_GROUP_2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97"/>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98"/>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99"/>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300"/>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301"/>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30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0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0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0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24/40</a:t>
            </a:r>
          </a:p>
        </p:txBody>
      </p:sp>
      <p:sp>
        <p:nvSpPr>
          <p:cNvPr id="14" name="PDF_BULLET_SPAN_447"/>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49"/>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52"/>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55"/>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0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Distributed Inference: Named Computation Dependencies</a:t>
            </a:r>
          </a:p>
        </p:txBody>
      </p:sp>
      <p:sp>
        <p:nvSpPr>
          <p:cNvPr id="4" name="PDF_TEXT_GROUP_308"/>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309"/>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310"/>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311"/>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312"/>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313"/>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314"/>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315"/>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316"/>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3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25/40</a:t>
            </a:r>
          </a:p>
        </p:txBody>
      </p:sp>
      <p:sp>
        <p:nvSpPr>
          <p:cNvPr id="18" name="PDF_BULLET_SPAN_474"/>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77"/>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80"/>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23"/>
          <p:cNvSpPr txBox="1"/>
          <p:nvPr/>
        </p:nvSpPr>
        <p:spPr>
          <a:xfrm>
            <a:off x="1618972" y="1835375"/>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24"/>
          <p:cNvSpPr txBox="1"/>
          <p:nvPr/>
        </p:nvSpPr>
        <p:spPr>
          <a:xfrm>
            <a:off x="1618972" y="2807642"/>
            <a:ext cx="120084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 KV caching, the runtime reuses prior key/value (K/V) tensors and supplies</a:t>
            </a:r>
            <a:r>
              <a:rPr sz="2710" b="0" i="0">
                <a:solidFill>
                  <a:srgbClr val="000000"/>
                </a:solidFill>
                <a:latin typeface="Latin Modern Sans"/>
              </a:rPr>
              <a:t> next-step inputs; resident weights do not replace this state. [31]</a:t>
            </a:r>
          </a:p>
        </p:txBody>
      </p:sp>
      <p:sp>
        <p:nvSpPr>
          <p:cNvPr id="6" name="PDF_TEXT_GROUP_325"/>
          <p:cNvSpPr txBox="1"/>
          <p:nvPr/>
        </p:nvSpPr>
        <p:spPr>
          <a:xfrm>
            <a:off x="1618972" y="377990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326"/>
          <p:cNvSpPr txBox="1"/>
          <p:nvPr/>
        </p:nvSpPr>
        <p:spPr>
          <a:xfrm>
            <a:off x="1618972" y="4314338"/>
            <a:ext cx="115503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27"/>
          <p:cNvSpPr txBox="1"/>
          <p:nvPr/>
        </p:nvSpPr>
        <p:spPr>
          <a:xfrm>
            <a:off x="1143656" y="5839485"/>
            <a:ext cx="1210831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validate the newer distributed inference</a:t>
            </a:r>
            <a:r>
              <a:rPr sz="2710" b="0" i="0">
                <a:solidFill>
                  <a:srgbClr val="000000"/>
                </a:solidFill>
                <a:latin typeface="Latin Modern Sans"/>
              </a:rPr>
              <a:t> and recovery paths. [28]</a:t>
            </a:r>
          </a:p>
        </p:txBody>
      </p:sp>
      <p:sp>
        <p:nvSpPr>
          <p:cNvPr id="9" name="PDF_TEXT_GROUP_32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3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3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3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26/40</a:t>
            </a:r>
          </a:p>
        </p:txBody>
      </p:sp>
      <p:sp>
        <p:nvSpPr>
          <p:cNvPr id="14" name="PDF_BULLET_SPAN_490"/>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93"/>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96"/>
          <p:cNvSpPr/>
          <p:nvPr/>
        </p:nvSpPr>
        <p:spPr>
          <a:xfrm rot="5400000">
            <a:off x="1207424" y="38657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98"/>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3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34"/>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35"/>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36"/>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37"/>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38"/>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27/40</a:t>
            </a:r>
          </a:p>
        </p:txBody>
      </p:sp>
      <p:sp>
        <p:nvSpPr>
          <p:cNvPr id="14" name="PDF_BULLET_SPAN_509"/>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512"/>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15"/>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18"/>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Completion under Different Coverage Conditions</a:t>
            </a:r>
          </a:p>
        </p:txBody>
      </p:sp>
      <p:sp>
        <p:nvSpPr>
          <p:cNvPr id="4" name="PDF_TEXT_GROUP_345"/>
          <p:cNvSpPr txBox="1"/>
          <p:nvPr/>
        </p:nvSpPr>
        <p:spPr>
          <a:xfrm>
            <a:off x="914808" y="1713575"/>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46"/>
          <p:cNvSpPr txBox="1"/>
          <p:nvPr/>
        </p:nvSpPr>
        <p:spPr>
          <a:xfrm>
            <a:off x="1107736" y="2226546"/>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47"/>
          <p:cNvSpPr txBox="1"/>
          <p:nvPr/>
        </p:nvSpPr>
        <p:spPr>
          <a:xfrm>
            <a:off x="9386102" y="2226546"/>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48"/>
          <p:cNvSpPr txBox="1"/>
          <p:nvPr/>
        </p:nvSpPr>
        <p:spPr>
          <a:xfrm>
            <a:off x="11203250" y="2226546"/>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49"/>
          <p:cNvSpPr txBox="1"/>
          <p:nvPr/>
        </p:nvSpPr>
        <p:spPr>
          <a:xfrm>
            <a:off x="12917479" y="2226546"/>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50"/>
          <p:cNvSpPr txBox="1"/>
          <p:nvPr/>
        </p:nvSpPr>
        <p:spPr>
          <a:xfrm>
            <a:off x="1107736" y="2794906"/>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51"/>
          <p:cNvSpPr txBox="1"/>
          <p:nvPr/>
        </p:nvSpPr>
        <p:spPr>
          <a:xfrm>
            <a:off x="9435295"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52"/>
          <p:cNvSpPr txBox="1"/>
          <p:nvPr/>
        </p:nvSpPr>
        <p:spPr>
          <a:xfrm>
            <a:off x="10982171"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53"/>
          <p:cNvSpPr txBox="1"/>
          <p:nvPr/>
        </p:nvSpPr>
        <p:spPr>
          <a:xfrm>
            <a:off x="12529048"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54"/>
          <p:cNvSpPr txBox="1"/>
          <p:nvPr/>
        </p:nvSpPr>
        <p:spPr>
          <a:xfrm>
            <a:off x="1107736" y="336326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55"/>
          <p:cNvSpPr txBox="1"/>
          <p:nvPr/>
        </p:nvSpPr>
        <p:spPr>
          <a:xfrm>
            <a:off x="9435295"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56"/>
          <p:cNvSpPr txBox="1"/>
          <p:nvPr/>
        </p:nvSpPr>
        <p:spPr>
          <a:xfrm>
            <a:off x="10982171"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57"/>
          <p:cNvSpPr txBox="1"/>
          <p:nvPr/>
        </p:nvSpPr>
        <p:spPr>
          <a:xfrm>
            <a:off x="12529048"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58"/>
          <p:cNvSpPr txBox="1"/>
          <p:nvPr/>
        </p:nvSpPr>
        <p:spPr>
          <a:xfrm>
            <a:off x="1107736" y="393162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59"/>
          <p:cNvSpPr txBox="1"/>
          <p:nvPr/>
        </p:nvSpPr>
        <p:spPr>
          <a:xfrm>
            <a:off x="9274534"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60"/>
          <p:cNvSpPr txBox="1"/>
          <p:nvPr/>
        </p:nvSpPr>
        <p:spPr>
          <a:xfrm>
            <a:off x="10821410"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61"/>
          <p:cNvSpPr txBox="1"/>
          <p:nvPr/>
        </p:nvSpPr>
        <p:spPr>
          <a:xfrm>
            <a:off x="12368286"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62"/>
          <p:cNvSpPr txBox="1"/>
          <p:nvPr/>
        </p:nvSpPr>
        <p:spPr>
          <a:xfrm>
            <a:off x="1123808" y="5179411"/>
            <a:ext cx="1137644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overall NDNSF advantage is established. The next slide uses a separate holdout</a:t>
            </a:r>
            <a:r>
              <a:rPr sz="2371" b="0" i="0">
                <a:solidFill>
                  <a:srgbClr val="000000"/>
                </a:solidFill>
                <a:latin typeface="Latin Modern Sans"/>
              </a:rPr>
              <a:t> campaign (seeds 72–81), not a subset of these runs.</a:t>
            </a:r>
          </a:p>
        </p:txBody>
      </p:sp>
      <p:sp>
        <p:nvSpPr>
          <p:cNvPr id="22" name="PDF_TEXT_GROUP_3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6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69"/>
          <p:cNvSpPr txBox="1"/>
          <p:nvPr/>
        </p:nvSpPr>
        <p:spPr>
          <a:xfrm>
            <a:off x="914808" y="1808162"/>
            <a:ext cx="131053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Seeds 72–81; four Providers/system; 100 m, 2 m/s; 1,312 aligned switching requests. [28]</a:t>
            </a:r>
          </a:p>
        </p:txBody>
      </p:sp>
      <p:sp>
        <p:nvSpPr>
          <p:cNvPr id="5" name="PDF_TEXT_GROUP_370"/>
          <p:cNvSpPr txBox="1"/>
          <p:nvPr/>
        </p:nvSpPr>
        <p:spPr>
          <a:xfrm>
            <a:off x="1107736" y="2321133"/>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71"/>
          <p:cNvSpPr txBox="1"/>
          <p:nvPr/>
        </p:nvSpPr>
        <p:spPr>
          <a:xfrm>
            <a:off x="7937869" y="2321133"/>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72"/>
          <p:cNvSpPr txBox="1"/>
          <p:nvPr/>
        </p:nvSpPr>
        <p:spPr>
          <a:xfrm>
            <a:off x="12538050" y="2321133"/>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73"/>
          <p:cNvSpPr txBox="1"/>
          <p:nvPr/>
        </p:nvSpPr>
        <p:spPr>
          <a:xfrm>
            <a:off x="9330171" y="2871464"/>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75"/>
          <p:cNvSpPr txBox="1"/>
          <p:nvPr/>
        </p:nvSpPr>
        <p:spPr>
          <a:xfrm>
            <a:off x="1107736" y="2889492"/>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74"/>
          <p:cNvSpPr txBox="1"/>
          <p:nvPr/>
        </p:nvSpPr>
        <p:spPr>
          <a:xfrm>
            <a:off x="11255736" y="2871464"/>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76"/>
          <p:cNvSpPr txBox="1"/>
          <p:nvPr/>
        </p:nvSpPr>
        <p:spPr>
          <a:xfrm>
            <a:off x="9169388" y="3439823"/>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78"/>
          <p:cNvSpPr txBox="1"/>
          <p:nvPr/>
        </p:nvSpPr>
        <p:spPr>
          <a:xfrm>
            <a:off x="1107736" y="3457852"/>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77"/>
          <p:cNvSpPr txBox="1"/>
          <p:nvPr/>
        </p:nvSpPr>
        <p:spPr>
          <a:xfrm>
            <a:off x="10934201" y="3439823"/>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79"/>
          <p:cNvSpPr txBox="1"/>
          <p:nvPr/>
        </p:nvSpPr>
        <p:spPr>
          <a:xfrm>
            <a:off x="914808" y="4300147"/>
            <a:ext cx="100171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NDNSF 1,311; gRPC 1,297; NSC 1,296 (of 1,312 each).</a:t>
            </a:r>
          </a:p>
        </p:txBody>
      </p:sp>
      <p:sp>
        <p:nvSpPr>
          <p:cNvPr id="15" name="PDF_TEXT_GROUP_380"/>
          <p:cNvSpPr txBox="1"/>
          <p:nvPr/>
        </p:nvSpPr>
        <p:spPr>
          <a:xfrm>
            <a:off x="1123808" y="5238612"/>
            <a:ext cx="1251746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paired seed-p95 differences; each p95 uses that system’s successful requests. Different</a:t>
            </a:r>
            <a:r>
              <a:rPr sz="2371" b="0" i="0">
                <a:solidFill>
                  <a:srgbClr val="000000"/>
                </a:solidFill>
                <a:latin typeface="Latin Modern Sans"/>
              </a:rPr>
              <a:t> failures limit the comparison; no general advantage is inferred.</a:t>
            </a:r>
          </a:p>
        </p:txBody>
      </p:sp>
      <p:sp>
        <p:nvSpPr>
          <p:cNvPr id="16" name="PDF_TEXT_GROUP_3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3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3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3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3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Fewer Execution Starts than the Parallel Baseline</a:t>
            </a:r>
          </a:p>
        </p:txBody>
      </p:sp>
      <p:sp>
        <p:nvSpPr>
          <p:cNvPr id="4" name="PDF_TEXT_GROUP_387"/>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88"/>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89"/>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90"/>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91"/>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92"/>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93"/>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94"/>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95"/>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96"/>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97"/>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98"/>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99"/>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4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0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406"/>
          <p:cNvSpPr txBox="1"/>
          <p:nvPr/>
        </p:nvSpPr>
        <p:spPr>
          <a:xfrm>
            <a:off x="914808" y="1710893"/>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407"/>
          <p:cNvSpPr txBox="1"/>
          <p:nvPr/>
        </p:nvSpPr>
        <p:spPr>
          <a:xfrm>
            <a:off x="1107736" y="2223864"/>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408"/>
          <p:cNvSpPr txBox="1"/>
          <p:nvPr/>
        </p:nvSpPr>
        <p:spPr>
          <a:xfrm>
            <a:off x="10125828" y="2223864"/>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409"/>
          <p:cNvSpPr txBox="1"/>
          <p:nvPr/>
        </p:nvSpPr>
        <p:spPr>
          <a:xfrm>
            <a:off x="13041715" y="2223864"/>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410"/>
          <p:cNvSpPr txBox="1"/>
          <p:nvPr/>
        </p:nvSpPr>
        <p:spPr>
          <a:xfrm>
            <a:off x="1107736" y="2792224"/>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411"/>
          <p:cNvSpPr txBox="1"/>
          <p:nvPr/>
        </p:nvSpPr>
        <p:spPr>
          <a:xfrm>
            <a:off x="10707109"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412"/>
          <p:cNvSpPr txBox="1"/>
          <p:nvPr/>
        </p:nvSpPr>
        <p:spPr>
          <a:xfrm>
            <a:off x="12311023"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413"/>
          <p:cNvSpPr txBox="1"/>
          <p:nvPr/>
        </p:nvSpPr>
        <p:spPr>
          <a:xfrm>
            <a:off x="1107736" y="3360583"/>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414"/>
          <p:cNvSpPr txBox="1"/>
          <p:nvPr/>
        </p:nvSpPr>
        <p:spPr>
          <a:xfrm>
            <a:off x="10707109" y="3360583"/>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415"/>
          <p:cNvSpPr txBox="1"/>
          <p:nvPr/>
        </p:nvSpPr>
        <p:spPr>
          <a:xfrm>
            <a:off x="12311023" y="3360583"/>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416"/>
          <p:cNvSpPr txBox="1"/>
          <p:nvPr/>
        </p:nvSpPr>
        <p:spPr>
          <a:xfrm>
            <a:off x="1123808" y="4621909"/>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417"/>
          <p:cNvSpPr txBox="1"/>
          <p:nvPr/>
        </p:nvSpPr>
        <p:spPr>
          <a:xfrm>
            <a:off x="914808" y="6077766"/>
            <a:ext cx="13699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Retained historical diagnostic; raw-run/model provenance remains to be rechecked. Not evidence for the newer</a:t>
            </a:r>
          </a:p>
        </p:txBody>
      </p:sp>
      <p:sp>
        <p:nvSpPr>
          <p:cNvPr id="16" name="PDF_TEXT_GROUP_418"/>
          <p:cNvSpPr txBox="1"/>
          <p:nvPr/>
        </p:nvSpPr>
        <p:spPr>
          <a:xfrm>
            <a:off x="914808" y="6566824"/>
            <a:ext cx="22562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distributed design.</a:t>
            </a:r>
          </a:p>
        </p:txBody>
      </p:sp>
      <p:sp>
        <p:nvSpPr>
          <p:cNvPr id="17" name="PDF_TEXT_GROUP_41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2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2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2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2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2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25"/>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26"/>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27"/>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28"/>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29"/>
          <p:cNvSpPr txBox="1"/>
          <p:nvPr/>
        </p:nvSpPr>
        <p:spPr>
          <a:xfrm>
            <a:off x="2646188" y="1969156"/>
            <a:ext cx="51393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ABE-backed versus DNMP-inspired</a:t>
            </a:r>
          </a:p>
        </p:txBody>
      </p:sp>
      <p:sp>
        <p:nvSpPr>
          <p:cNvPr id="9" name="PDF_TEXT_GROUP_430"/>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31"/>
          <p:cNvSpPr txBox="1"/>
          <p:nvPr/>
        </p:nvSpPr>
        <p:spPr>
          <a:xfrm>
            <a:off x="2646187" y="2355484"/>
            <a:ext cx="50549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rules plus encryption; unauthorized</a:t>
            </a:r>
          </a:p>
        </p:txBody>
      </p:sp>
      <p:sp>
        <p:nvSpPr>
          <p:cNvPr id="11" name="PDF_TEXT_GROUP_432"/>
          <p:cNvSpPr txBox="1"/>
          <p:nvPr/>
        </p:nvSpPr>
        <p:spPr>
          <a:xfrm>
            <a:off x="8280720" y="2355484"/>
            <a:ext cx="55535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p>
        </p:txBody>
      </p:sp>
      <p:sp>
        <p:nvSpPr>
          <p:cNvPr id="12" name="PDF_TEXT_GROUP_433"/>
          <p:cNvSpPr txBox="1"/>
          <p:nvPr/>
        </p:nvSpPr>
        <p:spPr>
          <a:xfrm>
            <a:off x="2646187" y="2741812"/>
            <a:ext cx="472411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call, replay and withdrawal cases</a:t>
            </a:r>
          </a:p>
        </p:txBody>
      </p:sp>
      <p:sp>
        <p:nvSpPr>
          <p:cNvPr id="13" name="PDF_TEXT_GROUP_434"/>
          <p:cNvSpPr txBox="1"/>
          <p:nvPr/>
        </p:nvSpPr>
        <p:spPr>
          <a:xfrm>
            <a:off x="8280720" y="2741812"/>
            <a:ext cx="320228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delay and rekey traffic</a:t>
            </a:r>
          </a:p>
        </p:txBody>
      </p:sp>
      <p:sp>
        <p:nvSpPr>
          <p:cNvPr id="14" name="PDF_TEXT_GROUP_435"/>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5" name="PDF_TEXT_GROUP_436"/>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6" name="PDF_TEXT_GROUP_437"/>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7" name="PDF_TEXT_GROUP_438"/>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8" name="PDF_TEXT_GROUP_439"/>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9" name="PDF_TEXT_GROUP_440"/>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20" name="PDF_TEXT_GROUP_441"/>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21" name="PDF_TEXT_GROUP_442"/>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2" name="PDF_TEXT_GROUP_443"/>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3" name="PDF_TEXT_GROUP_444"/>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4" name="PDF_TEXT_GROUP_445"/>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5" name="PDF_TEXT_GROUP_44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6" name="PDF_TEXT_GROUP_44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7" name="PDF_TEXT_GROUP_44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8" name="PDF_TEXT_GROUP_44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9" name="PDF_TEXT_GROUP_45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5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52"/>
          <p:cNvSpPr txBox="1"/>
          <p:nvPr/>
        </p:nvSpPr>
        <p:spPr>
          <a:xfrm>
            <a:off x="1107736" y="1242581"/>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53"/>
          <p:cNvSpPr txBox="1"/>
          <p:nvPr/>
        </p:nvSpPr>
        <p:spPr>
          <a:xfrm>
            <a:off x="4695540" y="1242581"/>
            <a:ext cx="2904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deliverable</a:t>
            </a:r>
          </a:p>
        </p:txBody>
      </p:sp>
      <p:sp>
        <p:nvSpPr>
          <p:cNvPr id="6" name="PDF_TEXT_GROUP_454"/>
          <p:cNvSpPr txBox="1"/>
          <p:nvPr/>
        </p:nvSpPr>
        <p:spPr>
          <a:xfrm>
            <a:off x="1107736" y="1810941"/>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55"/>
          <p:cNvSpPr txBox="1"/>
          <p:nvPr/>
        </p:nvSpPr>
        <p:spPr>
          <a:xfrm>
            <a:off x="4695454" y="1810941"/>
            <a:ext cx="854517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56"/>
          <p:cNvSpPr txBox="1"/>
          <p:nvPr/>
        </p:nvSpPr>
        <p:spPr>
          <a:xfrm>
            <a:off x="1107736" y="2765661"/>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57"/>
          <p:cNvSpPr txBox="1"/>
          <p:nvPr/>
        </p:nvSpPr>
        <p:spPr>
          <a:xfrm>
            <a:off x="4695454" y="2765661"/>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58"/>
          <p:cNvSpPr txBox="1"/>
          <p:nvPr/>
        </p:nvSpPr>
        <p:spPr>
          <a:xfrm>
            <a:off x="1107736" y="3720348"/>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59"/>
          <p:cNvSpPr txBox="1"/>
          <p:nvPr/>
        </p:nvSpPr>
        <p:spPr>
          <a:xfrm>
            <a:off x="4695283" y="3720348"/>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60"/>
          <p:cNvSpPr txBox="1"/>
          <p:nvPr/>
        </p:nvSpPr>
        <p:spPr>
          <a:xfrm>
            <a:off x="1107736" y="4288708"/>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61"/>
          <p:cNvSpPr txBox="1"/>
          <p:nvPr/>
        </p:nvSpPr>
        <p:spPr>
          <a:xfrm>
            <a:off x="4695412" y="4288708"/>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62"/>
          <p:cNvSpPr txBox="1"/>
          <p:nvPr/>
        </p:nvSpPr>
        <p:spPr>
          <a:xfrm>
            <a:off x="1107736" y="5243395"/>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63"/>
          <p:cNvSpPr txBox="1"/>
          <p:nvPr/>
        </p:nvSpPr>
        <p:spPr>
          <a:xfrm>
            <a:off x="4695379" y="5243395"/>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64"/>
          <p:cNvSpPr txBox="1"/>
          <p:nvPr/>
        </p:nvSpPr>
        <p:spPr>
          <a:xfrm>
            <a:off x="1123808" y="6138299"/>
            <a:ext cx="122257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draft: two weeks before defense. Spring 2027 application/candidacy: February</a:t>
            </a:r>
            <a:r>
              <a:rPr sz="2371" b="0" i="0">
                <a:solidFill>
                  <a:srgbClr val="000000"/>
                </a:solidFill>
                <a:latin typeface="Latin Modern Sans"/>
              </a:rPr>
              <a:t> 5; final ProQuest: March 26. Recheck before filing. [29,30]</a:t>
            </a:r>
          </a:p>
        </p:txBody>
      </p:sp>
      <p:sp>
        <p:nvSpPr>
          <p:cNvPr id="17" name="PDF_TEXT_GROUP_46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6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6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6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6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7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Expected Research Outcomes</a:t>
            </a:r>
          </a:p>
        </p:txBody>
      </p:sp>
      <p:sp>
        <p:nvSpPr>
          <p:cNvPr id="4" name="PDF_TEXT_GROUP_471"/>
          <p:cNvSpPr txBox="1"/>
          <p:nvPr/>
        </p:nvSpPr>
        <p:spPr>
          <a:xfrm>
            <a:off x="1618972" y="1777984"/>
            <a:ext cx="117543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ABE-backed authorization is preferable to DNMP-inspired</a:t>
            </a:r>
            <a:r>
              <a:rPr sz="2710" b="0" i="0">
                <a:solidFill>
                  <a:srgbClr val="000000"/>
                </a:solidFill>
                <a:latin typeface="Latin Modern Sans"/>
              </a:rPr>
              <a:t> role rules plus encryption, accounting for confidentiality, management and</a:t>
            </a:r>
            <a:r>
              <a:rPr sz="2710" b="0" i="0">
                <a:solidFill>
                  <a:srgbClr val="000000"/>
                </a:solidFill>
                <a:latin typeface="Latin Modern Sans"/>
              </a:rPr>
              <a:t> withdrawal costs.</a:t>
            </a:r>
          </a:p>
        </p:txBody>
      </p:sp>
      <p:sp>
        <p:nvSpPr>
          <p:cNvPr id="5" name="PDF_TEXT_GROUP_472"/>
          <p:cNvSpPr txBox="1"/>
          <p:nvPr/>
        </p:nvSpPr>
        <p:spPr>
          <a:xfrm>
            <a:off x="1618972" y="3188121"/>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73"/>
          <p:cNvSpPr txBox="1"/>
          <p:nvPr/>
        </p:nvSpPr>
        <p:spPr>
          <a:xfrm>
            <a:off x="1618972" y="4160388"/>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74"/>
          <p:cNvSpPr txBox="1"/>
          <p:nvPr/>
        </p:nvSpPr>
        <p:spPr>
          <a:xfrm>
            <a:off x="1618972" y="4694817"/>
            <a:ext cx="115727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Reproducible configurations and evidence linking each conclusion to its tested</a:t>
            </a:r>
            <a:r>
              <a:rPr sz="2710" b="0" i="0">
                <a:solidFill>
                  <a:srgbClr val="000000"/>
                </a:solidFill>
                <a:latin typeface="Latin Modern Sans"/>
              </a:rPr>
              <a:t> scope.</a:t>
            </a:r>
          </a:p>
        </p:txBody>
      </p:sp>
      <p:sp>
        <p:nvSpPr>
          <p:cNvPr id="8" name="PDF_TEXT_GROUP_475"/>
          <p:cNvSpPr txBox="1"/>
          <p:nvPr/>
        </p:nvSpPr>
        <p:spPr>
          <a:xfrm>
            <a:off x="1143656" y="6013664"/>
            <a:ext cx="122488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outcome is a tested service protocol and an evidence-backed account of when</a:t>
            </a:r>
            <a:r>
              <a:rPr sz="2710" b="0" i="0">
                <a:solidFill>
                  <a:srgbClr val="000000"/>
                </a:solidFill>
                <a:latin typeface="Latin Modern Sans"/>
              </a:rPr>
              <a:t> its mechanisms are worth their cost.</a:t>
            </a:r>
          </a:p>
        </p:txBody>
      </p:sp>
      <p:sp>
        <p:nvSpPr>
          <p:cNvPr id="9" name="PDF_TEXT_GROUP_47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7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7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7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8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34/40</a:t>
            </a:r>
          </a:p>
        </p:txBody>
      </p:sp>
      <p:sp>
        <p:nvSpPr>
          <p:cNvPr id="14" name="PDF_BULLET_SPAN_683"/>
          <p:cNvSpPr/>
          <p:nvPr/>
        </p:nvSpPr>
        <p:spPr>
          <a:xfrm rot="5400000">
            <a:off x="1207424" y="186377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88"/>
          <p:cNvSpPr/>
          <p:nvPr/>
        </p:nvSpPr>
        <p:spPr>
          <a:xfrm rot="5400000">
            <a:off x="1207424" y="327391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92"/>
          <p:cNvSpPr/>
          <p:nvPr/>
        </p:nvSpPr>
        <p:spPr>
          <a:xfrm rot="5400000">
            <a:off x="1207424" y="424617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95"/>
          <p:cNvSpPr/>
          <p:nvPr/>
        </p:nvSpPr>
        <p:spPr>
          <a:xfrm rot="5400000">
            <a:off x="1207424" y="478060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8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82"/>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83"/>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84"/>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85"/>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86"/>
          <p:cNvSpPr txBox="1"/>
          <p:nvPr/>
        </p:nvSpPr>
        <p:spPr>
          <a:xfrm>
            <a:off x="1143656" y="5445401"/>
            <a:ext cx="110807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evaluate runtime discovery and authorized invocation; extend the</a:t>
            </a:r>
            <a:r>
              <a:rPr sz="2710" b="0" i="0">
                <a:solidFill>
                  <a:srgbClr val="000000"/>
                </a:solidFill>
                <a:latin typeface="Latin Modern Sans"/>
              </a:rPr>
              <a:t> foundation to role-aware collaboration.</a:t>
            </a:r>
          </a:p>
        </p:txBody>
      </p:sp>
      <p:sp>
        <p:nvSpPr>
          <p:cNvPr id="9" name="PDF_TEXT_GROUP_48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8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8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9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9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9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93"/>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94"/>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95"/>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96"/>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97"/>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98"/>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99"/>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500"/>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501"/>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50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50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50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50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50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50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508"/>
          <p:cNvSpPr txBox="1"/>
          <p:nvPr/>
        </p:nvSpPr>
        <p:spPr>
          <a:xfrm>
            <a:off x="1107736" y="1909567"/>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509"/>
          <p:cNvSpPr txBox="1"/>
          <p:nvPr/>
        </p:nvSpPr>
        <p:spPr>
          <a:xfrm>
            <a:off x="9804981" y="1909567"/>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510"/>
          <p:cNvSpPr txBox="1"/>
          <p:nvPr/>
        </p:nvSpPr>
        <p:spPr>
          <a:xfrm>
            <a:off x="1107736" y="247792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511"/>
          <p:cNvSpPr txBox="1"/>
          <p:nvPr/>
        </p:nvSpPr>
        <p:spPr>
          <a:xfrm>
            <a:off x="12189748" y="247792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512"/>
          <p:cNvSpPr txBox="1"/>
          <p:nvPr/>
        </p:nvSpPr>
        <p:spPr>
          <a:xfrm>
            <a:off x="1107736" y="304628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513"/>
          <p:cNvSpPr txBox="1"/>
          <p:nvPr/>
        </p:nvSpPr>
        <p:spPr>
          <a:xfrm>
            <a:off x="12189748" y="304628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514"/>
          <p:cNvSpPr txBox="1"/>
          <p:nvPr/>
        </p:nvSpPr>
        <p:spPr>
          <a:xfrm>
            <a:off x="1107736" y="3614645"/>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515"/>
          <p:cNvSpPr txBox="1"/>
          <p:nvPr/>
        </p:nvSpPr>
        <p:spPr>
          <a:xfrm>
            <a:off x="12189681" y="3614645"/>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516"/>
          <p:cNvSpPr txBox="1"/>
          <p:nvPr/>
        </p:nvSpPr>
        <p:spPr>
          <a:xfrm>
            <a:off x="1123808" y="4496010"/>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517"/>
          <p:cNvSpPr txBox="1"/>
          <p:nvPr/>
        </p:nvSpPr>
        <p:spPr>
          <a:xfrm>
            <a:off x="914808" y="5969769"/>
            <a:ext cx="13678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Per-link packet loss is not the probability of service failure: retrieval retries and the request deadline also affect</a:t>
            </a:r>
          </a:p>
        </p:txBody>
      </p:sp>
      <p:sp>
        <p:nvSpPr>
          <p:cNvPr id="14" name="PDF_TEXT_GROUP_518"/>
          <p:cNvSpPr txBox="1"/>
          <p:nvPr/>
        </p:nvSpPr>
        <p:spPr>
          <a:xfrm>
            <a:off x="914808" y="6458795"/>
            <a:ext cx="14625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completion.</a:t>
            </a:r>
          </a:p>
        </p:txBody>
      </p:sp>
      <p:sp>
        <p:nvSpPr>
          <p:cNvPr id="15" name="PDF_TEXT_GROUP_51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2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2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2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2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2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525"/>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26"/>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27"/>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28"/>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29"/>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30"/>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31"/>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32"/>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33"/>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34"/>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35"/>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3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3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3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3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4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4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42"/>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43"/>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44"/>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45"/>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46"/>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47"/>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48"/>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49"/>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50"/>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51"/>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5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5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5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5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5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5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58"/>
          <p:cNvSpPr txBox="1"/>
          <p:nvPr/>
        </p:nvSpPr>
        <p:spPr>
          <a:xfrm>
            <a:off x="985712" y="1976905"/>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59"/>
          <p:cNvSpPr txBox="1"/>
          <p:nvPr/>
        </p:nvSpPr>
        <p:spPr>
          <a:xfrm>
            <a:off x="985712" y="2392672"/>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60"/>
          <p:cNvSpPr txBox="1"/>
          <p:nvPr/>
        </p:nvSpPr>
        <p:spPr>
          <a:xfrm>
            <a:off x="985712" y="280843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61"/>
          <p:cNvSpPr txBox="1"/>
          <p:nvPr/>
        </p:nvSpPr>
        <p:spPr>
          <a:xfrm>
            <a:off x="985712" y="3224174"/>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62"/>
          <p:cNvSpPr txBox="1"/>
          <p:nvPr/>
        </p:nvSpPr>
        <p:spPr>
          <a:xfrm>
            <a:off x="985712" y="3639941"/>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63"/>
          <p:cNvSpPr txBox="1"/>
          <p:nvPr/>
        </p:nvSpPr>
        <p:spPr>
          <a:xfrm>
            <a:off x="1582632" y="3945805"/>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64"/>
          <p:cNvSpPr txBox="1"/>
          <p:nvPr/>
        </p:nvSpPr>
        <p:spPr>
          <a:xfrm>
            <a:off x="985712" y="4361572"/>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65"/>
          <p:cNvSpPr txBox="1"/>
          <p:nvPr/>
        </p:nvSpPr>
        <p:spPr>
          <a:xfrm>
            <a:off x="1582632" y="4667403"/>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66"/>
          <p:cNvSpPr txBox="1"/>
          <p:nvPr/>
        </p:nvSpPr>
        <p:spPr>
          <a:xfrm>
            <a:off x="985712" y="5083170"/>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67"/>
          <p:cNvSpPr txBox="1"/>
          <p:nvPr/>
        </p:nvSpPr>
        <p:spPr>
          <a:xfrm>
            <a:off x="1582632" y="5389033"/>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68"/>
          <p:cNvSpPr txBox="1"/>
          <p:nvPr/>
        </p:nvSpPr>
        <p:spPr>
          <a:xfrm>
            <a:off x="985712" y="5804800"/>
            <a:ext cx="129328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[31]</a:t>
            </a:r>
            <a:r>
              <a:rPr sz="1863" b="0" i="0">
                <a:solidFill>
                  <a:srgbClr val="000000"/>
                </a:solidFill>
                <a:latin typeface="Latin Modern Sans"/>
              </a:rPr>
              <a:t> ONNX Runtime, “How to configure the past present share buffer,” GenAI documentation (accessed</a:t>
            </a:r>
          </a:p>
        </p:txBody>
      </p:sp>
      <p:sp>
        <p:nvSpPr>
          <p:cNvPr id="15" name="PDF_TEXT_GROUP_569"/>
          <p:cNvSpPr txBox="1"/>
          <p:nvPr/>
        </p:nvSpPr>
        <p:spPr>
          <a:xfrm>
            <a:off x="1582632" y="6110631"/>
            <a:ext cx="26734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11, 2026).</a:t>
            </a:r>
          </a:p>
        </p:txBody>
      </p:sp>
      <p:sp>
        <p:nvSpPr>
          <p:cNvPr id="16" name="PDF_TEXT_GROUP_5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