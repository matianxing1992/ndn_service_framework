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_rels/notesSlide40.xml.rels><?xml version="1.0" encoding="UTF-8" standalone="yes"?>
<Relationships xmlns="http://schemas.openxmlformats.org/package/2006/relationships">
  <Relationship Id="rId1" Type="http://schemas.openxmlformats.org/officeDocument/2006/relationships/slide" Target="../slides/slide40.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required service. Reachability, capability and willingness may change. Eligible Providers return ACK Data. The User selects one Provider to execute. Candidate Providers A, B, C User selects B B executes the service Initial NDNSF: discover alternatives and select one Provider per invocation, not multiple collaborating roles. Arrows show the selection process.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Foundation: evaluate discovery and authorization The initial prototype selects one Provider. Discovery confidentiality, service permissions and management costs matter even without collaboration. Extension: coordinate complementary roles Some tasks need several Providers with different responsibilities. Separate calls do not define a shared role assignment or enforce dependencies between them. Evaluate the invocation foundation; develop and validate the collaboration extension. Existing invocation results do not establish collaboration correctness.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Validate signatures and signing-key relationships under trust rules; check task permissions separately Interest retrieval and caching [1,26] Enforce task identity, dependencies, and deadlines; caching is not persistent storage Dataset synchronization / SVS [2,3] Discover new names, then retrieve Data; define service-message state transitions NAC [4] / enhanced NAC-ABE [19] Use content encryption for read access; separately check service-invocation permissions and state NAC: Name-based Access Control; ABE: attribute-based encryption; SVS: State Vector Sync. NDNSF builds on these mechanisms; it does not invent them.</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NDNSF discover willing Providers, keep descriptors confidential from unauthorized readers, and check service permissions before execution, and at what cost? RQ2: How can single-Provider invocation be extended to roles and named dependencies across Providers, whether Data comes from producers or caches? RQ3: When do these mechanisms improve completion, latency, or execution efficiency, and when do their costs outweigh the benefits? RQ1 evaluates the invocation foundation; RQ2 studies its collaboration extension; RQ3 measures both scopes separately.</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and security mechanisms; NSC validates signed calls using application trust rules DNMP [12] Role- and command-constrained signing and verification CaSCON [15] Service-composition research; requires a feature-level comparison before claiming a new composition mechanism gRPC [17,27] Complete configurations can include discovery/resolver integration, not only fixed addresses Collaboration research: make runtime assignments constrain intermediate Data use. Discovery and authorization are evaluated separately.</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depen- dency checks Design and implementation work; direct/cache and failure validation remains incomplete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 service and selects a Provider; the extension also assigns collaboration roles.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Requester Challenge ACK Report positive or negative participation; positive ACK supplies selection information and Provider Challenge Selection Assign selected execution; provide input/references, challenge response and protected request-scoped keys Response Return status, results or result references; the User still validates them before use Sync helps discover names; Interests retrieve Data. The Provider checks Selection before execution; a positive ACK alone does not start the task.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The User encrypts the descriptor using ABE and the service attribute, without listing Provider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KP-ABE encodes an access policy in each entity’s decryption key. [19] NDNSF combines service entitlements in that policy while retaining identity-signing credentials. [28] Challenge checks reuse these permissions for invocation; User permission keys and challenge processing still add cost. This avoids a separate role-based invocation policy in NDNSF. It does not eliminate key updates or prove lower total cost; role-based designs can also reuse credentials.</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The User places a Requester Challenge in ABE-protected Request content. 2. The Provider returns it in ACK Data; the User checks the value against the active request. 3. The Provider encrypts its challenge in ACK content. The User returns the value in Selection; the Provider checks it before execution. Both sides also validate signatures under trust rules and check service permissions and request state. Challenge responses show access to protected values; they do not grant permissions or prevent deliberate sharing.</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Distributed Network Measurement Protocol (DNMP) [12] authorizes measurement commands: 1. The Network Key anchors role keys, device keys, and the schema. 2. The client uses target, probe type, arguments, and user role to find an allowed signing key; among matching keys, it chooses the least privileged. 3. The receiving Network Observer Daemon validates the publication under the schema before dispatching the probe. DNMP also uses publication lifetimes and retained state against replay, assuming loosely synchronized clocks. These are concrete command-authorization mechanisms, not just identity checks.</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[12] Check role-constrained signatures and NDNSF invocation state Pair with service-group encryption or ABE NDNSF ABE-backed User/Provider check signatures, challenge responses, service permissions and request state User encrypts descriptor content with service-level ABE Proposed comparison: retain NDNSF discovery and Selection, with input/result protection and revocation checks in both designs. Trust Schema [16] alone does not encrypt Content; adapting DNMP authorization is not an original DNMP feature. No measured cost advantage is claimed.</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Compare complete combinations of authorization and encryption. ABE-backed authorization is one design choice, not a universally superior solution.</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Controller publishes signed permission updates; participants apply them only after retrieval and validation. Request-scoped keys protect input/results. Selection delivers keys to selected Providers; the requesting User retains access. Status checks reject withdrawn permissions; key rotation restricts future encrypted exchanges. Current ABE rotation is Controller-wide. [28] Revocation has costs: measure update propagation, rejection delay and rekey traffic. Disconnected nodes cannot learn updates immediately; previously disclosed keys and plaintext cannot be recalled.</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The User closes the ACK window and freezes the eligible, validated positive ACKs. 3. The User applies a replaceable planning policy and signs the resulting role assignments and dependencies. 4. Each Provider validates the plan, derives permitted inputs and rechecks its resources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Identifies the request; requires a validated message Assigns exact Providers to collection and processing roles Does not alone specify predecessors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Check active request, plan, execution identity and deadline. 3. Verify that the signer is the assigned predecessor Provider. 4. Check that the object matches the declared edge, permitted name, data format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Follow recorded one-time state; do not implicitly repeat a side effect Incomplete dependency Wait within policy/deadline, recover, or fail; do not execute on partial data Provider replacement Authorize a new assignment; reject old execution actions and specify permitted result reuse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requests ground-area views from unmanned aerial vehicles (UAVs), followed by analysis. 1. Sensing UAVs sign encrypted ViewImage Data under their authorized namespaces. 2. The compute Provider retrieves images over assigned edges and publishes Annotation Data. 3. Its encrypted result gives the requester original image names and permitted image keys. 4. The requester retrieves the original images and displays the annotations. Original image Data remains under its producer’s name. GPS alone does not establish camera visibility.</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Reject wrong-role/edge inputs; accept cached images only when they satisfy the same task checks.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With KV caching, the runtime reuses prior key/value (K/V) tensors and supplies next-step inputs; resident weights do not replace this state. [31] An in-process test does not establish correct execution across processes or devices. Freeze one supported model/partition first; tensor/hybrid and LLM streaming need their own evidence if claimed. Earlier small-model measurements do not validate the newer distributed inference and recovery paths. [28]</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No overall NDNSF advantage is established. The next slide uses a separate holdout campaign (seeds 72--81), not a subset of these runs.</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Seeds 72--81; four Providers/system; 100 m, 2 m/s; 1,312 aligned switching requests. [28] Comparison Seed-p95 difference 95% CI NDNSF minus gRPC-SEQ-4 -597 ms [-992, -200] ms NDNSF minus NSC-4 -2618 ms [-2916, -2315] ms Completed: NDNSF 1,311; gRPC 1,297; NSC 1,296 (of 1,312 each). Mean paired seed-p95 differences; each p95 uses that system’s successful requests. Different failures limit the comparison; no general advantage is inferred.</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Retained historical diagnostic; raw-run/model provenance remains to be rechecked. Not evidence for the newer distributed design.</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Full authorization alternatives; unauthorized call, challenge/replay and withdrawal cases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Required deliverable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Committee draft: two weeks before defense. Spring 2027 application/candidacy: February 5; final ProQuest: March 26. Recheck before filing. [29,30]</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ABE-encrypted discovery and ABE-backed service authorization justify their management and revocation costs. RQ2 answer: exactly which task-assignment mistakes are rejected and which recovery behavior is supported. RQ3 answer: measured benefits, negative results and deployment limits. Reproducible configurations and evidence linking each conclusion to its tested scope. The outcome is a tested service protocol and an evidence-backed account of when its mechanisms are worth their cost.</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evaluate runtime discovery and authorized invocation; extend the foundation to role-aware collaboration.</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Per-link packet loss is not the probability of service failure: retrieval retries and the request deadline also affect completion.</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CaSCON, SMARTCOMP 2025. Primary publication record: RIT, “Barrios presents at IEEE SmartComp.” Full feature-level comparison remains a research obligation.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unresolved acceptance gates. [29] University of Memphis CS, “Information for Computer Science Ph.D. Students,” forms_grad_phd_programinfo.pdf (accessed September 9, 2026). [30] University of Memphis Graduate School, “Graduation Information,” Spring 2027 calendar (accessed September 9, 2026). [31] ONNX Runtime, “How to configure the past present share buffer,” GenAI documentation (accessed September 11,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6.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7.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0.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Service Discovery: Several Candidates, One Executor</a:t>
            </a:r>
          </a:p>
        </p:txBody>
      </p:sp>
      <p:sp>
        <p:nvSpPr>
          <p:cNvPr id="4" name="PDF_TEXT_GROUP_7"/>
          <p:cNvSpPr txBox="1"/>
          <p:nvPr/>
        </p:nvSpPr>
        <p:spPr>
          <a:xfrm>
            <a:off x="1618972" y="1537074"/>
            <a:ext cx="43738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required</a:t>
            </a:r>
            <a:r>
              <a:rPr sz="2710" b="0" i="0">
                <a:solidFill>
                  <a:srgbClr val="000000"/>
                </a:solidFill>
                <a:latin typeface="Latin Modern Sans"/>
              </a:rPr>
              <a:t> service.</a:t>
            </a:r>
          </a:p>
        </p:txBody>
      </p:sp>
      <p:sp>
        <p:nvSpPr>
          <p:cNvPr id="5" name="PDF_TEXT_GROUP_8"/>
          <p:cNvSpPr txBox="1"/>
          <p:nvPr/>
        </p:nvSpPr>
        <p:spPr>
          <a:xfrm>
            <a:off x="7730488" y="1579855"/>
            <a:ext cx="2826971"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Candidate Providers</a:t>
            </a:r>
            <a:br/>
            <a:r>
              <a:rPr sz="2371" b="0" i="0">
                <a:solidFill>
                  <a:srgbClr val="000000"/>
                </a:solidFill>
                <a:latin typeface="Latin Modern Sans"/>
              </a:rPr>
              <a:t>A, B, C</a:t>
            </a:r>
          </a:p>
        </p:txBody>
      </p:sp>
      <p:sp>
        <p:nvSpPr>
          <p:cNvPr id="6" name="PDF_TEXT_GROUP_9"/>
          <p:cNvSpPr txBox="1"/>
          <p:nvPr/>
        </p:nvSpPr>
        <p:spPr>
          <a:xfrm>
            <a:off x="1618972" y="2509341"/>
            <a:ext cx="4129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Reachability, capability and</a:t>
            </a:r>
            <a:r>
              <a:rPr sz="2710" b="0" i="0">
                <a:solidFill>
                  <a:srgbClr val="000000"/>
                </a:solidFill>
                <a:latin typeface="Latin Modern Sans"/>
              </a:rPr>
              <a:t> willingness may change.</a:t>
            </a:r>
          </a:p>
        </p:txBody>
      </p:sp>
      <p:sp>
        <p:nvSpPr>
          <p:cNvPr id="7" name="PDF_TEXT_GROUP_10"/>
          <p:cNvSpPr txBox="1"/>
          <p:nvPr/>
        </p:nvSpPr>
        <p:spPr>
          <a:xfrm>
            <a:off x="8197068" y="3454847"/>
            <a:ext cx="20744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selects B</a:t>
            </a:r>
          </a:p>
        </p:txBody>
      </p:sp>
      <p:sp>
        <p:nvSpPr>
          <p:cNvPr id="8" name="PDF_TEXT_GROUP_11"/>
          <p:cNvSpPr txBox="1"/>
          <p:nvPr/>
        </p:nvSpPr>
        <p:spPr>
          <a:xfrm>
            <a:off x="1618972" y="3481608"/>
            <a:ext cx="448493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Eligible Providers return ACK</a:t>
            </a:r>
            <a:r>
              <a:rPr sz="2710" b="0" i="0">
                <a:solidFill>
                  <a:srgbClr val="000000"/>
                </a:solidFill>
                <a:latin typeface="Latin Modern Sans"/>
              </a:rPr>
              <a:t> Data.</a:t>
            </a:r>
          </a:p>
        </p:txBody>
      </p:sp>
      <p:sp>
        <p:nvSpPr>
          <p:cNvPr id="9" name="PDF_TEXT_GROUP_12"/>
          <p:cNvSpPr txBox="1"/>
          <p:nvPr/>
        </p:nvSpPr>
        <p:spPr>
          <a:xfrm>
            <a:off x="1618972" y="4453907"/>
            <a:ext cx="494100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selects one Provider to</a:t>
            </a:r>
            <a:r>
              <a:rPr sz="2710" b="0" i="0">
                <a:solidFill>
                  <a:srgbClr val="000000"/>
                </a:solidFill>
                <a:latin typeface="Latin Modern Sans"/>
              </a:rPr>
              <a:t> execute.</a:t>
            </a:r>
          </a:p>
        </p:txBody>
      </p:sp>
      <p:sp>
        <p:nvSpPr>
          <p:cNvPr id="10" name="PDF_TEXT_GROUP_13"/>
          <p:cNvSpPr txBox="1"/>
          <p:nvPr/>
        </p:nvSpPr>
        <p:spPr>
          <a:xfrm>
            <a:off x="7657400" y="5116558"/>
            <a:ext cx="32112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 executes the service</a:t>
            </a:r>
          </a:p>
        </p:txBody>
      </p:sp>
      <p:sp>
        <p:nvSpPr>
          <p:cNvPr id="11" name="PDF_TEXT_GROUP_14"/>
          <p:cNvSpPr txBox="1"/>
          <p:nvPr/>
        </p:nvSpPr>
        <p:spPr>
          <a:xfrm>
            <a:off x="1143656" y="6438706"/>
            <a:ext cx="1187236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Initial NDNSF: discover alternatives and select one Provider per invocation, not</a:t>
            </a:r>
            <a:r>
              <a:rPr sz="2710" b="0" i="0">
                <a:solidFill>
                  <a:srgbClr val="000000"/>
                </a:solidFill>
                <a:latin typeface="Latin Modern Sans"/>
              </a:rPr>
              <a:t> multiple collaborating roles. Arrows show the selection process.</a:t>
            </a:r>
          </a:p>
        </p:txBody>
      </p:sp>
      <p:sp>
        <p:nvSpPr>
          <p:cNvPr id="12" name="PDF_TEXT_GROUP_1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3" name="PDF_TEXT_GROUP_1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4" name="PDF_TEXT_GROUP_1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5" name="PDF_TEXT_GROUP_1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6" name="PDF_TEXT_GROUP_1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2/40</a:t>
            </a:r>
          </a:p>
        </p:txBody>
      </p:sp>
      <p:sp>
        <p:nvSpPr>
          <p:cNvPr id="17" name="PDF_BULLET_SPAN_11"/>
          <p:cNvSpPr/>
          <p:nvPr/>
        </p:nvSpPr>
        <p:spPr>
          <a:xfrm rot="5400000">
            <a:off x="1207424" y="16228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4"/>
          <p:cNvSpPr/>
          <p:nvPr/>
        </p:nvSpPr>
        <p:spPr>
          <a:xfrm rot="5400000">
            <a:off x="1207424" y="259513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7"/>
          <p:cNvSpPr/>
          <p:nvPr/>
        </p:nvSpPr>
        <p:spPr>
          <a:xfrm rot="5400000">
            <a:off x="1207424" y="356739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20"/>
          <p:cNvSpPr/>
          <p:nvPr/>
        </p:nvSpPr>
        <p:spPr>
          <a:xfrm rot="5400000">
            <a:off x="1207424" y="453969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From Invocation to Collaboration: Two Research Scopes</a:t>
            </a:r>
          </a:p>
        </p:txBody>
      </p:sp>
      <p:sp>
        <p:nvSpPr>
          <p:cNvPr id="4" name="PDF_TEXT_GROUP_21"/>
          <p:cNvSpPr txBox="1"/>
          <p:nvPr/>
        </p:nvSpPr>
        <p:spPr>
          <a:xfrm>
            <a:off x="914808" y="1818119"/>
            <a:ext cx="8371585"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Foundation: evaluate discovery and authorization</a:t>
            </a:r>
          </a:p>
        </p:txBody>
      </p:sp>
      <p:sp>
        <p:nvSpPr>
          <p:cNvPr id="5" name="PDF_TEXT_GROUP_22"/>
          <p:cNvSpPr txBox="1"/>
          <p:nvPr/>
        </p:nvSpPr>
        <p:spPr>
          <a:xfrm>
            <a:off x="914808" y="2386769"/>
            <a:ext cx="12935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initial prototype selects one Provider. Discovery confidentiality, service permissions</a:t>
            </a:r>
            <a:r>
              <a:rPr sz="2710" b="0" i="0">
                <a:solidFill>
                  <a:srgbClr val="000000"/>
                </a:solidFill>
                <a:latin typeface="Latin Modern Sans"/>
              </a:rPr>
              <a:t> and management costs matter even without collaboration.</a:t>
            </a:r>
          </a:p>
        </p:txBody>
      </p:sp>
      <p:sp>
        <p:nvSpPr>
          <p:cNvPr id="6" name="PDF_TEXT_GROUP_23"/>
          <p:cNvSpPr txBox="1"/>
          <p:nvPr/>
        </p:nvSpPr>
        <p:spPr>
          <a:xfrm>
            <a:off x="914808" y="3714794"/>
            <a:ext cx="730759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Extension: coordinate complementary roles</a:t>
            </a:r>
          </a:p>
        </p:txBody>
      </p:sp>
      <p:sp>
        <p:nvSpPr>
          <p:cNvPr id="7" name="PDF_TEXT_GROUP_24"/>
          <p:cNvSpPr txBox="1"/>
          <p:nvPr/>
        </p:nvSpPr>
        <p:spPr>
          <a:xfrm>
            <a:off x="914808" y="4283412"/>
            <a:ext cx="1282688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Some tasks need several Providers with different responsibilities. Separate calls do not</a:t>
            </a:r>
            <a:r>
              <a:rPr sz="2710" b="0" i="0">
                <a:solidFill>
                  <a:srgbClr val="000000"/>
                </a:solidFill>
                <a:latin typeface="Latin Modern Sans"/>
              </a:rPr>
              <a:t> define a shared role assignment or enforce dependencies between them.</a:t>
            </a:r>
          </a:p>
        </p:txBody>
      </p:sp>
      <p:sp>
        <p:nvSpPr>
          <p:cNvPr id="8" name="PDF_TEXT_GROUP_25"/>
          <p:cNvSpPr txBox="1"/>
          <p:nvPr/>
        </p:nvSpPr>
        <p:spPr>
          <a:xfrm>
            <a:off x="1143656" y="5994598"/>
            <a:ext cx="1186848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Evaluate the invocation foundation; develop and validate the collaboration</a:t>
            </a:r>
            <a:r>
              <a:rPr sz="2710" b="0" i="0">
                <a:solidFill>
                  <a:srgbClr val="000000"/>
                </a:solidFill>
                <a:latin typeface="Latin Modern Sans"/>
              </a:rPr>
              <a:t> extension. Existing invocation results do not establish collaboration correctness.</a:t>
            </a:r>
          </a:p>
        </p:txBody>
      </p:sp>
      <p:sp>
        <p:nvSpPr>
          <p:cNvPr id="9" name="PDF_TEXT_GROUP_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 Provides—and What It Does Not</a:t>
            </a:r>
          </a:p>
        </p:txBody>
      </p:sp>
      <p:sp>
        <p:nvSpPr>
          <p:cNvPr id="4" name="PDF_TEXT_GROUP_32"/>
          <p:cNvSpPr txBox="1"/>
          <p:nvPr/>
        </p:nvSpPr>
        <p:spPr>
          <a:xfrm>
            <a:off x="1107736" y="1358464"/>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3"/>
          <p:cNvSpPr txBox="1"/>
          <p:nvPr/>
        </p:nvSpPr>
        <p:spPr>
          <a:xfrm>
            <a:off x="6488510" y="1358464"/>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4"/>
          <p:cNvSpPr txBox="1"/>
          <p:nvPr/>
        </p:nvSpPr>
        <p:spPr>
          <a:xfrm>
            <a:off x="1107736" y="1926823"/>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5"/>
          <p:cNvSpPr txBox="1"/>
          <p:nvPr/>
        </p:nvSpPr>
        <p:spPr>
          <a:xfrm>
            <a:off x="6488446" y="1926823"/>
            <a:ext cx="702457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Validate signatures and signing-key relationships</a:t>
            </a:r>
            <a:r>
              <a:rPr sz="2371" b="0" i="0">
                <a:solidFill>
                  <a:srgbClr val="000000"/>
                </a:solidFill>
                <a:latin typeface="Latin Modern Sans"/>
              </a:rPr>
              <a:t> under trust rules; check task permissions separately</a:t>
            </a:r>
          </a:p>
        </p:txBody>
      </p:sp>
      <p:sp>
        <p:nvSpPr>
          <p:cNvPr id="8" name="PDF_TEXT_GROUP_36"/>
          <p:cNvSpPr txBox="1"/>
          <p:nvPr/>
        </p:nvSpPr>
        <p:spPr>
          <a:xfrm>
            <a:off x="1107736" y="2881511"/>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7"/>
          <p:cNvSpPr txBox="1"/>
          <p:nvPr/>
        </p:nvSpPr>
        <p:spPr>
          <a:xfrm>
            <a:off x="6488381" y="2881511"/>
            <a:ext cx="6916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Enforce task identity, dependencies, and deadlines;</a:t>
            </a:r>
            <a:r>
              <a:rPr sz="2371" b="0" i="0">
                <a:solidFill>
                  <a:srgbClr val="000000"/>
                </a:solidFill>
                <a:latin typeface="Latin Modern Sans"/>
              </a:rPr>
              <a:t> caching is not persistent storage</a:t>
            </a:r>
          </a:p>
        </p:txBody>
      </p:sp>
      <p:sp>
        <p:nvSpPr>
          <p:cNvPr id="10" name="PDF_TEXT_GROUP_38"/>
          <p:cNvSpPr txBox="1"/>
          <p:nvPr/>
        </p:nvSpPr>
        <p:spPr>
          <a:xfrm>
            <a:off x="1107736" y="3836198"/>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39"/>
          <p:cNvSpPr txBox="1"/>
          <p:nvPr/>
        </p:nvSpPr>
        <p:spPr>
          <a:xfrm>
            <a:off x="6488413" y="3836198"/>
            <a:ext cx="648596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new names, then retrieve Data; define</a:t>
            </a:r>
            <a:r>
              <a:rPr sz="2371" b="0" i="0">
                <a:solidFill>
                  <a:srgbClr val="000000"/>
                </a:solidFill>
                <a:latin typeface="Latin Modern Sans"/>
              </a:rPr>
              <a:t> service-message state transitions</a:t>
            </a:r>
          </a:p>
        </p:txBody>
      </p:sp>
      <p:sp>
        <p:nvSpPr>
          <p:cNvPr id="12" name="PDF_TEXT_GROUP_40"/>
          <p:cNvSpPr txBox="1"/>
          <p:nvPr/>
        </p:nvSpPr>
        <p:spPr>
          <a:xfrm>
            <a:off x="1107736" y="4790918"/>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1"/>
          <p:cNvSpPr txBox="1"/>
          <p:nvPr/>
        </p:nvSpPr>
        <p:spPr>
          <a:xfrm>
            <a:off x="6488446" y="4790918"/>
            <a:ext cx="684352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 content encryption for read access; separately</a:t>
            </a:r>
            <a:r>
              <a:rPr sz="2371" b="0" i="0">
                <a:solidFill>
                  <a:srgbClr val="000000"/>
                </a:solidFill>
                <a:latin typeface="Latin Modern Sans"/>
              </a:rPr>
              <a:t> check service-invocation permissions and state</a:t>
            </a:r>
          </a:p>
        </p:txBody>
      </p:sp>
      <p:sp>
        <p:nvSpPr>
          <p:cNvPr id="14" name="PDF_TEXT_GROUP_42"/>
          <p:cNvSpPr txBox="1"/>
          <p:nvPr/>
        </p:nvSpPr>
        <p:spPr>
          <a:xfrm>
            <a:off x="914808" y="5639573"/>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3"/>
          <p:cNvSpPr txBox="1"/>
          <p:nvPr/>
        </p:nvSpPr>
        <p:spPr>
          <a:xfrm>
            <a:off x="1092471" y="6471566"/>
            <a:ext cx="89934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builds on these mechanisms; it does not invent them.</a:t>
            </a:r>
          </a:p>
        </p:txBody>
      </p:sp>
      <p:sp>
        <p:nvSpPr>
          <p:cNvPr id="16" name="PDF_TEXT_GROUP_4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4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50"/>
          <p:cNvSpPr txBox="1"/>
          <p:nvPr/>
        </p:nvSpPr>
        <p:spPr>
          <a:xfrm>
            <a:off x="1618972" y="1854409"/>
            <a:ext cx="12223900"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NDNSF discover willing Providers, keep descriptors confidential</a:t>
            </a:r>
            <a:r>
              <a:rPr sz="2710" b="0" i="0">
                <a:solidFill>
                  <a:srgbClr val="000000"/>
                </a:solidFill>
                <a:latin typeface="Latin Modern Sans"/>
              </a:rPr>
              <a:t> from unauthorized readers, and check service permissions before execution, and at</a:t>
            </a:r>
            <a:r>
              <a:rPr sz="2710" b="0" i="0">
                <a:solidFill>
                  <a:srgbClr val="000000"/>
                </a:solidFill>
                <a:latin typeface="Latin Modern Sans"/>
              </a:rPr>
              <a:t> what cost?</a:t>
            </a:r>
          </a:p>
        </p:txBody>
      </p:sp>
      <p:sp>
        <p:nvSpPr>
          <p:cNvPr id="5" name="PDF_TEXT_GROUP_51"/>
          <p:cNvSpPr txBox="1"/>
          <p:nvPr/>
        </p:nvSpPr>
        <p:spPr>
          <a:xfrm>
            <a:off x="1618972" y="3264547"/>
            <a:ext cx="117462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single-Provider invocation be extended to roles and named</a:t>
            </a:r>
            <a:r>
              <a:rPr sz="2710" b="0" i="0">
                <a:solidFill>
                  <a:srgbClr val="000000"/>
                </a:solidFill>
                <a:latin typeface="Latin Modern Sans"/>
              </a:rPr>
              <a:t> dependencies across Providers, whether Data comes from producers or caches?</a:t>
            </a:r>
          </a:p>
        </p:txBody>
      </p:sp>
      <p:sp>
        <p:nvSpPr>
          <p:cNvPr id="6" name="PDF_TEXT_GROUP_52"/>
          <p:cNvSpPr txBox="1"/>
          <p:nvPr/>
        </p:nvSpPr>
        <p:spPr>
          <a:xfrm>
            <a:off x="1618972" y="4236814"/>
            <a:ext cx="1140692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53"/>
          <p:cNvSpPr txBox="1"/>
          <p:nvPr/>
        </p:nvSpPr>
        <p:spPr>
          <a:xfrm>
            <a:off x="1143656" y="5830501"/>
            <a:ext cx="121842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RQ1 evaluates the invocation foundation; RQ2 studies its collaboration extension;</a:t>
            </a:r>
            <a:r>
              <a:rPr sz="2710" b="0" i="0">
                <a:solidFill>
                  <a:srgbClr val="000000"/>
                </a:solidFill>
                <a:latin typeface="Latin Modern Sans"/>
              </a:rPr>
              <a:t> RQ3 measures both scopes separately.</a:t>
            </a:r>
          </a:p>
        </p:txBody>
      </p:sp>
      <p:sp>
        <p:nvSpPr>
          <p:cNvPr id="8" name="PDF_TEXT_GROUP_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5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5/40</a:t>
            </a:r>
          </a:p>
        </p:txBody>
      </p:sp>
      <p:sp>
        <p:nvSpPr>
          <p:cNvPr id="13" name="PDF_BULLET_SPAN_71"/>
          <p:cNvSpPr/>
          <p:nvPr/>
        </p:nvSpPr>
        <p:spPr>
          <a:xfrm rot="5400000">
            <a:off x="1207424" y="19402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76"/>
          <p:cNvSpPr/>
          <p:nvPr/>
        </p:nvSpPr>
        <p:spPr>
          <a:xfrm rot="5400000">
            <a:off x="1207424" y="33503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0"/>
          <p:cNvSpPr/>
          <p:nvPr/>
        </p:nvSpPr>
        <p:spPr>
          <a:xfrm rot="5400000">
            <a:off x="1207424" y="43226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Already Provides Important Pieces</a:t>
            </a:r>
          </a:p>
        </p:txBody>
      </p:sp>
      <p:sp>
        <p:nvSpPr>
          <p:cNvPr id="4" name="PDF_TEXT_GROUP_60"/>
          <p:cNvSpPr txBox="1"/>
          <p:nvPr/>
        </p:nvSpPr>
        <p:spPr>
          <a:xfrm>
            <a:off x="1107736" y="1255152"/>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61"/>
          <p:cNvSpPr txBox="1"/>
          <p:nvPr/>
        </p:nvSpPr>
        <p:spPr>
          <a:xfrm>
            <a:off x="4951568" y="1255152"/>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62"/>
          <p:cNvSpPr txBox="1"/>
          <p:nvPr/>
        </p:nvSpPr>
        <p:spPr>
          <a:xfrm>
            <a:off x="1107736" y="1823512"/>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63"/>
          <p:cNvSpPr txBox="1"/>
          <p:nvPr/>
        </p:nvSpPr>
        <p:spPr>
          <a:xfrm>
            <a:off x="4951408" y="1823512"/>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64"/>
          <p:cNvSpPr txBox="1"/>
          <p:nvPr/>
        </p:nvSpPr>
        <p:spPr>
          <a:xfrm>
            <a:off x="1107736" y="2391871"/>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65"/>
          <p:cNvSpPr txBox="1"/>
          <p:nvPr/>
        </p:nvSpPr>
        <p:spPr>
          <a:xfrm>
            <a:off x="4951472" y="2391871"/>
            <a:ext cx="8650095"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and security mechanisms; NSC validates signed calls</a:t>
            </a:r>
            <a:r>
              <a:rPr sz="2371" b="0" i="0">
                <a:solidFill>
                  <a:srgbClr val="000000"/>
                </a:solidFill>
                <a:latin typeface="Latin Modern Sans"/>
              </a:rPr>
              <a:t> using application trust rules</a:t>
            </a:r>
          </a:p>
        </p:txBody>
      </p:sp>
      <p:sp>
        <p:nvSpPr>
          <p:cNvPr id="10" name="PDF_TEXT_GROUP_66"/>
          <p:cNvSpPr txBox="1"/>
          <p:nvPr/>
        </p:nvSpPr>
        <p:spPr>
          <a:xfrm>
            <a:off x="1107736" y="3346591"/>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67"/>
          <p:cNvSpPr txBox="1"/>
          <p:nvPr/>
        </p:nvSpPr>
        <p:spPr>
          <a:xfrm>
            <a:off x="4951601" y="3346591"/>
            <a:ext cx="81393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 and command-constrained signing and verification</a:t>
            </a:r>
          </a:p>
        </p:txBody>
      </p:sp>
      <p:sp>
        <p:nvSpPr>
          <p:cNvPr id="12" name="PDF_TEXT_GROUP_68"/>
          <p:cNvSpPr txBox="1"/>
          <p:nvPr/>
        </p:nvSpPr>
        <p:spPr>
          <a:xfrm>
            <a:off x="1107736" y="3914950"/>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69"/>
          <p:cNvSpPr txBox="1"/>
          <p:nvPr/>
        </p:nvSpPr>
        <p:spPr>
          <a:xfrm>
            <a:off x="4951536" y="3914950"/>
            <a:ext cx="79908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70"/>
          <p:cNvSpPr txBox="1"/>
          <p:nvPr/>
        </p:nvSpPr>
        <p:spPr>
          <a:xfrm>
            <a:off x="1107736" y="4869638"/>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71"/>
          <p:cNvSpPr txBox="1"/>
          <p:nvPr/>
        </p:nvSpPr>
        <p:spPr>
          <a:xfrm>
            <a:off x="4951601" y="4869638"/>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72"/>
          <p:cNvSpPr txBox="1"/>
          <p:nvPr/>
        </p:nvSpPr>
        <p:spPr>
          <a:xfrm>
            <a:off x="1123808" y="6137330"/>
            <a:ext cx="1138371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Collaboration research: make runtime assignments constrain intermediate Data use.</a:t>
            </a:r>
            <a:r>
              <a:rPr sz="2371" b="0" i="0">
                <a:solidFill>
                  <a:srgbClr val="000000"/>
                </a:solidFill>
                <a:latin typeface="Latin Modern Sans"/>
              </a:rPr>
              <a:t> Discovery and authorization are evaluated separately.</a:t>
            </a:r>
          </a:p>
        </p:txBody>
      </p:sp>
      <p:sp>
        <p:nvSpPr>
          <p:cNvPr id="17" name="PDF_TEXT_GROUP_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7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Contributions and Evidence Are Different Things</a:t>
            </a:r>
          </a:p>
        </p:txBody>
      </p:sp>
      <p:sp>
        <p:nvSpPr>
          <p:cNvPr id="4" name="PDF_TEXT_GROUP_79"/>
          <p:cNvSpPr txBox="1"/>
          <p:nvPr/>
        </p:nvSpPr>
        <p:spPr>
          <a:xfrm>
            <a:off x="1107736" y="1356977"/>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80"/>
          <p:cNvSpPr txBox="1"/>
          <p:nvPr/>
        </p:nvSpPr>
        <p:spPr>
          <a:xfrm>
            <a:off x="6360351" y="1356977"/>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81"/>
          <p:cNvSpPr txBox="1"/>
          <p:nvPr/>
        </p:nvSpPr>
        <p:spPr>
          <a:xfrm>
            <a:off x="1107736" y="1925337"/>
            <a:ext cx="499483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82"/>
          <p:cNvSpPr txBox="1"/>
          <p:nvPr/>
        </p:nvSpPr>
        <p:spPr>
          <a:xfrm>
            <a:off x="6360480" y="1925337"/>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83"/>
          <p:cNvSpPr txBox="1"/>
          <p:nvPr/>
        </p:nvSpPr>
        <p:spPr>
          <a:xfrm>
            <a:off x="1107736" y="3266384"/>
            <a:ext cx="4994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depen-</a:t>
            </a:r>
            <a:r>
              <a:rPr sz="2371" b="0" i="0">
                <a:solidFill>
                  <a:srgbClr val="000000"/>
                </a:solidFill>
                <a:latin typeface="Latin Modern Sans"/>
              </a:rPr>
              <a:t>dency checks</a:t>
            </a:r>
          </a:p>
        </p:txBody>
      </p:sp>
      <p:sp>
        <p:nvSpPr>
          <p:cNvPr id="9" name="PDF_TEXT_GROUP_84"/>
          <p:cNvSpPr txBox="1"/>
          <p:nvPr/>
        </p:nvSpPr>
        <p:spPr>
          <a:xfrm>
            <a:off x="6360480" y="3266384"/>
            <a:ext cx="69958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direct/cache and</a:t>
            </a:r>
            <a:r>
              <a:rPr sz="2371" b="0" i="0">
                <a:solidFill>
                  <a:srgbClr val="000000"/>
                </a:solidFill>
                <a:latin typeface="Latin Modern Sans"/>
              </a:rPr>
              <a:t> failure validation remains incomplete</a:t>
            </a:r>
          </a:p>
        </p:txBody>
      </p:sp>
      <p:sp>
        <p:nvSpPr>
          <p:cNvPr id="10" name="PDF_TEXT_GROUP_85"/>
          <p:cNvSpPr txBox="1"/>
          <p:nvPr/>
        </p:nvSpPr>
        <p:spPr>
          <a:xfrm>
            <a:off x="1107736" y="4221072"/>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86"/>
          <p:cNvSpPr txBox="1"/>
          <p:nvPr/>
        </p:nvSpPr>
        <p:spPr>
          <a:xfrm>
            <a:off x="6360351" y="4221072"/>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87"/>
          <p:cNvSpPr txBox="1"/>
          <p:nvPr/>
        </p:nvSpPr>
        <p:spPr>
          <a:xfrm>
            <a:off x="1123808" y="5875092"/>
            <a:ext cx="1251698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8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8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92"/>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94"/>
          <p:cNvSpPr txBox="1"/>
          <p:nvPr/>
        </p:nvSpPr>
        <p:spPr>
          <a:xfrm>
            <a:off x="1618972" y="1843196"/>
            <a:ext cx="109281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 service and selects a Provider; the extension also assigns</a:t>
            </a:r>
            <a:r>
              <a:rPr sz="2710" b="0" i="0">
                <a:solidFill>
                  <a:srgbClr val="000000"/>
                </a:solidFill>
                <a:latin typeface="Latin Modern Sans"/>
              </a:rPr>
              <a:t> collaboration roles.</a:t>
            </a:r>
          </a:p>
        </p:txBody>
      </p:sp>
      <p:sp>
        <p:nvSpPr>
          <p:cNvPr id="5" name="PDF_TEXT_GROUP_95"/>
          <p:cNvSpPr txBox="1"/>
          <p:nvPr/>
        </p:nvSpPr>
        <p:spPr>
          <a:xfrm>
            <a:off x="1618972" y="2815463"/>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96"/>
          <p:cNvSpPr txBox="1"/>
          <p:nvPr/>
        </p:nvSpPr>
        <p:spPr>
          <a:xfrm>
            <a:off x="1618972" y="3349891"/>
            <a:ext cx="109315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97"/>
          <p:cNvSpPr txBox="1"/>
          <p:nvPr/>
        </p:nvSpPr>
        <p:spPr>
          <a:xfrm>
            <a:off x="1618972" y="4322190"/>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98"/>
          <p:cNvSpPr txBox="1"/>
          <p:nvPr/>
        </p:nvSpPr>
        <p:spPr>
          <a:xfrm>
            <a:off x="1143656" y="584730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03"/>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8/40</a:t>
            </a:r>
          </a:p>
        </p:txBody>
      </p:sp>
      <p:sp>
        <p:nvSpPr>
          <p:cNvPr id="14" name="PDF_BULLET_SPAN_138"/>
          <p:cNvSpPr/>
          <p:nvPr/>
        </p:nvSpPr>
        <p:spPr>
          <a:xfrm rot="5400000">
            <a:off x="1207424" y="19289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41"/>
          <p:cNvSpPr/>
          <p:nvPr/>
        </p:nvSpPr>
        <p:spPr>
          <a:xfrm rot="5400000">
            <a:off x="1207424" y="290125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43"/>
          <p:cNvSpPr/>
          <p:nvPr/>
        </p:nvSpPr>
        <p:spPr>
          <a:xfrm rot="5400000">
            <a:off x="1207424" y="34356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46"/>
          <p:cNvSpPr/>
          <p:nvPr/>
        </p:nvSpPr>
        <p:spPr>
          <a:xfrm rot="5400000">
            <a:off x="1207424" y="440798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Single-Provider Invocation: Four Named Data Types</a:t>
            </a:r>
          </a:p>
        </p:txBody>
      </p:sp>
      <p:sp>
        <p:nvSpPr>
          <p:cNvPr id="4" name="PDF_TEXT_GROUP_105"/>
          <p:cNvSpPr txBox="1"/>
          <p:nvPr/>
        </p:nvSpPr>
        <p:spPr>
          <a:xfrm>
            <a:off x="1107736" y="1291345"/>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06"/>
          <p:cNvSpPr txBox="1"/>
          <p:nvPr/>
        </p:nvSpPr>
        <p:spPr>
          <a:xfrm>
            <a:off x="3414434" y="1291345"/>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07"/>
          <p:cNvSpPr txBox="1"/>
          <p:nvPr/>
        </p:nvSpPr>
        <p:spPr>
          <a:xfrm>
            <a:off x="1107736" y="1859705"/>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08"/>
          <p:cNvSpPr txBox="1"/>
          <p:nvPr/>
        </p:nvSpPr>
        <p:spPr>
          <a:xfrm>
            <a:off x="3414531" y="1859705"/>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Requester Challenge</a:t>
            </a:r>
          </a:p>
        </p:txBody>
      </p:sp>
      <p:sp>
        <p:nvSpPr>
          <p:cNvPr id="8" name="PDF_TEXT_GROUP_109"/>
          <p:cNvSpPr txBox="1"/>
          <p:nvPr/>
        </p:nvSpPr>
        <p:spPr>
          <a:xfrm>
            <a:off x="1107736" y="2814392"/>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10"/>
          <p:cNvSpPr txBox="1"/>
          <p:nvPr/>
        </p:nvSpPr>
        <p:spPr>
          <a:xfrm>
            <a:off x="3414606" y="2814392"/>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 Challenge</a:t>
            </a:r>
          </a:p>
        </p:txBody>
      </p:sp>
      <p:sp>
        <p:nvSpPr>
          <p:cNvPr id="10" name="PDF_TEXT_GROUP_111"/>
          <p:cNvSpPr txBox="1"/>
          <p:nvPr/>
        </p:nvSpPr>
        <p:spPr>
          <a:xfrm>
            <a:off x="1107736" y="3769079"/>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12"/>
          <p:cNvSpPr txBox="1"/>
          <p:nvPr/>
        </p:nvSpPr>
        <p:spPr>
          <a:xfrm>
            <a:off x="3414531" y="3769079"/>
            <a:ext cx="1023455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selected execution; provide input/references, challenge response and</a:t>
            </a:r>
            <a:r>
              <a:rPr sz="2371" b="0" i="0">
                <a:solidFill>
                  <a:srgbClr val="000000"/>
                </a:solidFill>
                <a:latin typeface="Latin Modern Sans"/>
              </a:rPr>
              <a:t> protected request-scoped keys</a:t>
            </a:r>
          </a:p>
        </p:txBody>
      </p:sp>
      <p:sp>
        <p:nvSpPr>
          <p:cNvPr id="12" name="PDF_TEXT_GROUP_113"/>
          <p:cNvSpPr txBox="1"/>
          <p:nvPr/>
        </p:nvSpPr>
        <p:spPr>
          <a:xfrm>
            <a:off x="1107736" y="4723767"/>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14"/>
          <p:cNvSpPr txBox="1"/>
          <p:nvPr/>
        </p:nvSpPr>
        <p:spPr>
          <a:xfrm>
            <a:off x="3414595" y="4723767"/>
            <a:ext cx="9595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Return status, results or result references; the User still validates them</a:t>
            </a:r>
            <a:r>
              <a:rPr sz="2371" b="0" i="0">
                <a:solidFill>
                  <a:srgbClr val="000000"/>
                </a:solidFill>
                <a:latin typeface="Latin Modern Sans"/>
              </a:rPr>
              <a:t> before use</a:t>
            </a:r>
          </a:p>
        </p:txBody>
      </p:sp>
      <p:sp>
        <p:nvSpPr>
          <p:cNvPr id="14" name="PDF_TEXT_GROUP_115"/>
          <p:cNvSpPr txBox="1"/>
          <p:nvPr/>
        </p:nvSpPr>
        <p:spPr>
          <a:xfrm>
            <a:off x="1123808" y="5991492"/>
            <a:ext cx="12069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Data. The Provider checks Selection before</a:t>
            </a:r>
            <a:r>
              <a:rPr sz="2371" b="0" i="0">
                <a:solidFill>
                  <a:srgbClr val="000000"/>
                </a:solidFill>
                <a:latin typeface="Latin Modern Sans"/>
              </a:rPr>
              <a:t> execution; a positive ACK alone does not start the task.</a:t>
            </a:r>
          </a:p>
        </p:txBody>
      </p:sp>
      <p:sp>
        <p:nvSpPr>
          <p:cNvPr id="15" name="PDF_TEXT_GROUP_1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2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Request: Discovery Descriptor; Selection: Task Input</a:t>
            </a:r>
          </a:p>
        </p:txBody>
      </p:sp>
      <p:sp>
        <p:nvSpPr>
          <p:cNvPr id="4" name="PDF_TEXT_GROUP_122"/>
          <p:cNvSpPr txBox="1"/>
          <p:nvPr/>
        </p:nvSpPr>
        <p:spPr>
          <a:xfrm>
            <a:off x="914808" y="2470595"/>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23"/>
          <p:cNvSpPr txBox="1"/>
          <p:nvPr/>
        </p:nvSpPr>
        <p:spPr>
          <a:xfrm>
            <a:off x="7574782" y="2470595"/>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24"/>
          <p:cNvSpPr txBox="1"/>
          <p:nvPr/>
        </p:nvSpPr>
        <p:spPr>
          <a:xfrm>
            <a:off x="914808" y="3039213"/>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25"/>
          <p:cNvSpPr txBox="1"/>
          <p:nvPr/>
        </p:nvSpPr>
        <p:spPr>
          <a:xfrm>
            <a:off x="7574782" y="3039213"/>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26"/>
          <p:cNvSpPr txBox="1"/>
          <p:nvPr/>
        </p:nvSpPr>
        <p:spPr>
          <a:xfrm>
            <a:off x="914808" y="3477084"/>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27"/>
          <p:cNvSpPr txBox="1"/>
          <p:nvPr/>
        </p:nvSpPr>
        <p:spPr>
          <a:xfrm>
            <a:off x="7574782" y="3477084"/>
            <a:ext cx="592641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a:t>
            </a:r>
          </a:p>
        </p:txBody>
      </p:sp>
      <p:sp>
        <p:nvSpPr>
          <p:cNvPr id="10" name="PDF_TEXT_GROUP_128"/>
          <p:cNvSpPr txBox="1"/>
          <p:nvPr/>
        </p:nvSpPr>
        <p:spPr>
          <a:xfrm>
            <a:off x="1143656" y="5183293"/>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2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3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3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3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3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3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35"/>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36"/>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37"/>
          <p:cNvSpPr txBox="1"/>
          <p:nvPr/>
        </p:nvSpPr>
        <p:spPr>
          <a:xfrm>
            <a:off x="1618972" y="3703548"/>
            <a:ext cx="1166759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the descriptor using ABE and the service attribute, without</a:t>
            </a:r>
            <a:r>
              <a:rPr sz="2710" b="0" i="0">
                <a:solidFill>
                  <a:srgbClr val="000000"/>
                </a:solidFill>
                <a:latin typeface="Latin Modern Sans"/>
              </a:rPr>
              <a:t> listing Provider identities. [19]</a:t>
            </a:r>
          </a:p>
        </p:txBody>
      </p:sp>
      <p:sp>
        <p:nvSpPr>
          <p:cNvPr id="7" name="PDF_TEXT_GROUP_138"/>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3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4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4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4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4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11/40</a:t>
            </a:r>
          </a:p>
        </p:txBody>
      </p:sp>
      <p:sp>
        <p:nvSpPr>
          <p:cNvPr id="13" name="PDF_BULLET_SPAN_195"/>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197"/>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00"/>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4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Reuse Service-Permission Management</a:t>
            </a:r>
          </a:p>
        </p:txBody>
      </p:sp>
      <p:sp>
        <p:nvSpPr>
          <p:cNvPr id="4" name="PDF_TEXT_GROUP_145"/>
          <p:cNvSpPr txBox="1"/>
          <p:nvPr/>
        </p:nvSpPr>
        <p:spPr>
          <a:xfrm>
            <a:off x="1618972" y="2204706"/>
            <a:ext cx="1120306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KP-ABE encodes an access policy in each entity’s decryption key. [19]</a:t>
            </a:r>
          </a:p>
        </p:txBody>
      </p:sp>
      <p:sp>
        <p:nvSpPr>
          <p:cNvPr id="5" name="PDF_TEXT_GROUP_146"/>
          <p:cNvSpPr txBox="1"/>
          <p:nvPr/>
        </p:nvSpPr>
        <p:spPr>
          <a:xfrm>
            <a:off x="1618972" y="2739134"/>
            <a:ext cx="1009061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combines service entitlements in that policy while retaining</a:t>
            </a:r>
            <a:r>
              <a:rPr sz="2710" b="0" i="0">
                <a:solidFill>
                  <a:srgbClr val="000000"/>
                </a:solidFill>
                <a:latin typeface="Latin Modern Sans"/>
              </a:rPr>
              <a:t> identity-signing credentials. [28]</a:t>
            </a:r>
          </a:p>
        </p:txBody>
      </p:sp>
      <p:sp>
        <p:nvSpPr>
          <p:cNvPr id="6" name="PDF_TEXT_GROUP_147"/>
          <p:cNvSpPr txBox="1"/>
          <p:nvPr/>
        </p:nvSpPr>
        <p:spPr>
          <a:xfrm>
            <a:off x="1618972" y="3711401"/>
            <a:ext cx="1220925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Challenge checks reuse these permissions for invocation; User permission keys and</a:t>
            </a:r>
            <a:r>
              <a:rPr sz="2710" b="0" i="0">
                <a:solidFill>
                  <a:srgbClr val="000000"/>
                </a:solidFill>
                <a:latin typeface="Latin Modern Sans"/>
              </a:rPr>
              <a:t> challenge processing still add cost.</a:t>
            </a:r>
          </a:p>
        </p:txBody>
      </p:sp>
      <p:sp>
        <p:nvSpPr>
          <p:cNvPr id="7" name="PDF_TEXT_GROUP_148"/>
          <p:cNvSpPr txBox="1"/>
          <p:nvPr/>
        </p:nvSpPr>
        <p:spPr>
          <a:xfrm>
            <a:off x="1143656" y="5305089"/>
            <a:ext cx="124780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This avoids a separate role-based invocation policy in NDNSF. It does not eliminate</a:t>
            </a:r>
            <a:r>
              <a:rPr sz="2710" b="0" i="0">
                <a:solidFill>
                  <a:srgbClr val="000000"/>
                </a:solidFill>
                <a:latin typeface="Latin Modern Sans"/>
              </a:rPr>
              <a:t> key updates or prove lower total cost; role-based designs can also reuse credentials.</a:t>
            </a:r>
          </a:p>
        </p:txBody>
      </p:sp>
      <p:sp>
        <p:nvSpPr>
          <p:cNvPr id="8" name="PDF_TEXT_GROUP_1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12/40</a:t>
            </a:r>
          </a:p>
        </p:txBody>
      </p:sp>
      <p:sp>
        <p:nvSpPr>
          <p:cNvPr id="13" name="PDF_BULLET_SPAN_211"/>
          <p:cNvSpPr/>
          <p:nvPr/>
        </p:nvSpPr>
        <p:spPr>
          <a:xfrm rot="5400000">
            <a:off x="1207424" y="229049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13"/>
          <p:cNvSpPr/>
          <p:nvPr/>
        </p:nvSpPr>
        <p:spPr>
          <a:xfrm rot="5400000">
            <a:off x="1207424" y="28249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16"/>
          <p:cNvSpPr/>
          <p:nvPr/>
        </p:nvSpPr>
        <p:spPr>
          <a:xfrm rot="5400000">
            <a:off x="1207424" y="379719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NDNSF Checks Service Permissions</a:t>
            </a:r>
          </a:p>
        </p:txBody>
      </p:sp>
      <p:sp>
        <p:nvSpPr>
          <p:cNvPr id="4" name="PDF_TEXT_GROUP_155"/>
          <p:cNvSpPr txBox="1"/>
          <p:nvPr/>
        </p:nvSpPr>
        <p:spPr>
          <a:xfrm>
            <a:off x="1169087" y="2039349"/>
            <a:ext cx="1237286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The User places a Requester Challenge in ABE-protected Request content.</a:t>
            </a:r>
          </a:p>
        </p:txBody>
      </p:sp>
      <p:sp>
        <p:nvSpPr>
          <p:cNvPr id="5" name="PDF_TEXT_GROUP_156"/>
          <p:cNvSpPr txBox="1"/>
          <p:nvPr/>
        </p:nvSpPr>
        <p:spPr>
          <a:xfrm>
            <a:off x="1169087" y="2573777"/>
            <a:ext cx="12681379"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Provider returns it in ACK Data; the User checks the value against the active</a:t>
            </a:r>
            <a:r>
              <a:rPr sz="2710" b="0" i="0">
                <a:solidFill>
                  <a:srgbClr val="000000"/>
                </a:solidFill>
                <a:latin typeface="Latin Modern Sans"/>
              </a:rPr>
              <a:t> request.</a:t>
            </a:r>
          </a:p>
        </p:txBody>
      </p:sp>
      <p:sp>
        <p:nvSpPr>
          <p:cNvPr id="6" name="PDF_TEXT_GROUP_157"/>
          <p:cNvSpPr txBox="1"/>
          <p:nvPr/>
        </p:nvSpPr>
        <p:spPr>
          <a:xfrm>
            <a:off x="1169087" y="3546044"/>
            <a:ext cx="12383352"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Provider encrypts its challenge in ACK content. The User returns the value</a:t>
            </a:r>
            <a:r>
              <a:rPr sz="2710" b="0" i="0">
                <a:solidFill>
                  <a:srgbClr val="000000"/>
                </a:solidFill>
                <a:latin typeface="Latin Modern Sans"/>
              </a:rPr>
              <a:t> in Selection; the Provider checks it before execution.</a:t>
            </a:r>
          </a:p>
        </p:txBody>
      </p:sp>
      <p:sp>
        <p:nvSpPr>
          <p:cNvPr id="7" name="PDF_TEXT_GROUP_158"/>
          <p:cNvSpPr txBox="1"/>
          <p:nvPr/>
        </p:nvSpPr>
        <p:spPr>
          <a:xfrm>
            <a:off x="1143656" y="5115237"/>
            <a:ext cx="12477812"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Both sides also validate signatures under trust rules and check service permissions</a:t>
            </a:r>
            <a:r>
              <a:rPr sz="2710" b="0" i="0">
                <a:solidFill>
                  <a:srgbClr val="000000"/>
                </a:solidFill>
                <a:latin typeface="Latin Modern Sans"/>
              </a:rPr>
              <a:t> and request state. Challenge responses show access to protected values; they do not</a:t>
            </a:r>
            <a:r>
              <a:rPr sz="2710" b="0" i="0">
                <a:solidFill>
                  <a:srgbClr val="000000"/>
                </a:solidFill>
                <a:latin typeface="Latin Modern Sans"/>
              </a:rPr>
              <a:t> grant permissions or prevent deliberate sharing.</a:t>
            </a:r>
          </a:p>
        </p:txBody>
      </p:sp>
      <p:sp>
        <p:nvSpPr>
          <p:cNvPr id="8" name="PDF_TEXT_GROUP_15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6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6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6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6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6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 Trust-Schema Command Authorization</a:t>
            </a:r>
          </a:p>
        </p:txBody>
      </p:sp>
      <p:sp>
        <p:nvSpPr>
          <p:cNvPr id="4" name="PDF_TEXT_GROUP_165"/>
          <p:cNvSpPr txBox="1"/>
          <p:nvPr/>
        </p:nvSpPr>
        <p:spPr>
          <a:xfrm>
            <a:off x="914808" y="1803638"/>
            <a:ext cx="136825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Distributed Network Measurement Protocol (DNMP) [12] authorizes measurement commands:</a:t>
            </a:r>
          </a:p>
        </p:txBody>
      </p:sp>
      <p:sp>
        <p:nvSpPr>
          <p:cNvPr id="5" name="PDF_TEXT_GROUP_166"/>
          <p:cNvSpPr txBox="1"/>
          <p:nvPr/>
        </p:nvSpPr>
        <p:spPr>
          <a:xfrm>
            <a:off x="1192840" y="2383146"/>
            <a:ext cx="1000344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The Network Key anchors role keys, device keys, and the schema.</a:t>
            </a:r>
          </a:p>
        </p:txBody>
      </p:sp>
      <p:sp>
        <p:nvSpPr>
          <p:cNvPr id="6" name="PDF_TEXT_GROUP_167"/>
          <p:cNvSpPr txBox="1"/>
          <p:nvPr/>
        </p:nvSpPr>
        <p:spPr>
          <a:xfrm>
            <a:off x="1192840" y="2962654"/>
            <a:ext cx="12155654"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client uses target, probe type, arguments, and user role to find an allowed signing</a:t>
            </a:r>
            <a:r>
              <a:rPr sz="2371" b="0" i="0">
                <a:solidFill>
                  <a:srgbClr val="000000"/>
                </a:solidFill>
                <a:latin typeface="Latin Modern Sans"/>
              </a:rPr>
              <a:t> key; among matching keys, it chooses the least privileged.</a:t>
            </a:r>
          </a:p>
        </p:txBody>
      </p:sp>
      <p:sp>
        <p:nvSpPr>
          <p:cNvPr id="7" name="PDF_TEXT_GROUP_168"/>
          <p:cNvSpPr txBox="1"/>
          <p:nvPr/>
        </p:nvSpPr>
        <p:spPr>
          <a:xfrm>
            <a:off x="1192840" y="3928490"/>
            <a:ext cx="1193492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The receiving Network Observer Daemon validates the publication under the schema</a:t>
            </a:r>
            <a:r>
              <a:rPr sz="2371" b="0" i="0">
                <a:solidFill>
                  <a:srgbClr val="000000"/>
                </a:solidFill>
                <a:latin typeface="Latin Modern Sans"/>
              </a:rPr>
              <a:t> before dispatching the probe.</a:t>
            </a:r>
          </a:p>
        </p:txBody>
      </p:sp>
      <p:sp>
        <p:nvSpPr>
          <p:cNvPr id="8" name="PDF_TEXT_GROUP_169"/>
          <p:cNvSpPr txBox="1"/>
          <p:nvPr/>
        </p:nvSpPr>
        <p:spPr>
          <a:xfrm>
            <a:off x="1123808" y="5428561"/>
            <a:ext cx="12046272"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also uses publication lifetimes and retained state against replay, assuming loosely</a:t>
            </a:r>
            <a:r>
              <a:rPr sz="2371" b="0" i="0">
                <a:solidFill>
                  <a:srgbClr val="000000"/>
                </a:solidFill>
                <a:latin typeface="Latin Modern Sans"/>
              </a:rPr>
              <a:t> synchronized clocks. These are concrete command-authorization mechanisms, not just</a:t>
            </a:r>
            <a:r>
              <a:rPr sz="2371" b="0" i="0">
                <a:solidFill>
                  <a:srgbClr val="000000"/>
                </a:solidFill>
                <a:latin typeface="Latin Modern Sans"/>
              </a:rPr>
              <a:t> identity checks.</a:t>
            </a:r>
          </a:p>
        </p:txBody>
      </p:sp>
      <p:sp>
        <p:nvSpPr>
          <p:cNvPr id="9" name="PDF_TEXT_GROUP_17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7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7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7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7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7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DNMP-inspired Authorization versus NDNSF</a:t>
            </a:r>
          </a:p>
        </p:txBody>
      </p:sp>
      <p:sp>
        <p:nvSpPr>
          <p:cNvPr id="4" name="PDF_TEXT_GROUP_176"/>
          <p:cNvSpPr txBox="1"/>
          <p:nvPr/>
        </p:nvSpPr>
        <p:spPr>
          <a:xfrm>
            <a:off x="1107736" y="1276997"/>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177"/>
          <p:cNvSpPr txBox="1"/>
          <p:nvPr/>
        </p:nvSpPr>
        <p:spPr>
          <a:xfrm>
            <a:off x="4951729" y="1276997"/>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178"/>
          <p:cNvSpPr txBox="1"/>
          <p:nvPr/>
        </p:nvSpPr>
        <p:spPr>
          <a:xfrm>
            <a:off x="9433494" y="1276997"/>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179"/>
          <p:cNvSpPr txBox="1"/>
          <p:nvPr/>
        </p:nvSpPr>
        <p:spPr>
          <a:xfrm>
            <a:off x="1107736" y="1845357"/>
            <a:ext cx="29119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[12]</a:t>
            </a:r>
          </a:p>
        </p:txBody>
      </p:sp>
      <p:sp>
        <p:nvSpPr>
          <p:cNvPr id="8" name="PDF_TEXT_GROUP_180"/>
          <p:cNvSpPr txBox="1"/>
          <p:nvPr/>
        </p:nvSpPr>
        <p:spPr>
          <a:xfrm>
            <a:off x="4951504" y="1845357"/>
            <a:ext cx="3288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role-constrained</a:t>
            </a:r>
          </a:p>
        </p:txBody>
      </p:sp>
      <p:sp>
        <p:nvSpPr>
          <p:cNvPr id="9" name="PDF_TEXT_GROUP_181"/>
          <p:cNvSpPr txBox="1"/>
          <p:nvPr/>
        </p:nvSpPr>
        <p:spPr>
          <a:xfrm>
            <a:off x="9433445" y="1845357"/>
            <a:ext cx="3335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Pair with service-group</a:t>
            </a:r>
          </a:p>
        </p:txBody>
      </p:sp>
      <p:sp>
        <p:nvSpPr>
          <p:cNvPr id="10" name="PDF_TEXT_GROUP_182"/>
          <p:cNvSpPr txBox="1"/>
          <p:nvPr/>
        </p:nvSpPr>
        <p:spPr>
          <a:xfrm>
            <a:off x="4951637" y="2231685"/>
            <a:ext cx="321794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and NDNSF</a:t>
            </a:r>
            <a:r>
              <a:rPr sz="2371" b="0" i="0">
                <a:solidFill>
                  <a:srgbClr val="000000"/>
                </a:solidFill>
                <a:latin typeface="Latin Modern Sans"/>
              </a:rPr>
              <a:t> invocation state</a:t>
            </a:r>
          </a:p>
        </p:txBody>
      </p:sp>
      <p:sp>
        <p:nvSpPr>
          <p:cNvPr id="11" name="PDF_TEXT_GROUP_183"/>
          <p:cNvSpPr txBox="1"/>
          <p:nvPr/>
        </p:nvSpPr>
        <p:spPr>
          <a:xfrm>
            <a:off x="9433445" y="2231685"/>
            <a:ext cx="26922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encryption or ABE</a:t>
            </a:r>
          </a:p>
        </p:txBody>
      </p:sp>
      <p:sp>
        <p:nvSpPr>
          <p:cNvPr id="12" name="PDF_TEXT_GROUP_184"/>
          <p:cNvSpPr txBox="1"/>
          <p:nvPr/>
        </p:nvSpPr>
        <p:spPr>
          <a:xfrm>
            <a:off x="1107736" y="3186404"/>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185"/>
          <p:cNvSpPr txBox="1"/>
          <p:nvPr/>
        </p:nvSpPr>
        <p:spPr>
          <a:xfrm>
            <a:off x="4951665" y="3186404"/>
            <a:ext cx="29559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User/Provider check</a:t>
            </a:r>
          </a:p>
        </p:txBody>
      </p:sp>
      <p:sp>
        <p:nvSpPr>
          <p:cNvPr id="14" name="PDF_TEXT_GROUP_186"/>
          <p:cNvSpPr txBox="1"/>
          <p:nvPr/>
        </p:nvSpPr>
        <p:spPr>
          <a:xfrm>
            <a:off x="9433445" y="3186404"/>
            <a:ext cx="34914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encrypts descriptor</a:t>
            </a:r>
          </a:p>
        </p:txBody>
      </p:sp>
      <p:sp>
        <p:nvSpPr>
          <p:cNvPr id="15" name="PDF_TEXT_GROUP_187"/>
          <p:cNvSpPr txBox="1"/>
          <p:nvPr/>
        </p:nvSpPr>
        <p:spPr>
          <a:xfrm>
            <a:off x="4951637" y="3572732"/>
            <a:ext cx="4119395"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challenge</a:t>
            </a:r>
            <a:r>
              <a:rPr sz="2371" b="0" i="0">
                <a:solidFill>
                  <a:srgbClr val="000000"/>
                </a:solidFill>
                <a:latin typeface="Latin Modern Sans"/>
              </a:rPr>
              <a:t> responses, service permissions</a:t>
            </a:r>
            <a:r>
              <a:rPr sz="2371" b="0" i="0">
                <a:solidFill>
                  <a:srgbClr val="000000"/>
                </a:solidFill>
                <a:latin typeface="Latin Modern Sans"/>
              </a:rPr>
              <a:t> and request state</a:t>
            </a:r>
          </a:p>
        </p:txBody>
      </p:sp>
      <p:sp>
        <p:nvSpPr>
          <p:cNvPr id="16" name="PDF_TEXT_GROUP_188"/>
          <p:cNvSpPr txBox="1"/>
          <p:nvPr/>
        </p:nvSpPr>
        <p:spPr>
          <a:xfrm>
            <a:off x="9433445" y="3572732"/>
            <a:ext cx="4423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content with service-level ABE</a:t>
            </a:r>
          </a:p>
        </p:txBody>
      </p:sp>
      <p:sp>
        <p:nvSpPr>
          <p:cNvPr id="17" name="PDF_TEXT_GROUP_189"/>
          <p:cNvSpPr txBox="1"/>
          <p:nvPr/>
        </p:nvSpPr>
        <p:spPr>
          <a:xfrm>
            <a:off x="1123808" y="5240293"/>
            <a:ext cx="12372489" cy="16015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comparison: retain NDNSF discovery and Selection, with input/result protection</a:t>
            </a:r>
            <a:r>
              <a:rPr sz="2371" b="0" i="0">
                <a:solidFill>
                  <a:srgbClr val="000000"/>
                </a:solidFill>
                <a:latin typeface="Latin Modern Sans"/>
              </a:rPr>
              <a:t> and revocation checks in both designs. Trust Schema [16] alone does not encrypt Content;</a:t>
            </a:r>
            <a:r>
              <a:rPr sz="2371" b="0" i="0">
                <a:solidFill>
                  <a:srgbClr val="000000"/>
                </a:solidFill>
                <a:latin typeface="Latin Modern Sans"/>
              </a:rPr>
              <a:t> adapting DNMP authorization is not an original DNMP feature. No measured cost</a:t>
            </a:r>
            <a:r>
              <a:rPr sz="2371" b="0" i="0">
                <a:solidFill>
                  <a:srgbClr val="000000"/>
                </a:solidFill>
                <a:latin typeface="Latin Modern Sans"/>
              </a:rPr>
              <a:t> advantage is claimed.</a:t>
            </a:r>
          </a:p>
        </p:txBody>
      </p:sp>
      <p:sp>
        <p:nvSpPr>
          <p:cNvPr id="18" name="PDF_TEXT_GROUP_19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9" name="PDF_TEXT_GROUP_19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0" name="PDF_TEXT_GROUP_19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1" name="PDF_TEXT_GROUP_19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2" name="PDF_TEXT_GROUP_19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19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196"/>
          <p:cNvSpPr txBox="1"/>
          <p:nvPr/>
        </p:nvSpPr>
        <p:spPr>
          <a:xfrm>
            <a:off x="1618972" y="1807940"/>
            <a:ext cx="1161422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197"/>
          <p:cNvSpPr txBox="1"/>
          <p:nvPr/>
        </p:nvSpPr>
        <p:spPr>
          <a:xfrm>
            <a:off x="1618972" y="278023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198"/>
          <p:cNvSpPr txBox="1"/>
          <p:nvPr/>
        </p:nvSpPr>
        <p:spPr>
          <a:xfrm>
            <a:off x="1618972" y="3314668"/>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199"/>
          <p:cNvSpPr txBox="1"/>
          <p:nvPr/>
        </p:nvSpPr>
        <p:spPr>
          <a:xfrm>
            <a:off x="1618972" y="4286934"/>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200"/>
          <p:cNvSpPr txBox="1"/>
          <p:nvPr/>
        </p:nvSpPr>
        <p:spPr>
          <a:xfrm>
            <a:off x="1143656" y="5900173"/>
            <a:ext cx="1170977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Compare complete combinations of authorization and encryption. ABE-backed</a:t>
            </a:r>
            <a:r>
              <a:rPr sz="2710" b="0" i="0">
                <a:solidFill>
                  <a:srgbClr val="000000"/>
                </a:solidFill>
                <a:latin typeface="Latin Modern Sans"/>
              </a:rPr>
              <a:t> authorization is one design choice, not a universally superior solution.</a:t>
            </a:r>
          </a:p>
        </p:txBody>
      </p:sp>
      <p:sp>
        <p:nvSpPr>
          <p:cNvPr id="9" name="PDF_TEXT_GROUP_20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0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0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0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0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16/40</a:t>
            </a:r>
          </a:p>
        </p:txBody>
      </p:sp>
      <p:sp>
        <p:nvSpPr>
          <p:cNvPr id="14" name="PDF_BULLET_SPAN_288"/>
          <p:cNvSpPr/>
          <p:nvPr/>
        </p:nvSpPr>
        <p:spPr>
          <a:xfrm rot="5400000">
            <a:off x="1207424" y="18937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91"/>
          <p:cNvSpPr/>
          <p:nvPr/>
        </p:nvSpPr>
        <p:spPr>
          <a:xfrm rot="5400000">
            <a:off x="1207424" y="28660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293"/>
          <p:cNvSpPr/>
          <p:nvPr/>
        </p:nvSpPr>
        <p:spPr>
          <a:xfrm rot="5400000">
            <a:off x="1207424" y="3400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296"/>
          <p:cNvSpPr/>
          <p:nvPr/>
        </p:nvSpPr>
        <p:spPr>
          <a:xfrm rot="5400000">
            <a:off x="1207424" y="4372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0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Authorization Lifecycle and Costs</a:t>
            </a:r>
          </a:p>
        </p:txBody>
      </p:sp>
      <p:sp>
        <p:nvSpPr>
          <p:cNvPr id="4" name="PDF_TEXT_GROUP_207"/>
          <p:cNvSpPr txBox="1"/>
          <p:nvPr/>
        </p:nvSpPr>
        <p:spPr>
          <a:xfrm>
            <a:off x="1618972" y="1846589"/>
            <a:ext cx="1207388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Controller publishes signed permission updates; participants apply them only</a:t>
            </a:r>
            <a:r>
              <a:rPr sz="2710" b="0" i="0">
                <a:solidFill>
                  <a:srgbClr val="000000"/>
                </a:solidFill>
                <a:latin typeface="Latin Modern Sans"/>
              </a:rPr>
              <a:t> after retrieval and validation.</a:t>
            </a:r>
          </a:p>
        </p:txBody>
      </p:sp>
      <p:sp>
        <p:nvSpPr>
          <p:cNvPr id="5" name="PDF_TEXT_GROUP_208"/>
          <p:cNvSpPr txBox="1"/>
          <p:nvPr/>
        </p:nvSpPr>
        <p:spPr>
          <a:xfrm>
            <a:off x="1618972" y="2818856"/>
            <a:ext cx="114817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Request-scoped keys protect input/results. Selection delivers keys to selected</a:t>
            </a:r>
            <a:r>
              <a:rPr sz="2710" b="0" i="0">
                <a:solidFill>
                  <a:srgbClr val="000000"/>
                </a:solidFill>
                <a:latin typeface="Latin Modern Sans"/>
              </a:rPr>
              <a:t> Providers; the requesting User retains access.</a:t>
            </a:r>
          </a:p>
        </p:txBody>
      </p:sp>
      <p:sp>
        <p:nvSpPr>
          <p:cNvPr id="6" name="PDF_TEXT_GROUP_209"/>
          <p:cNvSpPr txBox="1"/>
          <p:nvPr/>
        </p:nvSpPr>
        <p:spPr>
          <a:xfrm>
            <a:off x="1618972" y="3791123"/>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Status checks reject withdrawn permissions; key rotation restricts future encrypted</a:t>
            </a:r>
            <a:r>
              <a:rPr sz="2710" b="0" i="0">
                <a:solidFill>
                  <a:srgbClr val="000000"/>
                </a:solidFill>
                <a:latin typeface="Latin Modern Sans"/>
              </a:rPr>
              <a:t> exchanges. Current ABE rotation is Controller-wide. [28]</a:t>
            </a:r>
          </a:p>
        </p:txBody>
      </p:sp>
      <p:sp>
        <p:nvSpPr>
          <p:cNvPr id="7" name="PDF_TEXT_GROUP_210"/>
          <p:cNvSpPr txBox="1"/>
          <p:nvPr/>
        </p:nvSpPr>
        <p:spPr>
          <a:xfrm>
            <a:off x="1143656" y="5404393"/>
            <a:ext cx="12279316"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Revocation has costs: measure update propagation, rejection delay and rekey</a:t>
            </a:r>
            <a:r>
              <a:rPr sz="2710" b="0" i="0">
                <a:solidFill>
                  <a:srgbClr val="000000"/>
                </a:solidFill>
                <a:latin typeface="Latin Modern Sans"/>
              </a:rPr>
              <a:t> traffic. Disconnected nodes cannot learn updates immediately; previously disclosed</a:t>
            </a:r>
            <a:r>
              <a:rPr sz="2710" b="0" i="0">
                <a:solidFill>
                  <a:srgbClr val="000000"/>
                </a:solidFill>
                <a:latin typeface="Latin Modern Sans"/>
              </a:rPr>
              <a:t> keys and plaintext cannot be recalled.</a:t>
            </a:r>
          </a:p>
        </p:txBody>
      </p:sp>
      <p:sp>
        <p:nvSpPr>
          <p:cNvPr id="8" name="PDF_TEXT_GROUP_21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1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1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1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1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17/40</a:t>
            </a:r>
          </a:p>
        </p:txBody>
      </p:sp>
      <p:sp>
        <p:nvSpPr>
          <p:cNvPr id="13" name="PDF_BULLET_SPAN_307"/>
          <p:cNvSpPr/>
          <p:nvPr/>
        </p:nvSpPr>
        <p:spPr>
          <a:xfrm rot="5400000">
            <a:off x="1207424" y="193238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310"/>
          <p:cNvSpPr/>
          <p:nvPr/>
        </p:nvSpPr>
        <p:spPr>
          <a:xfrm rot="5400000">
            <a:off x="1207424" y="290464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13"/>
          <p:cNvSpPr/>
          <p:nvPr/>
        </p:nvSpPr>
        <p:spPr>
          <a:xfrm rot="5400000">
            <a:off x="1207424" y="387691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1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17"/>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18"/>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19"/>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20"/>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21"/>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2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2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2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2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18/40</a:t>
            </a:r>
          </a:p>
        </p:txBody>
      </p:sp>
      <p:sp>
        <p:nvSpPr>
          <p:cNvPr id="14" name="PDF_BULLET_SPAN_325"/>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27"/>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30"/>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33"/>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2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Extension: From Positive ACKs to a Role Plan</a:t>
            </a:r>
          </a:p>
        </p:txBody>
      </p:sp>
      <p:sp>
        <p:nvSpPr>
          <p:cNvPr id="4" name="PDF_TEXT_GROUP_228"/>
          <p:cNvSpPr txBox="1"/>
          <p:nvPr/>
        </p:nvSpPr>
        <p:spPr>
          <a:xfrm>
            <a:off x="1169087" y="1815792"/>
            <a:ext cx="1206240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229"/>
          <p:cNvSpPr txBox="1"/>
          <p:nvPr/>
        </p:nvSpPr>
        <p:spPr>
          <a:xfrm>
            <a:off x="1169087" y="2788059"/>
            <a:ext cx="1346131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User closes the ACK window and freezes the eligible, validated positive ACKs.</a:t>
            </a:r>
          </a:p>
        </p:txBody>
      </p:sp>
      <p:sp>
        <p:nvSpPr>
          <p:cNvPr id="6" name="PDF_TEXT_GROUP_230"/>
          <p:cNvSpPr txBox="1"/>
          <p:nvPr/>
        </p:nvSpPr>
        <p:spPr>
          <a:xfrm>
            <a:off x="1169087" y="3322488"/>
            <a:ext cx="1146917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User applies a replaceable planning policy and signs the resulting role</a:t>
            </a:r>
            <a:r>
              <a:rPr sz="2710" b="0" i="0">
                <a:solidFill>
                  <a:srgbClr val="000000"/>
                </a:solidFill>
                <a:latin typeface="Latin Modern Sans"/>
              </a:rPr>
              <a:t> assignments and dependencies.</a:t>
            </a:r>
          </a:p>
        </p:txBody>
      </p:sp>
      <p:sp>
        <p:nvSpPr>
          <p:cNvPr id="7" name="PDF_TEXT_GROUP_231"/>
          <p:cNvSpPr txBox="1"/>
          <p:nvPr/>
        </p:nvSpPr>
        <p:spPr>
          <a:xfrm>
            <a:off x="1169087" y="4294755"/>
            <a:ext cx="1157310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validates the plan, derives permitted inputs and rechecks its</a:t>
            </a:r>
            <a:r>
              <a:rPr sz="2710" b="0" i="0">
                <a:solidFill>
                  <a:srgbClr val="000000"/>
                </a:solidFill>
                <a:latin typeface="Latin Modern Sans"/>
              </a:rPr>
              <a:t> resources before starting.</a:t>
            </a:r>
          </a:p>
        </p:txBody>
      </p:sp>
      <p:sp>
        <p:nvSpPr>
          <p:cNvPr id="8" name="PDF_TEXT_GROUP_232"/>
          <p:cNvSpPr txBox="1"/>
          <p:nvPr/>
        </p:nvSpPr>
        <p:spPr>
          <a:xfrm>
            <a:off x="1143656" y="5888443"/>
            <a:ext cx="1199516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23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3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3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3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3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3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239"/>
          <p:cNvSpPr txBox="1"/>
          <p:nvPr/>
        </p:nvSpPr>
        <p:spPr>
          <a:xfrm>
            <a:off x="1107736" y="1636568"/>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240"/>
          <p:cNvSpPr txBox="1"/>
          <p:nvPr/>
        </p:nvSpPr>
        <p:spPr>
          <a:xfrm>
            <a:off x="5335981" y="1636568"/>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241"/>
          <p:cNvSpPr txBox="1"/>
          <p:nvPr/>
        </p:nvSpPr>
        <p:spPr>
          <a:xfrm>
            <a:off x="1107736" y="2204928"/>
            <a:ext cx="394670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Identifies the request;</a:t>
            </a:r>
            <a:r>
              <a:rPr sz="2371" b="0" i="0">
                <a:solidFill>
                  <a:srgbClr val="000000"/>
                </a:solidFill>
                <a:latin typeface="Latin Modern Sans"/>
              </a:rPr>
              <a:t> requires a validated message</a:t>
            </a:r>
          </a:p>
        </p:txBody>
      </p:sp>
      <p:sp>
        <p:nvSpPr>
          <p:cNvPr id="7" name="PDF_TEXT_GROUP_242"/>
          <p:cNvSpPr txBox="1"/>
          <p:nvPr/>
        </p:nvSpPr>
        <p:spPr>
          <a:xfrm>
            <a:off x="5335879" y="2204928"/>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243"/>
          <p:cNvSpPr txBox="1"/>
          <p:nvPr/>
        </p:nvSpPr>
        <p:spPr>
          <a:xfrm>
            <a:off x="1107736" y="3159615"/>
            <a:ext cx="31689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a:t>
            </a:r>
            <a:r>
              <a:rPr sz="2371" b="0" i="0">
                <a:solidFill>
                  <a:srgbClr val="000000"/>
                </a:solidFill>
                <a:latin typeface="Latin Modern Sans"/>
              </a:rPr>
              <a:t> predecessors</a:t>
            </a:r>
          </a:p>
        </p:txBody>
      </p:sp>
      <p:sp>
        <p:nvSpPr>
          <p:cNvPr id="9" name="PDF_TEXT_GROUP_244"/>
          <p:cNvSpPr txBox="1"/>
          <p:nvPr/>
        </p:nvSpPr>
        <p:spPr>
          <a:xfrm>
            <a:off x="5335879" y="3159615"/>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245"/>
          <p:cNvSpPr txBox="1"/>
          <p:nvPr/>
        </p:nvSpPr>
        <p:spPr>
          <a:xfrm>
            <a:off x="1107736" y="4114303"/>
            <a:ext cx="388812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246"/>
          <p:cNvSpPr txBox="1"/>
          <p:nvPr/>
        </p:nvSpPr>
        <p:spPr>
          <a:xfrm>
            <a:off x="5335879" y="4114303"/>
            <a:ext cx="71915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247"/>
          <p:cNvSpPr txBox="1"/>
          <p:nvPr/>
        </p:nvSpPr>
        <p:spPr>
          <a:xfrm>
            <a:off x="1123808" y="5382027"/>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24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4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5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5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5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5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254"/>
          <p:cNvSpPr txBox="1"/>
          <p:nvPr/>
        </p:nvSpPr>
        <p:spPr>
          <a:xfrm>
            <a:off x="1169087" y="1952292"/>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255"/>
          <p:cNvSpPr txBox="1"/>
          <p:nvPr/>
        </p:nvSpPr>
        <p:spPr>
          <a:xfrm>
            <a:off x="1169087" y="2486720"/>
            <a:ext cx="993168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Check active request, plan, execution identity and deadline.</a:t>
            </a:r>
          </a:p>
        </p:txBody>
      </p:sp>
      <p:sp>
        <p:nvSpPr>
          <p:cNvPr id="6" name="PDF_TEXT_GROUP_256"/>
          <p:cNvSpPr txBox="1"/>
          <p:nvPr/>
        </p:nvSpPr>
        <p:spPr>
          <a:xfrm>
            <a:off x="1169087" y="3021149"/>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257"/>
          <p:cNvSpPr txBox="1"/>
          <p:nvPr/>
        </p:nvSpPr>
        <p:spPr>
          <a:xfrm>
            <a:off x="1169087" y="3555577"/>
            <a:ext cx="1228804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Check that the object matches the declared edge, permitted name, data format</a:t>
            </a:r>
            <a:r>
              <a:rPr sz="2710" b="0" i="0">
                <a:solidFill>
                  <a:srgbClr val="000000"/>
                </a:solidFill>
                <a:latin typeface="Latin Modern Sans"/>
              </a:rPr>
              <a:t> and key scope.</a:t>
            </a:r>
          </a:p>
        </p:txBody>
      </p:sp>
      <p:sp>
        <p:nvSpPr>
          <p:cNvPr id="8" name="PDF_TEXT_GROUP_258"/>
          <p:cNvSpPr txBox="1"/>
          <p:nvPr/>
        </p:nvSpPr>
        <p:spPr>
          <a:xfrm>
            <a:off x="1169087" y="452784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259"/>
          <p:cNvSpPr txBox="1"/>
          <p:nvPr/>
        </p:nvSpPr>
        <p:spPr>
          <a:xfrm>
            <a:off x="1143656" y="5683694"/>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26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6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6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6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6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6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Collaboration Recovery Needs Explicit State</a:t>
            </a:r>
          </a:p>
        </p:txBody>
      </p:sp>
      <p:sp>
        <p:nvSpPr>
          <p:cNvPr id="4" name="PDF_TEXT_GROUP_266"/>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267"/>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268"/>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269"/>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270"/>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271"/>
          <p:cNvSpPr txBox="1"/>
          <p:nvPr/>
        </p:nvSpPr>
        <p:spPr>
          <a:xfrm>
            <a:off x="5335879" y="2355226"/>
            <a:ext cx="786674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recorded one-time state; do not implicitly repeat a</a:t>
            </a:r>
            <a:r>
              <a:rPr sz="2371" b="0" i="0">
                <a:solidFill>
                  <a:srgbClr val="000000"/>
                </a:solidFill>
                <a:latin typeface="Latin Modern Sans"/>
              </a:rPr>
              <a:t> side effect</a:t>
            </a:r>
          </a:p>
        </p:txBody>
      </p:sp>
      <p:sp>
        <p:nvSpPr>
          <p:cNvPr id="10" name="PDF_TEXT_GROUP_272"/>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273"/>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274"/>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275"/>
          <p:cNvSpPr txBox="1"/>
          <p:nvPr/>
        </p:nvSpPr>
        <p:spPr>
          <a:xfrm>
            <a:off x="5335879" y="4264633"/>
            <a:ext cx="83213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reject old execution actions and</a:t>
            </a:r>
            <a:r>
              <a:rPr sz="2371" b="0" i="0">
                <a:solidFill>
                  <a:srgbClr val="000000"/>
                </a:solidFill>
                <a:latin typeface="Latin Modern Sans"/>
              </a:rPr>
              <a:t> specify permitted result reuse</a:t>
            </a:r>
          </a:p>
        </p:txBody>
      </p:sp>
      <p:sp>
        <p:nvSpPr>
          <p:cNvPr id="14" name="PDF_TEXT_GROUP_276"/>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277"/>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278"/>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27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28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28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28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28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8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UAV Collaboration: Capture, Analyze and Return</a:t>
            </a:r>
          </a:p>
        </p:txBody>
      </p:sp>
      <p:sp>
        <p:nvSpPr>
          <p:cNvPr id="4" name="PDF_TEXT_GROUP_285"/>
          <p:cNvSpPr txBox="1"/>
          <p:nvPr/>
        </p:nvSpPr>
        <p:spPr>
          <a:xfrm>
            <a:off x="914808" y="1726372"/>
            <a:ext cx="12399593"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 operator requests ground-area views from unmanned aerial vehicles (UAVs), followed by</a:t>
            </a:r>
            <a:r>
              <a:rPr sz="2371" b="0" i="0">
                <a:solidFill>
                  <a:srgbClr val="000000"/>
                </a:solidFill>
                <a:latin typeface="Latin Modern Sans"/>
              </a:rPr>
              <a:t> analysis.</a:t>
            </a:r>
          </a:p>
        </p:txBody>
      </p:sp>
      <p:sp>
        <p:nvSpPr>
          <p:cNvPr id="5" name="PDF_TEXT_GROUP_286"/>
          <p:cNvSpPr txBox="1"/>
          <p:nvPr/>
        </p:nvSpPr>
        <p:spPr>
          <a:xfrm>
            <a:off x="1192840" y="2692208"/>
            <a:ext cx="1240887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Sensing UAVs sign encrypted ViewImage Data under their authorized namespaces.</a:t>
            </a:r>
          </a:p>
        </p:txBody>
      </p:sp>
      <p:sp>
        <p:nvSpPr>
          <p:cNvPr id="6" name="PDF_TEXT_GROUP_287"/>
          <p:cNvSpPr txBox="1"/>
          <p:nvPr/>
        </p:nvSpPr>
        <p:spPr>
          <a:xfrm>
            <a:off x="1192840" y="3271716"/>
            <a:ext cx="12053925"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compute Provider retrieves images over assigned edges and publishes Annotation</a:t>
            </a:r>
            <a:r>
              <a:rPr sz="2371" b="0" i="0">
                <a:solidFill>
                  <a:srgbClr val="000000"/>
                </a:solidFill>
                <a:latin typeface="Latin Modern Sans"/>
              </a:rPr>
              <a:t> Data.</a:t>
            </a:r>
          </a:p>
        </p:txBody>
      </p:sp>
      <p:sp>
        <p:nvSpPr>
          <p:cNvPr id="7" name="PDF_TEXT_GROUP_288"/>
          <p:cNvSpPr txBox="1"/>
          <p:nvPr/>
        </p:nvSpPr>
        <p:spPr>
          <a:xfrm>
            <a:off x="1192840" y="4237553"/>
            <a:ext cx="13187362"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Its encrypted result gives the requester original image names and permitted image keys.</a:t>
            </a:r>
          </a:p>
        </p:txBody>
      </p:sp>
      <p:sp>
        <p:nvSpPr>
          <p:cNvPr id="8" name="PDF_TEXT_GROUP_289"/>
          <p:cNvSpPr txBox="1"/>
          <p:nvPr/>
        </p:nvSpPr>
        <p:spPr>
          <a:xfrm>
            <a:off x="1192840" y="4817061"/>
            <a:ext cx="10964200"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4.</a:t>
            </a:r>
            <a:r>
              <a:rPr sz="2371" b="0" i="0">
                <a:solidFill>
                  <a:srgbClr val="000000"/>
                </a:solidFill>
                <a:latin typeface="Latin Modern Sans"/>
              </a:rPr>
              <a:t> The requester retrieves the original images and displays the annotations.</a:t>
            </a:r>
          </a:p>
        </p:txBody>
      </p:sp>
      <p:sp>
        <p:nvSpPr>
          <p:cNvPr id="9" name="PDF_TEXT_GROUP_290"/>
          <p:cNvSpPr txBox="1"/>
          <p:nvPr/>
        </p:nvSpPr>
        <p:spPr>
          <a:xfrm>
            <a:off x="1123808" y="5930804"/>
            <a:ext cx="117276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Original image Data remains under its producer’s name. GPS alone does not establish</a:t>
            </a:r>
            <a:r>
              <a:rPr sz="2371" b="0" i="0">
                <a:solidFill>
                  <a:srgbClr val="000000"/>
                </a:solidFill>
                <a:latin typeface="Latin Modern Sans"/>
              </a:rPr>
              <a:t> camera visibility.</a:t>
            </a:r>
          </a:p>
        </p:txBody>
      </p:sp>
      <p:sp>
        <p:nvSpPr>
          <p:cNvPr id="10" name="PDF_TEXT_GROUP_29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9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9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9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9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29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the UAV Case Must Demonstrate</a:t>
            </a:r>
          </a:p>
        </p:txBody>
      </p:sp>
      <p:sp>
        <p:nvSpPr>
          <p:cNvPr id="4" name="PDF_TEXT_GROUP_297"/>
          <p:cNvSpPr txBox="1"/>
          <p:nvPr/>
        </p:nvSpPr>
        <p:spPr>
          <a:xfrm>
            <a:off x="1618972" y="1837282"/>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298"/>
          <p:cNvSpPr txBox="1"/>
          <p:nvPr/>
        </p:nvSpPr>
        <p:spPr>
          <a:xfrm>
            <a:off x="1618972" y="2371710"/>
            <a:ext cx="11460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299"/>
          <p:cNvSpPr txBox="1"/>
          <p:nvPr/>
        </p:nvSpPr>
        <p:spPr>
          <a:xfrm>
            <a:off x="1618972" y="3343977"/>
            <a:ext cx="119343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Reject wrong-role/edge inputs; accept cached images only when they satisfy the</a:t>
            </a:r>
            <a:r>
              <a:rPr sz="2710" b="0" i="0">
                <a:solidFill>
                  <a:srgbClr val="000000"/>
                </a:solidFill>
                <a:latin typeface="Latin Modern Sans"/>
              </a:rPr>
              <a:t> same task checks.</a:t>
            </a:r>
          </a:p>
        </p:txBody>
      </p:sp>
      <p:sp>
        <p:nvSpPr>
          <p:cNvPr id="7" name="PDF_TEXT_GROUP_300"/>
          <p:cNvSpPr txBox="1"/>
          <p:nvPr/>
        </p:nvSpPr>
        <p:spPr>
          <a:xfrm>
            <a:off x="1618972" y="431624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301"/>
          <p:cNvSpPr txBox="1"/>
          <p:nvPr/>
        </p:nvSpPr>
        <p:spPr>
          <a:xfrm>
            <a:off x="1143656" y="5856192"/>
            <a:ext cx="1228751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30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0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0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0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24/40</a:t>
            </a:r>
          </a:p>
        </p:txBody>
      </p:sp>
      <p:sp>
        <p:nvSpPr>
          <p:cNvPr id="14" name="PDF_BULLET_SPAN_445"/>
          <p:cNvSpPr/>
          <p:nvPr/>
        </p:nvSpPr>
        <p:spPr>
          <a:xfrm rot="5400000">
            <a:off x="1207424" y="192307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47"/>
          <p:cNvSpPr/>
          <p:nvPr/>
        </p:nvSpPr>
        <p:spPr>
          <a:xfrm rot="5400000">
            <a:off x="1207424" y="245750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50"/>
          <p:cNvSpPr/>
          <p:nvPr/>
        </p:nvSpPr>
        <p:spPr>
          <a:xfrm rot="5400000">
            <a:off x="1207424" y="342976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53"/>
          <p:cNvSpPr/>
          <p:nvPr/>
        </p:nvSpPr>
        <p:spPr>
          <a:xfrm rot="5400000">
            <a:off x="1207424" y="44020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0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Distributed Inference: Named Computation Dependencies</a:t>
            </a:r>
          </a:p>
        </p:txBody>
      </p:sp>
      <p:sp>
        <p:nvSpPr>
          <p:cNvPr id="4" name="PDF_TEXT_GROUP_308"/>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309"/>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310"/>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311"/>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312"/>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313"/>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314"/>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315"/>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316"/>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3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2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25/40</a:t>
            </a:r>
          </a:p>
        </p:txBody>
      </p:sp>
      <p:sp>
        <p:nvSpPr>
          <p:cNvPr id="18" name="PDF_BULLET_SPAN_472"/>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475"/>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478"/>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323"/>
          <p:cNvSpPr txBox="1"/>
          <p:nvPr/>
        </p:nvSpPr>
        <p:spPr>
          <a:xfrm>
            <a:off x="1618972" y="1835375"/>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324"/>
          <p:cNvSpPr txBox="1"/>
          <p:nvPr/>
        </p:nvSpPr>
        <p:spPr>
          <a:xfrm>
            <a:off x="1618972" y="2807642"/>
            <a:ext cx="1200847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 KV caching, the runtime reuses prior key/value (K/V) tensors and supplies</a:t>
            </a:r>
            <a:r>
              <a:rPr sz="2710" b="0" i="0">
                <a:solidFill>
                  <a:srgbClr val="000000"/>
                </a:solidFill>
                <a:latin typeface="Latin Modern Sans"/>
              </a:rPr>
              <a:t> next-step inputs; resident weights do not replace this state. [31]</a:t>
            </a:r>
          </a:p>
        </p:txBody>
      </p:sp>
      <p:sp>
        <p:nvSpPr>
          <p:cNvPr id="6" name="PDF_TEXT_GROUP_325"/>
          <p:cNvSpPr txBox="1"/>
          <p:nvPr/>
        </p:nvSpPr>
        <p:spPr>
          <a:xfrm>
            <a:off x="1618972" y="377990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in-process test does not establish correct execution across processes or devices.</a:t>
            </a:r>
          </a:p>
        </p:txBody>
      </p:sp>
      <p:sp>
        <p:nvSpPr>
          <p:cNvPr id="7" name="PDF_TEXT_GROUP_326"/>
          <p:cNvSpPr txBox="1"/>
          <p:nvPr/>
        </p:nvSpPr>
        <p:spPr>
          <a:xfrm>
            <a:off x="1618972" y="4314338"/>
            <a:ext cx="115503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327"/>
          <p:cNvSpPr txBox="1"/>
          <p:nvPr/>
        </p:nvSpPr>
        <p:spPr>
          <a:xfrm>
            <a:off x="1143656" y="5839485"/>
            <a:ext cx="1210831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validate the newer distributed inference</a:t>
            </a:r>
            <a:r>
              <a:rPr sz="2710" b="0" i="0">
                <a:solidFill>
                  <a:srgbClr val="000000"/>
                </a:solidFill>
                <a:latin typeface="Latin Modern Sans"/>
              </a:rPr>
              <a:t> and recovery paths. [28]</a:t>
            </a:r>
          </a:p>
        </p:txBody>
      </p:sp>
      <p:sp>
        <p:nvSpPr>
          <p:cNvPr id="9" name="PDF_TEXT_GROUP_32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2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3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3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3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26/40</a:t>
            </a:r>
          </a:p>
        </p:txBody>
      </p:sp>
      <p:sp>
        <p:nvSpPr>
          <p:cNvPr id="14" name="PDF_BULLET_SPAN_488"/>
          <p:cNvSpPr/>
          <p:nvPr/>
        </p:nvSpPr>
        <p:spPr>
          <a:xfrm rot="5400000">
            <a:off x="1207424" y="192116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91"/>
          <p:cNvSpPr/>
          <p:nvPr/>
        </p:nvSpPr>
        <p:spPr>
          <a:xfrm rot="5400000">
            <a:off x="1207424" y="289343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94"/>
          <p:cNvSpPr/>
          <p:nvPr/>
        </p:nvSpPr>
        <p:spPr>
          <a:xfrm rot="5400000">
            <a:off x="1207424" y="38657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96"/>
          <p:cNvSpPr/>
          <p:nvPr/>
        </p:nvSpPr>
        <p:spPr>
          <a:xfrm rot="5400000">
            <a:off x="1207424" y="440012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3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334"/>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335"/>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336"/>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337"/>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338"/>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33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4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4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4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4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27/40</a:t>
            </a:r>
          </a:p>
        </p:txBody>
      </p:sp>
      <p:sp>
        <p:nvSpPr>
          <p:cNvPr id="14" name="PDF_BULLET_SPAN_507"/>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510"/>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13"/>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16"/>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4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Completion under Different Coverage Conditions</a:t>
            </a:r>
          </a:p>
        </p:txBody>
      </p:sp>
      <p:sp>
        <p:nvSpPr>
          <p:cNvPr id="4" name="PDF_TEXT_GROUP_345"/>
          <p:cNvSpPr txBox="1"/>
          <p:nvPr/>
        </p:nvSpPr>
        <p:spPr>
          <a:xfrm>
            <a:off x="914808" y="1713575"/>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346"/>
          <p:cNvSpPr txBox="1"/>
          <p:nvPr/>
        </p:nvSpPr>
        <p:spPr>
          <a:xfrm>
            <a:off x="1107736" y="2226546"/>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347"/>
          <p:cNvSpPr txBox="1"/>
          <p:nvPr/>
        </p:nvSpPr>
        <p:spPr>
          <a:xfrm>
            <a:off x="9386102" y="2226546"/>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348"/>
          <p:cNvSpPr txBox="1"/>
          <p:nvPr/>
        </p:nvSpPr>
        <p:spPr>
          <a:xfrm>
            <a:off x="11203250" y="2226546"/>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349"/>
          <p:cNvSpPr txBox="1"/>
          <p:nvPr/>
        </p:nvSpPr>
        <p:spPr>
          <a:xfrm>
            <a:off x="12917479" y="2226546"/>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350"/>
          <p:cNvSpPr txBox="1"/>
          <p:nvPr/>
        </p:nvSpPr>
        <p:spPr>
          <a:xfrm>
            <a:off x="1107736" y="2794906"/>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351"/>
          <p:cNvSpPr txBox="1"/>
          <p:nvPr/>
        </p:nvSpPr>
        <p:spPr>
          <a:xfrm>
            <a:off x="9435295"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352"/>
          <p:cNvSpPr txBox="1"/>
          <p:nvPr/>
        </p:nvSpPr>
        <p:spPr>
          <a:xfrm>
            <a:off x="10982171"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353"/>
          <p:cNvSpPr txBox="1"/>
          <p:nvPr/>
        </p:nvSpPr>
        <p:spPr>
          <a:xfrm>
            <a:off x="12529048"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354"/>
          <p:cNvSpPr txBox="1"/>
          <p:nvPr/>
        </p:nvSpPr>
        <p:spPr>
          <a:xfrm>
            <a:off x="1107736" y="336326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355"/>
          <p:cNvSpPr txBox="1"/>
          <p:nvPr/>
        </p:nvSpPr>
        <p:spPr>
          <a:xfrm>
            <a:off x="9435295"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356"/>
          <p:cNvSpPr txBox="1"/>
          <p:nvPr/>
        </p:nvSpPr>
        <p:spPr>
          <a:xfrm>
            <a:off x="10982171"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357"/>
          <p:cNvSpPr txBox="1"/>
          <p:nvPr/>
        </p:nvSpPr>
        <p:spPr>
          <a:xfrm>
            <a:off x="12529048"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358"/>
          <p:cNvSpPr txBox="1"/>
          <p:nvPr/>
        </p:nvSpPr>
        <p:spPr>
          <a:xfrm>
            <a:off x="1107736" y="393162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359"/>
          <p:cNvSpPr txBox="1"/>
          <p:nvPr/>
        </p:nvSpPr>
        <p:spPr>
          <a:xfrm>
            <a:off x="9274534"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360"/>
          <p:cNvSpPr txBox="1"/>
          <p:nvPr/>
        </p:nvSpPr>
        <p:spPr>
          <a:xfrm>
            <a:off x="10821410"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361"/>
          <p:cNvSpPr txBox="1"/>
          <p:nvPr/>
        </p:nvSpPr>
        <p:spPr>
          <a:xfrm>
            <a:off x="12368286"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362"/>
          <p:cNvSpPr txBox="1"/>
          <p:nvPr/>
        </p:nvSpPr>
        <p:spPr>
          <a:xfrm>
            <a:off x="1123808" y="5179411"/>
            <a:ext cx="1137644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overall NDNSF advantage is established. The next slide uses a separate holdout</a:t>
            </a:r>
            <a:r>
              <a:rPr sz="2371" b="0" i="0">
                <a:solidFill>
                  <a:srgbClr val="000000"/>
                </a:solidFill>
                <a:latin typeface="Latin Modern Sans"/>
              </a:rPr>
              <a:t> campaign (seeds 72–81), not a subset of these runs.</a:t>
            </a:r>
          </a:p>
        </p:txBody>
      </p:sp>
      <p:sp>
        <p:nvSpPr>
          <p:cNvPr id="22" name="PDF_TEXT_GROUP_36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36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36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36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36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6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369"/>
          <p:cNvSpPr txBox="1"/>
          <p:nvPr/>
        </p:nvSpPr>
        <p:spPr>
          <a:xfrm>
            <a:off x="914808" y="1808162"/>
            <a:ext cx="131053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Seeds 72–81; four Providers/system; 100 m, 2 m/s; 1,312 aligned switching requests. [28]</a:t>
            </a:r>
          </a:p>
        </p:txBody>
      </p:sp>
      <p:sp>
        <p:nvSpPr>
          <p:cNvPr id="5" name="PDF_TEXT_GROUP_370"/>
          <p:cNvSpPr txBox="1"/>
          <p:nvPr/>
        </p:nvSpPr>
        <p:spPr>
          <a:xfrm>
            <a:off x="1107736" y="2321133"/>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371"/>
          <p:cNvSpPr txBox="1"/>
          <p:nvPr/>
        </p:nvSpPr>
        <p:spPr>
          <a:xfrm>
            <a:off x="7937869" y="2321133"/>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372"/>
          <p:cNvSpPr txBox="1"/>
          <p:nvPr/>
        </p:nvSpPr>
        <p:spPr>
          <a:xfrm>
            <a:off x="12538050" y="2321133"/>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373"/>
          <p:cNvSpPr txBox="1"/>
          <p:nvPr/>
        </p:nvSpPr>
        <p:spPr>
          <a:xfrm>
            <a:off x="9330171" y="2871464"/>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375"/>
          <p:cNvSpPr txBox="1"/>
          <p:nvPr/>
        </p:nvSpPr>
        <p:spPr>
          <a:xfrm>
            <a:off x="1107736" y="2889492"/>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374"/>
          <p:cNvSpPr txBox="1"/>
          <p:nvPr/>
        </p:nvSpPr>
        <p:spPr>
          <a:xfrm>
            <a:off x="11255736" y="2871464"/>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376"/>
          <p:cNvSpPr txBox="1"/>
          <p:nvPr/>
        </p:nvSpPr>
        <p:spPr>
          <a:xfrm>
            <a:off x="9169388" y="3439823"/>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378"/>
          <p:cNvSpPr txBox="1"/>
          <p:nvPr/>
        </p:nvSpPr>
        <p:spPr>
          <a:xfrm>
            <a:off x="1107736" y="3457852"/>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377"/>
          <p:cNvSpPr txBox="1"/>
          <p:nvPr/>
        </p:nvSpPr>
        <p:spPr>
          <a:xfrm>
            <a:off x="10934201" y="3439823"/>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379"/>
          <p:cNvSpPr txBox="1"/>
          <p:nvPr/>
        </p:nvSpPr>
        <p:spPr>
          <a:xfrm>
            <a:off x="914808" y="4300147"/>
            <a:ext cx="100171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NDNSF 1,311; gRPC 1,297; NSC 1,296 (of 1,312 each).</a:t>
            </a:r>
          </a:p>
        </p:txBody>
      </p:sp>
      <p:sp>
        <p:nvSpPr>
          <p:cNvPr id="15" name="PDF_TEXT_GROUP_380"/>
          <p:cNvSpPr txBox="1"/>
          <p:nvPr/>
        </p:nvSpPr>
        <p:spPr>
          <a:xfrm>
            <a:off x="1123808" y="5238612"/>
            <a:ext cx="1251746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paired seed-p95 differences; each p95 uses that system’s successful requests. Different</a:t>
            </a:r>
            <a:r>
              <a:rPr sz="2371" b="0" i="0">
                <a:solidFill>
                  <a:srgbClr val="000000"/>
                </a:solidFill>
                <a:latin typeface="Latin Modern Sans"/>
              </a:rPr>
              <a:t> failures limit the comparison; no general advantage is inferred.</a:t>
            </a:r>
          </a:p>
        </p:txBody>
      </p:sp>
      <p:sp>
        <p:nvSpPr>
          <p:cNvPr id="16" name="PDF_TEXT_GROUP_3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3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3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38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38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Fewer Execution Starts than the Parallel Baseline</a:t>
            </a:r>
          </a:p>
        </p:txBody>
      </p:sp>
      <p:sp>
        <p:nvSpPr>
          <p:cNvPr id="4" name="PDF_TEXT_GROUP_387"/>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388"/>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389"/>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390"/>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391"/>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392"/>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393"/>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394"/>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395"/>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396"/>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397"/>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398"/>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399"/>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4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0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4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406"/>
          <p:cNvSpPr txBox="1"/>
          <p:nvPr/>
        </p:nvSpPr>
        <p:spPr>
          <a:xfrm>
            <a:off x="914808" y="1710893"/>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407"/>
          <p:cNvSpPr txBox="1"/>
          <p:nvPr/>
        </p:nvSpPr>
        <p:spPr>
          <a:xfrm>
            <a:off x="1107736" y="2223864"/>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408"/>
          <p:cNvSpPr txBox="1"/>
          <p:nvPr/>
        </p:nvSpPr>
        <p:spPr>
          <a:xfrm>
            <a:off x="10125828" y="2223864"/>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409"/>
          <p:cNvSpPr txBox="1"/>
          <p:nvPr/>
        </p:nvSpPr>
        <p:spPr>
          <a:xfrm>
            <a:off x="13041715" y="2223864"/>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410"/>
          <p:cNvSpPr txBox="1"/>
          <p:nvPr/>
        </p:nvSpPr>
        <p:spPr>
          <a:xfrm>
            <a:off x="1107736" y="2792224"/>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411"/>
          <p:cNvSpPr txBox="1"/>
          <p:nvPr/>
        </p:nvSpPr>
        <p:spPr>
          <a:xfrm>
            <a:off x="10707109"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412"/>
          <p:cNvSpPr txBox="1"/>
          <p:nvPr/>
        </p:nvSpPr>
        <p:spPr>
          <a:xfrm>
            <a:off x="12311023"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413"/>
          <p:cNvSpPr txBox="1"/>
          <p:nvPr/>
        </p:nvSpPr>
        <p:spPr>
          <a:xfrm>
            <a:off x="1107736" y="3360583"/>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414"/>
          <p:cNvSpPr txBox="1"/>
          <p:nvPr/>
        </p:nvSpPr>
        <p:spPr>
          <a:xfrm>
            <a:off x="10707109" y="3360583"/>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415"/>
          <p:cNvSpPr txBox="1"/>
          <p:nvPr/>
        </p:nvSpPr>
        <p:spPr>
          <a:xfrm>
            <a:off x="12311023" y="3360583"/>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416"/>
          <p:cNvSpPr txBox="1"/>
          <p:nvPr/>
        </p:nvSpPr>
        <p:spPr>
          <a:xfrm>
            <a:off x="1123808" y="4621909"/>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417"/>
          <p:cNvSpPr txBox="1"/>
          <p:nvPr/>
        </p:nvSpPr>
        <p:spPr>
          <a:xfrm>
            <a:off x="914808" y="6077766"/>
            <a:ext cx="136991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Retained historical diagnostic; raw-run/model provenance remains to be rechecked. Not evidence for the newer</a:t>
            </a:r>
          </a:p>
        </p:txBody>
      </p:sp>
      <p:sp>
        <p:nvSpPr>
          <p:cNvPr id="16" name="PDF_TEXT_GROUP_418"/>
          <p:cNvSpPr txBox="1"/>
          <p:nvPr/>
        </p:nvSpPr>
        <p:spPr>
          <a:xfrm>
            <a:off x="914808" y="6566824"/>
            <a:ext cx="225620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distributed design.</a:t>
            </a:r>
          </a:p>
        </p:txBody>
      </p:sp>
      <p:sp>
        <p:nvSpPr>
          <p:cNvPr id="17" name="PDF_TEXT_GROUP_41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2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2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2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2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42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425"/>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426"/>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427"/>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428"/>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429"/>
          <p:cNvSpPr txBox="1"/>
          <p:nvPr/>
        </p:nvSpPr>
        <p:spPr>
          <a:xfrm>
            <a:off x="2646188" y="1969156"/>
            <a:ext cx="44075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Full authorization alternatives;</a:t>
            </a:r>
          </a:p>
        </p:txBody>
      </p:sp>
      <p:sp>
        <p:nvSpPr>
          <p:cNvPr id="9" name="PDF_TEXT_GROUP_430"/>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431"/>
          <p:cNvSpPr txBox="1"/>
          <p:nvPr/>
        </p:nvSpPr>
        <p:spPr>
          <a:xfrm>
            <a:off x="2646187" y="2355484"/>
            <a:ext cx="53765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unauthorized call, challenge/replay and</a:t>
            </a:r>
            <a:r>
              <a:rPr sz="2371" b="0" i="0">
                <a:solidFill>
                  <a:srgbClr val="000000"/>
                </a:solidFill>
                <a:latin typeface="Latin Modern Sans"/>
              </a:rPr>
              <a:t> withdrawal cases</a:t>
            </a:r>
          </a:p>
        </p:txBody>
      </p:sp>
      <p:sp>
        <p:nvSpPr>
          <p:cNvPr id="11" name="PDF_TEXT_GROUP_432"/>
          <p:cNvSpPr txBox="1"/>
          <p:nvPr/>
        </p:nvSpPr>
        <p:spPr>
          <a:xfrm>
            <a:off x="8280720" y="2355484"/>
            <a:ext cx="52701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r>
              <a:rPr sz="2371" b="0" i="0">
                <a:solidFill>
                  <a:srgbClr val="000000"/>
                </a:solidFill>
                <a:latin typeface="Latin Modern Sans"/>
              </a:rPr>
              <a:t> delay and rekey traffic</a:t>
            </a:r>
          </a:p>
        </p:txBody>
      </p:sp>
      <p:sp>
        <p:nvSpPr>
          <p:cNvPr id="12" name="PDF_TEXT_GROUP_433"/>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3" name="PDF_TEXT_GROUP_434"/>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4" name="PDF_TEXT_GROUP_435"/>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5" name="PDF_TEXT_GROUP_436"/>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6" name="PDF_TEXT_GROUP_437"/>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7" name="PDF_TEXT_GROUP_438"/>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18" name="PDF_TEXT_GROUP_439"/>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19" name="PDF_TEXT_GROUP_440"/>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0" name="PDF_TEXT_GROUP_441"/>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1" name="PDF_TEXT_GROUP_442"/>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2" name="PDF_TEXT_GROUP_443"/>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3" name="PDF_TEXT_GROUP_44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4" name="PDF_TEXT_GROUP_44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5" name="PDF_TEXT_GROUP_44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6" name="PDF_TEXT_GROUP_44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7" name="PDF_TEXT_GROUP_44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4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450"/>
          <p:cNvSpPr txBox="1"/>
          <p:nvPr/>
        </p:nvSpPr>
        <p:spPr>
          <a:xfrm>
            <a:off x="1107736" y="1242581"/>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451"/>
          <p:cNvSpPr txBox="1"/>
          <p:nvPr/>
        </p:nvSpPr>
        <p:spPr>
          <a:xfrm>
            <a:off x="4695540" y="1242581"/>
            <a:ext cx="2904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deliverable</a:t>
            </a:r>
          </a:p>
        </p:txBody>
      </p:sp>
      <p:sp>
        <p:nvSpPr>
          <p:cNvPr id="6" name="PDF_TEXT_GROUP_452"/>
          <p:cNvSpPr txBox="1"/>
          <p:nvPr/>
        </p:nvSpPr>
        <p:spPr>
          <a:xfrm>
            <a:off x="1107736" y="1810941"/>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453"/>
          <p:cNvSpPr txBox="1"/>
          <p:nvPr/>
        </p:nvSpPr>
        <p:spPr>
          <a:xfrm>
            <a:off x="4695454" y="1810941"/>
            <a:ext cx="854517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454"/>
          <p:cNvSpPr txBox="1"/>
          <p:nvPr/>
        </p:nvSpPr>
        <p:spPr>
          <a:xfrm>
            <a:off x="1107736" y="2765661"/>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455"/>
          <p:cNvSpPr txBox="1"/>
          <p:nvPr/>
        </p:nvSpPr>
        <p:spPr>
          <a:xfrm>
            <a:off x="4695454" y="2765661"/>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456"/>
          <p:cNvSpPr txBox="1"/>
          <p:nvPr/>
        </p:nvSpPr>
        <p:spPr>
          <a:xfrm>
            <a:off x="1107736" y="3720348"/>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457"/>
          <p:cNvSpPr txBox="1"/>
          <p:nvPr/>
        </p:nvSpPr>
        <p:spPr>
          <a:xfrm>
            <a:off x="4695283" y="3720348"/>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458"/>
          <p:cNvSpPr txBox="1"/>
          <p:nvPr/>
        </p:nvSpPr>
        <p:spPr>
          <a:xfrm>
            <a:off x="1107736" y="4288708"/>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459"/>
          <p:cNvSpPr txBox="1"/>
          <p:nvPr/>
        </p:nvSpPr>
        <p:spPr>
          <a:xfrm>
            <a:off x="4695412" y="4288708"/>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460"/>
          <p:cNvSpPr txBox="1"/>
          <p:nvPr/>
        </p:nvSpPr>
        <p:spPr>
          <a:xfrm>
            <a:off x="1107736" y="5243395"/>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461"/>
          <p:cNvSpPr txBox="1"/>
          <p:nvPr/>
        </p:nvSpPr>
        <p:spPr>
          <a:xfrm>
            <a:off x="4695379" y="5243395"/>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462"/>
          <p:cNvSpPr txBox="1"/>
          <p:nvPr/>
        </p:nvSpPr>
        <p:spPr>
          <a:xfrm>
            <a:off x="1123808" y="6138299"/>
            <a:ext cx="1222577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draft: two weeks before defense. Spring 2027 application/candidacy: February</a:t>
            </a:r>
            <a:r>
              <a:rPr sz="2371" b="0" i="0">
                <a:solidFill>
                  <a:srgbClr val="000000"/>
                </a:solidFill>
                <a:latin typeface="Latin Modern Sans"/>
              </a:rPr>
              <a:t> 5; final ProQuest: March 26. Recheck before filing. [29,30]</a:t>
            </a:r>
          </a:p>
        </p:txBody>
      </p:sp>
      <p:sp>
        <p:nvSpPr>
          <p:cNvPr id="17" name="PDF_TEXT_GROUP_46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6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6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6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6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6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Expected Research Outcomes</a:t>
            </a:r>
          </a:p>
        </p:txBody>
      </p:sp>
      <p:sp>
        <p:nvSpPr>
          <p:cNvPr id="4" name="PDF_TEXT_GROUP_469"/>
          <p:cNvSpPr txBox="1"/>
          <p:nvPr/>
        </p:nvSpPr>
        <p:spPr>
          <a:xfrm>
            <a:off x="1618972" y="1953132"/>
            <a:ext cx="1054900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ABE-encrypted discovery and ABE-backed service</a:t>
            </a:r>
            <a:r>
              <a:rPr sz="2710" b="0" i="0">
                <a:solidFill>
                  <a:srgbClr val="000000"/>
                </a:solidFill>
                <a:latin typeface="Latin Modern Sans"/>
              </a:rPr>
              <a:t> authorization justify their management and revocation costs.</a:t>
            </a:r>
          </a:p>
        </p:txBody>
      </p:sp>
      <p:sp>
        <p:nvSpPr>
          <p:cNvPr id="5" name="PDF_TEXT_GROUP_470"/>
          <p:cNvSpPr txBox="1"/>
          <p:nvPr/>
        </p:nvSpPr>
        <p:spPr>
          <a:xfrm>
            <a:off x="1618972" y="2925399"/>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471"/>
          <p:cNvSpPr txBox="1"/>
          <p:nvPr/>
        </p:nvSpPr>
        <p:spPr>
          <a:xfrm>
            <a:off x="1618972" y="3897666"/>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472"/>
          <p:cNvSpPr txBox="1"/>
          <p:nvPr/>
        </p:nvSpPr>
        <p:spPr>
          <a:xfrm>
            <a:off x="1618972" y="4432094"/>
            <a:ext cx="115727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Reproducible configurations and evidence linking each conclusion to its tested</a:t>
            </a:r>
            <a:r>
              <a:rPr sz="2710" b="0" i="0">
                <a:solidFill>
                  <a:srgbClr val="000000"/>
                </a:solidFill>
                <a:latin typeface="Latin Modern Sans"/>
              </a:rPr>
              <a:t> scope.</a:t>
            </a:r>
          </a:p>
        </p:txBody>
      </p:sp>
      <p:sp>
        <p:nvSpPr>
          <p:cNvPr id="8" name="PDF_TEXT_GROUP_473"/>
          <p:cNvSpPr txBox="1"/>
          <p:nvPr/>
        </p:nvSpPr>
        <p:spPr>
          <a:xfrm>
            <a:off x="1143656" y="5750974"/>
            <a:ext cx="12248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outcome is a tested service protocol and an evidence-backed account of when</a:t>
            </a:r>
            <a:r>
              <a:rPr sz="2710" b="0" i="0">
                <a:solidFill>
                  <a:srgbClr val="000000"/>
                </a:solidFill>
                <a:latin typeface="Latin Modern Sans"/>
              </a:rPr>
              <a:t> its mechanisms are worth their cost.</a:t>
            </a:r>
          </a:p>
        </p:txBody>
      </p:sp>
      <p:sp>
        <p:nvSpPr>
          <p:cNvPr id="9" name="PDF_TEXT_GROUP_47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7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7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7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7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34/40</a:t>
            </a:r>
          </a:p>
        </p:txBody>
      </p:sp>
      <p:sp>
        <p:nvSpPr>
          <p:cNvPr id="14" name="PDF_BULLET_SPAN_681"/>
          <p:cNvSpPr/>
          <p:nvPr/>
        </p:nvSpPr>
        <p:spPr>
          <a:xfrm rot="5400000">
            <a:off x="1207424" y="203892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85"/>
          <p:cNvSpPr/>
          <p:nvPr/>
        </p:nvSpPr>
        <p:spPr>
          <a:xfrm rot="5400000">
            <a:off x="1207424" y="301119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89"/>
          <p:cNvSpPr/>
          <p:nvPr/>
        </p:nvSpPr>
        <p:spPr>
          <a:xfrm rot="5400000">
            <a:off x="1207424" y="398345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92"/>
          <p:cNvSpPr/>
          <p:nvPr/>
        </p:nvSpPr>
        <p:spPr>
          <a:xfrm rot="5400000">
            <a:off x="1207424" y="451788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7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480"/>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481"/>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482"/>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483"/>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484"/>
          <p:cNvSpPr txBox="1"/>
          <p:nvPr/>
        </p:nvSpPr>
        <p:spPr>
          <a:xfrm>
            <a:off x="1143656" y="5445401"/>
            <a:ext cx="1108073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evaluate runtime discovery and authorized invocation; extend the</a:t>
            </a:r>
            <a:r>
              <a:rPr sz="2710" b="0" i="0">
                <a:solidFill>
                  <a:srgbClr val="000000"/>
                </a:solidFill>
                <a:latin typeface="Latin Modern Sans"/>
              </a:rPr>
              <a:t> foundation to role-aware collaboration.</a:t>
            </a:r>
          </a:p>
        </p:txBody>
      </p:sp>
      <p:sp>
        <p:nvSpPr>
          <p:cNvPr id="9" name="PDF_TEXT_GROUP_48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8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8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8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8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49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491"/>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492"/>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493"/>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494"/>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495"/>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496"/>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497"/>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498"/>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499"/>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5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5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5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5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50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37.png"/>
          <p:cNvPicPr>
            <a:picLocks noChangeAspect="1"/>
          </p:cNvPicPr>
          <p:nvPr/>
        </p:nvPicPr>
        <p:blipFill>
          <a:blip r:embed="rId2"/>
          <a:stretch>
            <a:fillRect/>
          </a:stretch>
        </p:blipFill>
        <p:spPr>
          <a:xfrm>
            <a:off x="0" y="0"/>
            <a:ext cx="14630400" cy="8229600"/>
          </a:xfrm>
          <a:prstGeom prst="rect">
            <a:avLst/>
          </a:prstGeom>
        </p:spPr>
      </p:pic>
      <p:sp>
        <p:nvSpPr>
          <p:cNvPr id="3" name="PDF_TEXT_GROUP_5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506"/>
          <p:cNvSpPr txBox="1"/>
          <p:nvPr/>
        </p:nvSpPr>
        <p:spPr>
          <a:xfrm>
            <a:off x="1107736" y="1909567"/>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507"/>
          <p:cNvSpPr txBox="1"/>
          <p:nvPr/>
        </p:nvSpPr>
        <p:spPr>
          <a:xfrm>
            <a:off x="9804981" y="1909567"/>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508"/>
          <p:cNvSpPr txBox="1"/>
          <p:nvPr/>
        </p:nvSpPr>
        <p:spPr>
          <a:xfrm>
            <a:off x="1107736" y="247792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509"/>
          <p:cNvSpPr txBox="1"/>
          <p:nvPr/>
        </p:nvSpPr>
        <p:spPr>
          <a:xfrm>
            <a:off x="12189748" y="247792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510"/>
          <p:cNvSpPr txBox="1"/>
          <p:nvPr/>
        </p:nvSpPr>
        <p:spPr>
          <a:xfrm>
            <a:off x="1107736" y="304628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511"/>
          <p:cNvSpPr txBox="1"/>
          <p:nvPr/>
        </p:nvSpPr>
        <p:spPr>
          <a:xfrm>
            <a:off x="12189748" y="304628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512"/>
          <p:cNvSpPr txBox="1"/>
          <p:nvPr/>
        </p:nvSpPr>
        <p:spPr>
          <a:xfrm>
            <a:off x="1107736" y="3614645"/>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513"/>
          <p:cNvSpPr txBox="1"/>
          <p:nvPr/>
        </p:nvSpPr>
        <p:spPr>
          <a:xfrm>
            <a:off x="12189681" y="3614645"/>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514"/>
          <p:cNvSpPr txBox="1"/>
          <p:nvPr/>
        </p:nvSpPr>
        <p:spPr>
          <a:xfrm>
            <a:off x="1123808" y="4496010"/>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515"/>
          <p:cNvSpPr txBox="1"/>
          <p:nvPr/>
        </p:nvSpPr>
        <p:spPr>
          <a:xfrm>
            <a:off x="914808" y="5969769"/>
            <a:ext cx="1367892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Per-link packet loss is not the probability of service failure: retrieval retries and the request deadline also affect</a:t>
            </a:r>
          </a:p>
        </p:txBody>
      </p:sp>
      <p:sp>
        <p:nvSpPr>
          <p:cNvPr id="14" name="PDF_TEXT_GROUP_516"/>
          <p:cNvSpPr txBox="1"/>
          <p:nvPr/>
        </p:nvSpPr>
        <p:spPr>
          <a:xfrm>
            <a:off x="914808" y="6458795"/>
            <a:ext cx="14625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completion.</a:t>
            </a:r>
          </a:p>
        </p:txBody>
      </p:sp>
      <p:sp>
        <p:nvSpPr>
          <p:cNvPr id="15" name="PDF_TEXT_GROUP_5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2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523"/>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524"/>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525"/>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526"/>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527"/>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528"/>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529"/>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530"/>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531"/>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532"/>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533"/>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53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3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3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3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3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3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540"/>
          <p:cNvSpPr txBox="1"/>
          <p:nvPr/>
        </p:nvSpPr>
        <p:spPr>
          <a:xfrm>
            <a:off x="1122356" y="2265544"/>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541"/>
          <p:cNvSpPr txBox="1"/>
          <p:nvPr/>
        </p:nvSpPr>
        <p:spPr>
          <a:xfrm>
            <a:off x="1122356" y="2681311"/>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542"/>
          <p:cNvSpPr txBox="1"/>
          <p:nvPr/>
        </p:nvSpPr>
        <p:spPr>
          <a:xfrm>
            <a:off x="1122356" y="3097079"/>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543"/>
          <p:cNvSpPr txBox="1"/>
          <p:nvPr/>
        </p:nvSpPr>
        <p:spPr>
          <a:xfrm>
            <a:off x="985712" y="3512846"/>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544"/>
          <p:cNvSpPr txBox="1"/>
          <p:nvPr/>
        </p:nvSpPr>
        <p:spPr>
          <a:xfrm>
            <a:off x="1582632" y="3818677"/>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545"/>
          <p:cNvSpPr txBox="1"/>
          <p:nvPr/>
        </p:nvSpPr>
        <p:spPr>
          <a:xfrm>
            <a:off x="985712" y="423444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CaSCON, SMARTCOMP 2025. Primary publication record: RIT, “Barrios presents at IEEE SmartComp.”</a:t>
            </a:r>
          </a:p>
        </p:txBody>
      </p:sp>
      <p:sp>
        <p:nvSpPr>
          <p:cNvPr id="10" name="PDF_TEXT_GROUP_546"/>
          <p:cNvSpPr txBox="1"/>
          <p:nvPr/>
        </p:nvSpPr>
        <p:spPr>
          <a:xfrm>
            <a:off x="1582632" y="4540307"/>
            <a:ext cx="72887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Full feature-level comparison remains a research obligation.</a:t>
            </a:r>
          </a:p>
        </p:txBody>
      </p:sp>
      <p:sp>
        <p:nvSpPr>
          <p:cNvPr id="11" name="PDF_TEXT_GROUP_547"/>
          <p:cNvSpPr txBox="1"/>
          <p:nvPr/>
        </p:nvSpPr>
        <p:spPr>
          <a:xfrm>
            <a:off x="985712" y="4956074"/>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548"/>
          <p:cNvSpPr txBox="1"/>
          <p:nvPr/>
        </p:nvSpPr>
        <p:spPr>
          <a:xfrm>
            <a:off x="985712" y="5371809"/>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549"/>
          <p:cNvSpPr txBox="1"/>
          <p:nvPr/>
        </p:nvSpPr>
        <p:spPr>
          <a:xfrm>
            <a:off x="1582632" y="5677672"/>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55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5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5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5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5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0"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5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556"/>
          <p:cNvSpPr txBox="1"/>
          <p:nvPr/>
        </p:nvSpPr>
        <p:spPr>
          <a:xfrm>
            <a:off x="985712" y="1976905"/>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557"/>
          <p:cNvSpPr txBox="1"/>
          <p:nvPr/>
        </p:nvSpPr>
        <p:spPr>
          <a:xfrm>
            <a:off x="985712" y="2392672"/>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558"/>
          <p:cNvSpPr txBox="1"/>
          <p:nvPr/>
        </p:nvSpPr>
        <p:spPr>
          <a:xfrm>
            <a:off x="985712" y="280843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559"/>
          <p:cNvSpPr txBox="1"/>
          <p:nvPr/>
        </p:nvSpPr>
        <p:spPr>
          <a:xfrm>
            <a:off x="985712" y="3224174"/>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560"/>
          <p:cNvSpPr txBox="1"/>
          <p:nvPr/>
        </p:nvSpPr>
        <p:spPr>
          <a:xfrm>
            <a:off x="985712" y="3639941"/>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561"/>
          <p:cNvSpPr txBox="1"/>
          <p:nvPr/>
        </p:nvSpPr>
        <p:spPr>
          <a:xfrm>
            <a:off x="1582632" y="3945805"/>
            <a:ext cx="61374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unresolved acceptance gates.</a:t>
            </a:r>
          </a:p>
        </p:txBody>
      </p:sp>
      <p:sp>
        <p:nvSpPr>
          <p:cNvPr id="10" name="PDF_TEXT_GROUP_562"/>
          <p:cNvSpPr txBox="1"/>
          <p:nvPr/>
        </p:nvSpPr>
        <p:spPr>
          <a:xfrm>
            <a:off x="985712" y="4361572"/>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563"/>
          <p:cNvSpPr txBox="1"/>
          <p:nvPr/>
        </p:nvSpPr>
        <p:spPr>
          <a:xfrm>
            <a:off x="1582632" y="4667403"/>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564"/>
          <p:cNvSpPr txBox="1"/>
          <p:nvPr/>
        </p:nvSpPr>
        <p:spPr>
          <a:xfrm>
            <a:off x="985712" y="5083170"/>
            <a:ext cx="12901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“Graduation Information,” Spring 2027 calendar (accessed</a:t>
            </a:r>
          </a:p>
        </p:txBody>
      </p:sp>
      <p:sp>
        <p:nvSpPr>
          <p:cNvPr id="13" name="PDF_TEXT_GROUP_565"/>
          <p:cNvSpPr txBox="1"/>
          <p:nvPr/>
        </p:nvSpPr>
        <p:spPr>
          <a:xfrm>
            <a:off x="1582632" y="5389033"/>
            <a:ext cx="25258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9, 2026).</a:t>
            </a:r>
          </a:p>
        </p:txBody>
      </p:sp>
      <p:sp>
        <p:nvSpPr>
          <p:cNvPr id="14" name="PDF_TEXT_GROUP_566"/>
          <p:cNvSpPr txBox="1"/>
          <p:nvPr/>
        </p:nvSpPr>
        <p:spPr>
          <a:xfrm>
            <a:off x="985712" y="5804800"/>
            <a:ext cx="1293287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[31]</a:t>
            </a:r>
            <a:r>
              <a:rPr sz="1863" b="0" i="0">
                <a:solidFill>
                  <a:srgbClr val="000000"/>
                </a:solidFill>
                <a:latin typeface="Latin Modern Sans"/>
              </a:rPr>
              <a:t> ONNX Runtime, “How to configure the past present share buffer,” GenAI documentation (accessed</a:t>
            </a:r>
          </a:p>
        </p:txBody>
      </p:sp>
      <p:sp>
        <p:nvSpPr>
          <p:cNvPr id="15" name="PDF_TEXT_GROUP_567"/>
          <p:cNvSpPr txBox="1"/>
          <p:nvPr/>
        </p:nvSpPr>
        <p:spPr>
          <a:xfrm>
            <a:off x="1582632" y="6110631"/>
            <a:ext cx="26734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11, 2026).</a:t>
            </a:r>
          </a:p>
        </p:txBody>
      </p:sp>
      <p:sp>
        <p:nvSpPr>
          <p:cNvPr id="16" name="PDF_TEXT_GROUP_56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56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7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7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7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40/40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