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3" Type="http://schemas.openxmlformats.org/officeDocument/2006/relationships/presProps" Target="presProps.xml" /><Relationship Id="rId4" Type="http://schemas.openxmlformats.org/officeDocument/2006/relationships/viewProps" Target="viewProps.xml" /><Relationship Id="rId5" Type="http://schemas.openxmlformats.org/officeDocument/2006/relationships/theme" Target="theme/theme1.xml" /><Relationship Id="rId6" Type="http://schemas.openxmlformats.org/officeDocument/2006/relationships/tableStyles" Target="tableStyles.xml" /><Relationship Id="rId7" Type="http://schemas.openxmlformats.org/officeDocument/2006/relationships/slide" Target="slides/slide1.xml" /><Relationship Id="rId8" Type="http://schemas.openxmlformats.org/officeDocument/2006/relationships/slide" Target="slides/slide2.xml" /><Relationship Id="rId9" Type="http://schemas.openxmlformats.org/officeDocument/2006/relationships/slide" Target="slides/slide3.xml" /><Relationship Id="rId10" Type="http://schemas.openxmlformats.org/officeDocument/2006/relationships/slide" Target="slides/slide4.xml" /><Relationship Id="rId11" Type="http://schemas.openxmlformats.org/officeDocument/2006/relationships/slide" Target="slides/slide5.xml" /><Relationship Id="rId12" Type="http://schemas.openxmlformats.org/officeDocument/2006/relationships/slide" Target="slides/slide6.xml" /><Relationship Id="rId13" Type="http://schemas.openxmlformats.org/officeDocument/2006/relationships/slide" Target="slides/slide7.xml" /><Relationship Id="rId14" Type="http://schemas.openxmlformats.org/officeDocument/2006/relationships/slide" Target="slides/slide8.xml" /><Relationship Id="rId15" Type="http://schemas.openxmlformats.org/officeDocument/2006/relationships/slide" Target="slides/slide9.xml" /><Relationship Id="rId16" Type="http://schemas.openxmlformats.org/officeDocument/2006/relationships/slide" Target="slides/slide10.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 Id="rId34" Type="http://schemas.openxmlformats.org/officeDocument/2006/relationships/slide" Target="slides/slide28.xml" /><Relationship Id="rId35" Type="http://schemas.openxmlformats.org/officeDocument/2006/relationships/slide" Target="slides/slide29.xml" /><Relationship Id="rId36" Type="http://schemas.openxmlformats.org/officeDocument/2006/relationships/slide" Target="slides/slide30.xml" /><Relationship Id="rId37" Type="http://schemas.openxmlformats.org/officeDocument/2006/relationships/slide" Target="slides/slide31.xml" /><Relationship Id="rId38" Type="http://schemas.openxmlformats.org/officeDocument/2006/relationships/slide" Target="slides/slide32.xml" /><Relationship Id="rId39" Type="http://schemas.openxmlformats.org/officeDocument/2006/relationships/slide" Target="slides/slide33.xml" /><Relationship Id="rId40" Type="http://schemas.openxmlformats.org/officeDocument/2006/relationships/slide" Target="slides/slide34.xml" /><Relationship Id="rId41" Type="http://schemas.openxmlformats.org/officeDocument/2006/relationships/slide" Target="slides/slide35.xml" /><Relationship Id="rId42" Type="http://schemas.openxmlformats.org/officeDocument/2006/relationships/slide" Target="slides/slide36.xml" /><Relationship Id="rId43" Type="http://schemas.openxmlformats.org/officeDocument/2006/relationships/slide" Target="slides/slide37.xml" /><Relationship Id="rId44" Type="http://schemas.openxmlformats.org/officeDocument/2006/relationships/slide" Target="slides/slide38.xml" /><Relationship Id="rId45" Type="http://schemas.openxmlformats.org/officeDocument/2006/relationships/slide" Target="slides/slide39.xml" /><Relationship Id="rId46" Type="http://schemas.openxmlformats.org/officeDocument/2006/relationships/slide" Target="slides/slide40.xml" /><Relationship Id="rId47" Type="http://schemas.openxmlformats.org/officeDocument/2006/relationships/slide" Target="slides/slide41.xml" /><Relationship Id="rId48" Type="http://schemas.openxmlformats.org/officeDocument/2006/relationships/slide" Target="slides/slide42.xml" /><Relationship Id="rId49" Type="http://schemas.openxmlformats.org/officeDocument/2006/relationships/slide" Target="slides/slide43.xml" /><Relationship Id="rId50" Type="http://schemas.openxmlformats.org/officeDocument/2006/relationships/slide" Target="slides/slide44.xml" /><Relationship Id="rId51" Type="http://schemas.openxmlformats.org/officeDocument/2006/relationships/slide" Target="slides/slide45.xml" /><Relationship Id="rId52" Type="http://schemas.openxmlformats.org/officeDocument/2006/relationships/slide" Target="slides/slide46.xml" /><Relationship Id="rId53" Type="http://schemas.openxmlformats.org/officeDocument/2006/relationships/slide" Target="slides/slide47.xml" /><Relationship Id="rId54" Type="http://schemas.openxmlformats.org/officeDocument/2006/relationships/slide" Target="slides/slide48.xml" /><Relationship Id="rId55" Type="http://schemas.openxmlformats.org/officeDocument/2006/relationships/slide" Target="slides/slide49.xml" /><Relationship Id="rId56"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p:notesStyle>
    <a:lvl1pPr algn="l">
      <a:defRPr sz="1200" kern="1200"/>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slide" Target="../slides/slide1.xml"/>
  <Relationship Id="rId2"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
  <Relationship Id="rId1" Type="http://schemas.openxmlformats.org/officeDocument/2006/relationships/slide" Target="../slides/slide2.xml"/>
  <Relationship Id="rId2"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
  <Relationship Id="rId1" Type="http://schemas.openxmlformats.org/officeDocument/2006/relationships/slide" Target="../slides/slide3.xml"/>
  <Relationship Id="rId2"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
  <Relationship Id="rId1" Type="http://schemas.openxmlformats.org/officeDocument/2006/relationships/slide" Target="../slides/slide4.xml"/>
  <Relationship Id="rId2"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
  <Relationship Id="rId1" Type="http://schemas.openxmlformats.org/officeDocument/2006/relationships/slide" Target="../slides/slide5.xml"/>
  <Relationship Id="rId2"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
  <Relationship Id="rId1" Type="http://schemas.openxmlformats.org/officeDocument/2006/relationships/slide" Target="../slides/slide6.xml"/>
  <Relationship Id="rId2"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
  <Relationship Id="rId1" Type="http://schemas.openxmlformats.org/officeDocument/2006/relationships/slide" Target="../slides/slide7.xml"/>
  <Relationship Id="rId2"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
  <Relationship Id="rId1" Type="http://schemas.openxmlformats.org/officeDocument/2006/relationships/slide" Target="../slides/slide8.xml"/>
  <Relationship Id="rId2"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
  <Relationship Id="rId1" Type="http://schemas.openxmlformats.org/officeDocument/2006/relationships/slide" Target="../slides/slide9.xml"/>
  <Relationship Id="rId2" Type="http://schemas.openxmlformats.org/officeDocument/2006/relationships/notesMaster" Target="../notesMasters/notesMaster1.xml"/>
</Relationships>

</file>

<file path=ppt/notesSlides/_rels/notesSlide10.xml.rels><?xml version="1.0" encoding="UTF-8" standalone="yes"?>
<Relationships xmlns="http://schemas.openxmlformats.org/package/2006/relationships">
  <Relationship Id="rId1" Type="http://schemas.openxmlformats.org/officeDocument/2006/relationships/slide" Target="../slides/slide10.xml"/>
  <Relationship Id="rId2" Type="http://schemas.openxmlformats.org/officeDocument/2006/relationships/notesMaster" Target="../notesMasters/notesMaster1.xml"/>
</Relationships>

</file>

<file path=ppt/notesSlides/_rels/notesSlide11.xml.rels><?xml version="1.0" encoding="UTF-8" standalone="yes"?>
<Relationships xmlns="http://schemas.openxmlformats.org/package/2006/relationships">
  <Relationship Id="rId1" Type="http://schemas.openxmlformats.org/officeDocument/2006/relationships/slide" Target="../slides/slide11.xml"/>
  <Relationship Id="rId2" Type="http://schemas.openxmlformats.org/officeDocument/2006/relationships/notesMaster" Target="../notesMasters/notesMaster1.xml"/>
</Relationships>

</file>

<file path=ppt/notesSlides/_rels/notesSlide12.xml.rels><?xml version="1.0" encoding="UTF-8" standalone="yes"?>
<Relationships xmlns="http://schemas.openxmlformats.org/package/2006/relationships">
  <Relationship Id="rId1" Type="http://schemas.openxmlformats.org/officeDocument/2006/relationships/slide" Target="../slides/slide12.xml"/>
  <Relationship Id="rId2" Type="http://schemas.openxmlformats.org/officeDocument/2006/relationships/notesMaster" Target="../notesMasters/notesMaster1.xml"/>
</Relationships>

</file>

<file path=ppt/notesSlides/_rels/notesSlide13.xml.rels><?xml version="1.0" encoding="UTF-8" standalone="yes"?>
<Relationships xmlns="http://schemas.openxmlformats.org/package/2006/relationships">
  <Relationship Id="rId1" Type="http://schemas.openxmlformats.org/officeDocument/2006/relationships/slide" Target="../slides/slide13.xml"/>
  <Relationship Id="rId2" Type="http://schemas.openxmlformats.org/officeDocument/2006/relationships/notesMaster" Target="../notesMasters/notesMaster1.xml"/>
</Relationships>

</file>

<file path=ppt/notesSlides/_rels/notesSlide14.xml.rels><?xml version="1.0" encoding="UTF-8" standalone="yes"?>
<Relationships xmlns="http://schemas.openxmlformats.org/package/2006/relationships">
  <Relationship Id="rId1" Type="http://schemas.openxmlformats.org/officeDocument/2006/relationships/slide" Target="../slides/slide14.xml"/>
  <Relationship Id="rId2" Type="http://schemas.openxmlformats.org/officeDocument/2006/relationships/notesMaster" Target="../notesMasters/notesMaster1.xml"/>
</Relationships>

</file>

<file path=ppt/notesSlides/_rels/notesSlide15.xml.rels><?xml version="1.0" encoding="UTF-8" standalone="yes"?>
<Relationships xmlns="http://schemas.openxmlformats.org/package/2006/relationships">
  <Relationship Id="rId1" Type="http://schemas.openxmlformats.org/officeDocument/2006/relationships/slide" Target="../slides/slide15.xml"/>
  <Relationship Id="rId2" Type="http://schemas.openxmlformats.org/officeDocument/2006/relationships/notesMaster" Target="../notesMasters/notesMaster1.xml"/>
</Relationships>

</file>

<file path=ppt/notesSlides/_rels/notesSlide16.xml.rels><?xml version="1.0" encoding="UTF-8" standalone="yes"?>
<Relationships xmlns="http://schemas.openxmlformats.org/package/2006/relationships">
  <Relationship Id="rId1" Type="http://schemas.openxmlformats.org/officeDocument/2006/relationships/slide" Target="../slides/slide16.xml"/>
  <Relationship Id="rId2" Type="http://schemas.openxmlformats.org/officeDocument/2006/relationships/notesMaster" Target="../notesMasters/notesMaster1.xml"/>
</Relationships>

</file>

<file path=ppt/notesSlides/_rels/notesSlide17.xml.rels><?xml version="1.0" encoding="UTF-8" standalone="yes"?>
<Relationships xmlns="http://schemas.openxmlformats.org/package/2006/relationships">
  <Relationship Id="rId1" Type="http://schemas.openxmlformats.org/officeDocument/2006/relationships/slide" Target="../slides/slide17.xml"/>
  <Relationship Id="rId2" Type="http://schemas.openxmlformats.org/officeDocument/2006/relationships/notesMaster" Target="../notesMasters/notesMaster1.xml"/>
</Relationships>

</file>

<file path=ppt/notesSlides/_rels/notesSlide18.xml.rels><?xml version="1.0" encoding="UTF-8" standalone="yes"?>
<Relationships xmlns="http://schemas.openxmlformats.org/package/2006/relationships">
  <Relationship Id="rId1" Type="http://schemas.openxmlformats.org/officeDocument/2006/relationships/slide" Target="../slides/slide18.xml"/>
  <Relationship Id="rId2" Type="http://schemas.openxmlformats.org/officeDocument/2006/relationships/notesMaster" Target="../notesMasters/notesMaster1.xml"/>
</Relationships>

</file>

<file path=ppt/notesSlides/_rels/notesSlide19.xml.rels><?xml version="1.0" encoding="UTF-8" standalone="yes"?>
<Relationships xmlns="http://schemas.openxmlformats.org/package/2006/relationships">
  <Relationship Id="rId1" Type="http://schemas.openxmlformats.org/officeDocument/2006/relationships/slide" Target="../slides/slide19.xml"/>
  <Relationship Id="rId2" Type="http://schemas.openxmlformats.org/officeDocument/2006/relationships/notesMaster" Target="../notesMasters/notesMaster1.xml"/>
</Relationships>

</file>

<file path=ppt/notesSlides/_rels/notesSlide20.xml.rels><?xml version="1.0" encoding="UTF-8" standalone="yes"?>
<Relationships xmlns="http://schemas.openxmlformats.org/package/2006/relationships">
  <Relationship Id="rId1" Type="http://schemas.openxmlformats.org/officeDocument/2006/relationships/slide" Target="../slides/slide20.xml"/>
  <Relationship Id="rId2" Type="http://schemas.openxmlformats.org/officeDocument/2006/relationships/notesMaster" Target="../notesMasters/notesMaster1.xml"/>
</Relationships>

</file>

<file path=ppt/notesSlides/_rels/notesSlide21.xml.rels><?xml version="1.0" encoding="UTF-8" standalone="yes"?>
<Relationships xmlns="http://schemas.openxmlformats.org/package/2006/relationships">
  <Relationship Id="rId1" Type="http://schemas.openxmlformats.org/officeDocument/2006/relationships/slide" Target="../slides/slide21.xml"/>
  <Relationship Id="rId2" Type="http://schemas.openxmlformats.org/officeDocument/2006/relationships/notesMaster" Target="../notesMasters/notesMaster1.xml"/>
</Relationships>

</file>

<file path=ppt/notesSlides/_rels/notesSlide22.xml.rels><?xml version="1.0" encoding="UTF-8" standalone="yes"?>
<Relationships xmlns="http://schemas.openxmlformats.org/package/2006/relationships">
  <Relationship Id="rId1" Type="http://schemas.openxmlformats.org/officeDocument/2006/relationships/slide" Target="../slides/slide22.xml"/>
  <Relationship Id="rId2" Type="http://schemas.openxmlformats.org/officeDocument/2006/relationships/notesMaster" Target="../notesMasters/notesMaster1.xml"/>
</Relationships>

</file>

<file path=ppt/notesSlides/_rels/notesSlide23.xml.rels><?xml version="1.0" encoding="UTF-8" standalone="yes"?>
<Relationships xmlns="http://schemas.openxmlformats.org/package/2006/relationships">
  <Relationship Id="rId1" Type="http://schemas.openxmlformats.org/officeDocument/2006/relationships/slide" Target="../slides/slide23.xml"/>
  <Relationship Id="rId2" Type="http://schemas.openxmlformats.org/officeDocument/2006/relationships/notesMaster" Target="../notesMasters/notesMaster1.xml"/>
</Relationships>

</file>

<file path=ppt/notesSlides/_rels/notesSlide24.xml.rels><?xml version="1.0" encoding="UTF-8" standalone="yes"?>
<Relationships xmlns="http://schemas.openxmlformats.org/package/2006/relationships">
  <Relationship Id="rId1" Type="http://schemas.openxmlformats.org/officeDocument/2006/relationships/slide" Target="../slides/slide24.xml"/>
  <Relationship Id="rId2" Type="http://schemas.openxmlformats.org/officeDocument/2006/relationships/notesMaster" Target="../notesMasters/notesMaster1.xml"/>
</Relationships>

</file>

<file path=ppt/notesSlides/_rels/notesSlide25.xml.rels><?xml version="1.0" encoding="UTF-8" standalone="yes"?>
<Relationships xmlns="http://schemas.openxmlformats.org/package/2006/relationships">
  <Relationship Id="rId1" Type="http://schemas.openxmlformats.org/officeDocument/2006/relationships/slide" Target="../slides/slide25.xml"/>
  <Relationship Id="rId2" Type="http://schemas.openxmlformats.org/officeDocument/2006/relationships/notesMaster" Target="../notesMasters/notesMaster1.xml"/>
</Relationships>

</file>

<file path=ppt/notesSlides/_rels/notesSlide26.xml.rels><?xml version="1.0" encoding="UTF-8" standalone="yes"?>
<Relationships xmlns="http://schemas.openxmlformats.org/package/2006/relationships">
  <Relationship Id="rId1" Type="http://schemas.openxmlformats.org/officeDocument/2006/relationships/slide" Target="../slides/slide26.xml"/>
  <Relationship Id="rId2" Type="http://schemas.openxmlformats.org/officeDocument/2006/relationships/notesMaster" Target="../notesMasters/notesMaster1.xml"/>
</Relationships>

</file>

<file path=ppt/notesSlides/_rels/notesSlide27.xml.rels><?xml version="1.0" encoding="UTF-8" standalone="yes"?>
<Relationships xmlns="http://schemas.openxmlformats.org/package/2006/relationships">
  <Relationship Id="rId1" Type="http://schemas.openxmlformats.org/officeDocument/2006/relationships/slide" Target="../slides/slide27.xml"/>
  <Relationship Id="rId2" Type="http://schemas.openxmlformats.org/officeDocument/2006/relationships/notesMaster" Target="../notesMasters/notesMaster1.xml"/>
</Relationships>

</file>

<file path=ppt/notesSlides/_rels/notesSlide28.xml.rels><?xml version="1.0" encoding="UTF-8" standalone="yes"?>
<Relationships xmlns="http://schemas.openxmlformats.org/package/2006/relationships">
  <Relationship Id="rId1" Type="http://schemas.openxmlformats.org/officeDocument/2006/relationships/slide" Target="../slides/slide28.xml"/>
  <Relationship Id="rId2" Type="http://schemas.openxmlformats.org/officeDocument/2006/relationships/notesMaster" Target="../notesMasters/notesMaster1.xml"/>
</Relationships>

</file>

<file path=ppt/notesSlides/_rels/notesSlide29.xml.rels><?xml version="1.0" encoding="UTF-8" standalone="yes"?>
<Relationships xmlns="http://schemas.openxmlformats.org/package/2006/relationships">
  <Relationship Id="rId1" Type="http://schemas.openxmlformats.org/officeDocument/2006/relationships/slide" Target="../slides/slide29.xml"/>
  <Relationship Id="rId2" Type="http://schemas.openxmlformats.org/officeDocument/2006/relationships/notesMaster" Target="../notesMasters/notesMaster1.xml"/>
</Relationships>

</file>

<file path=ppt/notesSlides/_rels/notesSlide30.xml.rels><?xml version="1.0" encoding="UTF-8" standalone="yes"?>
<Relationships xmlns="http://schemas.openxmlformats.org/package/2006/relationships">
  <Relationship Id="rId1" Type="http://schemas.openxmlformats.org/officeDocument/2006/relationships/slide" Target="../slides/slide30.xml"/>
  <Relationship Id="rId2" Type="http://schemas.openxmlformats.org/officeDocument/2006/relationships/notesMaster" Target="../notesMasters/notesMaster1.xml"/>
</Relationships>

</file>

<file path=ppt/notesSlides/_rels/notesSlide31.xml.rels><?xml version="1.0" encoding="UTF-8" standalone="yes"?>
<Relationships xmlns="http://schemas.openxmlformats.org/package/2006/relationships">
  <Relationship Id="rId1" Type="http://schemas.openxmlformats.org/officeDocument/2006/relationships/slide" Target="../slides/slide31.xml"/>
  <Relationship Id="rId2" Type="http://schemas.openxmlformats.org/officeDocument/2006/relationships/notesMaster" Target="../notesMasters/notesMaster1.xml"/>
</Relationships>

</file>

<file path=ppt/notesSlides/_rels/notesSlide32.xml.rels><?xml version="1.0" encoding="UTF-8" standalone="yes"?>
<Relationships xmlns="http://schemas.openxmlformats.org/package/2006/relationships">
  <Relationship Id="rId1" Type="http://schemas.openxmlformats.org/officeDocument/2006/relationships/slide" Target="../slides/slide32.xml"/>
  <Relationship Id="rId2" Type="http://schemas.openxmlformats.org/officeDocument/2006/relationships/notesMaster" Target="../notesMasters/notesMaster1.xml"/>
</Relationships>

</file>

<file path=ppt/notesSlides/_rels/notesSlide33.xml.rels><?xml version="1.0" encoding="UTF-8" standalone="yes"?>
<Relationships xmlns="http://schemas.openxmlformats.org/package/2006/relationships">
  <Relationship Id="rId1" Type="http://schemas.openxmlformats.org/officeDocument/2006/relationships/slide" Target="../slides/slide33.xml"/>
  <Relationship Id="rId2" Type="http://schemas.openxmlformats.org/officeDocument/2006/relationships/notesMaster" Target="../notesMasters/notesMaster1.xml"/>
</Relationships>

</file>

<file path=ppt/notesSlides/_rels/notesSlide34.xml.rels><?xml version="1.0" encoding="UTF-8" standalone="yes"?>
<Relationships xmlns="http://schemas.openxmlformats.org/package/2006/relationships">
  <Relationship Id="rId1" Type="http://schemas.openxmlformats.org/officeDocument/2006/relationships/slide" Target="../slides/slide34.xml"/>
  <Relationship Id="rId2" Type="http://schemas.openxmlformats.org/officeDocument/2006/relationships/notesMaster" Target="../notesMasters/notesMaster1.xml"/>
</Relationships>

</file>

<file path=ppt/notesSlides/_rels/notesSlide35.xml.rels><?xml version="1.0" encoding="UTF-8" standalone="yes"?>
<Relationships xmlns="http://schemas.openxmlformats.org/package/2006/relationships">
  <Relationship Id="rId1" Type="http://schemas.openxmlformats.org/officeDocument/2006/relationships/slide" Target="../slides/slide35.xml"/>
  <Relationship Id="rId2" Type="http://schemas.openxmlformats.org/officeDocument/2006/relationships/notesMaster" Target="../notesMasters/notesMaster1.xml"/>
</Relationships>

</file>

<file path=ppt/notesSlides/_rels/notesSlide36.xml.rels><?xml version="1.0" encoding="UTF-8" standalone="yes"?>
<Relationships xmlns="http://schemas.openxmlformats.org/package/2006/relationships">
  <Relationship Id="rId1" Type="http://schemas.openxmlformats.org/officeDocument/2006/relationships/slide" Target="../slides/slide36.xml"/>
  <Relationship Id="rId2" Type="http://schemas.openxmlformats.org/officeDocument/2006/relationships/notesMaster" Target="../notesMasters/notesMaster1.xml"/>
</Relationships>

</file>

<file path=ppt/notesSlides/_rels/notesSlide37.xml.rels><?xml version="1.0" encoding="UTF-8" standalone="yes"?>
<Relationships xmlns="http://schemas.openxmlformats.org/package/2006/relationships">
  <Relationship Id="rId1" Type="http://schemas.openxmlformats.org/officeDocument/2006/relationships/slide" Target="../slides/slide37.xml"/>
  <Relationship Id="rId2" Type="http://schemas.openxmlformats.org/officeDocument/2006/relationships/notesMaster" Target="../notesMasters/notesMaster1.xml"/>
</Relationships>

</file>

<file path=ppt/notesSlides/_rels/notesSlide38.xml.rels><?xml version="1.0" encoding="UTF-8" standalone="yes"?>
<Relationships xmlns="http://schemas.openxmlformats.org/package/2006/relationships">
  <Relationship Id="rId1" Type="http://schemas.openxmlformats.org/officeDocument/2006/relationships/slide" Target="../slides/slide38.xml"/>
  <Relationship Id="rId2" Type="http://schemas.openxmlformats.org/officeDocument/2006/relationships/notesMaster" Target="../notesMasters/notesMaster1.xml"/>
</Relationships>

</file>

<file path=ppt/notesSlides/_rels/notesSlide39.xml.rels><?xml version="1.0" encoding="UTF-8" standalone="yes"?>
<Relationships xmlns="http://schemas.openxmlformats.org/package/2006/relationships">
  <Relationship Id="rId1" Type="http://schemas.openxmlformats.org/officeDocument/2006/relationships/slide" Target="../slides/slide39.xml"/>
  <Relationship Id="rId2" Type="http://schemas.openxmlformats.org/officeDocument/2006/relationships/notesMaster" Target="../notesMasters/notesMaster1.xml"/>
</Relationships>

</file>

<file path=ppt/notesSlides/_rels/notesSlide40.xml.rels><?xml version="1.0" encoding="UTF-8" standalone="yes"?>
<Relationships xmlns="http://schemas.openxmlformats.org/package/2006/relationships">
  <Relationship Id="rId1" Type="http://schemas.openxmlformats.org/officeDocument/2006/relationships/slide" Target="../slides/slide40.xml"/>
  <Relationship Id="rId2" Type="http://schemas.openxmlformats.org/officeDocument/2006/relationships/notesMaster" Target="../notesMasters/notesMaster1.xml"/>
</Relationships>

</file>

<file path=ppt/notesSlides/_rels/notesSlide41.xml.rels><?xml version="1.0" encoding="UTF-8" standalone="yes"?>
<Relationships xmlns="http://schemas.openxmlformats.org/package/2006/relationships">
  <Relationship Id="rId1" Type="http://schemas.openxmlformats.org/officeDocument/2006/relationships/slide" Target="../slides/slide41.xml"/>
  <Relationship Id="rId2" Type="http://schemas.openxmlformats.org/officeDocument/2006/relationships/notesMaster" Target="../notesMasters/notesMaster1.xml"/>
</Relationships>

</file>

<file path=ppt/notesSlides/_rels/notesSlide42.xml.rels><?xml version="1.0" encoding="UTF-8" standalone="yes"?>
<Relationships xmlns="http://schemas.openxmlformats.org/package/2006/relationships">
  <Relationship Id="rId1" Type="http://schemas.openxmlformats.org/officeDocument/2006/relationships/slide" Target="../slides/slide42.xml"/>
  <Relationship Id="rId2" Type="http://schemas.openxmlformats.org/officeDocument/2006/relationships/notesMaster" Target="../notesMasters/notesMaster1.xml"/>
</Relationships>

</file>

<file path=ppt/notesSlides/_rels/notesSlide43.xml.rels><?xml version="1.0" encoding="UTF-8" standalone="yes"?>
<Relationships xmlns="http://schemas.openxmlformats.org/package/2006/relationships">
  <Relationship Id="rId1" Type="http://schemas.openxmlformats.org/officeDocument/2006/relationships/slide" Target="../slides/slide43.xml"/>
  <Relationship Id="rId2" Type="http://schemas.openxmlformats.org/officeDocument/2006/relationships/notesMaster" Target="../notesMasters/notesMaster1.xml"/>
</Relationships>

</file>

<file path=ppt/notesSlides/_rels/notesSlide44.xml.rels><?xml version="1.0" encoding="UTF-8" standalone="yes"?>
<Relationships xmlns="http://schemas.openxmlformats.org/package/2006/relationships">
  <Relationship Id="rId1" Type="http://schemas.openxmlformats.org/officeDocument/2006/relationships/slide" Target="../slides/slide44.xml"/>
  <Relationship Id="rId2" Type="http://schemas.openxmlformats.org/officeDocument/2006/relationships/notesMaster" Target="../notesMasters/notesMaster1.xml"/>
</Relationships>

</file>

<file path=ppt/notesSlides/_rels/notesSlide45.xml.rels><?xml version="1.0" encoding="UTF-8" standalone="yes"?>
<Relationships xmlns="http://schemas.openxmlformats.org/package/2006/relationships">
  <Relationship Id="rId1" Type="http://schemas.openxmlformats.org/officeDocument/2006/relationships/slide" Target="../slides/slide45.xml"/>
  <Relationship Id="rId2" Type="http://schemas.openxmlformats.org/officeDocument/2006/relationships/notesMaster" Target="../notesMasters/notesMaster1.xml"/>
</Relationships>

</file>

<file path=ppt/notesSlides/_rels/notesSlide46.xml.rels><?xml version="1.0" encoding="UTF-8" standalone="yes"?>
<Relationships xmlns="http://schemas.openxmlformats.org/package/2006/relationships">
  <Relationship Id="rId1" Type="http://schemas.openxmlformats.org/officeDocument/2006/relationships/slide" Target="../slides/slide46.xml"/>
  <Relationship Id="rId2" Type="http://schemas.openxmlformats.org/officeDocument/2006/relationships/notesMaster" Target="../notesMasters/notesMaster1.xml"/>
</Relationships>

</file>

<file path=ppt/notesSlides/_rels/notesSlide47.xml.rels><?xml version="1.0" encoding="UTF-8" standalone="yes"?>
<Relationships xmlns="http://schemas.openxmlformats.org/package/2006/relationships">
  <Relationship Id="rId1" Type="http://schemas.openxmlformats.org/officeDocument/2006/relationships/slide" Target="../slides/slide47.xml"/>
  <Relationship Id="rId2" Type="http://schemas.openxmlformats.org/officeDocument/2006/relationships/notesMaster" Target="../notesMasters/notesMaster1.xml"/>
</Relationships>

</file>

<file path=ppt/notesSlides/_rels/notesSlide48.xml.rels><?xml version="1.0" encoding="UTF-8" standalone="yes"?>
<Relationships xmlns="http://schemas.openxmlformats.org/package/2006/relationships">
  <Relationship Id="rId1" Type="http://schemas.openxmlformats.org/officeDocument/2006/relationships/slide" Target="../slides/slide48.xml"/>
  <Relationship Id="rId2" Type="http://schemas.openxmlformats.org/officeDocument/2006/relationships/notesMaster" Target="../notesMasters/notesMaster1.xml"/>
</Relationships>

</file>

<file path=ppt/notesSlides/_rels/notesSlide49.xml.rels><?xml version="1.0" encoding="UTF-8" standalone="yes"?>
<Relationships xmlns="http://schemas.openxmlformats.org/package/2006/relationships">
  <Relationship Id="rId1" Type="http://schemas.openxmlformats.org/officeDocument/2006/relationships/slide" Target="../slides/slide49.xml"/>
  <Relationship Id="rId2"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Secure, Collaborative, and Dynamic Networked Applications Department of Computer Science University of Memphis Advisor: Dr. Lan Wang PhD Proposal Defense September 2026</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User knows the required service. Reachability, capability and willingness may change. Providers evaluate valid Requests and return positive or negative ACK Data. The User selects one eligible positive-ACK Provider. Candidate Providers A, B, C User selects A A executes the service Initial NDNSF: discover alternatives and select one Provider per invocation, not multiple collaborating roles. Arrows show the selection process.</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Foundation: evaluate discovery and authorization The initial prototype selects one Provider. Discovery confidentiality, service permissions and management costs matter even without collaboration. Extension: coordinate complementary roles Some tasks need several Providers with different responsibilities. Separate calls do not define a shared role assignment or enforce dependencies between them. Evaluate the invocation foundation; develop and validate the collaboration extension. Existing invocation results do not establish collaboration correctness.</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NDN building block Remaining application responsibility Named Data and signatures [1] Names support identity and forwarding; a Trust Schema [16] constrains signing keys Interest retrieval and caching [1,26] Check task identity, dependencies and deadlines; caches do not guarantee storage Dataset synchronization / SVS [2,3] Discover names; define service-message transitions NAC [4] / enhanced NAC-ABE [19] Encrypt Content for read access; check invocation permission separately NAC: Name-based Access Control; ABE: attribute-based encryption; SVS: State Vector Sync. NDN supplies data-centric communication. NDNSF defines how validated service messages authorize and advance an invocation.</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Application need Framework question Find a camera covering an area, or compute capacity for a model Who is permitted, reachable and willing now? Analyze images from several cameras, or execute dependent model fragments Which Provider performs each role, and which inputs may it use? Obtain useful output before a deadline, despite loss or outages What completes, what fails, and what does recovery cost? These needs lead to RQ1--RQ3. Invocation [9,10] and command authorization [12] provide precedents. This is a bounded framework scope, not a claim to cover every application requirement.</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How can NDNSF discover willing Providers, keep descriptors confidential from unauthorized readers, and check service permissions before execution, and at what cost? RQ2: How can single-Provider invocation be extended to roles and named dependencies across Providers, whether Data comes from producers or caches? RQ3: When do these mechanisms improve completion, latency, or execution efficiency, and when do their costs outweigh the benefits? RQ1 evaluates the invocation foundation; RQ2 studies its collaboration extension; RQ3 measures both scopes separately.</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Prior work What the comparison must acknowledge NFN [6], NFaaS [7] Named computation and function execution/placement RICE [9], NSC [10] Invocation mechanisms; NSC checks signed calls using a Trust Schema DNMP [12] Trust Schema constrains roles and measurement commands CaSCON [15] Service-composition research; requires a feature-level comparison before claiming a new composition mechanism gRPC [17,27] Complete configurations can include discovery/resolver integration, not only fixed addresses Collaboration research: make runtime assignments constrain intermediate Data use. Discovery and authorization are evaluated separately.</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Intended contribution Current evidence boundary Discovery / authorization design and tradeoffs Invocation implementation and bounded experiments exist; full alternative lifecycle-cost comparison remains open ACK-derived plan and local input checks Design and implementation work; direct/cache and failure validation remains incomplete Cross-case empirical findings Existing mobility/work-efficiency and small-model results support limited configurations, not all new collaboration claims Existing work supports feasibility. This proposal specifies what remains to be investigated and how the research claims will be tested. [28]</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User: requests a service and selects a Provider; the extension also assigns collaboration roles. Provider: offers and executes a service. A node may play both roles. Controller: administers identities and service permissions approved by the organization. Participants use provisioned trust anchors and validation rules for certificates and Controller material. Unknown runtime candidates are not unregistered authorization identities. The User discovers current participation; the Controller does not choose this task’s Providers.</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An operator requests an aerial image. Authorized camera Providers A and B consider the task. User Request Data Candidates ACK Data User Selection Data Selected Provider Response Data A returns a positive ACK; B is busy and returns a negative ACK. The User selects A; A checks Selection before capturing the image. Arrows show application order. Data is retrieved with Interests; neither an ACK nor a network delivery alone authorizes execution.</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Data Logical purpose Request Describe required service and participation constraints; include protected discovery information and RequestNonce ACK Report positive or negative participation; positive ACK supplies selection information and ProviderChallenge Selection Assign selected execution; provide input/references and protected request-scoped keys; constructed using ProviderChallenge Response Return status, results or result references; the User still validates them before use Sync helps discover names; Interests retrieve Data. The Provider checks Selection before execution; a positive ACK alone does not start the task.</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Discovery descriptor Needed to decide whether to participate: area, deadline, sensor/model and resource requirements. Application input Needed to execute the selected task: images, detailed processing parameters, or protected input references. Input and results use request-scoped symmetric keys. Selection delivers key material encrypted for the selected Provider; the requesting User retains the keys. The boundary follows necessity. A location needed to assess coverage belongs in the protected descriptor; an image needed only for processing can wait.</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Keep discovery descriptors confidential from unauthorized readers before selecting a Provider. 2. Authenticate participants, verify service permissions, and reject replayed invocation messages. 3. Grant and withdraw service permissions during operation. Additional benefit: aggregate service permissions in a decryption key (DKEY) while retaining identity-signing credentials. This is a management property, not another security guarantee.</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User knows the service, but not yet the currently willing Provider identities. An observation area and deadline can reveal intended activity even without the full application input. The User encrypts the descriptor using ABE and the service attribute, without listing Provider identities. [19] Confidential from parties lacking the required decryption capability. Authorized but unselected Providers can read it; names and traffic patterns remain visible.</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ABE was introduced to keep discovery descriptors non-public. [19] NDNSF reuses the attribute authority to manage Provider and User service permissions. [28] RequestNonce and ProviderChallenge checks use these permissions during invocation. ABE discovery plus role-based invocation is also possible. NDNSF avoids adding role signing credentials solely for service membership; signature validation and request-state checks remain necessary. User DKEYs and challenge processing still add cost.</a:t>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Provider permission: recover RequestNonce from ABE-protected Request content and return it in ACK Data. The User compares it with RequestNonce stored for this request. 2. User permission: recover ProviderChallenge from ABE-protected ACK content and construct Selection Data. The Provider validates Selection using its stored ProviderChallenge. Also check current service permissions. These checks show access to protected values, not exclusive key possession. RequestNonce is not the Interest Nonce.</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Identity authentication Validate Data signatures and certificate chains under trust rules. An accepted signing identity alone does not establish service permission. Replay protection Match messages to an active request and its state. Record whether ProviderChallenge has already been used to accept Selection for execution; duplicate Selection must not start another execution. Retain or safely invalidate request state, including across restart. Encryption or a challenge value alone does not prevent replay.</a:t>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Within one Controller domain, combine several service permissions in one entity’s DKEY; retain identity-signing credentials. [19,28] DNMP represents command authority through role keys and schema rules. One role can permit several commands. [12] Where equivalent permissions require distinct role credentials, NDNSF avoids maintaining those extra signing credentials. Fewer independently managed credentials does not imply fixed DKEY size or lower total cost. Policy size, key distribution and updates still matter.</a:t>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Distributed Network Measurement Protocol (DNMP) [12] authorizes measurement commands: 1. The Network Key anchors role keys, device keys, and the schema. 2. The client uses target, probe type, arguments, and user role to find an allowed signing key; among matching keys, it chooses the least privileged. 3. The receiving Network Observer Daemon validates the publication under the schema before dispatching the probe. DNMP also uses publication lifetimes and retained state against replay, assuming loosely synchronized clocks. These are concrete command-authorization mechanisms, not just identity checks.</a:t>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Design Execution authorization Discovery confidentiality DNMP-inspired [12] Check role-constrained signatures and NDNSF invocation state Pair with service-group encryption or ABE NDNSF ABE-backed Check signatures, RequestNonce, ProviderChallenge, current permissions and request state User encrypts descriptor content with service-level ABE Proposed comparison: retain NDNSF discovery and Selection, with input/result protection and revocation checks in both designs. Trust Schema [16] alone does not encrypt Content; adapting DNMP authorization is not an original DNMP feature. No measured cost advantage is claimed.</a:t>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Known Providers and simple rules: signed invocation plus recipient encryption may be sufficient. A small, stable receiver group: ordinary group-key management may be attractive. Rich command-argument restrictions: DNMP-style rules make those constraints explicit. [12] Many changing entitlements: measure both policy/key updates and credential/rule updates before claiming a management advantage. Compare complete combinations of authorization and encryption. ABE-backed authorization is one design choice, not a universally superior solution.</a:t>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Both operations update Controller-signed permission status. [28] Ordinary grant: update the target’s complete policy; it retrieves a replacement DKEY. Public parameters stay unchanged. Withdrawal: rotate the Controller’s ABE master key and public parameters; remaining members obtain DKEYs for their remaining permissions. The master key stays with the Controller. Rotation is Controller-wide. Participants must retrieve and validate updates before applying them; disconnected nodes cannot do so immediately.</a:t>
            </a:r>
            <a:endParaRPr lang="en-US" sz="12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Revised design: the Controller publishes new public parameters as signed Data; Sync announces availability. 2. Participants retrieve and validate parameters and permission status, then refresh DKEYs as required. 3. Grants also require status discovery, even when public parameters do not change. Local status retrieval and rotation exist; dedicated Sync announcements still need end-to-end verification. Measure propagation, rejection delay and rekey traffic. Neither NDNSF nor a certificate-revocation alternative can recall disclosed keys or plaintext.</a:t>
            </a:r>
            <a:endParaRPr lang="en-US" sz="12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Trusted: Controller authorization and the User’s planning decision. Untrusted delivery: an object may arrive through a producer, forwarder, cache, or repository and still requires validation. Adversarial cases to test: wrong identities, permissions, challenges, request state, roles, dependencies, or execution identities. Not established by signatures/ABE: honest resource reports, correct inference, truthful images, or resistance to authorized key sharing. No Byzantine-coordinator consensus claim; no traffic-analysis or instantaneous-revocation guarantee.</a:t>
            </a:r>
            <a:endParaRPr lang="en-US"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Application supplies roles, dependency template, constraints and deadline; the template may be handwritten. 2. The User closes the ACK window and freezes the eligible, validated positive ACKs. 3. The User applies a replaceable planning policy and signs the resulting role assignments and dependencies. 4. Each Provider validates the plan, derives permitted inputs and rechecks its resources before starting. The snapshot freezes observed candidates for this decision, not every Provider in the network or their future availability.</a:t>
            </a:r>
            <a:endParaRPr lang="en-US" sz="120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Existing request ID Proposed task-specific plan rules Identifies the request; requires a validated message Assigns exact Providers to collection and processing roles Does not alone specify predecessors Declares which producer role may supply each named dependency Does not alone describe key scope Associates permitted objects, execution identity, and authorization/key scope Example: within the same request, a service-authorized UAV that was not assigned “view 1” must not satisfy the view-1 dependency.</a:t>
            </a:r>
            <a:endParaRPr lang="en-US" sz="12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Validate the Data signature using the appropriate trust rules. 2. Check active request, plan, execution identity and deadline. 3. Verify that the signer is the assigned predecessor Provider. 4. Check that the object matches the declared edge, permitted name, data format and key scope. 5. Require complete validated input before the dependent computation starts. Apply the same rules to direct, cached and repository-fetched Data. This is a proposed acceptance contract; full end-to-end qualification remains required.</a:t>
            </a:r>
            <a:endParaRPr lang="en-US" sz="12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Event Required behavior Late ACK Do not silently change the committed plan Duplicate Selection Check whether execution was already authorized; do not repeat a side effect Incomplete dependency Wait within policy/deadline, recover, or fail; do not execute on partial data Provider replacement Authorize a new assignment; reject old execution actions and specify permitted result reuse Cancellation Prevent late messages from reauthorizing cancelled work Network re-retrieval is not task re-execution. Compensation is not an atomic transaction or exactly-once physical action.</a:t>
            </a:r>
            <a:endParaRPr lang="en-US" sz="120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Unmanned aerial vehicle (UAV) application workflows exercise several framework mechanisms. [28] Application function NDNSF validation scope Control, telemetry, mission status Provider/request association, permissions, operation lifecycle Live video and recordings Stream lifecycle, protected delivery, named-object retrieval Detection and multi-view tasks Service provision/consumption, role assignments, dependencies Coverage is broader than one collaboration case. Each claim still needs evidence from the actual NDNSF path; flight safety and image-analysis accuracy need separate validation.</a:t>
            </a:r>
            <a:endParaRPr lang="en-US" sz="120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An operator requests ground-area views from nearby UAVs, followed by analysis. 1. After Selection, assigned UAVs capture views and sign encrypted ViewImage Data under their authorized namespaces. 2. The compute Provider retrieves images over assigned edges and publishes Annotation Data. 3. Its encrypted result gives the requester original image names and permitted image keys. 4. The requester retrieves the original images and displays the annotations. Original image Data remains under its producer’s name. GPS alone does not establish camera visibility.</a:t>
            </a:r>
            <a:endParaRPr lang="en-US" sz="120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 complete authorized collection--processing--return task before the deadline. Correct handling of unavailable views, delayed images and a failed processing Provider. Reject wrong-role/edge inputs; accept cached images only when they satisfy the same task checks. MiniNDN [22] and PX4 SITL [23] results clearly distinguished from physical-flight evidence. Higher recognition/localization accuracy is a separate claim requiring ground truth and a single-view control. It is not assumed here.</a:t>
            </a:r>
            <a:endParaRPr lang="en-US" sz="120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Application function NDNSF validation scope Single-Provider inference Discovery, permissions, input and result delivery Model preparation and reuse Readiness, artifact references, named-object retrieval Incremental output and conversa- tion Request state, cancellation, output lifecycle Multi-Provider inference Assignments, dependencies, recovery The application also tests the invocation foundation, without requiring a model split. Interfaces and focused tests exist; complete model/device/recovery qualification remains open. [28]</a:t>
            </a:r>
            <a:endParaRPr lang="en-US" sz="120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 A layer group 1 Provider B layer group 2 Provider C output stage activation activation Pipeline: sequential layers/groups; tensor partitioning additionally needs supported collectives. ONNX [25] describes the graph; export alone does not implement distributed execution. Repo [24] stores artifacts; forwarding caches do not guarantee persistence. The framework contribution is checked runtime assignment and data exchange, not model partitioning itself.</a:t>
            </a:r>
            <a:endParaRPr lang="en-US" sz="120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Model weights, reusable artifacts, request activations and KV state have different lifetimes. With KV caching, the runtime reuses prior key/value (K/V) tensors and supplies next-step inputs; resident weights do not replace this state. [31] An in-process test does not establish correct execution across processes or devices. Freeze one supported model/partition first; tensor/hybrid and LLM streaming need their own evidence if claimed. Earlier small-model measurements do not validate the newer distributed inference and recovery paths. [28]</a:t>
            </a:r>
            <a:endParaRPr lang="en-US" sz="120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Name the application function and the production NDNSF API path it uses. 2. Specify the input, expected result, failure condition, and tested configuration. 3. Record evidence separately: implementation, focused test, multi-process test, measured outcome. UAV and DI cover discovery, authorization, data delivery, lifecycle, and collaboration. Local calls do not prove remote behavior. Representative workflows cover claimed mechanisms; optional application features need not become separate dissertation requirements.</a:t>
            </a:r>
            <a:endParaRPr lang="en-US" sz="120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NSC [10]: named service calls; describe the tested executor, timeout, queue and recovery behavior. gRPC [17]: describe resolver, sequential/parallel policy, deadlines, retry and cancellation. Match Provider count, capacity, task, topology/traces, publication times and measurement windows. Report fixed-list and dynamically discovered configurations as different configurations. An incomplete baseline cannot establish a limitation of the full framework. Historical unmatched data remain diagnostics.</a:t>
            </a:r>
            <a:endParaRPr lang="en-US" sz="120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Ten seeds (62--71), four Providers/system, 2 m/s; mean seed completion rate. [28] AP radius NDNSF gRPC NSC 50 m 54.57% 53.80% 55.47% 100 m 97.97% 97.97% 98.33% 150 m 100.00% 100.00% 100.00% No overall NDNSF advantage is established. The next slide uses a separate holdout campaign (seeds 72--81), not a subset of these runs.</a:t>
            </a:r>
            <a:endParaRPr lang="en-US" sz="120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Seeds 72--81; four Providers/system; 100 m, 2 m/s; 1,312 aligned switching requests. [28] Comparison Seed-p95 difference 95% CI NDNSF minus gRPC-SEQ-4 -597 ms [-992, -200] ms NDNSF minus NSC-4 -2618 ms [-2916, -2315] ms Completed: NDNSF 1,311; gRPC 1,297; NSC 1,296 (of 1,312 each). Mean paired seed-p95 differences; each p95 uses that system’s successful requests. Different failures limit the comparison; no general advantage is inferred.</a:t>
            </a:r>
            <a:endParaRPr lang="en-US" sz="120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Six-seed, capacity-matched comparison; 1,800 requests per system. [28] Configuration Completed requests Execution starts NDNSF 1,798 / 1,800 1,800 gRPC-PAR-4 1,800 / 1,800 7,180 NSC-4 also completed 1,800/1,800, with 1.002 starts/request (rounded). No work-efficiency advantage over NSC is claimed. Fewer starts than gRPC-PAR-4 is not proof of fewer bytes, less CPU time or lower energy. Similar observed completion is not proven equivalence.</a:t>
            </a:r>
            <a:endParaRPr lang="en-US" sz="120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Earlier small Qwen-style ONNX model; ten successful runs per layout. [28] Layout Mean latency p95 Shared-backbone distributed layout 259.4 ms 283.9 ms Single Provider 186.8 ms 206.3 ms Do not split merely because several Providers exist. Communication/setup overhead is a candidate explanation, not a causal result established by this measurement. Retained historical diagnostic; raw-run/model provenance remains to be rechecked. Not evidence for the newer distributed design.</a:t>
            </a:r>
            <a:endParaRPr lang="en-US" sz="120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 Required evidence Outcome and cost RQ1 ABE-backed versus DNMP-inspired rules plus encryption; unauthorized call, replay, grant and withdrawal No unauthorized handler start; discovery delay, key/policy size, status delay and rekey traffic RQ2 One UAV and one DI graph; wrong role/edge; direct/cache parity; cancellation/replacement Correct task completion; validation, transfer and recovery cost RQ3 Matched workload and failure schedules; feasible single-device control; cold/warm state Completion plus latency, redundant work, bytes, uncertainty, and cases with no advantage Planned tests are not completed findings. Record all scheduled runs and failure boundaries.</a:t>
            </a:r>
            <a:endParaRPr lang="en-US" sz="120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Internal target Required deliverable September 2026 Agree scope/RQs; freeze one UAV graph and one DI partition; resolve correctness blockers October--November 2026 Complete registered experiments; freeze evidence and write bounded RQ answers December 2026 Complete integrated advisor-review draft January 2027 Committee review and readiness decision; reduce scope or revise timing if core evidence is missing February 2027 Final dissertation defense, subject to committee approval Committee draft: two weeks before defense. Spring 2027 application/candidacy: February 5; final ProQuest: March 26. Recheck before filing. [29,30]</a:t>
            </a:r>
            <a:endParaRPr lang="en-US" sz="1200"/>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answer: when ABE-backed authorization is preferable to DNMP-inspired role rules plus encryption, accounting for confidentiality, management and withdrawal costs. RQ2 answer: exactly which task-assignment mistakes are rejected and which recovery behavior is supported. RQ3 answer: measured benefits, negative results and deployment limits. Reproducible configurations and evidence linking each conclusion to its tested scope. The intended outcome is a tested service protocol and an evidence-backed account of when its mechanisms are worth their cost.</a:t>
            </a:r>
            <a:endParaRPr lang="en-US" sz="1200"/>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Are the three research questions specific enough to support defensible answers? 2. Are the authorization alternatives complete and fairly configured? 3. Are one UAV graph and one supported DI partition sufficient to test the abstraction? 4. Which optional features should be excluded if they delay the core evidence? Committee feedback sought: research significance, bounded scope, evaluation criteria, and a feasible completion plan.</a:t>
            </a:r>
            <a:endParaRPr lang="en-US" sz="1200"/>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Provider-transition configuration Completed NDNSF, no pre-registered Provider addresses 357 / 357 Static-list NSC/gRPC configurations 0 / 357 Pre-registered baseline variants 357 / 357 This isolates the configured discovery boundary. Resolver/discovery integration can update candidates; it is not proof that gRPC or NSC cannot do so. [27,28]</a:t>
            </a:r>
            <a:endParaRPr lang="en-US" sz="1200"/>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Historical per-link loss NDNSF completed requests 1% 599 / 600 3% 598 / 600 10% (best recorded run) 539 / 600 A selected run is not an aggregate estimate. Do not combine these numbers with another batch and label the result “matched.” [28] Per-link packet loss is not the probability of service failure: retrieval retries and the request deadline also affect completion.</a:t>
            </a:r>
            <a:endParaRPr lang="en-US" sz="1200"/>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L. Zhang et al., “Named Data Networking,” ACM SIGCOMM CCR, 2014. [2] T. Li et al., “A Brief Introduction to NDN Dataset Synchronization (NDN Sync),” MILCOM, 2018. [3] P. Moll et al., “A Brief Introduction to State Vector Sync,” NDN-0073, rev. 2, 2021. [4] Z. Zhang et al., “NAC: Automating Access Control via Named Data,” MILCOM, 2018. [12] K. Nichols, “Lessons Learned Building a Secure Network Measurement Framework using Basic NDN,” ACM ICN, 2019. [16] Y. Yu et al., “Schematizing Trust in Named Data Networking,” ACM ICN, 2015. [19] S. Dulal et al., “Enhancing NAC-ABE to Support Access Control for mHealth Applications and Beyond,” arXiv:2311.07299, 2023. [26] NDN Project, “Data Packet,” NDN Packet Format Specification. docs.named-data.net/NDN-packet-spec/current/data.html (accessed Sept. 2026).</a:t>
            </a:r>
            <a:endParaRPr lang="en-US" sz="1200"/>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[6] C. Tschudin and M. Sifalakis, “Named Functions and Cached Computations,” IEEE CCNC, 2014. [7] M. Krol and I. Psaras, “NFaaS: Named Function as a Service,” ACM ICN, 2017. [9] M. Krol et al., “RICE: Remote Method Invocation in ICN,” ACM ICN, 2018. [10] D. Meirovitch and L. Zhang, “NSC---Named Service Calls, or a Remote Procedure Call for NDN,” NDN-0074, rev. 1, 2021. [15] C. Barrios, E. Alker and M. Kumar, “CaSCON: Cache-Assisted Service Composition Orchestration Leveraging NDN,” IEEE SMARTCOMP, pp. 122--129, 2025. DOI: 10.1109/SMARTCOMP65954.2025.00061. [17] gRPC Authors, “Core Concepts, Architecture and Lifecycle,” gRPC documentation. [27] gRPC Authors, “Custom Name Resolution,” grpc.io/docs/guides/custom-name-resolution/ (accessed Sept. 2026).</a:t>
            </a:r>
            <a:endParaRPr lang="en-US" sz="1200"/>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[22] Mini-NDN, project documentation: minindn.ndn.today. [23] PX4, “Software-in-the-Loop Simulation,” PX4 User Guide. [24] NDN Project, “Repo Protocol Specification,” repo-ng documentation. [25] ONNX, “Open Neural Network Exchange Intermediate Representation Specification.” [28] NDNSF, research-revision-audit.md, companion claim/evidence ledger, September 9, 2026. Contains campaign paths and required validation. [29] University of Memphis CS, “Information for Computer Science Ph.D. Students,” forms_grad_phd_programinfo.pdf (accessed September 9, 2026). [30] University of Memphis Graduate School, “Graduate School Calendar,” Spring 2027. memphis.edu/gradschool/news-events/calendar.php (checked September 14, 2026). [31] ONNX Runtime, “How to configure the past present share buffer,” GenAI documentation (accessed September 11, 2026).</a:t>
            </a:r>
            <a:endParaRPr lang="en-US"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png" /><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png" /><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png" /><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png" /><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6.png" /><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7.png" /><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8.png" /><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9.png" /><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0.png" /><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1.png" /><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2.png" /><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3.png" /><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4.png" /><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5.png" /><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6.png" /><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7.png" /><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8.png" /><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9.png" /><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0.png" /><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1.png" /><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2.png" /><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3.png" /><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4.png" /><Relationship Id="rId3"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5.png" /><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6.png" /><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7.png" /><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8.png" /><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9.png" /><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0.png" /><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1.png" /><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2.png" /><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3.png" /><Relationship Id="rId3"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4.png" /><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5.png" /><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6.png" /><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7.png" /><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8.png" /><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9.png" /><Relationship Id="rId3"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0.png" /><Relationship Id="rId3"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1.png" /><Relationship Id="rId3"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2.png" /><Relationship Id="rId3"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3.png" /><Relationship Id="rId3"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4.png" /><Relationship Id="rId3"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5.png" /><Relationship Id="rId3"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6.png" /><Relationship Id="rId3"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49.xml" /></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1"/>
          <p:cNvSpPr txBox="1"/>
          <p:nvPr/>
        </p:nvSpPr>
        <p:spPr>
          <a:xfrm>
            <a:off x="1182437" y="1001302"/>
            <a:ext cx="12272303" cy="2190278"/>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4235" b="1" i="0">
                <a:solidFill>
                  <a:srgbClr val="1A3E79"/>
                </a:solidFill>
                <a:latin typeface="Latin Modern Sans"/>
              </a:rPr>
              <a:t>NDNSF: A Data-Centric Service Framework for</a:t>
            </a:r>
            <a:br/>
            <a:r>
              <a:rPr sz="4235" b="1" i="0">
                <a:solidFill>
                  <a:srgbClr val="1A3E79"/>
                </a:solidFill>
                <a:latin typeface="Latin Modern Sans"/>
              </a:rPr>
              <a:t>Secure, Collaborative, and Dynamic Networked</a:t>
            </a:r>
            <a:br/>
            <a:r>
              <a:rPr sz="4235" b="1" i="0">
                <a:solidFill>
                  <a:srgbClr val="1A3E79"/>
                </a:solidFill>
                <a:latin typeface="Latin Modern Sans"/>
              </a:rPr>
              <a:t>Applications</a:t>
            </a:r>
          </a:p>
        </p:txBody>
      </p:sp>
      <p:sp>
        <p:nvSpPr>
          <p:cNvPr id="4" name="PDF_TEXT_GROUP_2"/>
          <p:cNvSpPr txBox="1"/>
          <p:nvPr/>
        </p:nvSpPr>
        <p:spPr>
          <a:xfrm>
            <a:off x="6278410" y="3812127"/>
            <a:ext cx="2080186" cy="440633"/>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Tianxing Ma</a:t>
            </a:r>
          </a:p>
        </p:txBody>
      </p:sp>
      <p:sp>
        <p:nvSpPr>
          <p:cNvPr id="5" name="PDF_TEXT_GROUP_3"/>
          <p:cNvSpPr txBox="1"/>
          <p:nvPr/>
        </p:nvSpPr>
        <p:spPr>
          <a:xfrm>
            <a:off x="5346841" y="4672735"/>
            <a:ext cx="3943493" cy="657639"/>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Department of Computer Science</a:t>
            </a:r>
            <a:br/>
            <a:r>
              <a:rPr sz="1863" b="0" i="0">
                <a:solidFill>
                  <a:srgbClr val="000000"/>
                </a:solidFill>
                <a:latin typeface="Latin Modern Sans"/>
              </a:rPr>
              <a:t>University of Memphis</a:t>
            </a:r>
          </a:p>
        </p:txBody>
      </p:sp>
      <p:sp>
        <p:nvSpPr>
          <p:cNvPr id="6" name="PDF_TEXT_GROUP_4"/>
          <p:cNvSpPr txBox="1"/>
          <p:nvPr/>
        </p:nvSpPr>
        <p:spPr>
          <a:xfrm>
            <a:off x="5865295" y="5393880"/>
            <a:ext cx="2906580" cy="302935"/>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Advisor: Dr. Lan Wang</a:t>
            </a:r>
          </a:p>
        </p:txBody>
      </p:sp>
      <p:sp>
        <p:nvSpPr>
          <p:cNvPr id="7" name="PDF_TEXT_GROUP_5"/>
          <p:cNvSpPr txBox="1"/>
          <p:nvPr/>
        </p:nvSpPr>
        <p:spPr>
          <a:xfrm>
            <a:off x="5593987" y="6170166"/>
            <a:ext cx="3449080" cy="92992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PhD Proposal Defense</a:t>
            </a:r>
            <a:br/>
            <a:r>
              <a:rPr sz="2710" b="0" i="0">
                <a:solidFill>
                  <a:srgbClr val="000000"/>
                </a:solidFill>
                <a:latin typeface="Latin Modern Sans"/>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 descr="background-002.png"/>
          <p:cNvPicPr>
            <a:picLocks noChangeAspect="1"/>
          </p:cNvPicPr>
          <p:nvPr/>
        </p:nvPicPr>
        <p:blipFill>
          <a:blip r:embed="rId2"/>
          <a:stretch>
            <a:fillRect/>
          </a:stretch>
        </p:blipFill>
        <p:spPr>
          <a:xfrm>
            <a:off x="0" y="0"/>
            <a:ext cx="14630400" cy="8229600"/>
          </a:xfrm>
          <a:prstGeom prst="rect">
            <a:avLst/>
          </a:prstGeom>
        </p:spPr>
      </p:pic>
      <p:sp>
        <p:nvSpPr>
          <p:cNvPr id="3" name="PDF_TEXT_GROUP_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Service Discovery: Several Candidates, One Executor</a:t>
            </a:r>
          </a:p>
        </p:txBody>
      </p:sp>
      <p:sp>
        <p:nvSpPr>
          <p:cNvPr id="4" name="PDF_TEXT_GROUP_7"/>
          <p:cNvSpPr txBox="1"/>
          <p:nvPr/>
        </p:nvSpPr>
        <p:spPr>
          <a:xfrm>
            <a:off x="1618972" y="1537074"/>
            <a:ext cx="437382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knows the required</a:t>
            </a:r>
            <a:r>
              <a:rPr sz="2710" b="0" i="0">
                <a:solidFill>
                  <a:srgbClr val="000000"/>
                </a:solidFill>
                <a:latin typeface="Latin Modern Sans"/>
              </a:rPr>
              <a:t> service.</a:t>
            </a:r>
          </a:p>
        </p:txBody>
      </p:sp>
      <p:sp>
        <p:nvSpPr>
          <p:cNvPr id="5" name="PDF_TEXT_GROUP_8"/>
          <p:cNvSpPr txBox="1"/>
          <p:nvPr/>
        </p:nvSpPr>
        <p:spPr>
          <a:xfrm>
            <a:off x="7730488" y="1579855"/>
            <a:ext cx="2826971" cy="82884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Candidate Providers</a:t>
            </a:r>
            <a:br/>
            <a:r>
              <a:rPr sz="2371" b="0" i="0">
                <a:solidFill>
                  <a:srgbClr val="000000"/>
                </a:solidFill>
                <a:latin typeface="Latin Modern Sans"/>
              </a:rPr>
              <a:t>A, B, C</a:t>
            </a:r>
          </a:p>
        </p:txBody>
      </p:sp>
      <p:sp>
        <p:nvSpPr>
          <p:cNvPr id="6" name="PDF_TEXT_GROUP_9"/>
          <p:cNvSpPr txBox="1"/>
          <p:nvPr/>
        </p:nvSpPr>
        <p:spPr>
          <a:xfrm>
            <a:off x="1618972" y="2509341"/>
            <a:ext cx="412948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Reachability, capability and</a:t>
            </a:r>
            <a:r>
              <a:rPr sz="2710" b="0" i="0">
                <a:solidFill>
                  <a:srgbClr val="000000"/>
                </a:solidFill>
                <a:latin typeface="Latin Modern Sans"/>
              </a:rPr>
              <a:t> willingness may change.</a:t>
            </a:r>
          </a:p>
        </p:txBody>
      </p:sp>
      <p:sp>
        <p:nvSpPr>
          <p:cNvPr id="7" name="PDF_TEXT_GROUP_10"/>
          <p:cNvSpPr txBox="1"/>
          <p:nvPr/>
        </p:nvSpPr>
        <p:spPr>
          <a:xfrm>
            <a:off x="8197068" y="3454847"/>
            <a:ext cx="20744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 selects A</a:t>
            </a:r>
          </a:p>
        </p:txBody>
      </p:sp>
      <p:sp>
        <p:nvSpPr>
          <p:cNvPr id="8" name="PDF_TEXT_GROUP_11"/>
          <p:cNvSpPr txBox="1"/>
          <p:nvPr/>
        </p:nvSpPr>
        <p:spPr>
          <a:xfrm>
            <a:off x="1618972" y="3481608"/>
            <a:ext cx="5031136"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Providers evaluate valid Requests</a:t>
            </a:r>
            <a:r>
              <a:rPr sz="2710" b="0" i="0">
                <a:solidFill>
                  <a:srgbClr val="000000"/>
                </a:solidFill>
                <a:latin typeface="Latin Modern Sans"/>
              </a:rPr>
              <a:t> and return positive or negative</a:t>
            </a:r>
            <a:r>
              <a:rPr sz="2710" b="0" i="0">
                <a:solidFill>
                  <a:srgbClr val="000000"/>
                </a:solidFill>
                <a:latin typeface="Latin Modern Sans"/>
              </a:rPr>
              <a:t> ACK Data.</a:t>
            </a:r>
          </a:p>
        </p:txBody>
      </p:sp>
      <p:sp>
        <p:nvSpPr>
          <p:cNvPr id="9" name="PDF_TEXT_GROUP_12"/>
          <p:cNvSpPr txBox="1"/>
          <p:nvPr/>
        </p:nvSpPr>
        <p:spPr>
          <a:xfrm>
            <a:off x="1618972" y="4891745"/>
            <a:ext cx="43015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selects one eligible</a:t>
            </a:r>
            <a:r>
              <a:rPr sz="2710" b="0" i="0">
                <a:solidFill>
                  <a:srgbClr val="000000"/>
                </a:solidFill>
                <a:latin typeface="Latin Modern Sans"/>
              </a:rPr>
              <a:t> positive-ACK Provider.</a:t>
            </a:r>
          </a:p>
        </p:txBody>
      </p:sp>
      <p:sp>
        <p:nvSpPr>
          <p:cNvPr id="10" name="PDF_TEXT_GROUP_13"/>
          <p:cNvSpPr txBox="1"/>
          <p:nvPr/>
        </p:nvSpPr>
        <p:spPr>
          <a:xfrm>
            <a:off x="7657400" y="5116558"/>
            <a:ext cx="321121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 executes the service</a:t>
            </a:r>
          </a:p>
        </p:txBody>
      </p:sp>
      <p:sp>
        <p:nvSpPr>
          <p:cNvPr id="11" name="PDF_TEXT_GROUP_14"/>
          <p:cNvSpPr txBox="1"/>
          <p:nvPr/>
        </p:nvSpPr>
        <p:spPr>
          <a:xfrm>
            <a:off x="1143656" y="6438706"/>
            <a:ext cx="1187236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Initial NDNSF: discover alternatives and select one Provider per invocation, not</a:t>
            </a:r>
            <a:r>
              <a:rPr sz="2710" b="0" i="0">
                <a:solidFill>
                  <a:srgbClr val="000000"/>
                </a:solidFill>
                <a:latin typeface="Latin Modern Sans"/>
              </a:rPr>
              <a:t> multiple collaborating roles. Arrows show the selection process.</a:t>
            </a:r>
          </a:p>
        </p:txBody>
      </p:sp>
      <p:sp>
        <p:nvSpPr>
          <p:cNvPr id="12" name="PDF_TEXT_GROUP_1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3" name="PDF_TEXT_GROUP_1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4" name="PDF_TEXT_GROUP_1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5" name="PDF_TEXT_GROUP_1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6" name="PDF_TEXT_GROUP_19"/>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2/49</a:t>
            </a:r>
          </a:p>
        </p:txBody>
      </p:sp>
      <p:sp>
        <p:nvSpPr>
          <p:cNvPr id="17" name="PDF_BULLET_SPAN_11"/>
          <p:cNvSpPr/>
          <p:nvPr/>
        </p:nvSpPr>
        <p:spPr>
          <a:xfrm rot="5400000">
            <a:off x="1207424" y="162286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DF_BULLET_SPAN_14"/>
          <p:cNvSpPr/>
          <p:nvPr/>
        </p:nvSpPr>
        <p:spPr>
          <a:xfrm rot="5400000">
            <a:off x="1207424" y="259513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17"/>
          <p:cNvSpPr/>
          <p:nvPr/>
        </p:nvSpPr>
        <p:spPr>
          <a:xfrm rot="5400000">
            <a:off x="1207424" y="356739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21"/>
          <p:cNvSpPr/>
          <p:nvPr/>
        </p:nvSpPr>
        <p:spPr>
          <a:xfrm rot="5400000">
            <a:off x="1207424" y="497753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 descr="background-003.png"/>
          <p:cNvPicPr>
            <a:picLocks noChangeAspect="1"/>
          </p:cNvPicPr>
          <p:nvPr/>
        </p:nvPicPr>
        <p:blipFill>
          <a:blip r:embed="rId2"/>
          <a:stretch>
            <a:fillRect/>
          </a:stretch>
        </p:blipFill>
        <p:spPr>
          <a:xfrm>
            <a:off x="0" y="0"/>
            <a:ext cx="14630400" cy="8229600"/>
          </a:xfrm>
          <a:prstGeom prst="rect">
            <a:avLst/>
          </a:prstGeom>
        </p:spPr>
      </p:pic>
      <p:sp>
        <p:nvSpPr>
          <p:cNvPr id="3" name="PDF_TEXT_GROUP_2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From Invocation to Collaboration: Two Research Scopes</a:t>
            </a:r>
          </a:p>
        </p:txBody>
      </p:sp>
      <p:sp>
        <p:nvSpPr>
          <p:cNvPr id="4" name="PDF_TEXT_GROUP_21"/>
          <p:cNvSpPr txBox="1"/>
          <p:nvPr/>
        </p:nvSpPr>
        <p:spPr>
          <a:xfrm>
            <a:off x="914808" y="1818119"/>
            <a:ext cx="8371585"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Foundation: evaluate discovery and authorization</a:t>
            </a:r>
          </a:p>
        </p:txBody>
      </p:sp>
      <p:sp>
        <p:nvSpPr>
          <p:cNvPr id="5" name="PDF_TEXT_GROUP_22"/>
          <p:cNvSpPr txBox="1"/>
          <p:nvPr/>
        </p:nvSpPr>
        <p:spPr>
          <a:xfrm>
            <a:off x="914808" y="2386769"/>
            <a:ext cx="1293560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initial prototype selects one Provider. Discovery confidentiality, service permissions</a:t>
            </a:r>
            <a:r>
              <a:rPr sz="2710" b="0" i="0">
                <a:solidFill>
                  <a:srgbClr val="000000"/>
                </a:solidFill>
                <a:latin typeface="Latin Modern Sans"/>
              </a:rPr>
              <a:t> and management costs matter even without collaboration.</a:t>
            </a:r>
          </a:p>
        </p:txBody>
      </p:sp>
      <p:sp>
        <p:nvSpPr>
          <p:cNvPr id="6" name="PDF_TEXT_GROUP_23"/>
          <p:cNvSpPr txBox="1"/>
          <p:nvPr/>
        </p:nvSpPr>
        <p:spPr>
          <a:xfrm>
            <a:off x="914808" y="3714794"/>
            <a:ext cx="730759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Extension: coordinate complementary roles</a:t>
            </a:r>
          </a:p>
        </p:txBody>
      </p:sp>
      <p:sp>
        <p:nvSpPr>
          <p:cNvPr id="7" name="PDF_TEXT_GROUP_24"/>
          <p:cNvSpPr txBox="1"/>
          <p:nvPr/>
        </p:nvSpPr>
        <p:spPr>
          <a:xfrm>
            <a:off x="914808" y="4283412"/>
            <a:ext cx="1282688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Some tasks need several Providers with different responsibilities. Separate calls do not</a:t>
            </a:r>
            <a:r>
              <a:rPr sz="2710" b="0" i="0">
                <a:solidFill>
                  <a:srgbClr val="000000"/>
                </a:solidFill>
                <a:latin typeface="Latin Modern Sans"/>
              </a:rPr>
              <a:t> define a shared role assignment or enforce dependencies between them.</a:t>
            </a:r>
          </a:p>
        </p:txBody>
      </p:sp>
      <p:sp>
        <p:nvSpPr>
          <p:cNvPr id="8" name="PDF_TEXT_GROUP_25"/>
          <p:cNvSpPr txBox="1"/>
          <p:nvPr/>
        </p:nvSpPr>
        <p:spPr>
          <a:xfrm>
            <a:off x="1143656" y="5994598"/>
            <a:ext cx="1186848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Evaluate the invocation foundation; develop and validate the collaboration</a:t>
            </a:r>
            <a:r>
              <a:rPr sz="2710" b="0" i="0">
                <a:solidFill>
                  <a:srgbClr val="000000"/>
                </a:solidFill>
                <a:latin typeface="Latin Modern Sans"/>
              </a:rPr>
              <a:t> extension. Existing invocation results do not establish collaboration correctness.</a:t>
            </a:r>
          </a:p>
        </p:txBody>
      </p:sp>
      <p:sp>
        <p:nvSpPr>
          <p:cNvPr id="9" name="PDF_TEXT_GROUP_2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0"/>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3/49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 descr="background-004.png"/>
          <p:cNvPicPr>
            <a:picLocks noChangeAspect="1"/>
          </p:cNvPicPr>
          <p:nvPr/>
        </p:nvPicPr>
        <p:blipFill>
          <a:blip r:embed="rId2"/>
          <a:stretch>
            <a:fillRect/>
          </a:stretch>
        </p:blipFill>
        <p:spPr>
          <a:xfrm>
            <a:off x="0" y="0"/>
            <a:ext cx="14630400" cy="8229600"/>
          </a:xfrm>
          <a:prstGeom prst="rect">
            <a:avLst/>
          </a:prstGeom>
        </p:spPr>
      </p:pic>
      <p:sp>
        <p:nvSpPr>
          <p:cNvPr id="3" name="PDF_TEXT_GROUP_3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NDN Primitives and Service-Level Decisions</a:t>
            </a:r>
          </a:p>
        </p:txBody>
      </p:sp>
      <p:sp>
        <p:nvSpPr>
          <p:cNvPr id="4" name="PDF_TEXT_GROUP_32"/>
          <p:cNvSpPr txBox="1"/>
          <p:nvPr/>
        </p:nvSpPr>
        <p:spPr>
          <a:xfrm>
            <a:off x="1107736" y="1374557"/>
            <a:ext cx="28839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 building block</a:t>
            </a:r>
          </a:p>
        </p:txBody>
      </p:sp>
      <p:sp>
        <p:nvSpPr>
          <p:cNvPr id="5" name="PDF_TEXT_GROUP_33"/>
          <p:cNvSpPr txBox="1"/>
          <p:nvPr/>
        </p:nvSpPr>
        <p:spPr>
          <a:xfrm>
            <a:off x="6488510" y="1374557"/>
            <a:ext cx="519355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Remaining application responsibility</a:t>
            </a:r>
          </a:p>
        </p:txBody>
      </p:sp>
      <p:sp>
        <p:nvSpPr>
          <p:cNvPr id="6" name="PDF_TEXT_GROUP_34"/>
          <p:cNvSpPr txBox="1"/>
          <p:nvPr/>
        </p:nvSpPr>
        <p:spPr>
          <a:xfrm>
            <a:off x="1107736" y="1942916"/>
            <a:ext cx="454198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Data and signatures [1]</a:t>
            </a:r>
          </a:p>
        </p:txBody>
      </p:sp>
      <p:sp>
        <p:nvSpPr>
          <p:cNvPr id="7" name="PDF_TEXT_GROUP_35"/>
          <p:cNvSpPr txBox="1"/>
          <p:nvPr/>
        </p:nvSpPr>
        <p:spPr>
          <a:xfrm>
            <a:off x="6488446" y="1942916"/>
            <a:ext cx="651689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Names support identity and forwarding; a Trust</a:t>
            </a:r>
            <a:r>
              <a:rPr sz="2371" b="0" i="0">
                <a:solidFill>
                  <a:srgbClr val="000000"/>
                </a:solidFill>
                <a:latin typeface="Latin Modern Sans"/>
              </a:rPr>
              <a:t> Schema [16] constrains signing keys</a:t>
            </a:r>
          </a:p>
        </p:txBody>
      </p:sp>
      <p:sp>
        <p:nvSpPr>
          <p:cNvPr id="8" name="PDF_TEXT_GROUP_36"/>
          <p:cNvSpPr txBox="1"/>
          <p:nvPr/>
        </p:nvSpPr>
        <p:spPr>
          <a:xfrm>
            <a:off x="1107736" y="2897604"/>
            <a:ext cx="51489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Interest retrieval and caching [1,26]</a:t>
            </a:r>
          </a:p>
        </p:txBody>
      </p:sp>
      <p:sp>
        <p:nvSpPr>
          <p:cNvPr id="9" name="PDF_TEXT_GROUP_37"/>
          <p:cNvSpPr txBox="1"/>
          <p:nvPr/>
        </p:nvSpPr>
        <p:spPr>
          <a:xfrm>
            <a:off x="6488381" y="2897604"/>
            <a:ext cx="6637783"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Check task identity, dependencies and deadlines;</a:t>
            </a:r>
            <a:r>
              <a:rPr sz="2371" b="0" i="0">
                <a:solidFill>
                  <a:srgbClr val="000000"/>
                </a:solidFill>
                <a:latin typeface="Latin Modern Sans"/>
              </a:rPr>
              <a:t> caches do not guarantee storage</a:t>
            </a:r>
          </a:p>
        </p:txBody>
      </p:sp>
      <p:sp>
        <p:nvSpPr>
          <p:cNvPr id="10" name="PDF_TEXT_GROUP_38"/>
          <p:cNvSpPr txBox="1"/>
          <p:nvPr/>
        </p:nvSpPr>
        <p:spPr>
          <a:xfrm>
            <a:off x="1107736" y="3852323"/>
            <a:ext cx="52610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Dataset synchronization / SVS [2,3]</a:t>
            </a:r>
          </a:p>
        </p:txBody>
      </p:sp>
      <p:sp>
        <p:nvSpPr>
          <p:cNvPr id="11" name="PDF_TEXT_GROUP_39"/>
          <p:cNvSpPr txBox="1"/>
          <p:nvPr/>
        </p:nvSpPr>
        <p:spPr>
          <a:xfrm>
            <a:off x="6488413" y="3852323"/>
            <a:ext cx="731587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 names; define service-message transitions</a:t>
            </a:r>
          </a:p>
        </p:txBody>
      </p:sp>
      <p:sp>
        <p:nvSpPr>
          <p:cNvPr id="12" name="PDF_TEXT_GROUP_40"/>
          <p:cNvSpPr txBox="1"/>
          <p:nvPr/>
        </p:nvSpPr>
        <p:spPr>
          <a:xfrm>
            <a:off x="1107736" y="4420683"/>
            <a:ext cx="518751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NAC [4] / enhanced NAC-ABE [19]</a:t>
            </a:r>
          </a:p>
        </p:txBody>
      </p:sp>
      <p:sp>
        <p:nvSpPr>
          <p:cNvPr id="13" name="PDF_TEXT_GROUP_41"/>
          <p:cNvSpPr txBox="1"/>
          <p:nvPr/>
        </p:nvSpPr>
        <p:spPr>
          <a:xfrm>
            <a:off x="6488446" y="4420683"/>
            <a:ext cx="686825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Encrypt Content for read access; check invocation</a:t>
            </a:r>
            <a:r>
              <a:rPr sz="2371" b="0" i="0">
                <a:solidFill>
                  <a:srgbClr val="000000"/>
                </a:solidFill>
                <a:latin typeface="Latin Modern Sans"/>
              </a:rPr>
              <a:t> permission separately</a:t>
            </a:r>
          </a:p>
        </p:txBody>
      </p:sp>
      <p:sp>
        <p:nvSpPr>
          <p:cNvPr id="14" name="PDF_TEXT_GROUP_42"/>
          <p:cNvSpPr txBox="1"/>
          <p:nvPr/>
        </p:nvSpPr>
        <p:spPr>
          <a:xfrm>
            <a:off x="914808" y="5269338"/>
            <a:ext cx="1155456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NAC: Name-based Access Control; ABE: attribute-based encryption; SVS: State Vector Sync.</a:t>
            </a:r>
          </a:p>
        </p:txBody>
      </p:sp>
      <p:sp>
        <p:nvSpPr>
          <p:cNvPr id="15" name="PDF_TEXT_GROUP_43"/>
          <p:cNvSpPr txBox="1"/>
          <p:nvPr/>
        </p:nvSpPr>
        <p:spPr>
          <a:xfrm>
            <a:off x="1092471" y="6101331"/>
            <a:ext cx="1239911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 supplies data-centric communication. NDNSF defines how validated service messages</a:t>
            </a:r>
            <a:r>
              <a:rPr sz="2371" b="0" i="0">
                <a:solidFill>
                  <a:srgbClr val="000000"/>
                </a:solidFill>
                <a:latin typeface="Latin Modern Sans"/>
              </a:rPr>
              <a:t> authorize and advance an invocation.</a:t>
            </a:r>
          </a:p>
        </p:txBody>
      </p:sp>
      <p:sp>
        <p:nvSpPr>
          <p:cNvPr id="16" name="PDF_TEXT_GROUP_4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4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4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4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48"/>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4/49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 descr="background-005.png"/>
          <p:cNvPicPr>
            <a:picLocks noChangeAspect="1"/>
          </p:cNvPicPr>
          <p:nvPr/>
        </p:nvPicPr>
        <p:blipFill>
          <a:blip r:embed="rId2"/>
          <a:stretch>
            <a:fillRect/>
          </a:stretch>
        </p:blipFill>
        <p:spPr>
          <a:xfrm>
            <a:off x="0" y="0"/>
            <a:ext cx="14630400" cy="8229600"/>
          </a:xfrm>
          <a:prstGeom prst="rect">
            <a:avLst/>
          </a:prstGeom>
        </p:spPr>
      </p:pic>
      <p:sp>
        <p:nvSpPr>
          <p:cNvPr id="3" name="PDF_TEXT_GROUP_4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Application Needs Determine the Research Scope</a:t>
            </a:r>
          </a:p>
        </p:txBody>
      </p:sp>
      <p:sp>
        <p:nvSpPr>
          <p:cNvPr id="4" name="PDF_TEXT_GROUP_50"/>
          <p:cNvSpPr txBox="1"/>
          <p:nvPr/>
        </p:nvSpPr>
        <p:spPr>
          <a:xfrm>
            <a:off x="1107736" y="1358722"/>
            <a:ext cx="242334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Application need</a:t>
            </a:r>
          </a:p>
        </p:txBody>
      </p:sp>
      <p:sp>
        <p:nvSpPr>
          <p:cNvPr id="5" name="PDF_TEXT_GROUP_51"/>
          <p:cNvSpPr txBox="1"/>
          <p:nvPr/>
        </p:nvSpPr>
        <p:spPr>
          <a:xfrm>
            <a:off x="5847941" y="1358722"/>
            <a:ext cx="290723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Framework question</a:t>
            </a:r>
          </a:p>
        </p:txBody>
      </p:sp>
      <p:sp>
        <p:nvSpPr>
          <p:cNvPr id="6" name="PDF_TEXT_GROUP_52"/>
          <p:cNvSpPr txBox="1"/>
          <p:nvPr/>
        </p:nvSpPr>
        <p:spPr>
          <a:xfrm>
            <a:off x="1107736" y="1927082"/>
            <a:ext cx="448236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Find a camera covering an area,</a:t>
            </a:r>
            <a:r>
              <a:rPr sz="2371" b="0" i="0">
                <a:solidFill>
                  <a:srgbClr val="000000"/>
                </a:solidFill>
                <a:latin typeface="Latin Modern Sans"/>
              </a:rPr>
              <a:t> or compute capacity for a model</a:t>
            </a:r>
          </a:p>
        </p:txBody>
      </p:sp>
      <p:sp>
        <p:nvSpPr>
          <p:cNvPr id="7" name="PDF_TEXT_GROUP_53"/>
          <p:cNvSpPr txBox="1"/>
          <p:nvPr/>
        </p:nvSpPr>
        <p:spPr>
          <a:xfrm>
            <a:off x="5848082" y="1927082"/>
            <a:ext cx="664274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Who is permitted, reachable and willing now?</a:t>
            </a:r>
          </a:p>
        </p:txBody>
      </p:sp>
      <p:sp>
        <p:nvSpPr>
          <p:cNvPr id="8" name="PDF_TEXT_GROUP_54"/>
          <p:cNvSpPr txBox="1"/>
          <p:nvPr/>
        </p:nvSpPr>
        <p:spPr>
          <a:xfrm>
            <a:off x="1107736" y="2881769"/>
            <a:ext cx="47026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Analyze</a:t>
            </a:r>
            <a:r>
              <a:rPr sz="2371" b="0" i="0">
                <a:solidFill>
                  <a:srgbClr val="000000"/>
                </a:solidFill>
                <a:latin typeface="Latin Modern Sans"/>
              </a:rPr>
              <a:t> images</a:t>
            </a:r>
            <a:r>
              <a:rPr sz="2371" b="0" i="0">
                <a:solidFill>
                  <a:srgbClr val="000000"/>
                </a:solidFill>
                <a:latin typeface="Latin Modern Sans"/>
              </a:rPr>
              <a:t> from</a:t>
            </a:r>
            <a:r>
              <a:rPr sz="2371" b="0" i="0">
                <a:solidFill>
                  <a:srgbClr val="000000"/>
                </a:solidFill>
                <a:latin typeface="Latin Modern Sans"/>
              </a:rPr>
              <a:t> several</a:t>
            </a:r>
          </a:p>
        </p:txBody>
      </p:sp>
      <p:sp>
        <p:nvSpPr>
          <p:cNvPr id="9" name="PDF_TEXT_GROUP_55"/>
          <p:cNvSpPr txBox="1"/>
          <p:nvPr/>
        </p:nvSpPr>
        <p:spPr>
          <a:xfrm>
            <a:off x="5848082" y="2881769"/>
            <a:ext cx="77230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Which Provider performs each role, and which inputs</a:t>
            </a:r>
          </a:p>
        </p:txBody>
      </p:sp>
      <p:sp>
        <p:nvSpPr>
          <p:cNvPr id="10" name="PDF_TEXT_GROUP_56"/>
          <p:cNvSpPr txBox="1"/>
          <p:nvPr/>
        </p:nvSpPr>
        <p:spPr>
          <a:xfrm>
            <a:off x="1107736" y="3268129"/>
            <a:ext cx="448236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cameras, or execute dependent</a:t>
            </a:r>
            <a:r>
              <a:rPr sz="2371" b="0" i="0">
                <a:solidFill>
                  <a:srgbClr val="000000"/>
                </a:solidFill>
                <a:latin typeface="Latin Modern Sans"/>
              </a:rPr>
              <a:t> model fragments</a:t>
            </a:r>
          </a:p>
        </p:txBody>
      </p:sp>
      <p:sp>
        <p:nvSpPr>
          <p:cNvPr id="11" name="PDF_TEXT_GROUP_57"/>
          <p:cNvSpPr txBox="1"/>
          <p:nvPr/>
        </p:nvSpPr>
        <p:spPr>
          <a:xfrm>
            <a:off x="5848082" y="3268129"/>
            <a:ext cx="17213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may it use?</a:t>
            </a:r>
          </a:p>
        </p:txBody>
      </p:sp>
      <p:sp>
        <p:nvSpPr>
          <p:cNvPr id="12" name="PDF_TEXT_GROUP_58"/>
          <p:cNvSpPr txBox="1"/>
          <p:nvPr/>
        </p:nvSpPr>
        <p:spPr>
          <a:xfrm>
            <a:off x="1107736" y="4222817"/>
            <a:ext cx="470283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Obtain useful output before a</a:t>
            </a:r>
          </a:p>
        </p:txBody>
      </p:sp>
      <p:sp>
        <p:nvSpPr>
          <p:cNvPr id="13" name="PDF_TEXT_GROUP_59"/>
          <p:cNvSpPr txBox="1"/>
          <p:nvPr/>
        </p:nvSpPr>
        <p:spPr>
          <a:xfrm>
            <a:off x="5848082" y="4222817"/>
            <a:ext cx="759561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What completes, what fails, and what does recovery</a:t>
            </a:r>
          </a:p>
        </p:txBody>
      </p:sp>
      <p:sp>
        <p:nvSpPr>
          <p:cNvPr id="14" name="PDF_TEXT_GROUP_60"/>
          <p:cNvSpPr txBox="1"/>
          <p:nvPr/>
        </p:nvSpPr>
        <p:spPr>
          <a:xfrm>
            <a:off x="1107736" y="4609145"/>
            <a:ext cx="465973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deadline, despite loss or outages</a:t>
            </a:r>
          </a:p>
        </p:txBody>
      </p:sp>
      <p:sp>
        <p:nvSpPr>
          <p:cNvPr id="15" name="PDF_TEXT_GROUP_61"/>
          <p:cNvSpPr txBox="1"/>
          <p:nvPr/>
        </p:nvSpPr>
        <p:spPr>
          <a:xfrm>
            <a:off x="5848082" y="4609145"/>
            <a:ext cx="8755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cost?</a:t>
            </a:r>
          </a:p>
        </p:txBody>
      </p:sp>
      <p:sp>
        <p:nvSpPr>
          <p:cNvPr id="16" name="PDF_TEXT_GROUP_62"/>
          <p:cNvSpPr txBox="1"/>
          <p:nvPr/>
        </p:nvSpPr>
        <p:spPr>
          <a:xfrm>
            <a:off x="1123808" y="5504049"/>
            <a:ext cx="12315772"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These needs lead to RQ1–RQ3. Invocation [9,10] and command authorization [12] provide</a:t>
            </a:r>
            <a:r>
              <a:rPr sz="2371" b="0" i="0">
                <a:solidFill>
                  <a:srgbClr val="000000"/>
                </a:solidFill>
                <a:latin typeface="Latin Modern Sans"/>
              </a:rPr>
              <a:t> precedents. This is a bounded framework scope, not a claim to cover every application</a:t>
            </a:r>
            <a:r>
              <a:rPr sz="2371" b="0" i="0">
                <a:solidFill>
                  <a:srgbClr val="000000"/>
                </a:solidFill>
                <a:latin typeface="Latin Modern Sans"/>
              </a:rPr>
              <a:t> requirement.</a:t>
            </a:r>
          </a:p>
        </p:txBody>
      </p:sp>
      <p:sp>
        <p:nvSpPr>
          <p:cNvPr id="17" name="PDF_TEXT_GROUP_6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6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6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6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67"/>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5/49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6" descr="background-006.png"/>
          <p:cNvPicPr>
            <a:picLocks noChangeAspect="1"/>
          </p:cNvPicPr>
          <p:nvPr/>
        </p:nvPicPr>
        <p:blipFill>
          <a:blip r:embed="rId2"/>
          <a:stretch>
            <a:fillRect/>
          </a:stretch>
        </p:blipFill>
        <p:spPr>
          <a:xfrm>
            <a:off x="0" y="0"/>
            <a:ext cx="14630400" cy="8229600"/>
          </a:xfrm>
          <a:prstGeom prst="rect">
            <a:avLst/>
          </a:prstGeom>
        </p:spPr>
      </p:pic>
      <p:sp>
        <p:nvSpPr>
          <p:cNvPr id="3" name="PDF_TEXT_GROUP_6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Three Research Questions</a:t>
            </a:r>
          </a:p>
        </p:txBody>
      </p:sp>
      <p:sp>
        <p:nvSpPr>
          <p:cNvPr id="4" name="PDF_TEXT_GROUP_69"/>
          <p:cNvSpPr txBox="1"/>
          <p:nvPr/>
        </p:nvSpPr>
        <p:spPr>
          <a:xfrm>
            <a:off x="1618972" y="1854409"/>
            <a:ext cx="12223900"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a:t>
            </a:r>
            <a:r>
              <a:rPr sz="2710" b="0" i="0">
                <a:solidFill>
                  <a:srgbClr val="000000"/>
                </a:solidFill>
                <a:latin typeface="Latin Modern Sans"/>
              </a:rPr>
              <a:t> How can NDNSF discover willing Providers, keep descriptors confidential</a:t>
            </a:r>
            <a:r>
              <a:rPr sz="2710" b="0" i="0">
                <a:solidFill>
                  <a:srgbClr val="000000"/>
                </a:solidFill>
                <a:latin typeface="Latin Modern Sans"/>
              </a:rPr>
              <a:t> from unauthorized readers, and check service permissions before execution, and at</a:t>
            </a:r>
            <a:r>
              <a:rPr sz="2710" b="0" i="0">
                <a:solidFill>
                  <a:srgbClr val="000000"/>
                </a:solidFill>
                <a:latin typeface="Latin Modern Sans"/>
              </a:rPr>
              <a:t> what cost?</a:t>
            </a:r>
          </a:p>
        </p:txBody>
      </p:sp>
      <p:sp>
        <p:nvSpPr>
          <p:cNvPr id="5" name="PDF_TEXT_GROUP_70"/>
          <p:cNvSpPr txBox="1"/>
          <p:nvPr/>
        </p:nvSpPr>
        <p:spPr>
          <a:xfrm>
            <a:off x="1618972" y="3264547"/>
            <a:ext cx="1174624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a:t>
            </a:r>
            <a:r>
              <a:rPr sz="2710" b="0" i="0">
                <a:solidFill>
                  <a:srgbClr val="000000"/>
                </a:solidFill>
                <a:latin typeface="Latin Modern Sans"/>
              </a:rPr>
              <a:t> How can single-Provider invocation be extended to roles and named</a:t>
            </a:r>
            <a:r>
              <a:rPr sz="2710" b="0" i="0">
                <a:solidFill>
                  <a:srgbClr val="000000"/>
                </a:solidFill>
                <a:latin typeface="Latin Modern Sans"/>
              </a:rPr>
              <a:t> dependencies across Providers, whether Data comes from producers or caches?</a:t>
            </a:r>
          </a:p>
        </p:txBody>
      </p:sp>
      <p:sp>
        <p:nvSpPr>
          <p:cNvPr id="6" name="PDF_TEXT_GROUP_71"/>
          <p:cNvSpPr txBox="1"/>
          <p:nvPr/>
        </p:nvSpPr>
        <p:spPr>
          <a:xfrm>
            <a:off x="1618972" y="4236814"/>
            <a:ext cx="1140692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a:t>
            </a:r>
            <a:r>
              <a:rPr sz="2710" b="0" i="0">
                <a:solidFill>
                  <a:srgbClr val="000000"/>
                </a:solidFill>
                <a:latin typeface="Latin Modern Sans"/>
              </a:rPr>
              <a:t> When do these mechanisms improve completion, latency, or execution</a:t>
            </a:r>
            <a:r>
              <a:rPr sz="2710" b="0" i="0">
                <a:solidFill>
                  <a:srgbClr val="000000"/>
                </a:solidFill>
                <a:latin typeface="Latin Modern Sans"/>
              </a:rPr>
              <a:t> efficiency, and when do their costs outweigh the benefits?</a:t>
            </a:r>
          </a:p>
        </p:txBody>
      </p:sp>
      <p:sp>
        <p:nvSpPr>
          <p:cNvPr id="7" name="PDF_TEXT_GROUP_72"/>
          <p:cNvSpPr txBox="1"/>
          <p:nvPr/>
        </p:nvSpPr>
        <p:spPr>
          <a:xfrm>
            <a:off x="1143656" y="5830501"/>
            <a:ext cx="121842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RQ1 evaluates the invocation foundation; RQ2 studies its collaboration extension;</a:t>
            </a:r>
            <a:r>
              <a:rPr sz="2710" b="0" i="0">
                <a:solidFill>
                  <a:srgbClr val="000000"/>
                </a:solidFill>
                <a:latin typeface="Latin Modern Sans"/>
              </a:rPr>
              <a:t> RQ3 measures both scopes separately.</a:t>
            </a:r>
          </a:p>
        </p:txBody>
      </p:sp>
      <p:sp>
        <p:nvSpPr>
          <p:cNvPr id="8" name="PDF_TEXT_GROUP_7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7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7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7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77"/>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6/49</a:t>
            </a:r>
          </a:p>
        </p:txBody>
      </p:sp>
      <p:sp>
        <p:nvSpPr>
          <p:cNvPr id="13" name="PDF_BULLET_SPAN_98"/>
          <p:cNvSpPr/>
          <p:nvPr/>
        </p:nvSpPr>
        <p:spPr>
          <a:xfrm rot="5400000">
            <a:off x="1207424" y="194020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103"/>
          <p:cNvSpPr/>
          <p:nvPr/>
        </p:nvSpPr>
        <p:spPr>
          <a:xfrm rot="5400000">
            <a:off x="1207424" y="335033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107"/>
          <p:cNvSpPr/>
          <p:nvPr/>
        </p:nvSpPr>
        <p:spPr>
          <a:xfrm rot="5400000">
            <a:off x="1207424" y="432260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7" descr="background-007.png"/>
          <p:cNvPicPr>
            <a:picLocks noChangeAspect="1"/>
          </p:cNvPicPr>
          <p:nvPr/>
        </p:nvPicPr>
        <p:blipFill>
          <a:blip r:embed="rId2"/>
          <a:stretch>
            <a:fillRect/>
          </a:stretch>
        </p:blipFill>
        <p:spPr>
          <a:xfrm>
            <a:off x="0" y="0"/>
            <a:ext cx="14630400" cy="8229600"/>
          </a:xfrm>
          <a:prstGeom prst="rect">
            <a:avLst/>
          </a:prstGeom>
        </p:spPr>
      </p:pic>
      <p:sp>
        <p:nvSpPr>
          <p:cNvPr id="3" name="PDF_TEXT_GROUP_7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Related Work and the Remaining Questions</a:t>
            </a:r>
          </a:p>
        </p:txBody>
      </p:sp>
      <p:sp>
        <p:nvSpPr>
          <p:cNvPr id="4" name="PDF_TEXT_GROUP_79"/>
          <p:cNvSpPr txBox="1"/>
          <p:nvPr/>
        </p:nvSpPr>
        <p:spPr>
          <a:xfrm>
            <a:off x="1107736" y="1255152"/>
            <a:ext cx="15713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Prior work</a:t>
            </a:r>
          </a:p>
        </p:txBody>
      </p:sp>
      <p:sp>
        <p:nvSpPr>
          <p:cNvPr id="5" name="PDF_TEXT_GROUP_80"/>
          <p:cNvSpPr txBox="1"/>
          <p:nvPr/>
        </p:nvSpPr>
        <p:spPr>
          <a:xfrm>
            <a:off x="4951568" y="1255152"/>
            <a:ext cx="58797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What the comparison must acknowledge</a:t>
            </a:r>
          </a:p>
        </p:txBody>
      </p:sp>
      <p:sp>
        <p:nvSpPr>
          <p:cNvPr id="6" name="PDF_TEXT_GROUP_81"/>
          <p:cNvSpPr txBox="1"/>
          <p:nvPr/>
        </p:nvSpPr>
        <p:spPr>
          <a:xfrm>
            <a:off x="1107736" y="1823512"/>
            <a:ext cx="28424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NFN [6], NFaaS [7]</a:t>
            </a:r>
          </a:p>
        </p:txBody>
      </p:sp>
      <p:sp>
        <p:nvSpPr>
          <p:cNvPr id="7" name="PDF_TEXT_GROUP_82"/>
          <p:cNvSpPr txBox="1"/>
          <p:nvPr/>
        </p:nvSpPr>
        <p:spPr>
          <a:xfrm>
            <a:off x="4951408" y="1823512"/>
            <a:ext cx="801814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computation and function execution/placement</a:t>
            </a:r>
          </a:p>
        </p:txBody>
      </p:sp>
      <p:sp>
        <p:nvSpPr>
          <p:cNvPr id="8" name="PDF_TEXT_GROUP_83"/>
          <p:cNvSpPr txBox="1"/>
          <p:nvPr/>
        </p:nvSpPr>
        <p:spPr>
          <a:xfrm>
            <a:off x="1107736" y="2391871"/>
            <a:ext cx="2776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RICE [9], NSC [10]</a:t>
            </a:r>
          </a:p>
        </p:txBody>
      </p:sp>
      <p:sp>
        <p:nvSpPr>
          <p:cNvPr id="9" name="PDF_TEXT_GROUP_84"/>
          <p:cNvSpPr txBox="1"/>
          <p:nvPr/>
        </p:nvSpPr>
        <p:spPr>
          <a:xfrm>
            <a:off x="4951472" y="2391871"/>
            <a:ext cx="852425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mechanisms; NSC checks signed calls using a Trust</a:t>
            </a:r>
            <a:r>
              <a:rPr sz="2371" b="0" i="0">
                <a:solidFill>
                  <a:srgbClr val="000000"/>
                </a:solidFill>
                <a:latin typeface="Latin Modern Sans"/>
              </a:rPr>
              <a:t> Schema</a:t>
            </a:r>
          </a:p>
        </p:txBody>
      </p:sp>
      <p:sp>
        <p:nvSpPr>
          <p:cNvPr id="10" name="PDF_TEXT_GROUP_85"/>
          <p:cNvSpPr txBox="1"/>
          <p:nvPr/>
        </p:nvSpPr>
        <p:spPr>
          <a:xfrm>
            <a:off x="1107736" y="3346591"/>
            <a:ext cx="17417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 [12]</a:t>
            </a:r>
          </a:p>
        </p:txBody>
      </p:sp>
      <p:sp>
        <p:nvSpPr>
          <p:cNvPr id="11" name="PDF_TEXT_GROUP_86"/>
          <p:cNvSpPr txBox="1"/>
          <p:nvPr/>
        </p:nvSpPr>
        <p:spPr>
          <a:xfrm>
            <a:off x="4951601" y="3346591"/>
            <a:ext cx="867318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Trust Schema constrains roles and measurement commands</a:t>
            </a:r>
          </a:p>
        </p:txBody>
      </p:sp>
      <p:sp>
        <p:nvSpPr>
          <p:cNvPr id="12" name="PDF_TEXT_GROUP_87"/>
          <p:cNvSpPr txBox="1"/>
          <p:nvPr/>
        </p:nvSpPr>
        <p:spPr>
          <a:xfrm>
            <a:off x="1107736" y="3914950"/>
            <a:ext cx="2003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CaSCON [15]</a:t>
            </a:r>
          </a:p>
        </p:txBody>
      </p:sp>
      <p:sp>
        <p:nvSpPr>
          <p:cNvPr id="13" name="PDF_TEXT_GROUP_88"/>
          <p:cNvSpPr txBox="1"/>
          <p:nvPr/>
        </p:nvSpPr>
        <p:spPr>
          <a:xfrm>
            <a:off x="4951536" y="3914950"/>
            <a:ext cx="799088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Service-composition research; requires a feature-level</a:t>
            </a:r>
            <a:r>
              <a:rPr sz="2371" b="0" i="0">
                <a:solidFill>
                  <a:srgbClr val="000000"/>
                </a:solidFill>
                <a:latin typeface="Latin Modern Sans"/>
              </a:rPr>
              <a:t> comparison before claiming a new composition mechanism</a:t>
            </a:r>
          </a:p>
        </p:txBody>
      </p:sp>
      <p:sp>
        <p:nvSpPr>
          <p:cNvPr id="14" name="PDF_TEXT_GROUP_89"/>
          <p:cNvSpPr txBox="1"/>
          <p:nvPr/>
        </p:nvSpPr>
        <p:spPr>
          <a:xfrm>
            <a:off x="1107736" y="4869638"/>
            <a:ext cx="198517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 [17,27]</a:t>
            </a:r>
          </a:p>
        </p:txBody>
      </p:sp>
      <p:sp>
        <p:nvSpPr>
          <p:cNvPr id="15" name="PDF_TEXT_GROUP_90"/>
          <p:cNvSpPr txBox="1"/>
          <p:nvPr/>
        </p:nvSpPr>
        <p:spPr>
          <a:xfrm>
            <a:off x="4951601" y="4869638"/>
            <a:ext cx="749547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configurations can include discovery/resolver</a:t>
            </a:r>
            <a:r>
              <a:rPr sz="2371" b="0" i="0">
                <a:solidFill>
                  <a:srgbClr val="000000"/>
                </a:solidFill>
                <a:latin typeface="Latin Modern Sans"/>
              </a:rPr>
              <a:t> integration, not only fixed addresses</a:t>
            </a:r>
          </a:p>
        </p:txBody>
      </p:sp>
      <p:sp>
        <p:nvSpPr>
          <p:cNvPr id="16" name="PDF_TEXT_GROUP_91"/>
          <p:cNvSpPr txBox="1"/>
          <p:nvPr/>
        </p:nvSpPr>
        <p:spPr>
          <a:xfrm>
            <a:off x="1123808" y="6137330"/>
            <a:ext cx="1138371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Collaboration research: make runtime assignments constrain intermediate Data use.</a:t>
            </a:r>
            <a:r>
              <a:rPr sz="2371" b="0" i="0">
                <a:solidFill>
                  <a:srgbClr val="000000"/>
                </a:solidFill>
                <a:latin typeface="Latin Modern Sans"/>
              </a:rPr>
              <a:t> Discovery and authorization are evaluated separately.</a:t>
            </a:r>
          </a:p>
        </p:txBody>
      </p:sp>
      <p:sp>
        <p:nvSpPr>
          <p:cNvPr id="17" name="PDF_TEXT_GROUP_9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9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9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9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96"/>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7/49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8" descr="background-008.png"/>
          <p:cNvPicPr>
            <a:picLocks noChangeAspect="1"/>
          </p:cNvPicPr>
          <p:nvPr/>
        </p:nvPicPr>
        <p:blipFill>
          <a:blip r:embed="rId2"/>
          <a:stretch>
            <a:fillRect/>
          </a:stretch>
        </p:blipFill>
        <p:spPr>
          <a:xfrm>
            <a:off x="0" y="0"/>
            <a:ext cx="14630400" cy="8229600"/>
          </a:xfrm>
          <a:prstGeom prst="rect">
            <a:avLst/>
          </a:prstGeom>
        </p:spPr>
      </p:pic>
      <p:sp>
        <p:nvSpPr>
          <p:cNvPr id="3" name="PDF_TEXT_GROUP_9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Proposed Contributions and Current Foundation</a:t>
            </a:r>
          </a:p>
        </p:txBody>
      </p:sp>
      <p:sp>
        <p:nvSpPr>
          <p:cNvPr id="4" name="PDF_TEXT_GROUP_98"/>
          <p:cNvSpPr txBox="1"/>
          <p:nvPr/>
        </p:nvSpPr>
        <p:spPr>
          <a:xfrm>
            <a:off x="1107736" y="1356977"/>
            <a:ext cx="3118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Intended contribution</a:t>
            </a:r>
          </a:p>
        </p:txBody>
      </p:sp>
      <p:sp>
        <p:nvSpPr>
          <p:cNvPr id="5" name="PDF_TEXT_GROUP_99"/>
          <p:cNvSpPr txBox="1"/>
          <p:nvPr/>
        </p:nvSpPr>
        <p:spPr>
          <a:xfrm>
            <a:off x="6360351" y="1356977"/>
            <a:ext cx="38852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Current evidence boundary</a:t>
            </a:r>
          </a:p>
        </p:txBody>
      </p:sp>
      <p:sp>
        <p:nvSpPr>
          <p:cNvPr id="6" name="PDF_TEXT_GROUP_100"/>
          <p:cNvSpPr txBox="1"/>
          <p:nvPr/>
        </p:nvSpPr>
        <p:spPr>
          <a:xfrm>
            <a:off x="1107736" y="1925337"/>
            <a:ext cx="499483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 authorization design and</a:t>
            </a:r>
            <a:r>
              <a:rPr sz="2371" b="0" i="0">
                <a:solidFill>
                  <a:srgbClr val="000000"/>
                </a:solidFill>
                <a:latin typeface="Latin Modern Sans"/>
              </a:rPr>
              <a:t> tradeoffs</a:t>
            </a:r>
          </a:p>
        </p:txBody>
      </p:sp>
      <p:sp>
        <p:nvSpPr>
          <p:cNvPr id="7" name="PDF_TEXT_GROUP_101"/>
          <p:cNvSpPr txBox="1"/>
          <p:nvPr/>
        </p:nvSpPr>
        <p:spPr>
          <a:xfrm>
            <a:off x="6360480" y="1925337"/>
            <a:ext cx="7249705"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implementation and bounded experiments</a:t>
            </a:r>
            <a:r>
              <a:rPr sz="2371" b="0" i="0">
                <a:solidFill>
                  <a:srgbClr val="000000"/>
                </a:solidFill>
                <a:latin typeface="Latin Modern Sans"/>
              </a:rPr>
              <a:t> exist; full alternative lifecycle-cost comparison</a:t>
            </a:r>
            <a:r>
              <a:rPr sz="2371" b="0" i="0">
                <a:solidFill>
                  <a:srgbClr val="000000"/>
                </a:solidFill>
                <a:latin typeface="Latin Modern Sans"/>
              </a:rPr>
              <a:t> remains open</a:t>
            </a:r>
          </a:p>
        </p:txBody>
      </p:sp>
      <p:sp>
        <p:nvSpPr>
          <p:cNvPr id="8" name="PDF_TEXT_GROUP_102"/>
          <p:cNvSpPr txBox="1"/>
          <p:nvPr/>
        </p:nvSpPr>
        <p:spPr>
          <a:xfrm>
            <a:off x="1107736" y="3266384"/>
            <a:ext cx="499490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ACK-derived plan and local input</a:t>
            </a:r>
            <a:r>
              <a:rPr sz="2371" b="0" i="0">
                <a:solidFill>
                  <a:srgbClr val="000000"/>
                </a:solidFill>
                <a:latin typeface="Latin Modern Sans"/>
              </a:rPr>
              <a:t> checks</a:t>
            </a:r>
          </a:p>
        </p:txBody>
      </p:sp>
      <p:sp>
        <p:nvSpPr>
          <p:cNvPr id="9" name="PDF_TEXT_GROUP_103"/>
          <p:cNvSpPr txBox="1"/>
          <p:nvPr/>
        </p:nvSpPr>
        <p:spPr>
          <a:xfrm>
            <a:off x="6360480" y="3266384"/>
            <a:ext cx="699589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 and implementation work; direct/cache and</a:t>
            </a:r>
            <a:r>
              <a:rPr sz="2371" b="0" i="0">
                <a:solidFill>
                  <a:srgbClr val="000000"/>
                </a:solidFill>
                <a:latin typeface="Latin Modern Sans"/>
              </a:rPr>
              <a:t> failure validation remains incomplete</a:t>
            </a:r>
          </a:p>
        </p:txBody>
      </p:sp>
      <p:sp>
        <p:nvSpPr>
          <p:cNvPr id="10" name="PDF_TEXT_GROUP_104"/>
          <p:cNvSpPr txBox="1"/>
          <p:nvPr/>
        </p:nvSpPr>
        <p:spPr>
          <a:xfrm>
            <a:off x="1107736" y="4221072"/>
            <a:ext cx="41484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Cross-case empirical findings</a:t>
            </a:r>
          </a:p>
        </p:txBody>
      </p:sp>
      <p:sp>
        <p:nvSpPr>
          <p:cNvPr id="11" name="PDF_TEXT_GROUP_105"/>
          <p:cNvSpPr txBox="1"/>
          <p:nvPr/>
        </p:nvSpPr>
        <p:spPr>
          <a:xfrm>
            <a:off x="6360351" y="4221072"/>
            <a:ext cx="6794172"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mobility/work-efficiency and small-model</a:t>
            </a:r>
            <a:r>
              <a:rPr sz="2371" b="0" i="0">
                <a:solidFill>
                  <a:srgbClr val="000000"/>
                </a:solidFill>
                <a:latin typeface="Latin Modern Sans"/>
              </a:rPr>
              <a:t> results support limited configurations, not all new</a:t>
            </a:r>
            <a:r>
              <a:rPr sz="2371" b="0" i="0">
                <a:solidFill>
                  <a:srgbClr val="000000"/>
                </a:solidFill>
                <a:latin typeface="Latin Modern Sans"/>
              </a:rPr>
              <a:t> collaboration claims</a:t>
            </a:r>
          </a:p>
        </p:txBody>
      </p:sp>
      <p:sp>
        <p:nvSpPr>
          <p:cNvPr id="12" name="PDF_TEXT_GROUP_106"/>
          <p:cNvSpPr txBox="1"/>
          <p:nvPr/>
        </p:nvSpPr>
        <p:spPr>
          <a:xfrm>
            <a:off x="1123808" y="5875092"/>
            <a:ext cx="12147455"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work supports feasibility. This proposal specifies what remains to be investigated</a:t>
            </a:r>
            <a:r>
              <a:rPr sz="2371" b="0" i="0">
                <a:solidFill>
                  <a:srgbClr val="000000"/>
                </a:solidFill>
                <a:latin typeface="Latin Modern Sans"/>
              </a:rPr>
              <a:t> and how the research claims will be tested. [28]</a:t>
            </a:r>
          </a:p>
        </p:txBody>
      </p:sp>
      <p:sp>
        <p:nvSpPr>
          <p:cNvPr id="13" name="PDF_TEXT_GROUP_10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10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10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11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111"/>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8/49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9" descr="background-009.png"/>
          <p:cNvPicPr>
            <a:picLocks noChangeAspect="1"/>
          </p:cNvPicPr>
          <p:nvPr/>
        </p:nvPicPr>
        <p:blipFill>
          <a:blip r:embed="rId2"/>
          <a:stretch>
            <a:fillRect/>
          </a:stretch>
        </p:blipFill>
        <p:spPr>
          <a:xfrm>
            <a:off x="0" y="0"/>
            <a:ext cx="14630400" cy="8229600"/>
          </a:xfrm>
          <a:prstGeom prst="rect">
            <a:avLst/>
          </a:prstGeom>
        </p:spPr>
      </p:pic>
      <p:sp>
        <p:nvSpPr>
          <p:cNvPr id="3" name="PDF_TEXT_GROUP_11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Participants and Trust Bootstrap</a:t>
            </a:r>
          </a:p>
        </p:txBody>
      </p:sp>
      <p:sp>
        <p:nvSpPr>
          <p:cNvPr id="4" name="PDF_TEXT_GROUP_113"/>
          <p:cNvSpPr txBox="1"/>
          <p:nvPr/>
        </p:nvSpPr>
        <p:spPr>
          <a:xfrm>
            <a:off x="1618972" y="1843196"/>
            <a:ext cx="1092814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User: requests a service and selects a Provider; the extension also assigns</a:t>
            </a:r>
            <a:r>
              <a:rPr sz="2710" b="0" i="0">
                <a:solidFill>
                  <a:srgbClr val="000000"/>
                </a:solidFill>
                <a:latin typeface="Latin Modern Sans"/>
              </a:rPr>
              <a:t> collaboration roles.</a:t>
            </a:r>
          </a:p>
        </p:txBody>
      </p:sp>
      <p:sp>
        <p:nvSpPr>
          <p:cNvPr id="5" name="PDF_TEXT_GROUP_114"/>
          <p:cNvSpPr txBox="1"/>
          <p:nvPr/>
        </p:nvSpPr>
        <p:spPr>
          <a:xfrm>
            <a:off x="1618972" y="2815463"/>
            <a:ext cx="108714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Provider: offers and executes a service. A node may play both roles.</a:t>
            </a:r>
          </a:p>
        </p:txBody>
      </p:sp>
      <p:sp>
        <p:nvSpPr>
          <p:cNvPr id="6" name="PDF_TEXT_GROUP_115"/>
          <p:cNvSpPr txBox="1"/>
          <p:nvPr/>
        </p:nvSpPr>
        <p:spPr>
          <a:xfrm>
            <a:off x="1618972" y="3349891"/>
            <a:ext cx="10931562"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Controller: administers identities and service permissions approved by the</a:t>
            </a:r>
            <a:r>
              <a:rPr sz="2710" b="0" i="0">
                <a:solidFill>
                  <a:srgbClr val="000000"/>
                </a:solidFill>
                <a:latin typeface="Latin Modern Sans"/>
              </a:rPr>
              <a:t> organization.</a:t>
            </a:r>
          </a:p>
        </p:txBody>
      </p:sp>
      <p:sp>
        <p:nvSpPr>
          <p:cNvPr id="7" name="PDF_TEXT_GROUP_116"/>
          <p:cNvSpPr txBox="1"/>
          <p:nvPr/>
        </p:nvSpPr>
        <p:spPr>
          <a:xfrm>
            <a:off x="1618972" y="4322190"/>
            <a:ext cx="1208469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Participants use provisioned trust anchors and validation rules for certificates and</a:t>
            </a:r>
            <a:r>
              <a:rPr sz="2710" b="0" i="0">
                <a:solidFill>
                  <a:srgbClr val="000000"/>
                </a:solidFill>
                <a:latin typeface="Latin Modern Sans"/>
              </a:rPr>
              <a:t> Controller material.</a:t>
            </a:r>
          </a:p>
        </p:txBody>
      </p:sp>
      <p:sp>
        <p:nvSpPr>
          <p:cNvPr id="8" name="PDF_TEXT_GROUP_117"/>
          <p:cNvSpPr txBox="1"/>
          <p:nvPr/>
        </p:nvSpPr>
        <p:spPr>
          <a:xfrm>
            <a:off x="1143656" y="5847305"/>
            <a:ext cx="1247774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Unknown runtime candidates are not unregistered authorization identities. The User</a:t>
            </a:r>
            <a:r>
              <a:rPr sz="2710" b="0" i="0">
                <a:solidFill>
                  <a:srgbClr val="000000"/>
                </a:solidFill>
                <a:latin typeface="Latin Modern Sans"/>
              </a:rPr>
              <a:t> discovers current participation; the Controller does not choose this task’s Providers.</a:t>
            </a:r>
          </a:p>
        </p:txBody>
      </p:sp>
      <p:sp>
        <p:nvSpPr>
          <p:cNvPr id="9" name="PDF_TEXT_GROUP_11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1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2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2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22"/>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9/49</a:t>
            </a:r>
          </a:p>
        </p:txBody>
      </p:sp>
      <p:sp>
        <p:nvSpPr>
          <p:cNvPr id="14" name="PDF_BULLET_SPAN_165"/>
          <p:cNvSpPr/>
          <p:nvPr/>
        </p:nvSpPr>
        <p:spPr>
          <a:xfrm rot="5400000">
            <a:off x="1207424" y="192898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168"/>
          <p:cNvSpPr/>
          <p:nvPr/>
        </p:nvSpPr>
        <p:spPr>
          <a:xfrm rot="5400000">
            <a:off x="1207424" y="290125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170"/>
          <p:cNvSpPr/>
          <p:nvPr/>
        </p:nvSpPr>
        <p:spPr>
          <a:xfrm rot="5400000">
            <a:off x="1207424" y="34356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173"/>
          <p:cNvSpPr/>
          <p:nvPr/>
        </p:nvSpPr>
        <p:spPr>
          <a:xfrm rot="5400000">
            <a:off x="1207424" y="440798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0" descr="background-010.png"/>
          <p:cNvPicPr>
            <a:picLocks noChangeAspect="1"/>
          </p:cNvPicPr>
          <p:nvPr/>
        </p:nvPicPr>
        <p:blipFill>
          <a:blip r:embed="rId2"/>
          <a:stretch>
            <a:fillRect/>
          </a:stretch>
        </p:blipFill>
        <p:spPr>
          <a:xfrm>
            <a:off x="0" y="0"/>
            <a:ext cx="14630400" cy="8229600"/>
          </a:xfrm>
          <a:prstGeom prst="rect">
            <a:avLst/>
          </a:prstGeom>
        </p:spPr>
      </p:pic>
      <p:sp>
        <p:nvSpPr>
          <p:cNvPr id="3" name="PDF_TEXT_GROUP_12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Invocation Overview: Request a Timely Aerial Image</a:t>
            </a:r>
          </a:p>
        </p:txBody>
      </p:sp>
      <p:sp>
        <p:nvSpPr>
          <p:cNvPr id="4" name="PDF_TEXT_GROUP_124"/>
          <p:cNvSpPr txBox="1"/>
          <p:nvPr/>
        </p:nvSpPr>
        <p:spPr>
          <a:xfrm>
            <a:off x="914808" y="1747862"/>
            <a:ext cx="1367996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An operator requests an aerial image. Authorized camera Providers A and B consider the task.</a:t>
            </a:r>
          </a:p>
        </p:txBody>
      </p:sp>
      <p:sp>
        <p:nvSpPr>
          <p:cNvPr id="5" name="PDF_TEXT_GROUP_125"/>
          <p:cNvSpPr txBox="1"/>
          <p:nvPr/>
        </p:nvSpPr>
        <p:spPr>
          <a:xfrm>
            <a:off x="2013670" y="2804762"/>
            <a:ext cx="7777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a:t>
            </a:r>
          </a:p>
        </p:txBody>
      </p:sp>
      <p:sp>
        <p:nvSpPr>
          <p:cNvPr id="6" name="PDF_TEXT_GROUP_126"/>
          <p:cNvSpPr txBox="1"/>
          <p:nvPr/>
        </p:nvSpPr>
        <p:spPr>
          <a:xfrm>
            <a:off x="11156755" y="2804762"/>
            <a:ext cx="252331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Selected Provider</a:t>
            </a:r>
          </a:p>
        </p:txBody>
      </p:sp>
      <p:sp>
        <p:nvSpPr>
          <p:cNvPr id="7" name="PDF_TEXT_GROUP_127"/>
          <p:cNvSpPr txBox="1"/>
          <p:nvPr/>
        </p:nvSpPr>
        <p:spPr>
          <a:xfrm>
            <a:off x="4913878" y="2836075"/>
            <a:ext cx="165259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Candidates</a:t>
            </a:r>
          </a:p>
        </p:txBody>
      </p:sp>
      <p:sp>
        <p:nvSpPr>
          <p:cNvPr id="8" name="PDF_TEXT_GROUP_128"/>
          <p:cNvSpPr txBox="1"/>
          <p:nvPr/>
        </p:nvSpPr>
        <p:spPr>
          <a:xfrm>
            <a:off x="8688843" y="2836075"/>
            <a:ext cx="7777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a:t>
            </a:r>
          </a:p>
        </p:txBody>
      </p:sp>
      <p:sp>
        <p:nvSpPr>
          <p:cNvPr id="9" name="PDF_TEXT_GROUP_129"/>
          <p:cNvSpPr txBox="1"/>
          <p:nvPr/>
        </p:nvSpPr>
        <p:spPr>
          <a:xfrm>
            <a:off x="1397450" y="3191090"/>
            <a:ext cx="20101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Request Data</a:t>
            </a:r>
          </a:p>
        </p:txBody>
      </p:sp>
      <p:sp>
        <p:nvSpPr>
          <p:cNvPr id="10" name="PDF_TEXT_GROUP_130"/>
          <p:cNvSpPr txBox="1"/>
          <p:nvPr/>
        </p:nvSpPr>
        <p:spPr>
          <a:xfrm>
            <a:off x="11321799" y="3191122"/>
            <a:ext cx="218706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Response Data</a:t>
            </a:r>
          </a:p>
        </p:txBody>
      </p:sp>
      <p:sp>
        <p:nvSpPr>
          <p:cNvPr id="11" name="PDF_TEXT_GROUP_131"/>
          <p:cNvSpPr txBox="1"/>
          <p:nvPr/>
        </p:nvSpPr>
        <p:spPr>
          <a:xfrm>
            <a:off x="4950475" y="3222403"/>
            <a:ext cx="15791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 Data</a:t>
            </a:r>
          </a:p>
        </p:txBody>
      </p:sp>
      <p:sp>
        <p:nvSpPr>
          <p:cNvPr id="12" name="PDF_TEXT_GROUP_132"/>
          <p:cNvSpPr txBox="1"/>
          <p:nvPr/>
        </p:nvSpPr>
        <p:spPr>
          <a:xfrm>
            <a:off x="8003173" y="3222403"/>
            <a:ext cx="214905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Selection Data</a:t>
            </a:r>
          </a:p>
        </p:txBody>
      </p:sp>
      <p:sp>
        <p:nvSpPr>
          <p:cNvPr id="13" name="PDF_TEXT_GROUP_133"/>
          <p:cNvSpPr txBox="1"/>
          <p:nvPr/>
        </p:nvSpPr>
        <p:spPr>
          <a:xfrm>
            <a:off x="1618972" y="4388562"/>
            <a:ext cx="945827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 returns a positive ACK; B is busy and returns a negative ACK.</a:t>
            </a:r>
          </a:p>
        </p:txBody>
      </p:sp>
      <p:sp>
        <p:nvSpPr>
          <p:cNvPr id="14" name="PDF_TEXT_GROUP_134"/>
          <p:cNvSpPr txBox="1"/>
          <p:nvPr/>
        </p:nvSpPr>
        <p:spPr>
          <a:xfrm>
            <a:off x="1618972" y="4968070"/>
            <a:ext cx="97704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The User selects A; A checks Selection before capturing the image.</a:t>
            </a:r>
          </a:p>
        </p:txBody>
      </p:sp>
      <p:sp>
        <p:nvSpPr>
          <p:cNvPr id="15" name="PDF_TEXT_GROUP_135"/>
          <p:cNvSpPr txBox="1"/>
          <p:nvPr/>
        </p:nvSpPr>
        <p:spPr>
          <a:xfrm>
            <a:off x="1123808" y="5898585"/>
            <a:ext cx="11642697"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Arrows show application order. Data is retrieved with Interests; neither an ACK nor a</a:t>
            </a:r>
            <a:r>
              <a:rPr sz="2371" b="0" i="0">
                <a:solidFill>
                  <a:srgbClr val="000000"/>
                </a:solidFill>
                <a:latin typeface="Latin Modern Sans"/>
              </a:rPr>
              <a:t> network delivery alone authorizes execution.</a:t>
            </a:r>
          </a:p>
        </p:txBody>
      </p:sp>
      <p:sp>
        <p:nvSpPr>
          <p:cNvPr id="16" name="PDF_TEXT_GROUP_13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13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13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13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14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10/49</a:t>
            </a:r>
          </a:p>
        </p:txBody>
      </p:sp>
      <p:sp>
        <p:nvSpPr>
          <p:cNvPr id="21" name="PDF_BULLET_SPAN_193"/>
          <p:cNvSpPr/>
          <p:nvPr/>
        </p:nvSpPr>
        <p:spPr>
          <a:xfrm rot="5400000">
            <a:off x="1227851" y="4466909"/>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DF_BULLET_SPAN_195"/>
          <p:cNvSpPr/>
          <p:nvPr/>
        </p:nvSpPr>
        <p:spPr>
          <a:xfrm rot="5400000">
            <a:off x="1227851" y="5046417"/>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1" descr="background-011.png"/>
          <p:cNvPicPr>
            <a:picLocks noChangeAspect="1"/>
          </p:cNvPicPr>
          <p:nvPr/>
        </p:nvPicPr>
        <p:blipFill>
          <a:blip r:embed="rId2"/>
          <a:stretch>
            <a:fillRect/>
          </a:stretch>
        </p:blipFill>
        <p:spPr>
          <a:xfrm>
            <a:off x="0" y="0"/>
            <a:ext cx="14630400" cy="8229600"/>
          </a:xfrm>
          <a:prstGeom prst="rect">
            <a:avLst/>
          </a:prstGeom>
        </p:spPr>
      </p:pic>
      <p:sp>
        <p:nvSpPr>
          <p:cNvPr id="3" name="PDF_TEXT_GROUP_14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Single-Provider Invocation: Four Named Data Types</a:t>
            </a:r>
          </a:p>
        </p:txBody>
      </p:sp>
      <p:sp>
        <p:nvSpPr>
          <p:cNvPr id="4" name="PDF_TEXT_GROUP_142"/>
          <p:cNvSpPr txBox="1"/>
          <p:nvPr/>
        </p:nvSpPr>
        <p:spPr>
          <a:xfrm>
            <a:off x="1107736" y="1291345"/>
            <a:ext cx="838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a:t>
            </a:r>
          </a:p>
        </p:txBody>
      </p:sp>
      <p:sp>
        <p:nvSpPr>
          <p:cNvPr id="5" name="PDF_TEXT_GROUP_143"/>
          <p:cNvSpPr txBox="1"/>
          <p:nvPr/>
        </p:nvSpPr>
        <p:spPr>
          <a:xfrm>
            <a:off x="3414434" y="1291345"/>
            <a:ext cx="227869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Logical purpose</a:t>
            </a:r>
          </a:p>
        </p:txBody>
      </p:sp>
      <p:sp>
        <p:nvSpPr>
          <p:cNvPr id="6" name="PDF_TEXT_GROUP_144"/>
          <p:cNvSpPr txBox="1"/>
          <p:nvPr/>
        </p:nvSpPr>
        <p:spPr>
          <a:xfrm>
            <a:off x="1107736" y="1859705"/>
            <a:ext cx="124580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Request</a:t>
            </a:r>
          </a:p>
        </p:txBody>
      </p:sp>
      <p:sp>
        <p:nvSpPr>
          <p:cNvPr id="7" name="PDF_TEXT_GROUP_145"/>
          <p:cNvSpPr txBox="1"/>
          <p:nvPr/>
        </p:nvSpPr>
        <p:spPr>
          <a:xfrm>
            <a:off x="3414531" y="1859705"/>
            <a:ext cx="989059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Describe required service and participation constraints; include protected</a:t>
            </a:r>
            <a:r>
              <a:rPr sz="2371" b="0" i="0">
                <a:solidFill>
                  <a:srgbClr val="000000"/>
                </a:solidFill>
                <a:latin typeface="Latin Modern Sans"/>
              </a:rPr>
              <a:t> discovery information and RequestNonce</a:t>
            </a:r>
          </a:p>
        </p:txBody>
      </p:sp>
      <p:sp>
        <p:nvSpPr>
          <p:cNvPr id="8" name="PDF_TEXT_GROUP_146"/>
          <p:cNvSpPr txBox="1"/>
          <p:nvPr/>
        </p:nvSpPr>
        <p:spPr>
          <a:xfrm>
            <a:off x="1107736" y="2814392"/>
            <a:ext cx="8147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a:t>
            </a:r>
          </a:p>
        </p:txBody>
      </p:sp>
      <p:sp>
        <p:nvSpPr>
          <p:cNvPr id="9" name="PDF_TEXT_GROUP_147"/>
          <p:cNvSpPr txBox="1"/>
          <p:nvPr/>
        </p:nvSpPr>
        <p:spPr>
          <a:xfrm>
            <a:off x="3414606" y="2814392"/>
            <a:ext cx="988666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Report positive or negative participation; positive ACK supplies selection</a:t>
            </a:r>
            <a:r>
              <a:rPr sz="2371" b="0" i="0">
                <a:solidFill>
                  <a:srgbClr val="000000"/>
                </a:solidFill>
                <a:latin typeface="Latin Modern Sans"/>
              </a:rPr>
              <a:t> information and ProviderChallenge</a:t>
            </a:r>
          </a:p>
        </p:txBody>
      </p:sp>
      <p:sp>
        <p:nvSpPr>
          <p:cNvPr id="10" name="PDF_TEXT_GROUP_148"/>
          <p:cNvSpPr txBox="1"/>
          <p:nvPr/>
        </p:nvSpPr>
        <p:spPr>
          <a:xfrm>
            <a:off x="1107736" y="3769079"/>
            <a:ext cx="1384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Selection</a:t>
            </a:r>
          </a:p>
        </p:txBody>
      </p:sp>
      <p:sp>
        <p:nvSpPr>
          <p:cNvPr id="11" name="PDF_TEXT_GROUP_149"/>
          <p:cNvSpPr txBox="1"/>
          <p:nvPr/>
        </p:nvSpPr>
        <p:spPr>
          <a:xfrm>
            <a:off x="3414531" y="3769079"/>
            <a:ext cx="891892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 selected execution; provide input/references and protected</a:t>
            </a:r>
            <a:r>
              <a:rPr sz="2371" b="0" i="0">
                <a:solidFill>
                  <a:srgbClr val="000000"/>
                </a:solidFill>
                <a:latin typeface="Latin Modern Sans"/>
              </a:rPr>
              <a:t> request-scoped keys; constructed using ProviderChallenge</a:t>
            </a:r>
          </a:p>
        </p:txBody>
      </p:sp>
      <p:sp>
        <p:nvSpPr>
          <p:cNvPr id="12" name="PDF_TEXT_GROUP_150"/>
          <p:cNvSpPr txBox="1"/>
          <p:nvPr/>
        </p:nvSpPr>
        <p:spPr>
          <a:xfrm>
            <a:off x="1107736" y="4723767"/>
            <a:ext cx="14227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Response</a:t>
            </a:r>
          </a:p>
        </p:txBody>
      </p:sp>
      <p:sp>
        <p:nvSpPr>
          <p:cNvPr id="13" name="PDF_TEXT_GROUP_151"/>
          <p:cNvSpPr txBox="1"/>
          <p:nvPr/>
        </p:nvSpPr>
        <p:spPr>
          <a:xfrm>
            <a:off x="3414595" y="4723767"/>
            <a:ext cx="959508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Return status, results or result references; the User still validates them</a:t>
            </a:r>
            <a:r>
              <a:rPr sz="2371" b="0" i="0">
                <a:solidFill>
                  <a:srgbClr val="000000"/>
                </a:solidFill>
                <a:latin typeface="Latin Modern Sans"/>
              </a:rPr>
              <a:t> before use</a:t>
            </a:r>
          </a:p>
        </p:txBody>
      </p:sp>
      <p:sp>
        <p:nvSpPr>
          <p:cNvPr id="14" name="PDF_TEXT_GROUP_152"/>
          <p:cNvSpPr txBox="1"/>
          <p:nvPr/>
        </p:nvSpPr>
        <p:spPr>
          <a:xfrm>
            <a:off x="1123808" y="5991492"/>
            <a:ext cx="120696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Sync helps discover names; Interests retrieve Data. The Provider checks Selection before</a:t>
            </a:r>
            <a:r>
              <a:rPr sz="2371" b="0" i="0">
                <a:solidFill>
                  <a:srgbClr val="000000"/>
                </a:solidFill>
                <a:latin typeface="Latin Modern Sans"/>
              </a:rPr>
              <a:t> execution; a positive ACK alone does not start the task.</a:t>
            </a:r>
          </a:p>
        </p:txBody>
      </p:sp>
      <p:sp>
        <p:nvSpPr>
          <p:cNvPr id="15" name="PDF_TEXT_GROUP_15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15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15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15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15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11/49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2" descr="background-012.png"/>
          <p:cNvPicPr>
            <a:picLocks noChangeAspect="1"/>
          </p:cNvPicPr>
          <p:nvPr/>
        </p:nvPicPr>
        <p:blipFill>
          <a:blip r:embed="rId2"/>
          <a:stretch>
            <a:fillRect/>
          </a:stretch>
        </p:blipFill>
        <p:spPr>
          <a:xfrm>
            <a:off x="0" y="0"/>
            <a:ext cx="14630400" cy="8229600"/>
          </a:xfrm>
          <a:prstGeom prst="rect">
            <a:avLst/>
          </a:prstGeom>
        </p:spPr>
      </p:pic>
      <p:sp>
        <p:nvSpPr>
          <p:cNvPr id="3" name="PDF_TEXT_GROUP_15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Request: Discovery Descriptor; Selection: Task Input</a:t>
            </a:r>
          </a:p>
        </p:txBody>
      </p:sp>
      <p:sp>
        <p:nvSpPr>
          <p:cNvPr id="4" name="PDF_TEXT_GROUP_159"/>
          <p:cNvSpPr txBox="1"/>
          <p:nvPr/>
        </p:nvSpPr>
        <p:spPr>
          <a:xfrm>
            <a:off x="914808" y="1770067"/>
            <a:ext cx="3411280"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Discovery descriptor</a:t>
            </a:r>
          </a:p>
        </p:txBody>
      </p:sp>
      <p:sp>
        <p:nvSpPr>
          <p:cNvPr id="5" name="PDF_TEXT_GROUP_160"/>
          <p:cNvSpPr txBox="1"/>
          <p:nvPr/>
        </p:nvSpPr>
        <p:spPr>
          <a:xfrm>
            <a:off x="7574782" y="1770067"/>
            <a:ext cx="292400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Application input</a:t>
            </a:r>
          </a:p>
        </p:txBody>
      </p:sp>
      <p:sp>
        <p:nvSpPr>
          <p:cNvPr id="6" name="PDF_TEXT_GROUP_161"/>
          <p:cNvSpPr txBox="1"/>
          <p:nvPr/>
        </p:nvSpPr>
        <p:spPr>
          <a:xfrm>
            <a:off x="914808" y="2338684"/>
            <a:ext cx="648398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decide whether to participate:</a:t>
            </a:r>
          </a:p>
        </p:txBody>
      </p:sp>
      <p:sp>
        <p:nvSpPr>
          <p:cNvPr id="7" name="PDF_TEXT_GROUP_162"/>
          <p:cNvSpPr txBox="1"/>
          <p:nvPr/>
        </p:nvSpPr>
        <p:spPr>
          <a:xfrm>
            <a:off x="7574782" y="2338684"/>
            <a:ext cx="5821804"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execute the selected task:</a:t>
            </a:r>
          </a:p>
        </p:txBody>
      </p:sp>
      <p:sp>
        <p:nvSpPr>
          <p:cNvPr id="8" name="PDF_TEXT_GROUP_163"/>
          <p:cNvSpPr txBox="1"/>
          <p:nvPr/>
        </p:nvSpPr>
        <p:spPr>
          <a:xfrm>
            <a:off x="914808" y="2776523"/>
            <a:ext cx="627548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area, deadline, sensor/model and resource</a:t>
            </a:r>
            <a:r>
              <a:rPr sz="2710" b="0" i="0">
                <a:solidFill>
                  <a:srgbClr val="000000"/>
                </a:solidFill>
                <a:latin typeface="Latin Modern Sans"/>
              </a:rPr>
              <a:t> requirements.</a:t>
            </a:r>
          </a:p>
        </p:txBody>
      </p:sp>
      <p:sp>
        <p:nvSpPr>
          <p:cNvPr id="9" name="PDF_TEXT_GROUP_164"/>
          <p:cNvSpPr txBox="1"/>
          <p:nvPr/>
        </p:nvSpPr>
        <p:spPr>
          <a:xfrm>
            <a:off x="7574782" y="2776523"/>
            <a:ext cx="6020132" cy="26812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images, detailed processing parameters,</a:t>
            </a:r>
            <a:r>
              <a:rPr sz="2710" b="0" i="0">
                <a:solidFill>
                  <a:srgbClr val="000000"/>
                </a:solidFill>
                <a:latin typeface="Latin Modern Sans"/>
              </a:rPr>
              <a:t> or protected input references. Input and</a:t>
            </a:r>
            <a:r>
              <a:rPr sz="2710" b="0" i="0">
                <a:solidFill>
                  <a:srgbClr val="000000"/>
                </a:solidFill>
                <a:latin typeface="Latin Modern Sans"/>
              </a:rPr>
              <a:t> results use request-scoped symmetric</a:t>
            </a:r>
            <a:r>
              <a:rPr sz="2710" b="0" i="0">
                <a:solidFill>
                  <a:srgbClr val="000000"/>
                </a:solidFill>
                <a:latin typeface="Latin Modern Sans"/>
              </a:rPr>
              <a:t> keys. Selection delivers key material</a:t>
            </a:r>
            <a:r>
              <a:rPr sz="2710" b="0" i="0">
                <a:solidFill>
                  <a:srgbClr val="000000"/>
                </a:solidFill>
                <a:latin typeface="Latin Modern Sans"/>
              </a:rPr>
              <a:t> encrypted for the selected Provider; the</a:t>
            </a:r>
            <a:r>
              <a:rPr sz="2710" b="0" i="0">
                <a:solidFill>
                  <a:srgbClr val="000000"/>
                </a:solidFill>
                <a:latin typeface="Latin Modern Sans"/>
              </a:rPr>
              <a:t> requesting User retains the keys.</a:t>
            </a:r>
          </a:p>
        </p:txBody>
      </p:sp>
      <p:sp>
        <p:nvSpPr>
          <p:cNvPr id="10" name="PDF_TEXT_GROUP_165"/>
          <p:cNvSpPr txBox="1"/>
          <p:nvPr/>
        </p:nvSpPr>
        <p:spPr>
          <a:xfrm>
            <a:off x="1143656" y="6234118"/>
            <a:ext cx="1247802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boundary follows necessity. A location needed to assess coverage belongs in the</a:t>
            </a:r>
            <a:r>
              <a:rPr sz="2710" b="0" i="0">
                <a:solidFill>
                  <a:srgbClr val="000000"/>
                </a:solidFill>
                <a:latin typeface="Latin Modern Sans"/>
              </a:rPr>
              <a:t> protected descriptor; an image needed only for processing can wait.</a:t>
            </a:r>
          </a:p>
        </p:txBody>
      </p:sp>
      <p:sp>
        <p:nvSpPr>
          <p:cNvPr id="11" name="PDF_TEXT_GROUP_16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2" name="PDF_TEXT_GROUP_16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3" name="PDF_TEXT_GROUP_16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4" name="PDF_TEXT_GROUP_16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5" name="PDF_TEXT_GROUP_17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12/49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3" descr="background-013.png"/>
          <p:cNvPicPr>
            <a:picLocks noChangeAspect="1"/>
          </p:cNvPicPr>
          <p:nvPr/>
        </p:nvPicPr>
        <p:blipFill>
          <a:blip r:embed="rId2"/>
          <a:stretch>
            <a:fillRect/>
          </a:stretch>
        </p:blipFill>
        <p:spPr>
          <a:xfrm>
            <a:off x="0" y="0"/>
            <a:ext cx="14630400" cy="8229600"/>
          </a:xfrm>
          <a:prstGeom prst="rect">
            <a:avLst/>
          </a:prstGeom>
        </p:spPr>
      </p:pic>
      <p:sp>
        <p:nvSpPr>
          <p:cNvPr id="3" name="PDF_TEXT_GROUP_17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Three Security Requirements; One Additional Benefit</a:t>
            </a:r>
          </a:p>
        </p:txBody>
      </p:sp>
      <p:sp>
        <p:nvSpPr>
          <p:cNvPr id="4" name="PDF_TEXT_GROUP_172"/>
          <p:cNvSpPr txBox="1"/>
          <p:nvPr/>
        </p:nvSpPr>
        <p:spPr>
          <a:xfrm>
            <a:off x="1169087" y="2023644"/>
            <a:ext cx="12609345"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Keep discovery descriptors confidential from unauthorized readers before selecting</a:t>
            </a:r>
            <a:r>
              <a:rPr sz="2710" b="0" i="0">
                <a:solidFill>
                  <a:srgbClr val="000000"/>
                </a:solidFill>
                <a:latin typeface="Latin Modern Sans"/>
              </a:rPr>
              <a:t> a Provider.</a:t>
            </a:r>
          </a:p>
        </p:txBody>
      </p:sp>
      <p:sp>
        <p:nvSpPr>
          <p:cNvPr id="5" name="PDF_TEXT_GROUP_173"/>
          <p:cNvSpPr txBox="1"/>
          <p:nvPr/>
        </p:nvSpPr>
        <p:spPr>
          <a:xfrm>
            <a:off x="1169087" y="2995911"/>
            <a:ext cx="11158505"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Authenticate participants, verify service permissions, and reject replayed</a:t>
            </a:r>
            <a:r>
              <a:rPr sz="2710" b="0" i="0">
                <a:solidFill>
                  <a:srgbClr val="000000"/>
                </a:solidFill>
                <a:latin typeface="Latin Modern Sans"/>
              </a:rPr>
              <a:t> invocation messages.</a:t>
            </a:r>
          </a:p>
        </p:txBody>
      </p:sp>
      <p:sp>
        <p:nvSpPr>
          <p:cNvPr id="6" name="PDF_TEXT_GROUP_174"/>
          <p:cNvSpPr txBox="1"/>
          <p:nvPr/>
        </p:nvSpPr>
        <p:spPr>
          <a:xfrm>
            <a:off x="1169087" y="3968177"/>
            <a:ext cx="962616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Grant and withdraw service permissions during operation.</a:t>
            </a:r>
          </a:p>
        </p:txBody>
      </p:sp>
      <p:sp>
        <p:nvSpPr>
          <p:cNvPr id="7" name="PDF_TEXT_GROUP_175"/>
          <p:cNvSpPr txBox="1"/>
          <p:nvPr/>
        </p:nvSpPr>
        <p:spPr>
          <a:xfrm>
            <a:off x="1143656" y="5138827"/>
            <a:ext cx="12423171"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Additional benefit: aggregate service permissions in a decryption key (DKEY) while</a:t>
            </a:r>
            <a:r>
              <a:rPr sz="2710" b="0" i="0">
                <a:solidFill>
                  <a:srgbClr val="000000"/>
                </a:solidFill>
                <a:latin typeface="Latin Modern Sans"/>
              </a:rPr>
              <a:t> retaining identity-signing credentials. This is a management property, not another</a:t>
            </a:r>
            <a:r>
              <a:rPr sz="2710" b="0" i="0">
                <a:solidFill>
                  <a:srgbClr val="000000"/>
                </a:solidFill>
                <a:latin typeface="Latin Modern Sans"/>
              </a:rPr>
              <a:t> security guarantee.</a:t>
            </a:r>
          </a:p>
        </p:txBody>
      </p:sp>
      <p:sp>
        <p:nvSpPr>
          <p:cNvPr id="8" name="PDF_TEXT_GROUP_17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7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7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7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8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13/49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4" descr="background-014.png"/>
          <p:cNvPicPr>
            <a:picLocks noChangeAspect="1"/>
          </p:cNvPicPr>
          <p:nvPr/>
        </p:nvPicPr>
        <p:blipFill>
          <a:blip r:embed="rId2"/>
          <a:stretch>
            <a:fillRect/>
          </a:stretch>
        </p:blipFill>
        <p:spPr>
          <a:xfrm>
            <a:off x="0" y="0"/>
            <a:ext cx="14630400" cy="8229600"/>
          </a:xfrm>
          <a:prstGeom prst="rect">
            <a:avLst/>
          </a:prstGeom>
        </p:spPr>
      </p:pic>
      <p:sp>
        <p:nvSpPr>
          <p:cNvPr id="3" name="PDF_TEXT_GROUP_18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1: Confidential Discovery Before Selection</a:t>
            </a:r>
          </a:p>
        </p:txBody>
      </p:sp>
      <p:sp>
        <p:nvSpPr>
          <p:cNvPr id="4" name="PDF_TEXT_GROUP_182"/>
          <p:cNvSpPr txBox="1"/>
          <p:nvPr/>
        </p:nvSpPr>
        <p:spPr>
          <a:xfrm>
            <a:off x="1618972" y="2196853"/>
            <a:ext cx="1276149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knows the service, but not yet the currently willing Provider identities.</a:t>
            </a:r>
          </a:p>
        </p:txBody>
      </p:sp>
      <p:sp>
        <p:nvSpPr>
          <p:cNvPr id="5" name="PDF_TEXT_GROUP_183"/>
          <p:cNvSpPr txBox="1"/>
          <p:nvPr/>
        </p:nvSpPr>
        <p:spPr>
          <a:xfrm>
            <a:off x="1618972" y="2731282"/>
            <a:ext cx="117530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observation area and deadline can reveal intended activity even without the</a:t>
            </a:r>
            <a:r>
              <a:rPr sz="2710" b="0" i="0">
                <a:solidFill>
                  <a:srgbClr val="000000"/>
                </a:solidFill>
                <a:latin typeface="Latin Modern Sans"/>
              </a:rPr>
              <a:t> full application input.</a:t>
            </a:r>
          </a:p>
        </p:txBody>
      </p:sp>
      <p:sp>
        <p:nvSpPr>
          <p:cNvPr id="6" name="PDF_TEXT_GROUP_184"/>
          <p:cNvSpPr txBox="1"/>
          <p:nvPr/>
        </p:nvSpPr>
        <p:spPr>
          <a:xfrm>
            <a:off x="1618972" y="3703548"/>
            <a:ext cx="1166759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encrypts the descriptor using ABE and the service attribute, without</a:t>
            </a:r>
            <a:r>
              <a:rPr sz="2710" b="0" i="0">
                <a:solidFill>
                  <a:srgbClr val="000000"/>
                </a:solidFill>
                <a:latin typeface="Latin Modern Sans"/>
              </a:rPr>
              <a:t> listing Provider identities. [19]</a:t>
            </a:r>
          </a:p>
        </p:txBody>
      </p:sp>
      <p:sp>
        <p:nvSpPr>
          <p:cNvPr id="7" name="PDF_TEXT_GROUP_185"/>
          <p:cNvSpPr txBox="1"/>
          <p:nvPr/>
        </p:nvSpPr>
        <p:spPr>
          <a:xfrm>
            <a:off x="1143656" y="5316819"/>
            <a:ext cx="123571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Confidential from parties lacking the required decryption capability. Authorized but</a:t>
            </a:r>
            <a:r>
              <a:rPr sz="2710" b="0" i="0">
                <a:solidFill>
                  <a:srgbClr val="000000"/>
                </a:solidFill>
                <a:latin typeface="Latin Modern Sans"/>
              </a:rPr>
              <a:t> unselected Providers can read it; names and traffic patterns remain visible.</a:t>
            </a:r>
          </a:p>
        </p:txBody>
      </p:sp>
      <p:sp>
        <p:nvSpPr>
          <p:cNvPr id="8" name="PDF_TEXT_GROUP_18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8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8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8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9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14/49</a:t>
            </a:r>
          </a:p>
        </p:txBody>
      </p:sp>
      <p:sp>
        <p:nvSpPr>
          <p:cNvPr id="13" name="PDF_BULLET_SPAN_264"/>
          <p:cNvSpPr/>
          <p:nvPr/>
        </p:nvSpPr>
        <p:spPr>
          <a:xfrm rot="5400000">
            <a:off x="1207424" y="228264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66"/>
          <p:cNvSpPr/>
          <p:nvPr/>
        </p:nvSpPr>
        <p:spPr>
          <a:xfrm rot="5400000">
            <a:off x="1207424" y="28170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69"/>
          <p:cNvSpPr/>
          <p:nvPr/>
        </p:nvSpPr>
        <p:spPr>
          <a:xfrm rot="5400000">
            <a:off x="1207424" y="378933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5" descr="background-015.png"/>
          <p:cNvPicPr>
            <a:picLocks noChangeAspect="1"/>
          </p:cNvPicPr>
          <p:nvPr/>
        </p:nvPicPr>
        <p:blipFill>
          <a:blip r:embed="rId2"/>
          <a:stretch>
            <a:fillRect/>
          </a:stretch>
        </p:blipFill>
        <p:spPr>
          <a:xfrm>
            <a:off x="0" y="0"/>
            <a:ext cx="14630400" cy="8229600"/>
          </a:xfrm>
          <a:prstGeom prst="rect">
            <a:avLst/>
          </a:prstGeom>
        </p:spPr>
      </p:pic>
      <p:sp>
        <p:nvSpPr>
          <p:cNvPr id="3" name="PDF_TEXT_GROUP_19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2: Reuse Service-Permission Management</a:t>
            </a:r>
          </a:p>
        </p:txBody>
      </p:sp>
      <p:sp>
        <p:nvSpPr>
          <p:cNvPr id="4" name="PDF_TEXT_GROUP_192"/>
          <p:cNvSpPr txBox="1"/>
          <p:nvPr/>
        </p:nvSpPr>
        <p:spPr>
          <a:xfrm>
            <a:off x="1618972" y="1909248"/>
            <a:ext cx="1057461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ABE was introduced to keep discovery descriptors non-public. [19]</a:t>
            </a:r>
          </a:p>
        </p:txBody>
      </p:sp>
      <p:sp>
        <p:nvSpPr>
          <p:cNvPr id="5" name="PDF_TEXT_GROUP_193"/>
          <p:cNvSpPr txBox="1"/>
          <p:nvPr/>
        </p:nvSpPr>
        <p:spPr>
          <a:xfrm>
            <a:off x="1618972" y="2443676"/>
            <a:ext cx="1120680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reuses the attribute authority to manage Provider and User service</a:t>
            </a:r>
            <a:r>
              <a:rPr sz="2710" b="0" i="0">
                <a:solidFill>
                  <a:srgbClr val="000000"/>
                </a:solidFill>
                <a:latin typeface="Latin Modern Sans"/>
              </a:rPr>
              <a:t> permissions. [28]</a:t>
            </a:r>
          </a:p>
        </p:txBody>
      </p:sp>
      <p:sp>
        <p:nvSpPr>
          <p:cNvPr id="6" name="PDF_TEXT_GROUP_194"/>
          <p:cNvSpPr txBox="1"/>
          <p:nvPr/>
        </p:nvSpPr>
        <p:spPr>
          <a:xfrm>
            <a:off x="1618972" y="3415943"/>
            <a:ext cx="11004475"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RequestNonce and ProviderChallenge checks use these permissions during</a:t>
            </a:r>
            <a:r>
              <a:rPr sz="2710" b="0" i="0">
                <a:solidFill>
                  <a:srgbClr val="000000"/>
                </a:solidFill>
                <a:latin typeface="Latin Modern Sans"/>
              </a:rPr>
              <a:t> invocation.</a:t>
            </a:r>
          </a:p>
        </p:txBody>
      </p:sp>
      <p:sp>
        <p:nvSpPr>
          <p:cNvPr id="7" name="PDF_TEXT_GROUP_195"/>
          <p:cNvSpPr txBox="1"/>
          <p:nvPr/>
        </p:nvSpPr>
        <p:spPr>
          <a:xfrm>
            <a:off x="1143656" y="4941091"/>
            <a:ext cx="12096909" cy="180556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ABE discovery plus role-based invocation is also possible. NDNSF avoids adding</a:t>
            </a:r>
            <a:r>
              <a:rPr sz="2710" b="0" i="0">
                <a:solidFill>
                  <a:srgbClr val="000000"/>
                </a:solidFill>
                <a:latin typeface="Latin Modern Sans"/>
              </a:rPr>
              <a:t> role signing credentials solely for service membership; signature validation and</a:t>
            </a:r>
            <a:r>
              <a:rPr sz="2710" b="0" i="0">
                <a:solidFill>
                  <a:srgbClr val="000000"/>
                </a:solidFill>
                <a:latin typeface="Latin Modern Sans"/>
              </a:rPr>
              <a:t> request-state checks remain necessary. User DKEYs and challenge processing still</a:t>
            </a:r>
            <a:r>
              <a:rPr sz="2710" b="0" i="0">
                <a:solidFill>
                  <a:srgbClr val="000000"/>
                </a:solidFill>
                <a:latin typeface="Latin Modern Sans"/>
              </a:rPr>
              <a:t> add cost.</a:t>
            </a:r>
          </a:p>
        </p:txBody>
      </p:sp>
      <p:sp>
        <p:nvSpPr>
          <p:cNvPr id="8" name="PDF_TEXT_GROUP_19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9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9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9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20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15/49</a:t>
            </a:r>
          </a:p>
        </p:txBody>
      </p:sp>
      <p:sp>
        <p:nvSpPr>
          <p:cNvPr id="13" name="PDF_BULLET_SPAN_280"/>
          <p:cNvSpPr/>
          <p:nvPr/>
        </p:nvSpPr>
        <p:spPr>
          <a:xfrm rot="5400000">
            <a:off x="1207424" y="199503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82"/>
          <p:cNvSpPr/>
          <p:nvPr/>
        </p:nvSpPr>
        <p:spPr>
          <a:xfrm rot="5400000">
            <a:off x="1207424" y="252946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85"/>
          <p:cNvSpPr/>
          <p:nvPr/>
        </p:nvSpPr>
        <p:spPr>
          <a:xfrm rot="5400000">
            <a:off x="1207424" y="350173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6" descr="background-016.png"/>
          <p:cNvPicPr>
            <a:picLocks noChangeAspect="1"/>
          </p:cNvPicPr>
          <p:nvPr/>
        </p:nvPicPr>
        <p:blipFill>
          <a:blip r:embed="rId2"/>
          <a:stretch>
            <a:fillRect/>
          </a:stretch>
        </p:blipFill>
        <p:spPr>
          <a:xfrm>
            <a:off x="0" y="0"/>
            <a:ext cx="14630400" cy="8229600"/>
          </a:xfrm>
          <a:prstGeom prst="rect">
            <a:avLst/>
          </a:prstGeom>
        </p:spPr>
      </p:pic>
      <p:sp>
        <p:nvSpPr>
          <p:cNvPr id="3" name="PDF_TEXT_GROUP_20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How NDNSF Checks Service Permissions</a:t>
            </a:r>
          </a:p>
        </p:txBody>
      </p:sp>
      <p:sp>
        <p:nvSpPr>
          <p:cNvPr id="4" name="PDF_TEXT_GROUP_202"/>
          <p:cNvSpPr txBox="1"/>
          <p:nvPr/>
        </p:nvSpPr>
        <p:spPr>
          <a:xfrm>
            <a:off x="1169087" y="2068206"/>
            <a:ext cx="12569632" cy="1367730"/>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Provider permission: recover RequestNonce from ABE-protected Request content</a:t>
            </a:r>
            <a:r>
              <a:rPr sz="2710" b="0" i="0">
                <a:solidFill>
                  <a:srgbClr val="000000"/>
                </a:solidFill>
                <a:latin typeface="Latin Modern Sans"/>
              </a:rPr>
              <a:t> and return it in ACK Data. The User compares it with RequestNonce stored for</a:t>
            </a:r>
            <a:r>
              <a:rPr sz="2710" b="0" i="0">
                <a:solidFill>
                  <a:srgbClr val="000000"/>
                </a:solidFill>
                <a:latin typeface="Latin Modern Sans"/>
              </a:rPr>
              <a:t> this request.</a:t>
            </a:r>
          </a:p>
        </p:txBody>
      </p:sp>
      <p:sp>
        <p:nvSpPr>
          <p:cNvPr id="5" name="PDF_TEXT_GROUP_203"/>
          <p:cNvSpPr txBox="1"/>
          <p:nvPr/>
        </p:nvSpPr>
        <p:spPr>
          <a:xfrm>
            <a:off x="1169087" y="3478312"/>
            <a:ext cx="12681343" cy="1367730"/>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User permission: recover ProviderChallenge from ABE-protected ACK content and</a:t>
            </a:r>
            <a:r>
              <a:rPr sz="2710" b="0" i="0">
                <a:solidFill>
                  <a:srgbClr val="000000"/>
                </a:solidFill>
                <a:latin typeface="Latin Modern Sans"/>
              </a:rPr>
              <a:t> construct Selection Data. The Provider validates Selection using its stored</a:t>
            </a:r>
            <a:r>
              <a:rPr sz="2710" b="0" i="0">
                <a:solidFill>
                  <a:srgbClr val="000000"/>
                </a:solidFill>
                <a:latin typeface="Latin Modern Sans"/>
              </a:rPr>
              <a:t> ProviderChallenge.</a:t>
            </a:r>
          </a:p>
        </p:txBody>
      </p:sp>
      <p:sp>
        <p:nvSpPr>
          <p:cNvPr id="6" name="PDF_TEXT_GROUP_204"/>
          <p:cNvSpPr txBox="1"/>
          <p:nvPr/>
        </p:nvSpPr>
        <p:spPr>
          <a:xfrm>
            <a:off x="1143656" y="5509838"/>
            <a:ext cx="117239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Also check current service permissions. These checks show access to protected</a:t>
            </a:r>
            <a:r>
              <a:rPr sz="2710" b="0" i="0">
                <a:solidFill>
                  <a:srgbClr val="000000"/>
                </a:solidFill>
                <a:latin typeface="Latin Modern Sans"/>
              </a:rPr>
              <a:t> values, not exclusive key possession. RequestNonce is not the Interest Nonce.</a:t>
            </a:r>
          </a:p>
        </p:txBody>
      </p:sp>
      <p:sp>
        <p:nvSpPr>
          <p:cNvPr id="7" name="PDF_TEXT_GROUP_20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8" name="PDF_TEXT_GROUP_20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9" name="PDF_TEXT_GROUP_20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0" name="PDF_TEXT_GROUP_20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1" name="PDF_TEXT_GROUP_20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16/49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7" descr="background-017.png"/>
          <p:cNvPicPr>
            <a:picLocks noChangeAspect="1"/>
          </p:cNvPicPr>
          <p:nvPr/>
        </p:nvPicPr>
        <p:blipFill>
          <a:blip r:embed="rId2"/>
          <a:stretch>
            <a:fillRect/>
          </a:stretch>
        </p:blipFill>
        <p:spPr>
          <a:xfrm>
            <a:off x="0" y="0"/>
            <a:ext cx="14630400" cy="8229600"/>
          </a:xfrm>
          <a:prstGeom prst="rect">
            <a:avLst/>
          </a:prstGeom>
        </p:spPr>
      </p:pic>
      <p:sp>
        <p:nvSpPr>
          <p:cNvPr id="3" name="PDF_TEXT_GROUP_21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Identity and Replay Checks Have Different Jobs</a:t>
            </a:r>
          </a:p>
        </p:txBody>
      </p:sp>
      <p:sp>
        <p:nvSpPr>
          <p:cNvPr id="4" name="PDF_TEXT_GROUP_211"/>
          <p:cNvSpPr txBox="1"/>
          <p:nvPr/>
        </p:nvSpPr>
        <p:spPr>
          <a:xfrm>
            <a:off x="914808" y="1780343"/>
            <a:ext cx="3841268"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Identity authentication</a:t>
            </a:r>
          </a:p>
        </p:txBody>
      </p:sp>
      <p:sp>
        <p:nvSpPr>
          <p:cNvPr id="5" name="PDF_TEXT_GROUP_212"/>
          <p:cNvSpPr txBox="1"/>
          <p:nvPr/>
        </p:nvSpPr>
        <p:spPr>
          <a:xfrm>
            <a:off x="914808" y="2348961"/>
            <a:ext cx="1273690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Validate Data signatures and certificate chains under trust rules. An accepted signing</a:t>
            </a:r>
            <a:r>
              <a:rPr sz="2710" b="0" i="0">
                <a:solidFill>
                  <a:srgbClr val="000000"/>
                </a:solidFill>
                <a:latin typeface="Latin Modern Sans"/>
              </a:rPr>
              <a:t> identity alone does not establish service permission.</a:t>
            </a:r>
          </a:p>
        </p:txBody>
      </p:sp>
      <p:sp>
        <p:nvSpPr>
          <p:cNvPr id="6" name="PDF_TEXT_GROUP_213"/>
          <p:cNvSpPr txBox="1"/>
          <p:nvPr/>
        </p:nvSpPr>
        <p:spPr>
          <a:xfrm>
            <a:off x="914808" y="3676986"/>
            <a:ext cx="296312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Replay protection</a:t>
            </a:r>
          </a:p>
        </p:txBody>
      </p:sp>
      <p:sp>
        <p:nvSpPr>
          <p:cNvPr id="7" name="PDF_TEXT_GROUP_214"/>
          <p:cNvSpPr txBox="1"/>
          <p:nvPr/>
        </p:nvSpPr>
        <p:spPr>
          <a:xfrm>
            <a:off x="914808" y="4245603"/>
            <a:ext cx="12819495"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Match messages to an active request and its state. Record whether ProviderChallenge</a:t>
            </a:r>
            <a:r>
              <a:rPr sz="2710" b="0" i="0">
                <a:solidFill>
                  <a:srgbClr val="000000"/>
                </a:solidFill>
                <a:latin typeface="Latin Modern Sans"/>
              </a:rPr>
              <a:t> has already been used to accept Selection for execution; duplicate Selection must not</a:t>
            </a:r>
            <a:r>
              <a:rPr sz="2710" b="0" i="0">
                <a:solidFill>
                  <a:srgbClr val="000000"/>
                </a:solidFill>
                <a:latin typeface="Latin Modern Sans"/>
              </a:rPr>
              <a:t> start another execution.</a:t>
            </a:r>
          </a:p>
        </p:txBody>
      </p:sp>
      <p:sp>
        <p:nvSpPr>
          <p:cNvPr id="8" name="PDF_TEXT_GROUP_215"/>
          <p:cNvSpPr txBox="1"/>
          <p:nvPr/>
        </p:nvSpPr>
        <p:spPr>
          <a:xfrm>
            <a:off x="1143656" y="6051279"/>
            <a:ext cx="1206363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Retain or safely invalidate request state, including across restart. Encryption or a</a:t>
            </a:r>
            <a:r>
              <a:rPr sz="2710" b="0" i="0">
                <a:solidFill>
                  <a:srgbClr val="000000"/>
                </a:solidFill>
                <a:latin typeface="Latin Modern Sans"/>
              </a:rPr>
              <a:t> challenge value alone does not prevent replay.</a:t>
            </a:r>
          </a:p>
        </p:txBody>
      </p:sp>
      <p:sp>
        <p:nvSpPr>
          <p:cNvPr id="9" name="PDF_TEXT_GROUP_21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1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1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1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2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17/49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8" descr="background-018.png"/>
          <p:cNvPicPr>
            <a:picLocks noChangeAspect="1"/>
          </p:cNvPicPr>
          <p:nvPr/>
        </p:nvPicPr>
        <p:blipFill>
          <a:blip r:embed="rId2"/>
          <a:stretch>
            <a:fillRect/>
          </a:stretch>
        </p:blipFill>
        <p:spPr>
          <a:xfrm>
            <a:off x="0" y="0"/>
            <a:ext cx="14630400" cy="8229600"/>
          </a:xfrm>
          <a:prstGeom prst="rect">
            <a:avLst/>
          </a:prstGeom>
        </p:spPr>
      </p:pic>
      <p:sp>
        <p:nvSpPr>
          <p:cNvPr id="3" name="PDF_TEXT_GROUP_22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Additional Benefit: Aggregate Service Permissions</a:t>
            </a:r>
          </a:p>
        </p:txBody>
      </p:sp>
      <p:sp>
        <p:nvSpPr>
          <p:cNvPr id="4" name="PDF_TEXT_GROUP_222"/>
          <p:cNvSpPr txBox="1"/>
          <p:nvPr/>
        </p:nvSpPr>
        <p:spPr>
          <a:xfrm>
            <a:off x="1618972" y="2029557"/>
            <a:ext cx="1212264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Within one Controller domain, combine several service permissions in one entity’s</a:t>
            </a:r>
            <a:r>
              <a:rPr sz="2710" b="0" i="0">
                <a:solidFill>
                  <a:srgbClr val="000000"/>
                </a:solidFill>
                <a:latin typeface="Latin Modern Sans"/>
              </a:rPr>
              <a:t> DKEY; retain identity-signing credentials. [19,28]</a:t>
            </a:r>
          </a:p>
        </p:txBody>
      </p:sp>
      <p:sp>
        <p:nvSpPr>
          <p:cNvPr id="5" name="PDF_TEXT_GROUP_223"/>
          <p:cNvSpPr txBox="1"/>
          <p:nvPr/>
        </p:nvSpPr>
        <p:spPr>
          <a:xfrm>
            <a:off x="1618972" y="3001824"/>
            <a:ext cx="1185690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DNMP represents command authority through role keys and schema rules. One</a:t>
            </a:r>
            <a:r>
              <a:rPr sz="2710" b="0" i="0">
                <a:solidFill>
                  <a:srgbClr val="000000"/>
                </a:solidFill>
                <a:latin typeface="Latin Modern Sans"/>
              </a:rPr>
              <a:t> role can permit several commands. [12]</a:t>
            </a:r>
          </a:p>
        </p:txBody>
      </p:sp>
      <p:sp>
        <p:nvSpPr>
          <p:cNvPr id="6" name="PDF_TEXT_GROUP_224"/>
          <p:cNvSpPr txBox="1"/>
          <p:nvPr/>
        </p:nvSpPr>
        <p:spPr>
          <a:xfrm>
            <a:off x="1618972" y="3974091"/>
            <a:ext cx="1150384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Where equivalent permissions require distinct role credentials, NDNSF avoids</a:t>
            </a:r>
            <a:r>
              <a:rPr sz="2710" b="0" i="0">
                <a:solidFill>
                  <a:srgbClr val="000000"/>
                </a:solidFill>
                <a:latin typeface="Latin Modern Sans"/>
              </a:rPr>
              <a:t> maintaining those extra signing credentials.</a:t>
            </a:r>
          </a:p>
        </p:txBody>
      </p:sp>
      <p:sp>
        <p:nvSpPr>
          <p:cNvPr id="7" name="PDF_TEXT_GROUP_225"/>
          <p:cNvSpPr txBox="1"/>
          <p:nvPr/>
        </p:nvSpPr>
        <p:spPr>
          <a:xfrm>
            <a:off x="1143656" y="5567779"/>
            <a:ext cx="1231219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Fewer independently managed credentials does not imply fixed DKEY size or lower</a:t>
            </a:r>
            <a:r>
              <a:rPr sz="2710" b="0" i="0">
                <a:solidFill>
                  <a:srgbClr val="000000"/>
                </a:solidFill>
                <a:latin typeface="Latin Modern Sans"/>
              </a:rPr>
              <a:t> total cost. Policy size, key distribution and updates still matter.</a:t>
            </a:r>
          </a:p>
        </p:txBody>
      </p:sp>
      <p:sp>
        <p:nvSpPr>
          <p:cNvPr id="8" name="PDF_TEXT_GROUP_22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22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22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22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23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18/49</a:t>
            </a:r>
          </a:p>
        </p:txBody>
      </p:sp>
      <p:sp>
        <p:nvSpPr>
          <p:cNvPr id="13" name="PDF_BULLET_SPAN_329"/>
          <p:cNvSpPr/>
          <p:nvPr/>
        </p:nvSpPr>
        <p:spPr>
          <a:xfrm rot="5400000">
            <a:off x="1207424" y="211534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332"/>
          <p:cNvSpPr/>
          <p:nvPr/>
        </p:nvSpPr>
        <p:spPr>
          <a:xfrm rot="5400000">
            <a:off x="1207424" y="30876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335"/>
          <p:cNvSpPr/>
          <p:nvPr/>
        </p:nvSpPr>
        <p:spPr>
          <a:xfrm rot="5400000">
            <a:off x="1207424" y="40598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9" descr="background-019.png"/>
          <p:cNvPicPr>
            <a:picLocks noChangeAspect="1"/>
          </p:cNvPicPr>
          <p:nvPr/>
        </p:nvPicPr>
        <p:blipFill>
          <a:blip r:embed="rId2"/>
          <a:stretch>
            <a:fillRect/>
          </a:stretch>
        </p:blipFill>
        <p:spPr>
          <a:xfrm>
            <a:off x="0" y="0"/>
            <a:ext cx="14630400" cy="8229600"/>
          </a:xfrm>
          <a:prstGeom prst="rect">
            <a:avLst/>
          </a:prstGeom>
        </p:spPr>
      </p:pic>
      <p:sp>
        <p:nvSpPr>
          <p:cNvPr id="3" name="PDF_TEXT_GROUP_23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DNMP: Trust-Schema Command Authorization</a:t>
            </a:r>
          </a:p>
        </p:txBody>
      </p:sp>
      <p:sp>
        <p:nvSpPr>
          <p:cNvPr id="4" name="PDF_TEXT_GROUP_232"/>
          <p:cNvSpPr txBox="1"/>
          <p:nvPr/>
        </p:nvSpPr>
        <p:spPr>
          <a:xfrm>
            <a:off x="914808" y="1803638"/>
            <a:ext cx="136825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Distributed Network Measurement Protocol (DNMP) [12] authorizes measurement commands:</a:t>
            </a:r>
          </a:p>
        </p:txBody>
      </p:sp>
      <p:sp>
        <p:nvSpPr>
          <p:cNvPr id="5" name="PDF_TEXT_GROUP_233"/>
          <p:cNvSpPr txBox="1"/>
          <p:nvPr/>
        </p:nvSpPr>
        <p:spPr>
          <a:xfrm>
            <a:off x="1192840" y="2383146"/>
            <a:ext cx="10003445"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1.</a:t>
            </a:r>
            <a:r>
              <a:rPr sz="2371" b="0" i="0">
                <a:solidFill>
                  <a:srgbClr val="000000"/>
                </a:solidFill>
                <a:latin typeface="Latin Modern Sans"/>
              </a:rPr>
              <a:t> The Network Key anchors role keys, device keys, and the schema.</a:t>
            </a:r>
          </a:p>
        </p:txBody>
      </p:sp>
      <p:sp>
        <p:nvSpPr>
          <p:cNvPr id="6" name="PDF_TEXT_GROUP_234"/>
          <p:cNvSpPr txBox="1"/>
          <p:nvPr/>
        </p:nvSpPr>
        <p:spPr>
          <a:xfrm>
            <a:off x="1192840" y="2962654"/>
            <a:ext cx="12155654"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2.</a:t>
            </a:r>
            <a:r>
              <a:rPr sz="2371" b="0" i="0">
                <a:solidFill>
                  <a:srgbClr val="000000"/>
                </a:solidFill>
                <a:latin typeface="Latin Modern Sans"/>
              </a:rPr>
              <a:t> The client uses target, probe type, arguments, and user role to find an allowed signing</a:t>
            </a:r>
            <a:r>
              <a:rPr sz="2371" b="0" i="0">
                <a:solidFill>
                  <a:srgbClr val="000000"/>
                </a:solidFill>
                <a:latin typeface="Latin Modern Sans"/>
              </a:rPr>
              <a:t> key; among matching keys, it chooses the least privileged.</a:t>
            </a:r>
          </a:p>
        </p:txBody>
      </p:sp>
      <p:sp>
        <p:nvSpPr>
          <p:cNvPr id="7" name="PDF_TEXT_GROUP_235"/>
          <p:cNvSpPr txBox="1"/>
          <p:nvPr/>
        </p:nvSpPr>
        <p:spPr>
          <a:xfrm>
            <a:off x="1192840" y="3928490"/>
            <a:ext cx="11934929"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3.</a:t>
            </a:r>
            <a:r>
              <a:rPr sz="2371" b="0" i="0">
                <a:solidFill>
                  <a:srgbClr val="000000"/>
                </a:solidFill>
                <a:latin typeface="Latin Modern Sans"/>
              </a:rPr>
              <a:t> The receiving Network Observer Daemon validates the publication under the schema</a:t>
            </a:r>
            <a:r>
              <a:rPr sz="2371" b="0" i="0">
                <a:solidFill>
                  <a:srgbClr val="000000"/>
                </a:solidFill>
                <a:latin typeface="Latin Modern Sans"/>
              </a:rPr>
              <a:t> before dispatching the probe.</a:t>
            </a:r>
          </a:p>
        </p:txBody>
      </p:sp>
      <p:sp>
        <p:nvSpPr>
          <p:cNvPr id="8" name="PDF_TEXT_GROUP_236"/>
          <p:cNvSpPr txBox="1"/>
          <p:nvPr/>
        </p:nvSpPr>
        <p:spPr>
          <a:xfrm>
            <a:off x="1123808" y="5428561"/>
            <a:ext cx="12046272"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 also uses publication lifetimes and retained state against replay, assuming loosely</a:t>
            </a:r>
            <a:r>
              <a:rPr sz="2371" b="0" i="0">
                <a:solidFill>
                  <a:srgbClr val="000000"/>
                </a:solidFill>
                <a:latin typeface="Latin Modern Sans"/>
              </a:rPr>
              <a:t> synchronized clocks. These are concrete command-authorization mechanisms, not just</a:t>
            </a:r>
            <a:r>
              <a:rPr sz="2371" b="0" i="0">
                <a:solidFill>
                  <a:srgbClr val="000000"/>
                </a:solidFill>
                <a:latin typeface="Latin Modern Sans"/>
              </a:rPr>
              <a:t> identity checks.</a:t>
            </a:r>
          </a:p>
        </p:txBody>
      </p:sp>
      <p:sp>
        <p:nvSpPr>
          <p:cNvPr id="9" name="PDF_TEXT_GROUP_23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3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3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4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4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19/49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0" descr="background-020.png"/>
          <p:cNvPicPr>
            <a:picLocks noChangeAspect="1"/>
          </p:cNvPicPr>
          <p:nvPr/>
        </p:nvPicPr>
        <p:blipFill>
          <a:blip r:embed="rId2"/>
          <a:stretch>
            <a:fillRect/>
          </a:stretch>
        </p:blipFill>
        <p:spPr>
          <a:xfrm>
            <a:off x="0" y="0"/>
            <a:ext cx="14630400" cy="8229600"/>
          </a:xfrm>
          <a:prstGeom prst="rect">
            <a:avLst/>
          </a:prstGeom>
        </p:spPr>
      </p:pic>
      <p:sp>
        <p:nvSpPr>
          <p:cNvPr id="3" name="PDF_TEXT_GROUP_24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DNMP-inspired Authorization versus NDNSF</a:t>
            </a:r>
          </a:p>
        </p:txBody>
      </p:sp>
      <p:sp>
        <p:nvSpPr>
          <p:cNvPr id="4" name="PDF_TEXT_GROUP_243"/>
          <p:cNvSpPr txBox="1"/>
          <p:nvPr/>
        </p:nvSpPr>
        <p:spPr>
          <a:xfrm>
            <a:off x="1107736" y="1276997"/>
            <a:ext cx="108279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a:t>
            </a:r>
          </a:p>
        </p:txBody>
      </p:sp>
      <p:sp>
        <p:nvSpPr>
          <p:cNvPr id="5" name="PDF_TEXT_GROUP_244"/>
          <p:cNvSpPr txBox="1"/>
          <p:nvPr/>
        </p:nvSpPr>
        <p:spPr>
          <a:xfrm>
            <a:off x="4951729" y="1276997"/>
            <a:ext cx="34284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authorization</a:t>
            </a:r>
          </a:p>
        </p:txBody>
      </p:sp>
      <p:sp>
        <p:nvSpPr>
          <p:cNvPr id="6" name="PDF_TEXT_GROUP_245"/>
          <p:cNvSpPr txBox="1"/>
          <p:nvPr/>
        </p:nvSpPr>
        <p:spPr>
          <a:xfrm>
            <a:off x="9433494" y="1276997"/>
            <a:ext cx="352730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confidentiality</a:t>
            </a:r>
          </a:p>
        </p:txBody>
      </p:sp>
      <p:sp>
        <p:nvSpPr>
          <p:cNvPr id="7" name="PDF_TEXT_GROUP_246"/>
          <p:cNvSpPr txBox="1"/>
          <p:nvPr/>
        </p:nvSpPr>
        <p:spPr>
          <a:xfrm>
            <a:off x="1107736" y="1845357"/>
            <a:ext cx="291195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DNMP-inspired [12]</a:t>
            </a:r>
          </a:p>
        </p:txBody>
      </p:sp>
      <p:sp>
        <p:nvSpPr>
          <p:cNvPr id="8" name="PDF_TEXT_GROUP_247"/>
          <p:cNvSpPr txBox="1"/>
          <p:nvPr/>
        </p:nvSpPr>
        <p:spPr>
          <a:xfrm>
            <a:off x="4951504" y="1845357"/>
            <a:ext cx="328822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Check role-constrained</a:t>
            </a:r>
          </a:p>
        </p:txBody>
      </p:sp>
      <p:sp>
        <p:nvSpPr>
          <p:cNvPr id="9" name="PDF_TEXT_GROUP_248"/>
          <p:cNvSpPr txBox="1"/>
          <p:nvPr/>
        </p:nvSpPr>
        <p:spPr>
          <a:xfrm>
            <a:off x="9433445" y="1845357"/>
            <a:ext cx="333559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Pair with service-group</a:t>
            </a:r>
          </a:p>
        </p:txBody>
      </p:sp>
      <p:sp>
        <p:nvSpPr>
          <p:cNvPr id="10" name="PDF_TEXT_GROUP_249"/>
          <p:cNvSpPr txBox="1"/>
          <p:nvPr/>
        </p:nvSpPr>
        <p:spPr>
          <a:xfrm>
            <a:off x="4951637" y="2231685"/>
            <a:ext cx="321794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signatures and NDNSF</a:t>
            </a:r>
            <a:r>
              <a:rPr sz="2371" b="0" i="0">
                <a:solidFill>
                  <a:srgbClr val="000000"/>
                </a:solidFill>
                <a:latin typeface="Latin Modern Sans"/>
              </a:rPr>
              <a:t> invocation state</a:t>
            </a:r>
          </a:p>
        </p:txBody>
      </p:sp>
      <p:sp>
        <p:nvSpPr>
          <p:cNvPr id="11" name="PDF_TEXT_GROUP_250"/>
          <p:cNvSpPr txBox="1"/>
          <p:nvPr/>
        </p:nvSpPr>
        <p:spPr>
          <a:xfrm>
            <a:off x="9433445" y="2231685"/>
            <a:ext cx="269225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encryption or ABE</a:t>
            </a:r>
          </a:p>
        </p:txBody>
      </p:sp>
      <p:sp>
        <p:nvSpPr>
          <p:cNvPr id="12" name="PDF_TEXT_GROUP_251"/>
          <p:cNvSpPr txBox="1"/>
          <p:nvPr/>
        </p:nvSpPr>
        <p:spPr>
          <a:xfrm>
            <a:off x="1107736" y="3186404"/>
            <a:ext cx="30294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ABE-backed</a:t>
            </a:r>
          </a:p>
        </p:txBody>
      </p:sp>
      <p:sp>
        <p:nvSpPr>
          <p:cNvPr id="13" name="PDF_TEXT_GROUP_252"/>
          <p:cNvSpPr txBox="1"/>
          <p:nvPr/>
        </p:nvSpPr>
        <p:spPr>
          <a:xfrm>
            <a:off x="4951637" y="3186404"/>
            <a:ext cx="4089686" cy="160150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Check signatures,</a:t>
            </a:r>
            <a:r>
              <a:rPr sz="2371" b="0" i="0">
                <a:solidFill>
                  <a:srgbClr val="000000"/>
                </a:solidFill>
                <a:latin typeface="Latin Modern Sans"/>
              </a:rPr>
              <a:t> RequestNonce,</a:t>
            </a:r>
            <a:r>
              <a:rPr sz="2371" b="0" i="0">
                <a:solidFill>
                  <a:srgbClr val="000000"/>
                </a:solidFill>
                <a:latin typeface="Latin Modern Sans"/>
              </a:rPr>
              <a:t> ProviderChallenge, current</a:t>
            </a:r>
            <a:r>
              <a:rPr sz="2371" b="0" i="0">
                <a:solidFill>
                  <a:srgbClr val="000000"/>
                </a:solidFill>
                <a:latin typeface="Latin Modern Sans"/>
              </a:rPr>
              <a:t> permissions and request state</a:t>
            </a:r>
          </a:p>
        </p:txBody>
      </p:sp>
      <p:sp>
        <p:nvSpPr>
          <p:cNvPr id="14" name="PDF_TEXT_GROUP_253"/>
          <p:cNvSpPr txBox="1"/>
          <p:nvPr/>
        </p:nvSpPr>
        <p:spPr>
          <a:xfrm>
            <a:off x="9433445" y="3186404"/>
            <a:ext cx="422385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 encrypts descriptor</a:t>
            </a:r>
            <a:r>
              <a:rPr sz="2371" b="0" i="0">
                <a:solidFill>
                  <a:srgbClr val="000000"/>
                </a:solidFill>
                <a:latin typeface="Latin Modern Sans"/>
              </a:rPr>
              <a:t> content with service-level ABE</a:t>
            </a:r>
          </a:p>
        </p:txBody>
      </p:sp>
      <p:sp>
        <p:nvSpPr>
          <p:cNvPr id="15" name="PDF_TEXT_GROUP_254"/>
          <p:cNvSpPr txBox="1"/>
          <p:nvPr/>
        </p:nvSpPr>
        <p:spPr>
          <a:xfrm>
            <a:off x="1123808" y="5240293"/>
            <a:ext cx="12372489" cy="16015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comparison: retain NDNSF discovery and Selection, with input/result protection</a:t>
            </a:r>
            <a:r>
              <a:rPr sz="2371" b="0" i="0">
                <a:solidFill>
                  <a:srgbClr val="000000"/>
                </a:solidFill>
                <a:latin typeface="Latin Modern Sans"/>
              </a:rPr>
              <a:t> and revocation checks in both designs. Trust Schema [16] alone does not encrypt Content;</a:t>
            </a:r>
            <a:r>
              <a:rPr sz="2371" b="0" i="0">
                <a:solidFill>
                  <a:srgbClr val="000000"/>
                </a:solidFill>
                <a:latin typeface="Latin Modern Sans"/>
              </a:rPr>
              <a:t> adapting DNMP authorization is not an original DNMP feature. No measured cost</a:t>
            </a:r>
            <a:r>
              <a:rPr sz="2371" b="0" i="0">
                <a:solidFill>
                  <a:srgbClr val="000000"/>
                </a:solidFill>
                <a:latin typeface="Latin Modern Sans"/>
              </a:rPr>
              <a:t> advantage is claimed.</a:t>
            </a:r>
          </a:p>
        </p:txBody>
      </p:sp>
      <p:sp>
        <p:nvSpPr>
          <p:cNvPr id="16" name="PDF_TEXT_GROUP_25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25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25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25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25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20/49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1" descr="background-021.png"/>
          <p:cNvPicPr>
            <a:picLocks noChangeAspect="1"/>
          </p:cNvPicPr>
          <p:nvPr/>
        </p:nvPicPr>
        <p:blipFill>
          <a:blip r:embed="rId2"/>
          <a:stretch>
            <a:fillRect/>
          </a:stretch>
        </p:blipFill>
        <p:spPr>
          <a:xfrm>
            <a:off x="0" y="0"/>
            <a:ext cx="14630400" cy="8229600"/>
          </a:xfrm>
          <a:prstGeom prst="rect">
            <a:avLst/>
          </a:prstGeom>
        </p:spPr>
      </p:pic>
      <p:sp>
        <p:nvSpPr>
          <p:cNvPr id="3" name="PDF_TEXT_GROUP_26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When Another Authorization Design May Be Better</a:t>
            </a:r>
          </a:p>
        </p:txBody>
      </p:sp>
      <p:sp>
        <p:nvSpPr>
          <p:cNvPr id="4" name="PDF_TEXT_GROUP_261"/>
          <p:cNvSpPr txBox="1"/>
          <p:nvPr/>
        </p:nvSpPr>
        <p:spPr>
          <a:xfrm>
            <a:off x="1618972" y="1807940"/>
            <a:ext cx="11614223"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Known Providers and simple rules: signed invocation plus recipient encryption</a:t>
            </a:r>
            <a:r>
              <a:rPr sz="2710" b="0" i="0">
                <a:solidFill>
                  <a:srgbClr val="000000"/>
                </a:solidFill>
                <a:latin typeface="Latin Modern Sans"/>
              </a:rPr>
              <a:t> may be sufficient.</a:t>
            </a:r>
          </a:p>
        </p:txBody>
      </p:sp>
      <p:sp>
        <p:nvSpPr>
          <p:cNvPr id="5" name="PDF_TEXT_GROUP_262"/>
          <p:cNvSpPr txBox="1"/>
          <p:nvPr/>
        </p:nvSpPr>
        <p:spPr>
          <a:xfrm>
            <a:off x="1618972" y="2780239"/>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small, stable receiver group: ordinary group-key management may be attractive.</a:t>
            </a:r>
          </a:p>
        </p:txBody>
      </p:sp>
      <p:sp>
        <p:nvSpPr>
          <p:cNvPr id="6" name="PDF_TEXT_GROUP_263"/>
          <p:cNvSpPr txBox="1"/>
          <p:nvPr/>
        </p:nvSpPr>
        <p:spPr>
          <a:xfrm>
            <a:off x="1618972" y="3314668"/>
            <a:ext cx="1189059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Rich command-argument restrictions: DNMP-style rules make those constraints</a:t>
            </a:r>
            <a:r>
              <a:rPr sz="2710" b="0" i="0">
                <a:solidFill>
                  <a:srgbClr val="000000"/>
                </a:solidFill>
                <a:latin typeface="Latin Modern Sans"/>
              </a:rPr>
              <a:t> explicit. [12]</a:t>
            </a:r>
          </a:p>
        </p:txBody>
      </p:sp>
      <p:sp>
        <p:nvSpPr>
          <p:cNvPr id="7" name="PDF_TEXT_GROUP_264"/>
          <p:cNvSpPr txBox="1"/>
          <p:nvPr/>
        </p:nvSpPr>
        <p:spPr>
          <a:xfrm>
            <a:off x="1618972" y="4286934"/>
            <a:ext cx="1007673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Many changing entitlements: measure both policy/key updates and</a:t>
            </a:r>
            <a:r>
              <a:rPr sz="2710" b="0" i="0">
                <a:solidFill>
                  <a:srgbClr val="000000"/>
                </a:solidFill>
                <a:latin typeface="Latin Modern Sans"/>
              </a:rPr>
              <a:t> credential/rule updates before claiming a management advantage.</a:t>
            </a:r>
          </a:p>
        </p:txBody>
      </p:sp>
      <p:sp>
        <p:nvSpPr>
          <p:cNvPr id="8" name="PDF_TEXT_GROUP_265"/>
          <p:cNvSpPr txBox="1"/>
          <p:nvPr/>
        </p:nvSpPr>
        <p:spPr>
          <a:xfrm>
            <a:off x="1143656" y="5900173"/>
            <a:ext cx="11709774"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Compare complete combinations of authorization and encryption. ABE-backed</a:t>
            </a:r>
            <a:r>
              <a:rPr sz="2710" b="0" i="0">
                <a:solidFill>
                  <a:srgbClr val="000000"/>
                </a:solidFill>
                <a:latin typeface="Latin Modern Sans"/>
              </a:rPr>
              <a:t> authorization is one design choice, not a universally superior solution.</a:t>
            </a:r>
          </a:p>
        </p:txBody>
      </p:sp>
      <p:sp>
        <p:nvSpPr>
          <p:cNvPr id="9" name="PDF_TEXT_GROUP_26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6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6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6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7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21/49</a:t>
            </a:r>
          </a:p>
        </p:txBody>
      </p:sp>
      <p:sp>
        <p:nvSpPr>
          <p:cNvPr id="14" name="PDF_BULLET_SPAN_390"/>
          <p:cNvSpPr/>
          <p:nvPr/>
        </p:nvSpPr>
        <p:spPr>
          <a:xfrm rot="5400000">
            <a:off x="1207424" y="189373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393"/>
          <p:cNvSpPr/>
          <p:nvPr/>
        </p:nvSpPr>
        <p:spPr>
          <a:xfrm rot="5400000">
            <a:off x="1207424" y="286603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395"/>
          <p:cNvSpPr/>
          <p:nvPr/>
        </p:nvSpPr>
        <p:spPr>
          <a:xfrm rot="5400000">
            <a:off x="1207424" y="340045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398"/>
          <p:cNvSpPr/>
          <p:nvPr/>
        </p:nvSpPr>
        <p:spPr>
          <a:xfrm rot="5400000">
            <a:off x="1207424" y="437272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2" descr="background-022.png"/>
          <p:cNvPicPr>
            <a:picLocks noChangeAspect="1"/>
          </p:cNvPicPr>
          <p:nvPr/>
        </p:nvPicPr>
        <p:blipFill>
          <a:blip r:embed="rId2"/>
          <a:stretch>
            <a:fillRect/>
          </a:stretch>
        </p:blipFill>
        <p:spPr>
          <a:xfrm>
            <a:off x="0" y="0"/>
            <a:ext cx="14630400" cy="8229600"/>
          </a:xfrm>
          <a:prstGeom prst="rect">
            <a:avLst/>
          </a:prstGeom>
        </p:spPr>
      </p:pic>
      <p:sp>
        <p:nvSpPr>
          <p:cNvPr id="3" name="PDF_TEXT_GROUP_27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Runtime Permission Grants and Withdrawals</a:t>
            </a:r>
          </a:p>
        </p:txBody>
      </p:sp>
      <p:sp>
        <p:nvSpPr>
          <p:cNvPr id="4" name="PDF_TEXT_GROUP_272"/>
          <p:cNvSpPr txBox="1"/>
          <p:nvPr/>
        </p:nvSpPr>
        <p:spPr>
          <a:xfrm>
            <a:off x="1618972" y="2029557"/>
            <a:ext cx="1030963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Both operations update Controller-signed permission status. [28]</a:t>
            </a:r>
          </a:p>
        </p:txBody>
      </p:sp>
      <p:sp>
        <p:nvSpPr>
          <p:cNvPr id="5" name="PDF_TEXT_GROUP_273"/>
          <p:cNvSpPr txBox="1"/>
          <p:nvPr/>
        </p:nvSpPr>
        <p:spPr>
          <a:xfrm>
            <a:off x="1618972" y="2563986"/>
            <a:ext cx="1169558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Ordinary grant: update the target’s complete policy; it retrieves a replacement</a:t>
            </a:r>
            <a:r>
              <a:rPr sz="2710" b="0" i="0">
                <a:solidFill>
                  <a:srgbClr val="000000"/>
                </a:solidFill>
                <a:latin typeface="Latin Modern Sans"/>
              </a:rPr>
              <a:t> DKEY. Public parameters stay unchanged.</a:t>
            </a:r>
          </a:p>
        </p:txBody>
      </p:sp>
      <p:sp>
        <p:nvSpPr>
          <p:cNvPr id="6" name="PDF_TEXT_GROUP_274"/>
          <p:cNvSpPr txBox="1"/>
          <p:nvPr/>
        </p:nvSpPr>
        <p:spPr>
          <a:xfrm>
            <a:off x="1618972" y="3536253"/>
            <a:ext cx="1127373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Withdrawal: rotate the Controller’s ABE master key and public parameters;</a:t>
            </a:r>
            <a:r>
              <a:rPr sz="2710" b="0" i="0">
                <a:solidFill>
                  <a:srgbClr val="000000"/>
                </a:solidFill>
                <a:latin typeface="Latin Modern Sans"/>
              </a:rPr>
              <a:t> remaining members obtain DKEYs for their remaining permissions.</a:t>
            </a:r>
          </a:p>
        </p:txBody>
      </p:sp>
      <p:sp>
        <p:nvSpPr>
          <p:cNvPr id="7" name="PDF_TEXT_GROUP_275"/>
          <p:cNvSpPr txBox="1"/>
          <p:nvPr/>
        </p:nvSpPr>
        <p:spPr>
          <a:xfrm>
            <a:off x="1143656" y="5129941"/>
            <a:ext cx="12353074"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master key stays with the Controller. Rotation is Controller-wide. Participants</a:t>
            </a:r>
            <a:r>
              <a:rPr sz="2710" b="0" i="0">
                <a:solidFill>
                  <a:srgbClr val="000000"/>
                </a:solidFill>
                <a:latin typeface="Latin Modern Sans"/>
              </a:rPr>
              <a:t> must retrieve and validate updates before applying them; disconnected nodes</a:t>
            </a:r>
            <a:r>
              <a:rPr sz="2710" b="0" i="0">
                <a:solidFill>
                  <a:srgbClr val="000000"/>
                </a:solidFill>
                <a:latin typeface="Latin Modern Sans"/>
              </a:rPr>
              <a:t> cannot do so immediately.</a:t>
            </a:r>
          </a:p>
        </p:txBody>
      </p:sp>
      <p:sp>
        <p:nvSpPr>
          <p:cNvPr id="8" name="PDF_TEXT_GROUP_27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27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27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27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28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22/49</a:t>
            </a:r>
          </a:p>
        </p:txBody>
      </p:sp>
      <p:sp>
        <p:nvSpPr>
          <p:cNvPr id="13" name="PDF_BULLET_SPAN_409"/>
          <p:cNvSpPr/>
          <p:nvPr/>
        </p:nvSpPr>
        <p:spPr>
          <a:xfrm rot="5400000">
            <a:off x="1207424" y="211534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411"/>
          <p:cNvSpPr/>
          <p:nvPr/>
        </p:nvSpPr>
        <p:spPr>
          <a:xfrm rot="5400000">
            <a:off x="1207424" y="264977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14"/>
          <p:cNvSpPr/>
          <p:nvPr/>
        </p:nvSpPr>
        <p:spPr>
          <a:xfrm rot="5400000">
            <a:off x="1207424" y="362204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3" descr="background-023.png"/>
          <p:cNvPicPr>
            <a:picLocks noChangeAspect="1"/>
          </p:cNvPicPr>
          <p:nvPr/>
        </p:nvPicPr>
        <p:blipFill>
          <a:blip r:embed="rId2"/>
          <a:stretch>
            <a:fillRect/>
          </a:stretch>
        </p:blipFill>
        <p:spPr>
          <a:xfrm>
            <a:off x="0" y="0"/>
            <a:ext cx="14630400" cy="8229600"/>
          </a:xfrm>
          <a:prstGeom prst="rect">
            <a:avLst/>
          </a:prstGeom>
        </p:spPr>
      </p:pic>
      <p:sp>
        <p:nvSpPr>
          <p:cNvPr id="3" name="PDF_TEXT_GROUP_28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Discovering Updates Does Not Make Revocation Instantaneous</a:t>
            </a:r>
          </a:p>
        </p:txBody>
      </p:sp>
      <p:sp>
        <p:nvSpPr>
          <p:cNvPr id="4" name="PDF_TEXT_GROUP_282"/>
          <p:cNvSpPr txBox="1"/>
          <p:nvPr/>
        </p:nvSpPr>
        <p:spPr>
          <a:xfrm>
            <a:off x="1169087" y="1891054"/>
            <a:ext cx="12238723"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Revised design: the Controller publishes new public parameters as signed Data;</a:t>
            </a:r>
            <a:r>
              <a:rPr sz="2710" b="0" i="0">
                <a:solidFill>
                  <a:srgbClr val="000000"/>
                </a:solidFill>
                <a:latin typeface="Latin Modern Sans"/>
              </a:rPr>
              <a:t> Sync announces availability.</a:t>
            </a:r>
          </a:p>
        </p:txBody>
      </p:sp>
      <p:sp>
        <p:nvSpPr>
          <p:cNvPr id="5" name="PDF_TEXT_GROUP_283"/>
          <p:cNvSpPr txBox="1"/>
          <p:nvPr/>
        </p:nvSpPr>
        <p:spPr>
          <a:xfrm>
            <a:off x="1169087" y="2863321"/>
            <a:ext cx="12408384" cy="929924"/>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Participants retrieve and validate parameters and permission status, then refresh</a:t>
            </a:r>
            <a:r>
              <a:rPr sz="2710" b="0" i="0">
                <a:solidFill>
                  <a:srgbClr val="000000"/>
                </a:solidFill>
                <a:latin typeface="Latin Modern Sans"/>
              </a:rPr>
              <a:t> DKEYs as required.</a:t>
            </a:r>
          </a:p>
        </p:txBody>
      </p:sp>
      <p:sp>
        <p:nvSpPr>
          <p:cNvPr id="6" name="PDF_TEXT_GROUP_284"/>
          <p:cNvSpPr txBox="1"/>
          <p:nvPr/>
        </p:nvSpPr>
        <p:spPr>
          <a:xfrm>
            <a:off x="1169087" y="3835621"/>
            <a:ext cx="13403371"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Grants also require status discovery, even when public parameters do not change.</a:t>
            </a:r>
          </a:p>
        </p:txBody>
      </p:sp>
      <p:sp>
        <p:nvSpPr>
          <p:cNvPr id="7" name="PDF_TEXT_GROUP_285"/>
          <p:cNvSpPr txBox="1"/>
          <p:nvPr/>
        </p:nvSpPr>
        <p:spPr>
          <a:xfrm>
            <a:off x="1143656" y="4899824"/>
            <a:ext cx="12253791" cy="180560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Local status retrieval and rotation exist; dedicated Sync announcements still need</a:t>
            </a:r>
            <a:r>
              <a:rPr sz="2710" b="0" i="0">
                <a:solidFill>
                  <a:srgbClr val="000000"/>
                </a:solidFill>
                <a:latin typeface="Latin Modern Sans"/>
              </a:rPr>
              <a:t> end-to-end verification. Measure propagation, rejection delay and rekey traffic.</a:t>
            </a:r>
            <a:r>
              <a:rPr sz="2710" b="0" i="0">
                <a:solidFill>
                  <a:srgbClr val="000000"/>
                </a:solidFill>
                <a:latin typeface="Latin Modern Sans"/>
              </a:rPr>
              <a:t> Neither NDNSF nor a certificate-revocation alternative can recall disclosed keys or</a:t>
            </a:r>
            <a:r>
              <a:rPr sz="2710" b="0" i="0">
                <a:solidFill>
                  <a:srgbClr val="000000"/>
                </a:solidFill>
                <a:latin typeface="Latin Modern Sans"/>
              </a:rPr>
              <a:t> plaintext.</a:t>
            </a:r>
          </a:p>
        </p:txBody>
      </p:sp>
      <p:sp>
        <p:nvSpPr>
          <p:cNvPr id="8" name="PDF_TEXT_GROUP_28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28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28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28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29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23/49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4" descr="background-024.png"/>
          <p:cNvPicPr>
            <a:picLocks noChangeAspect="1"/>
          </p:cNvPicPr>
          <p:nvPr/>
        </p:nvPicPr>
        <p:blipFill>
          <a:blip r:embed="rId2"/>
          <a:stretch>
            <a:fillRect/>
          </a:stretch>
        </p:blipFill>
        <p:spPr>
          <a:xfrm>
            <a:off x="0" y="0"/>
            <a:ext cx="14630400" cy="8229600"/>
          </a:xfrm>
          <a:prstGeom prst="rect">
            <a:avLst/>
          </a:prstGeom>
        </p:spPr>
      </p:pic>
      <p:sp>
        <p:nvSpPr>
          <p:cNvPr id="3" name="PDF_TEXT_GROUP_29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Threat Model: What Is Trusted?</a:t>
            </a:r>
          </a:p>
        </p:txBody>
      </p:sp>
      <p:sp>
        <p:nvSpPr>
          <p:cNvPr id="4" name="PDF_TEXT_GROUP_292"/>
          <p:cNvSpPr txBox="1"/>
          <p:nvPr/>
        </p:nvSpPr>
        <p:spPr>
          <a:xfrm>
            <a:off x="1618972" y="1925696"/>
            <a:ext cx="1061077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Trusted: Controller authorization and the User’s planning decision.</a:t>
            </a:r>
          </a:p>
        </p:txBody>
      </p:sp>
      <p:sp>
        <p:nvSpPr>
          <p:cNvPr id="5" name="PDF_TEXT_GROUP_293"/>
          <p:cNvSpPr txBox="1"/>
          <p:nvPr/>
        </p:nvSpPr>
        <p:spPr>
          <a:xfrm>
            <a:off x="1618972" y="2460125"/>
            <a:ext cx="12118385"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Untrusted delivery: an object may arrive through a producer, forwarder, cache, or</a:t>
            </a:r>
            <a:r>
              <a:rPr sz="2710" b="0" i="0">
                <a:solidFill>
                  <a:srgbClr val="000000"/>
                </a:solidFill>
                <a:latin typeface="Latin Modern Sans"/>
              </a:rPr>
              <a:t> repository and still requires validation.</a:t>
            </a:r>
          </a:p>
        </p:txBody>
      </p:sp>
      <p:sp>
        <p:nvSpPr>
          <p:cNvPr id="6" name="PDF_TEXT_GROUP_294"/>
          <p:cNvSpPr txBox="1"/>
          <p:nvPr/>
        </p:nvSpPr>
        <p:spPr>
          <a:xfrm>
            <a:off x="1618972" y="3432424"/>
            <a:ext cx="120593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Adversarial cases to test: wrong identities, permissions, challenges, request state,</a:t>
            </a:r>
            <a:r>
              <a:rPr sz="2710" b="0" i="0">
                <a:solidFill>
                  <a:srgbClr val="000000"/>
                </a:solidFill>
                <a:latin typeface="Latin Modern Sans"/>
              </a:rPr>
              <a:t> roles, dependencies, or execution identities.</a:t>
            </a:r>
          </a:p>
        </p:txBody>
      </p:sp>
      <p:sp>
        <p:nvSpPr>
          <p:cNvPr id="7" name="PDF_TEXT_GROUP_295"/>
          <p:cNvSpPr txBox="1"/>
          <p:nvPr/>
        </p:nvSpPr>
        <p:spPr>
          <a:xfrm>
            <a:off x="1618972" y="4404691"/>
            <a:ext cx="116465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Not established by signatures/ABE: honest resource reports, correct inference,</a:t>
            </a:r>
            <a:r>
              <a:rPr sz="2710" b="0" i="0">
                <a:solidFill>
                  <a:srgbClr val="000000"/>
                </a:solidFill>
                <a:latin typeface="Latin Modern Sans"/>
              </a:rPr>
              <a:t> truthful images, or resistance to authorized key sharing.</a:t>
            </a:r>
          </a:p>
        </p:txBody>
      </p:sp>
      <p:sp>
        <p:nvSpPr>
          <p:cNvPr id="8" name="PDF_TEXT_GROUP_296"/>
          <p:cNvSpPr txBox="1"/>
          <p:nvPr/>
        </p:nvSpPr>
        <p:spPr>
          <a:xfrm>
            <a:off x="1143656" y="5723538"/>
            <a:ext cx="9538426"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 Byzantine-coordinator consensus claim; no traffic-analysis or</a:t>
            </a:r>
            <a:r>
              <a:rPr sz="2710" b="0" i="0">
                <a:solidFill>
                  <a:srgbClr val="000000"/>
                </a:solidFill>
                <a:latin typeface="Latin Modern Sans"/>
              </a:rPr>
              <a:t> instantaneous-revocation guarantee.</a:t>
            </a:r>
          </a:p>
        </p:txBody>
      </p:sp>
      <p:sp>
        <p:nvSpPr>
          <p:cNvPr id="9" name="PDF_TEXT_GROUP_29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9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9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0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0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24/49</a:t>
            </a:r>
          </a:p>
        </p:txBody>
      </p:sp>
      <p:sp>
        <p:nvSpPr>
          <p:cNvPr id="14" name="PDF_BULLET_SPAN_444"/>
          <p:cNvSpPr/>
          <p:nvPr/>
        </p:nvSpPr>
        <p:spPr>
          <a:xfrm rot="5400000">
            <a:off x="1207424" y="201148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46"/>
          <p:cNvSpPr/>
          <p:nvPr/>
        </p:nvSpPr>
        <p:spPr>
          <a:xfrm rot="5400000">
            <a:off x="1207424" y="254591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49"/>
          <p:cNvSpPr/>
          <p:nvPr/>
        </p:nvSpPr>
        <p:spPr>
          <a:xfrm rot="5400000">
            <a:off x="1207424" y="35182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52"/>
          <p:cNvSpPr/>
          <p:nvPr/>
        </p:nvSpPr>
        <p:spPr>
          <a:xfrm rot="5400000">
            <a:off x="1207424" y="44904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5" descr="background-025.png"/>
          <p:cNvPicPr>
            <a:picLocks noChangeAspect="1"/>
          </p:cNvPicPr>
          <p:nvPr/>
        </p:nvPicPr>
        <p:blipFill>
          <a:blip r:embed="rId2"/>
          <a:stretch>
            <a:fillRect/>
          </a:stretch>
        </p:blipFill>
        <p:spPr>
          <a:xfrm>
            <a:off x="0" y="0"/>
            <a:ext cx="14630400" cy="8229600"/>
          </a:xfrm>
          <a:prstGeom prst="rect">
            <a:avLst/>
          </a:prstGeom>
        </p:spPr>
      </p:pic>
      <p:sp>
        <p:nvSpPr>
          <p:cNvPr id="3" name="PDF_TEXT_GROUP_30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RQ2 Extension: From Positive ACKs to a Role Plan</a:t>
            </a:r>
          </a:p>
        </p:txBody>
      </p:sp>
      <p:sp>
        <p:nvSpPr>
          <p:cNvPr id="4" name="PDF_TEXT_GROUP_303"/>
          <p:cNvSpPr txBox="1"/>
          <p:nvPr/>
        </p:nvSpPr>
        <p:spPr>
          <a:xfrm>
            <a:off x="1169087" y="1815792"/>
            <a:ext cx="12062407"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Application supplies roles, dependency template, constraints and deadline; the</a:t>
            </a:r>
            <a:r>
              <a:rPr sz="2710" b="0" i="0">
                <a:solidFill>
                  <a:srgbClr val="000000"/>
                </a:solidFill>
                <a:latin typeface="Latin Modern Sans"/>
              </a:rPr>
              <a:t> template may be handwritten.</a:t>
            </a:r>
          </a:p>
        </p:txBody>
      </p:sp>
      <p:sp>
        <p:nvSpPr>
          <p:cNvPr id="5" name="PDF_TEXT_GROUP_304"/>
          <p:cNvSpPr txBox="1"/>
          <p:nvPr/>
        </p:nvSpPr>
        <p:spPr>
          <a:xfrm>
            <a:off x="1169087" y="2788059"/>
            <a:ext cx="1346131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The User closes the ACK window and freezes the eligible, validated positive ACKs.</a:t>
            </a:r>
          </a:p>
        </p:txBody>
      </p:sp>
      <p:sp>
        <p:nvSpPr>
          <p:cNvPr id="6" name="PDF_TEXT_GROUP_305"/>
          <p:cNvSpPr txBox="1"/>
          <p:nvPr/>
        </p:nvSpPr>
        <p:spPr>
          <a:xfrm>
            <a:off x="1169087" y="3322488"/>
            <a:ext cx="11469171"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The User applies a replaceable planning policy and signs the resulting role</a:t>
            </a:r>
            <a:r>
              <a:rPr sz="2710" b="0" i="0">
                <a:solidFill>
                  <a:srgbClr val="000000"/>
                </a:solidFill>
                <a:latin typeface="Latin Modern Sans"/>
              </a:rPr>
              <a:t> assignments and dependencies.</a:t>
            </a:r>
          </a:p>
        </p:txBody>
      </p:sp>
      <p:sp>
        <p:nvSpPr>
          <p:cNvPr id="7" name="PDF_TEXT_GROUP_306"/>
          <p:cNvSpPr txBox="1"/>
          <p:nvPr/>
        </p:nvSpPr>
        <p:spPr>
          <a:xfrm>
            <a:off x="1169087" y="4294755"/>
            <a:ext cx="11573101"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Each Provider validates the plan, derives permitted inputs and rechecks its</a:t>
            </a:r>
            <a:r>
              <a:rPr sz="2710" b="0" i="0">
                <a:solidFill>
                  <a:srgbClr val="000000"/>
                </a:solidFill>
                <a:latin typeface="Latin Modern Sans"/>
              </a:rPr>
              <a:t> resources before starting.</a:t>
            </a:r>
          </a:p>
        </p:txBody>
      </p:sp>
      <p:sp>
        <p:nvSpPr>
          <p:cNvPr id="8" name="PDF_TEXT_GROUP_307"/>
          <p:cNvSpPr txBox="1"/>
          <p:nvPr/>
        </p:nvSpPr>
        <p:spPr>
          <a:xfrm>
            <a:off x="1143656" y="5888443"/>
            <a:ext cx="1199516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snapshot freezes observed candidates for this decision, not every Provider in</a:t>
            </a:r>
            <a:r>
              <a:rPr sz="2710" b="0" i="0">
                <a:solidFill>
                  <a:srgbClr val="000000"/>
                </a:solidFill>
                <a:latin typeface="Latin Modern Sans"/>
              </a:rPr>
              <a:t> the network or their future availability.</a:t>
            </a:r>
          </a:p>
        </p:txBody>
      </p:sp>
      <p:sp>
        <p:nvSpPr>
          <p:cNvPr id="9" name="PDF_TEXT_GROUP_30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0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1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1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1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25/49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6" descr="background-026.png"/>
          <p:cNvPicPr>
            <a:picLocks noChangeAspect="1"/>
          </p:cNvPicPr>
          <p:nvPr/>
        </p:nvPicPr>
        <p:blipFill>
          <a:blip r:embed="rId2"/>
          <a:stretch>
            <a:fillRect/>
          </a:stretch>
        </p:blipFill>
        <p:spPr>
          <a:xfrm>
            <a:off x="0" y="0"/>
            <a:ext cx="14630400" cy="8229600"/>
          </a:xfrm>
          <a:prstGeom prst="rect">
            <a:avLst/>
          </a:prstGeom>
        </p:spPr>
      </p:pic>
      <p:sp>
        <p:nvSpPr>
          <p:cNvPr id="3" name="PDF_TEXT_GROUP_31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Plan Is More Than a Request ID</a:t>
            </a:r>
          </a:p>
        </p:txBody>
      </p:sp>
      <p:sp>
        <p:nvSpPr>
          <p:cNvPr id="4" name="PDF_TEXT_GROUP_314"/>
          <p:cNvSpPr txBox="1"/>
          <p:nvPr/>
        </p:nvSpPr>
        <p:spPr>
          <a:xfrm>
            <a:off x="1107736" y="1636568"/>
            <a:ext cx="27684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request ID</a:t>
            </a:r>
          </a:p>
        </p:txBody>
      </p:sp>
      <p:sp>
        <p:nvSpPr>
          <p:cNvPr id="5" name="PDF_TEXT_GROUP_315"/>
          <p:cNvSpPr txBox="1"/>
          <p:nvPr/>
        </p:nvSpPr>
        <p:spPr>
          <a:xfrm>
            <a:off x="5335981" y="1636568"/>
            <a:ext cx="473304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task-specific plan rules</a:t>
            </a:r>
          </a:p>
        </p:txBody>
      </p:sp>
      <p:sp>
        <p:nvSpPr>
          <p:cNvPr id="6" name="PDF_TEXT_GROUP_316"/>
          <p:cNvSpPr txBox="1"/>
          <p:nvPr/>
        </p:nvSpPr>
        <p:spPr>
          <a:xfrm>
            <a:off x="1107736" y="2204928"/>
            <a:ext cx="394670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Identifies the request;</a:t>
            </a:r>
            <a:r>
              <a:rPr sz="2371" b="0" i="0">
                <a:solidFill>
                  <a:srgbClr val="000000"/>
                </a:solidFill>
                <a:latin typeface="Latin Modern Sans"/>
              </a:rPr>
              <a:t> requires a validated message</a:t>
            </a:r>
          </a:p>
        </p:txBody>
      </p:sp>
      <p:sp>
        <p:nvSpPr>
          <p:cNvPr id="7" name="PDF_TEXT_GROUP_317"/>
          <p:cNvSpPr txBox="1"/>
          <p:nvPr/>
        </p:nvSpPr>
        <p:spPr>
          <a:xfrm>
            <a:off x="5335879" y="2204928"/>
            <a:ext cx="83146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Assigns exact Providers to collection and processing roles</a:t>
            </a:r>
          </a:p>
        </p:txBody>
      </p:sp>
      <p:sp>
        <p:nvSpPr>
          <p:cNvPr id="8" name="PDF_TEXT_GROUP_318"/>
          <p:cNvSpPr txBox="1"/>
          <p:nvPr/>
        </p:nvSpPr>
        <p:spPr>
          <a:xfrm>
            <a:off x="1107736" y="3159615"/>
            <a:ext cx="316894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specify</a:t>
            </a:r>
            <a:r>
              <a:rPr sz="2371" b="0" i="0">
                <a:solidFill>
                  <a:srgbClr val="000000"/>
                </a:solidFill>
                <a:latin typeface="Latin Modern Sans"/>
              </a:rPr>
              <a:t> predecessors</a:t>
            </a:r>
          </a:p>
        </p:txBody>
      </p:sp>
      <p:sp>
        <p:nvSpPr>
          <p:cNvPr id="9" name="PDF_TEXT_GROUP_319"/>
          <p:cNvSpPr txBox="1"/>
          <p:nvPr/>
        </p:nvSpPr>
        <p:spPr>
          <a:xfrm>
            <a:off x="5335879" y="3159615"/>
            <a:ext cx="730864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Declares which producer role may supply each named</a:t>
            </a:r>
            <a:r>
              <a:rPr sz="2371" b="0" i="0">
                <a:solidFill>
                  <a:srgbClr val="000000"/>
                </a:solidFill>
                <a:latin typeface="Latin Modern Sans"/>
              </a:rPr>
              <a:t> dependency</a:t>
            </a:r>
          </a:p>
        </p:txBody>
      </p:sp>
      <p:sp>
        <p:nvSpPr>
          <p:cNvPr id="10" name="PDF_TEXT_GROUP_320"/>
          <p:cNvSpPr txBox="1"/>
          <p:nvPr/>
        </p:nvSpPr>
        <p:spPr>
          <a:xfrm>
            <a:off x="1107736" y="4114303"/>
            <a:ext cx="388812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describe key</a:t>
            </a:r>
            <a:r>
              <a:rPr sz="2371" b="0" i="0">
                <a:solidFill>
                  <a:srgbClr val="000000"/>
                </a:solidFill>
                <a:latin typeface="Latin Modern Sans"/>
              </a:rPr>
              <a:t> scope</a:t>
            </a:r>
          </a:p>
        </p:txBody>
      </p:sp>
      <p:sp>
        <p:nvSpPr>
          <p:cNvPr id="11" name="PDF_TEXT_GROUP_321"/>
          <p:cNvSpPr txBox="1"/>
          <p:nvPr/>
        </p:nvSpPr>
        <p:spPr>
          <a:xfrm>
            <a:off x="5335879" y="4114303"/>
            <a:ext cx="7191541"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Associates permitted objects, execution identity, and</a:t>
            </a:r>
            <a:r>
              <a:rPr sz="2371" b="0" i="0">
                <a:solidFill>
                  <a:srgbClr val="000000"/>
                </a:solidFill>
                <a:latin typeface="Latin Modern Sans"/>
              </a:rPr>
              <a:t> authorization/key scope</a:t>
            </a:r>
          </a:p>
        </p:txBody>
      </p:sp>
      <p:sp>
        <p:nvSpPr>
          <p:cNvPr id="12" name="PDF_TEXT_GROUP_322"/>
          <p:cNvSpPr txBox="1"/>
          <p:nvPr/>
        </p:nvSpPr>
        <p:spPr>
          <a:xfrm>
            <a:off x="1123808" y="5382027"/>
            <a:ext cx="1251714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Example: within the same request, a service-authorized UAV that was not assigned “view 1”</a:t>
            </a:r>
            <a:r>
              <a:rPr sz="2371" b="0" i="0">
                <a:solidFill>
                  <a:srgbClr val="000000"/>
                </a:solidFill>
                <a:latin typeface="Latin Modern Sans"/>
              </a:rPr>
              <a:t> must not satisfy the view-1 dependency.</a:t>
            </a:r>
          </a:p>
        </p:txBody>
      </p:sp>
      <p:sp>
        <p:nvSpPr>
          <p:cNvPr id="13" name="PDF_TEXT_GROUP_32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32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32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32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32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26/49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7" descr="background-027.png"/>
          <p:cNvPicPr>
            <a:picLocks noChangeAspect="1"/>
          </p:cNvPicPr>
          <p:nvPr/>
        </p:nvPicPr>
        <p:blipFill>
          <a:blip r:embed="rId2"/>
          <a:stretch>
            <a:fillRect/>
          </a:stretch>
        </p:blipFill>
        <p:spPr>
          <a:xfrm>
            <a:off x="0" y="0"/>
            <a:ext cx="14630400" cy="8229600"/>
          </a:xfrm>
          <a:prstGeom prst="rect">
            <a:avLst/>
          </a:prstGeom>
        </p:spPr>
      </p:pic>
      <p:sp>
        <p:nvSpPr>
          <p:cNvPr id="3" name="PDF_TEXT_GROUP_32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Plan-to-Data Enforcement: Check Before Advancing</a:t>
            </a:r>
          </a:p>
        </p:txBody>
      </p:sp>
      <p:sp>
        <p:nvSpPr>
          <p:cNvPr id="4" name="PDF_TEXT_GROUP_329"/>
          <p:cNvSpPr txBox="1"/>
          <p:nvPr/>
        </p:nvSpPr>
        <p:spPr>
          <a:xfrm>
            <a:off x="1169087" y="1952292"/>
            <a:ext cx="10198756"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Validate the Data signature using the appropriate trust rules.</a:t>
            </a:r>
          </a:p>
        </p:txBody>
      </p:sp>
      <p:sp>
        <p:nvSpPr>
          <p:cNvPr id="5" name="PDF_TEXT_GROUP_330"/>
          <p:cNvSpPr txBox="1"/>
          <p:nvPr/>
        </p:nvSpPr>
        <p:spPr>
          <a:xfrm>
            <a:off x="1169087" y="2486720"/>
            <a:ext cx="9931680"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Check active request, plan, execution identity and deadline.</a:t>
            </a:r>
          </a:p>
        </p:txBody>
      </p:sp>
      <p:sp>
        <p:nvSpPr>
          <p:cNvPr id="6" name="PDF_TEXT_GROUP_331"/>
          <p:cNvSpPr txBox="1"/>
          <p:nvPr/>
        </p:nvSpPr>
        <p:spPr>
          <a:xfrm>
            <a:off x="1169087" y="3021149"/>
            <a:ext cx="977852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Verify that the signer is the assigned predecessor Provider.</a:t>
            </a:r>
          </a:p>
        </p:txBody>
      </p:sp>
      <p:sp>
        <p:nvSpPr>
          <p:cNvPr id="7" name="PDF_TEXT_GROUP_332"/>
          <p:cNvSpPr txBox="1"/>
          <p:nvPr/>
        </p:nvSpPr>
        <p:spPr>
          <a:xfrm>
            <a:off x="1169087" y="3555577"/>
            <a:ext cx="12288047"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Check that the object matches the declared edge, permitted name, data format</a:t>
            </a:r>
            <a:r>
              <a:rPr sz="2710" b="0" i="0">
                <a:solidFill>
                  <a:srgbClr val="000000"/>
                </a:solidFill>
                <a:latin typeface="Latin Modern Sans"/>
              </a:rPr>
              <a:t> and key scope.</a:t>
            </a:r>
          </a:p>
        </p:txBody>
      </p:sp>
      <p:sp>
        <p:nvSpPr>
          <p:cNvPr id="8" name="PDF_TEXT_GROUP_333"/>
          <p:cNvSpPr txBox="1"/>
          <p:nvPr/>
        </p:nvSpPr>
        <p:spPr>
          <a:xfrm>
            <a:off x="1169087" y="4527844"/>
            <a:ext cx="12433241"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5.</a:t>
            </a:r>
            <a:r>
              <a:rPr sz="2710" b="0" i="0">
                <a:solidFill>
                  <a:srgbClr val="000000"/>
                </a:solidFill>
                <a:latin typeface="Latin Modern Sans"/>
              </a:rPr>
              <a:t> Require complete validated input before the dependent computation starts.</a:t>
            </a:r>
          </a:p>
        </p:txBody>
      </p:sp>
      <p:sp>
        <p:nvSpPr>
          <p:cNvPr id="9" name="PDF_TEXT_GROUP_334"/>
          <p:cNvSpPr txBox="1"/>
          <p:nvPr/>
        </p:nvSpPr>
        <p:spPr>
          <a:xfrm>
            <a:off x="1143656" y="5683694"/>
            <a:ext cx="115381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Apply the same rules to direct, cached and repository-fetched Data. This is a</a:t>
            </a:r>
            <a:r>
              <a:rPr sz="2710" b="0" i="0">
                <a:solidFill>
                  <a:srgbClr val="000000"/>
                </a:solidFill>
                <a:latin typeface="Latin Modern Sans"/>
              </a:rPr>
              <a:t> proposed acceptance contract; full end-to-end qualification remains required.</a:t>
            </a:r>
          </a:p>
        </p:txBody>
      </p:sp>
      <p:sp>
        <p:nvSpPr>
          <p:cNvPr id="10" name="PDF_TEXT_GROUP_33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33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33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33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4" name="PDF_TEXT_GROUP_33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27/49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8" descr="background-028.png"/>
          <p:cNvPicPr>
            <a:picLocks noChangeAspect="1"/>
          </p:cNvPicPr>
          <p:nvPr/>
        </p:nvPicPr>
        <p:blipFill>
          <a:blip r:embed="rId2"/>
          <a:stretch>
            <a:fillRect/>
          </a:stretch>
        </p:blipFill>
        <p:spPr>
          <a:xfrm>
            <a:off x="0" y="0"/>
            <a:ext cx="14630400" cy="8229600"/>
          </a:xfrm>
          <a:prstGeom prst="rect">
            <a:avLst/>
          </a:prstGeom>
        </p:spPr>
      </p:pic>
      <p:sp>
        <p:nvSpPr>
          <p:cNvPr id="3" name="PDF_TEXT_GROUP_34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Collaboration Recovery Needs Explicit State</a:t>
            </a:r>
          </a:p>
        </p:txBody>
      </p:sp>
      <p:sp>
        <p:nvSpPr>
          <p:cNvPr id="4" name="PDF_TEXT_GROUP_341"/>
          <p:cNvSpPr txBox="1"/>
          <p:nvPr/>
        </p:nvSpPr>
        <p:spPr>
          <a:xfrm>
            <a:off x="1107736" y="1218507"/>
            <a:ext cx="9461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Event</a:t>
            </a:r>
          </a:p>
        </p:txBody>
      </p:sp>
      <p:sp>
        <p:nvSpPr>
          <p:cNvPr id="5" name="PDF_TEXT_GROUP_342"/>
          <p:cNvSpPr txBox="1"/>
          <p:nvPr/>
        </p:nvSpPr>
        <p:spPr>
          <a:xfrm>
            <a:off x="5335948" y="1218507"/>
            <a:ext cx="26038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behavior</a:t>
            </a:r>
          </a:p>
        </p:txBody>
      </p:sp>
      <p:sp>
        <p:nvSpPr>
          <p:cNvPr id="6" name="PDF_TEXT_GROUP_343"/>
          <p:cNvSpPr txBox="1"/>
          <p:nvPr/>
        </p:nvSpPr>
        <p:spPr>
          <a:xfrm>
            <a:off x="1107736" y="1786866"/>
            <a:ext cx="15095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Late ACK</a:t>
            </a:r>
          </a:p>
        </p:txBody>
      </p:sp>
      <p:sp>
        <p:nvSpPr>
          <p:cNvPr id="7" name="PDF_TEXT_GROUP_344"/>
          <p:cNvSpPr txBox="1"/>
          <p:nvPr/>
        </p:nvSpPr>
        <p:spPr>
          <a:xfrm>
            <a:off x="5335691" y="1786866"/>
            <a:ext cx="62215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silently change the committed plan</a:t>
            </a:r>
          </a:p>
        </p:txBody>
      </p:sp>
      <p:sp>
        <p:nvSpPr>
          <p:cNvPr id="8" name="PDF_TEXT_GROUP_345"/>
          <p:cNvSpPr txBox="1"/>
          <p:nvPr/>
        </p:nvSpPr>
        <p:spPr>
          <a:xfrm>
            <a:off x="1107736" y="2355226"/>
            <a:ext cx="279239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Duplicate Selection</a:t>
            </a:r>
          </a:p>
        </p:txBody>
      </p:sp>
      <p:sp>
        <p:nvSpPr>
          <p:cNvPr id="9" name="PDF_TEXT_GROUP_346"/>
          <p:cNvSpPr txBox="1"/>
          <p:nvPr/>
        </p:nvSpPr>
        <p:spPr>
          <a:xfrm>
            <a:off x="5335879" y="2355226"/>
            <a:ext cx="7709841"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Check whether execution was already authorized; do not</a:t>
            </a:r>
            <a:r>
              <a:rPr sz="2371" b="0" i="0">
                <a:solidFill>
                  <a:srgbClr val="000000"/>
                </a:solidFill>
                <a:latin typeface="Latin Modern Sans"/>
              </a:rPr>
              <a:t> repeat a side effect</a:t>
            </a:r>
          </a:p>
        </p:txBody>
      </p:sp>
      <p:sp>
        <p:nvSpPr>
          <p:cNvPr id="10" name="PDF_TEXT_GROUP_347"/>
          <p:cNvSpPr txBox="1"/>
          <p:nvPr/>
        </p:nvSpPr>
        <p:spPr>
          <a:xfrm>
            <a:off x="1107736" y="3309945"/>
            <a:ext cx="33761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Incomplete dependency</a:t>
            </a:r>
          </a:p>
        </p:txBody>
      </p:sp>
      <p:sp>
        <p:nvSpPr>
          <p:cNvPr id="11" name="PDF_TEXT_GROUP_348"/>
          <p:cNvSpPr txBox="1"/>
          <p:nvPr/>
        </p:nvSpPr>
        <p:spPr>
          <a:xfrm>
            <a:off x="5335879" y="3309945"/>
            <a:ext cx="814794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Wait within policy/deadline, recover, or fail; do not execute</a:t>
            </a:r>
            <a:r>
              <a:rPr sz="2371" b="0" i="0">
                <a:solidFill>
                  <a:srgbClr val="000000"/>
                </a:solidFill>
                <a:latin typeface="Latin Modern Sans"/>
              </a:rPr>
              <a:t> on partial data</a:t>
            </a:r>
          </a:p>
        </p:txBody>
      </p:sp>
      <p:sp>
        <p:nvSpPr>
          <p:cNvPr id="12" name="PDF_TEXT_GROUP_349"/>
          <p:cNvSpPr txBox="1"/>
          <p:nvPr/>
        </p:nvSpPr>
        <p:spPr>
          <a:xfrm>
            <a:off x="1107736" y="4264633"/>
            <a:ext cx="30712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 replacement</a:t>
            </a:r>
          </a:p>
        </p:txBody>
      </p:sp>
      <p:sp>
        <p:nvSpPr>
          <p:cNvPr id="13" name="PDF_TEXT_GROUP_350"/>
          <p:cNvSpPr txBox="1"/>
          <p:nvPr/>
        </p:nvSpPr>
        <p:spPr>
          <a:xfrm>
            <a:off x="5335879" y="4264633"/>
            <a:ext cx="832131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Authorize a new assignment; reject old execution actions and</a:t>
            </a:r>
            <a:r>
              <a:rPr sz="2371" b="0" i="0">
                <a:solidFill>
                  <a:srgbClr val="000000"/>
                </a:solidFill>
                <a:latin typeface="Latin Modern Sans"/>
              </a:rPr>
              <a:t> specify permitted result reuse</a:t>
            </a:r>
          </a:p>
        </p:txBody>
      </p:sp>
      <p:sp>
        <p:nvSpPr>
          <p:cNvPr id="14" name="PDF_TEXT_GROUP_351"/>
          <p:cNvSpPr txBox="1"/>
          <p:nvPr/>
        </p:nvSpPr>
        <p:spPr>
          <a:xfrm>
            <a:off x="1107736" y="5219320"/>
            <a:ext cx="182052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Cancellation</a:t>
            </a:r>
          </a:p>
        </p:txBody>
      </p:sp>
      <p:sp>
        <p:nvSpPr>
          <p:cNvPr id="15" name="PDF_TEXT_GROUP_352"/>
          <p:cNvSpPr txBox="1"/>
          <p:nvPr/>
        </p:nvSpPr>
        <p:spPr>
          <a:xfrm>
            <a:off x="5335788" y="5219320"/>
            <a:ext cx="82021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Prevent late messages from reauthorizing cancelled work</a:t>
            </a:r>
          </a:p>
        </p:txBody>
      </p:sp>
      <p:sp>
        <p:nvSpPr>
          <p:cNvPr id="16" name="PDF_TEXT_GROUP_353"/>
          <p:cNvSpPr txBox="1"/>
          <p:nvPr/>
        </p:nvSpPr>
        <p:spPr>
          <a:xfrm>
            <a:off x="1123808" y="6100685"/>
            <a:ext cx="1242345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Network re-retrieval is not task re-execution. Compensation is not an atomic transaction or</a:t>
            </a:r>
            <a:r>
              <a:rPr sz="2371" b="0" i="0">
                <a:solidFill>
                  <a:srgbClr val="000000"/>
                </a:solidFill>
                <a:latin typeface="Latin Modern Sans"/>
              </a:rPr>
              <a:t> exactly-once physical action.</a:t>
            </a:r>
          </a:p>
        </p:txBody>
      </p:sp>
      <p:sp>
        <p:nvSpPr>
          <p:cNvPr id="17" name="PDF_TEXT_GROUP_35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35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35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35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35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28/49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9" descr="background-029.png"/>
          <p:cNvPicPr>
            <a:picLocks noChangeAspect="1"/>
          </p:cNvPicPr>
          <p:nvPr/>
        </p:nvPicPr>
        <p:blipFill>
          <a:blip r:embed="rId2"/>
          <a:stretch>
            <a:fillRect/>
          </a:stretch>
        </p:blipFill>
        <p:spPr>
          <a:xfrm>
            <a:off x="0" y="0"/>
            <a:ext cx="14630400" cy="8229600"/>
          </a:xfrm>
          <a:prstGeom prst="rect">
            <a:avLst/>
          </a:prstGeom>
        </p:spPr>
      </p:pic>
      <p:sp>
        <p:nvSpPr>
          <p:cNvPr id="3" name="PDF_TEXT_GROUP_35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NDNSF-UAV: Planned Framework Validation</a:t>
            </a:r>
          </a:p>
        </p:txBody>
      </p:sp>
      <p:sp>
        <p:nvSpPr>
          <p:cNvPr id="4" name="PDF_TEXT_GROUP_360"/>
          <p:cNvSpPr txBox="1"/>
          <p:nvPr/>
        </p:nvSpPr>
        <p:spPr>
          <a:xfrm>
            <a:off x="914808" y="1285787"/>
            <a:ext cx="1277590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Unmanned aerial vehicle (UAV) application workflows exercise several framework mechanisms.</a:t>
            </a:r>
            <a:r>
              <a:rPr sz="2371" b="0" i="0">
                <a:solidFill>
                  <a:srgbClr val="000000"/>
                </a:solidFill>
                <a:latin typeface="Latin Modern Sans"/>
              </a:rPr>
              <a:t> [28]</a:t>
            </a:r>
          </a:p>
        </p:txBody>
      </p:sp>
      <p:sp>
        <p:nvSpPr>
          <p:cNvPr id="5" name="PDF_TEXT_GROUP_361"/>
          <p:cNvSpPr txBox="1"/>
          <p:nvPr/>
        </p:nvSpPr>
        <p:spPr>
          <a:xfrm>
            <a:off x="1107736" y="2185086"/>
            <a:ext cx="29351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Application function</a:t>
            </a:r>
          </a:p>
        </p:txBody>
      </p:sp>
      <p:sp>
        <p:nvSpPr>
          <p:cNvPr id="6" name="PDF_TEXT_GROUP_362"/>
          <p:cNvSpPr txBox="1"/>
          <p:nvPr/>
        </p:nvSpPr>
        <p:spPr>
          <a:xfrm>
            <a:off x="6232064" y="2185086"/>
            <a:ext cx="357001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validation scope</a:t>
            </a:r>
          </a:p>
        </p:txBody>
      </p:sp>
      <p:sp>
        <p:nvSpPr>
          <p:cNvPr id="7" name="PDF_TEXT_GROUP_363"/>
          <p:cNvSpPr txBox="1"/>
          <p:nvPr/>
        </p:nvSpPr>
        <p:spPr>
          <a:xfrm>
            <a:off x="1107736" y="2753446"/>
            <a:ext cx="48621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Control, telemetry, mission status</a:t>
            </a:r>
          </a:p>
        </p:txBody>
      </p:sp>
      <p:sp>
        <p:nvSpPr>
          <p:cNvPr id="8" name="PDF_TEXT_GROUP_364"/>
          <p:cNvSpPr txBox="1"/>
          <p:nvPr/>
        </p:nvSpPr>
        <p:spPr>
          <a:xfrm>
            <a:off x="6232224" y="2753446"/>
            <a:ext cx="713723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Provider/request association, permissions, operation</a:t>
            </a:r>
            <a:r>
              <a:rPr sz="2371" b="0" i="0">
                <a:solidFill>
                  <a:srgbClr val="000000"/>
                </a:solidFill>
                <a:latin typeface="Latin Modern Sans"/>
              </a:rPr>
              <a:t> lifecycle</a:t>
            </a:r>
          </a:p>
        </p:txBody>
      </p:sp>
      <p:sp>
        <p:nvSpPr>
          <p:cNvPr id="9" name="PDF_TEXT_GROUP_365"/>
          <p:cNvSpPr txBox="1"/>
          <p:nvPr/>
        </p:nvSpPr>
        <p:spPr>
          <a:xfrm>
            <a:off x="1107736" y="3708165"/>
            <a:ext cx="36673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Live video and recordings</a:t>
            </a:r>
          </a:p>
        </p:txBody>
      </p:sp>
      <p:sp>
        <p:nvSpPr>
          <p:cNvPr id="10" name="PDF_TEXT_GROUP_366"/>
          <p:cNvSpPr txBox="1"/>
          <p:nvPr/>
        </p:nvSpPr>
        <p:spPr>
          <a:xfrm>
            <a:off x="6232256" y="3708165"/>
            <a:ext cx="678783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Stream lifecycle, protected delivery, named-object</a:t>
            </a:r>
            <a:r>
              <a:rPr sz="2371" b="0" i="0">
                <a:solidFill>
                  <a:srgbClr val="000000"/>
                </a:solidFill>
                <a:latin typeface="Latin Modern Sans"/>
              </a:rPr>
              <a:t> retrieval</a:t>
            </a:r>
          </a:p>
        </p:txBody>
      </p:sp>
      <p:sp>
        <p:nvSpPr>
          <p:cNvPr id="11" name="PDF_TEXT_GROUP_367"/>
          <p:cNvSpPr txBox="1"/>
          <p:nvPr/>
        </p:nvSpPr>
        <p:spPr>
          <a:xfrm>
            <a:off x="1107736" y="4662853"/>
            <a:ext cx="449875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Detection and multi-view tasks</a:t>
            </a:r>
          </a:p>
        </p:txBody>
      </p:sp>
      <p:sp>
        <p:nvSpPr>
          <p:cNvPr id="12" name="PDF_TEXT_GROUP_368"/>
          <p:cNvSpPr txBox="1"/>
          <p:nvPr/>
        </p:nvSpPr>
        <p:spPr>
          <a:xfrm>
            <a:off x="6232031" y="4662853"/>
            <a:ext cx="671035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 provision/consumption, role assignments,</a:t>
            </a:r>
            <a:r>
              <a:rPr sz="2371" b="0" i="0">
                <a:solidFill>
                  <a:srgbClr val="000000"/>
                </a:solidFill>
                <a:latin typeface="Latin Modern Sans"/>
              </a:rPr>
              <a:t> dependencies</a:t>
            </a:r>
          </a:p>
        </p:txBody>
      </p:sp>
      <p:sp>
        <p:nvSpPr>
          <p:cNvPr id="13" name="PDF_TEXT_GROUP_369"/>
          <p:cNvSpPr txBox="1"/>
          <p:nvPr/>
        </p:nvSpPr>
        <p:spPr>
          <a:xfrm>
            <a:off x="1123808" y="5930545"/>
            <a:ext cx="1218304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Coverage is broader than one collaboration case. Each claim still needs evidence from the</a:t>
            </a:r>
            <a:r>
              <a:rPr sz="2371" b="0" i="0">
                <a:solidFill>
                  <a:srgbClr val="000000"/>
                </a:solidFill>
                <a:latin typeface="Latin Modern Sans"/>
              </a:rPr>
              <a:t> actual NDNSF path; flight safety and image-analysis accuracy need separate validation.</a:t>
            </a:r>
          </a:p>
        </p:txBody>
      </p:sp>
      <p:sp>
        <p:nvSpPr>
          <p:cNvPr id="14" name="PDF_TEXT_GROUP_37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37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37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37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37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29/49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0" descr="background-030.png"/>
          <p:cNvPicPr>
            <a:picLocks noChangeAspect="1"/>
          </p:cNvPicPr>
          <p:nvPr/>
        </p:nvPicPr>
        <p:blipFill>
          <a:blip r:embed="rId2"/>
          <a:stretch>
            <a:fillRect/>
          </a:stretch>
        </p:blipFill>
        <p:spPr>
          <a:xfrm>
            <a:off x="0" y="0"/>
            <a:ext cx="14630400" cy="8229600"/>
          </a:xfrm>
          <a:prstGeom prst="rect">
            <a:avLst/>
          </a:prstGeom>
        </p:spPr>
      </p:pic>
      <p:sp>
        <p:nvSpPr>
          <p:cNvPr id="3" name="PDF_TEXT_GROUP_37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UAV Collaboration Example: Capture, Analyze and Return</a:t>
            </a:r>
          </a:p>
        </p:txBody>
      </p:sp>
      <p:sp>
        <p:nvSpPr>
          <p:cNvPr id="4" name="PDF_TEXT_GROUP_376"/>
          <p:cNvSpPr txBox="1"/>
          <p:nvPr/>
        </p:nvSpPr>
        <p:spPr>
          <a:xfrm>
            <a:off x="914808" y="1726372"/>
            <a:ext cx="116407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An operator requests ground-area views from nearby UAVs, followed by analysis.</a:t>
            </a:r>
          </a:p>
        </p:txBody>
      </p:sp>
      <p:sp>
        <p:nvSpPr>
          <p:cNvPr id="5" name="PDF_TEXT_GROUP_377"/>
          <p:cNvSpPr txBox="1"/>
          <p:nvPr/>
        </p:nvSpPr>
        <p:spPr>
          <a:xfrm>
            <a:off x="1192840" y="2305880"/>
            <a:ext cx="12439141"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1.</a:t>
            </a:r>
            <a:r>
              <a:rPr sz="2371" b="0" i="0">
                <a:solidFill>
                  <a:srgbClr val="000000"/>
                </a:solidFill>
                <a:latin typeface="Latin Modern Sans"/>
              </a:rPr>
              <a:t> After Selection, assigned UAVs capture views and sign encrypted ViewImage Data under</a:t>
            </a:r>
            <a:r>
              <a:rPr sz="2371" b="0" i="0">
                <a:solidFill>
                  <a:srgbClr val="000000"/>
                </a:solidFill>
                <a:latin typeface="Latin Modern Sans"/>
              </a:rPr>
              <a:t> their authorized namespaces.</a:t>
            </a:r>
          </a:p>
        </p:txBody>
      </p:sp>
      <p:sp>
        <p:nvSpPr>
          <p:cNvPr id="6" name="PDF_TEXT_GROUP_378"/>
          <p:cNvSpPr txBox="1"/>
          <p:nvPr/>
        </p:nvSpPr>
        <p:spPr>
          <a:xfrm>
            <a:off x="1192840" y="3271716"/>
            <a:ext cx="12053925"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2.</a:t>
            </a:r>
            <a:r>
              <a:rPr sz="2371" b="0" i="0">
                <a:solidFill>
                  <a:srgbClr val="000000"/>
                </a:solidFill>
                <a:latin typeface="Latin Modern Sans"/>
              </a:rPr>
              <a:t> The compute Provider retrieves images over assigned edges and publishes Annotation</a:t>
            </a:r>
            <a:r>
              <a:rPr sz="2371" b="0" i="0">
                <a:solidFill>
                  <a:srgbClr val="000000"/>
                </a:solidFill>
                <a:latin typeface="Latin Modern Sans"/>
              </a:rPr>
              <a:t> Data.</a:t>
            </a:r>
          </a:p>
        </p:txBody>
      </p:sp>
      <p:sp>
        <p:nvSpPr>
          <p:cNvPr id="7" name="PDF_TEXT_GROUP_379"/>
          <p:cNvSpPr txBox="1"/>
          <p:nvPr/>
        </p:nvSpPr>
        <p:spPr>
          <a:xfrm>
            <a:off x="1192840" y="4237553"/>
            <a:ext cx="13187362"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3.</a:t>
            </a:r>
            <a:r>
              <a:rPr sz="2371" b="0" i="0">
                <a:solidFill>
                  <a:srgbClr val="000000"/>
                </a:solidFill>
                <a:latin typeface="Latin Modern Sans"/>
              </a:rPr>
              <a:t> Its encrypted result gives the requester original image names and permitted image keys.</a:t>
            </a:r>
          </a:p>
        </p:txBody>
      </p:sp>
      <p:sp>
        <p:nvSpPr>
          <p:cNvPr id="8" name="PDF_TEXT_GROUP_380"/>
          <p:cNvSpPr txBox="1"/>
          <p:nvPr/>
        </p:nvSpPr>
        <p:spPr>
          <a:xfrm>
            <a:off x="1192840" y="4817061"/>
            <a:ext cx="10964200"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4.</a:t>
            </a:r>
            <a:r>
              <a:rPr sz="2371" b="0" i="0">
                <a:solidFill>
                  <a:srgbClr val="000000"/>
                </a:solidFill>
                <a:latin typeface="Latin Modern Sans"/>
              </a:rPr>
              <a:t> The requester retrieves the original images and displays the annotations.</a:t>
            </a:r>
          </a:p>
        </p:txBody>
      </p:sp>
      <p:sp>
        <p:nvSpPr>
          <p:cNvPr id="9" name="PDF_TEXT_GROUP_381"/>
          <p:cNvSpPr txBox="1"/>
          <p:nvPr/>
        </p:nvSpPr>
        <p:spPr>
          <a:xfrm>
            <a:off x="1123808" y="5930804"/>
            <a:ext cx="1172767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Original image Data remains under its producer’s name. GPS alone does not establish</a:t>
            </a:r>
            <a:r>
              <a:rPr sz="2371" b="0" i="0">
                <a:solidFill>
                  <a:srgbClr val="000000"/>
                </a:solidFill>
                <a:latin typeface="Latin Modern Sans"/>
              </a:rPr>
              <a:t> camera visibility.</a:t>
            </a:r>
          </a:p>
        </p:txBody>
      </p:sp>
      <p:sp>
        <p:nvSpPr>
          <p:cNvPr id="10" name="PDF_TEXT_GROUP_38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38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38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38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4" name="PDF_TEXT_GROUP_38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30/49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1" descr="background-031.png"/>
          <p:cNvPicPr>
            <a:picLocks noChangeAspect="1"/>
          </p:cNvPicPr>
          <p:nvPr/>
        </p:nvPicPr>
        <p:blipFill>
          <a:blip r:embed="rId2"/>
          <a:stretch>
            <a:fillRect/>
          </a:stretch>
        </p:blipFill>
        <p:spPr>
          <a:xfrm>
            <a:off x="0" y="0"/>
            <a:ext cx="14630400" cy="8229600"/>
          </a:xfrm>
          <a:prstGeom prst="rect">
            <a:avLst/>
          </a:prstGeom>
        </p:spPr>
      </p:pic>
      <p:sp>
        <p:nvSpPr>
          <p:cNvPr id="3" name="PDF_TEXT_GROUP_38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UAV Evaluation: Completion and Correct Input Use</a:t>
            </a:r>
          </a:p>
        </p:txBody>
      </p:sp>
      <p:sp>
        <p:nvSpPr>
          <p:cNvPr id="4" name="PDF_TEXT_GROUP_388"/>
          <p:cNvSpPr txBox="1"/>
          <p:nvPr/>
        </p:nvSpPr>
        <p:spPr>
          <a:xfrm>
            <a:off x="1618972" y="1837282"/>
            <a:ext cx="121872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complete authorized collection–processing–return task before the deadline.</a:t>
            </a:r>
          </a:p>
        </p:txBody>
      </p:sp>
      <p:sp>
        <p:nvSpPr>
          <p:cNvPr id="5" name="PDF_TEXT_GROUP_389"/>
          <p:cNvSpPr txBox="1"/>
          <p:nvPr/>
        </p:nvSpPr>
        <p:spPr>
          <a:xfrm>
            <a:off x="1618972" y="2371710"/>
            <a:ext cx="114608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Correct handling of unavailable views, delayed images and a failed processing</a:t>
            </a:r>
            <a:r>
              <a:rPr sz="2710" b="0" i="0">
                <a:solidFill>
                  <a:srgbClr val="000000"/>
                </a:solidFill>
                <a:latin typeface="Latin Modern Sans"/>
              </a:rPr>
              <a:t> Provider.</a:t>
            </a:r>
          </a:p>
        </p:txBody>
      </p:sp>
      <p:sp>
        <p:nvSpPr>
          <p:cNvPr id="6" name="PDF_TEXT_GROUP_390"/>
          <p:cNvSpPr txBox="1"/>
          <p:nvPr/>
        </p:nvSpPr>
        <p:spPr>
          <a:xfrm>
            <a:off x="1618972" y="3343977"/>
            <a:ext cx="1193435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Reject wrong-role/edge inputs; accept cached images only when they satisfy the</a:t>
            </a:r>
            <a:r>
              <a:rPr sz="2710" b="0" i="0">
                <a:solidFill>
                  <a:srgbClr val="000000"/>
                </a:solidFill>
                <a:latin typeface="Latin Modern Sans"/>
              </a:rPr>
              <a:t> same task checks.</a:t>
            </a:r>
          </a:p>
        </p:txBody>
      </p:sp>
      <p:sp>
        <p:nvSpPr>
          <p:cNvPr id="7" name="PDF_TEXT_GROUP_391"/>
          <p:cNvSpPr txBox="1"/>
          <p:nvPr/>
        </p:nvSpPr>
        <p:spPr>
          <a:xfrm>
            <a:off x="1618972" y="4316244"/>
            <a:ext cx="1218432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MiniNDN [22] and PX4 SITL [23] results clearly distinguished from physical-flight</a:t>
            </a:r>
            <a:r>
              <a:rPr sz="2710" b="0" i="0">
                <a:solidFill>
                  <a:srgbClr val="000000"/>
                </a:solidFill>
                <a:latin typeface="Latin Modern Sans"/>
              </a:rPr>
              <a:t> evidence.</a:t>
            </a:r>
          </a:p>
        </p:txBody>
      </p:sp>
      <p:sp>
        <p:nvSpPr>
          <p:cNvPr id="8" name="PDF_TEXT_GROUP_392"/>
          <p:cNvSpPr txBox="1"/>
          <p:nvPr/>
        </p:nvSpPr>
        <p:spPr>
          <a:xfrm>
            <a:off x="1143656" y="5856192"/>
            <a:ext cx="1228751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Higher recognition/localization accuracy is a separate claim requiring ground truth</a:t>
            </a:r>
            <a:r>
              <a:rPr sz="2710" b="0" i="0">
                <a:solidFill>
                  <a:srgbClr val="000000"/>
                </a:solidFill>
                <a:latin typeface="Latin Modern Sans"/>
              </a:rPr>
              <a:t> and a single-view control. It is not assumed here.</a:t>
            </a:r>
          </a:p>
        </p:txBody>
      </p:sp>
      <p:sp>
        <p:nvSpPr>
          <p:cNvPr id="9" name="PDF_TEXT_GROUP_39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9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9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9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9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31/49</a:t>
            </a:r>
          </a:p>
        </p:txBody>
      </p:sp>
      <p:sp>
        <p:nvSpPr>
          <p:cNvPr id="14" name="PDF_BULLET_SPAN_585"/>
          <p:cNvSpPr/>
          <p:nvPr/>
        </p:nvSpPr>
        <p:spPr>
          <a:xfrm rot="5400000">
            <a:off x="1207424" y="192307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587"/>
          <p:cNvSpPr/>
          <p:nvPr/>
        </p:nvSpPr>
        <p:spPr>
          <a:xfrm rot="5400000">
            <a:off x="1207424" y="245750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590"/>
          <p:cNvSpPr/>
          <p:nvPr/>
        </p:nvSpPr>
        <p:spPr>
          <a:xfrm rot="5400000">
            <a:off x="1207424" y="342976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593"/>
          <p:cNvSpPr/>
          <p:nvPr/>
        </p:nvSpPr>
        <p:spPr>
          <a:xfrm rot="5400000">
            <a:off x="1207424" y="440203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2" descr="background-032.png"/>
          <p:cNvPicPr>
            <a:picLocks noChangeAspect="1"/>
          </p:cNvPicPr>
          <p:nvPr/>
        </p:nvPicPr>
        <p:blipFill>
          <a:blip r:embed="rId2"/>
          <a:stretch>
            <a:fillRect/>
          </a:stretch>
        </p:blipFill>
        <p:spPr>
          <a:xfrm>
            <a:off x="0" y="0"/>
            <a:ext cx="14630400" cy="8229600"/>
          </a:xfrm>
          <a:prstGeom prst="rect">
            <a:avLst/>
          </a:prstGeom>
        </p:spPr>
      </p:pic>
      <p:sp>
        <p:nvSpPr>
          <p:cNvPr id="3" name="PDF_TEXT_GROUP_39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NDNSF-DI: Planned Framework Validation</a:t>
            </a:r>
          </a:p>
        </p:txBody>
      </p:sp>
      <p:sp>
        <p:nvSpPr>
          <p:cNvPr id="4" name="PDF_TEXT_GROUP_399"/>
          <p:cNvSpPr txBox="1"/>
          <p:nvPr/>
        </p:nvSpPr>
        <p:spPr>
          <a:xfrm>
            <a:off x="1107736" y="1220030"/>
            <a:ext cx="3214005"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Application function</a:t>
            </a:r>
          </a:p>
        </p:txBody>
      </p:sp>
      <p:sp>
        <p:nvSpPr>
          <p:cNvPr id="5" name="PDF_TEXT_GROUP_400"/>
          <p:cNvSpPr txBox="1"/>
          <p:nvPr/>
        </p:nvSpPr>
        <p:spPr>
          <a:xfrm>
            <a:off x="6360496" y="1220030"/>
            <a:ext cx="390918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validation scope</a:t>
            </a:r>
          </a:p>
        </p:txBody>
      </p:sp>
      <p:sp>
        <p:nvSpPr>
          <p:cNvPr id="6" name="PDF_TEXT_GROUP_401"/>
          <p:cNvSpPr txBox="1"/>
          <p:nvPr/>
        </p:nvSpPr>
        <p:spPr>
          <a:xfrm>
            <a:off x="1107736" y="1839900"/>
            <a:ext cx="3932306"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Single-Provider inference</a:t>
            </a:r>
          </a:p>
        </p:txBody>
      </p:sp>
      <p:sp>
        <p:nvSpPr>
          <p:cNvPr id="7" name="PDF_TEXT_GROUP_402"/>
          <p:cNvSpPr txBox="1"/>
          <p:nvPr/>
        </p:nvSpPr>
        <p:spPr>
          <a:xfrm>
            <a:off x="6360531" y="1839900"/>
            <a:ext cx="7605901"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Discovery, permissions, input and result delivery</a:t>
            </a:r>
          </a:p>
        </p:txBody>
      </p:sp>
      <p:sp>
        <p:nvSpPr>
          <p:cNvPr id="8" name="PDF_TEXT_GROUP_403"/>
          <p:cNvSpPr txBox="1"/>
          <p:nvPr/>
        </p:nvSpPr>
        <p:spPr>
          <a:xfrm>
            <a:off x="1107736" y="2459769"/>
            <a:ext cx="4536460"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Model preparation and reuse</a:t>
            </a:r>
          </a:p>
        </p:txBody>
      </p:sp>
      <p:sp>
        <p:nvSpPr>
          <p:cNvPr id="9" name="PDF_TEXT_GROUP_404"/>
          <p:cNvSpPr txBox="1"/>
          <p:nvPr/>
        </p:nvSpPr>
        <p:spPr>
          <a:xfrm>
            <a:off x="6360480" y="2459769"/>
            <a:ext cx="6580255"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Readiness, artifact references, named-object</a:t>
            </a:r>
            <a:r>
              <a:rPr sz="2710" b="0" i="0">
                <a:solidFill>
                  <a:srgbClr val="000000"/>
                </a:solidFill>
                <a:latin typeface="Latin Modern Sans"/>
              </a:rPr>
              <a:t> retrieval</a:t>
            </a:r>
          </a:p>
        </p:txBody>
      </p:sp>
      <p:sp>
        <p:nvSpPr>
          <p:cNvPr id="10" name="PDF_TEXT_GROUP_405"/>
          <p:cNvSpPr txBox="1"/>
          <p:nvPr/>
        </p:nvSpPr>
        <p:spPr>
          <a:xfrm>
            <a:off x="1107736" y="3517510"/>
            <a:ext cx="499504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Incremental output and conversa-</a:t>
            </a:r>
            <a:r>
              <a:rPr sz="2710" b="0" i="0">
                <a:solidFill>
                  <a:srgbClr val="000000"/>
                </a:solidFill>
                <a:latin typeface="Latin Modern Sans"/>
              </a:rPr>
              <a:t>tion</a:t>
            </a:r>
          </a:p>
        </p:txBody>
      </p:sp>
      <p:sp>
        <p:nvSpPr>
          <p:cNvPr id="11" name="PDF_TEXT_GROUP_406"/>
          <p:cNvSpPr txBox="1"/>
          <p:nvPr/>
        </p:nvSpPr>
        <p:spPr>
          <a:xfrm>
            <a:off x="6360480" y="3517510"/>
            <a:ext cx="6909236"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Request state, cancellation, output lifecycle</a:t>
            </a:r>
          </a:p>
        </p:txBody>
      </p:sp>
      <p:sp>
        <p:nvSpPr>
          <p:cNvPr id="12" name="PDF_TEXT_GROUP_407"/>
          <p:cNvSpPr txBox="1"/>
          <p:nvPr/>
        </p:nvSpPr>
        <p:spPr>
          <a:xfrm>
            <a:off x="1107736" y="4575218"/>
            <a:ext cx="383196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Multi-Provider inference</a:t>
            </a:r>
          </a:p>
        </p:txBody>
      </p:sp>
      <p:sp>
        <p:nvSpPr>
          <p:cNvPr id="13" name="PDF_TEXT_GROUP_408"/>
          <p:cNvSpPr txBox="1"/>
          <p:nvPr/>
        </p:nvSpPr>
        <p:spPr>
          <a:xfrm>
            <a:off x="6360566" y="4575218"/>
            <a:ext cx="5819789"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Assignments, dependencies, recovery</a:t>
            </a:r>
          </a:p>
        </p:txBody>
      </p:sp>
      <p:sp>
        <p:nvSpPr>
          <p:cNvPr id="14" name="PDF_TEXT_GROUP_409"/>
          <p:cNvSpPr txBox="1"/>
          <p:nvPr/>
        </p:nvSpPr>
        <p:spPr>
          <a:xfrm>
            <a:off x="1143656" y="5513166"/>
            <a:ext cx="11823387"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application also tests the invocation foundation, without requiring a model</a:t>
            </a:r>
            <a:r>
              <a:rPr sz="2710" b="0" i="0">
                <a:solidFill>
                  <a:srgbClr val="000000"/>
                </a:solidFill>
                <a:latin typeface="Latin Modern Sans"/>
              </a:rPr>
              <a:t> split. Interfaces and focused tests exist; complete model/device/recovery</a:t>
            </a:r>
            <a:r>
              <a:rPr sz="2710" b="0" i="0">
                <a:solidFill>
                  <a:srgbClr val="000000"/>
                </a:solidFill>
                <a:latin typeface="Latin Modern Sans"/>
              </a:rPr>
              <a:t> qualification remains open. [28]</a:t>
            </a:r>
          </a:p>
        </p:txBody>
      </p:sp>
      <p:sp>
        <p:nvSpPr>
          <p:cNvPr id="15" name="PDF_TEXT_GROUP_41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41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41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41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41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32/49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3" descr="background-033.png"/>
          <p:cNvPicPr>
            <a:picLocks noChangeAspect="1"/>
          </p:cNvPicPr>
          <p:nvPr/>
        </p:nvPicPr>
        <p:blipFill>
          <a:blip r:embed="rId2"/>
          <a:stretch>
            <a:fillRect/>
          </a:stretch>
        </p:blipFill>
        <p:spPr>
          <a:xfrm>
            <a:off x="0" y="0"/>
            <a:ext cx="14630400" cy="8229600"/>
          </a:xfrm>
          <a:prstGeom prst="rect">
            <a:avLst/>
          </a:prstGeom>
        </p:spPr>
      </p:pic>
      <p:sp>
        <p:nvSpPr>
          <p:cNvPr id="3" name="PDF_TEXT_GROUP_41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 Collaboration Example: Named Computation Dependencies</a:t>
            </a:r>
          </a:p>
        </p:txBody>
      </p:sp>
      <p:sp>
        <p:nvSpPr>
          <p:cNvPr id="4" name="PDF_TEXT_GROUP_416"/>
          <p:cNvSpPr txBox="1"/>
          <p:nvPr/>
        </p:nvSpPr>
        <p:spPr>
          <a:xfrm>
            <a:off x="1830768"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A</a:t>
            </a:r>
            <a:br/>
            <a:r>
              <a:rPr sz="2371" b="0" i="0">
                <a:solidFill>
                  <a:srgbClr val="000000"/>
                </a:solidFill>
                <a:latin typeface="Latin Modern Sans"/>
              </a:rPr>
              <a:t>layer group 1</a:t>
            </a:r>
          </a:p>
        </p:txBody>
      </p:sp>
      <p:sp>
        <p:nvSpPr>
          <p:cNvPr id="5" name="PDF_TEXT_GROUP_417"/>
          <p:cNvSpPr txBox="1"/>
          <p:nvPr/>
        </p:nvSpPr>
        <p:spPr>
          <a:xfrm>
            <a:off x="6377993"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B</a:t>
            </a:r>
            <a:br/>
            <a:r>
              <a:rPr sz="2371" b="0" i="0">
                <a:solidFill>
                  <a:srgbClr val="000000"/>
                </a:solidFill>
                <a:latin typeface="Latin Modern Sans"/>
              </a:rPr>
              <a:t>layer group 2</a:t>
            </a:r>
          </a:p>
        </p:txBody>
      </p:sp>
      <p:sp>
        <p:nvSpPr>
          <p:cNvPr id="6" name="PDF_TEXT_GROUP_418"/>
          <p:cNvSpPr txBox="1"/>
          <p:nvPr/>
        </p:nvSpPr>
        <p:spPr>
          <a:xfrm>
            <a:off x="10953780" y="1869367"/>
            <a:ext cx="1823950"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C</a:t>
            </a:r>
            <a:br/>
            <a:r>
              <a:rPr sz="2371" b="0" i="0">
                <a:solidFill>
                  <a:srgbClr val="000000"/>
                </a:solidFill>
                <a:latin typeface="Latin Modern Sans"/>
              </a:rPr>
              <a:t>output stage</a:t>
            </a:r>
          </a:p>
        </p:txBody>
      </p:sp>
      <p:sp>
        <p:nvSpPr>
          <p:cNvPr id="7" name="PDF_TEXT_GROUP_419"/>
          <p:cNvSpPr txBox="1"/>
          <p:nvPr/>
        </p:nvSpPr>
        <p:spPr>
          <a:xfrm>
            <a:off x="4487229"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8" name="PDF_TEXT_GROUP_420"/>
          <p:cNvSpPr txBox="1"/>
          <p:nvPr/>
        </p:nvSpPr>
        <p:spPr>
          <a:xfrm>
            <a:off x="9034422"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9" name="PDF_TEXT_GROUP_421"/>
          <p:cNvSpPr txBox="1"/>
          <p:nvPr/>
        </p:nvSpPr>
        <p:spPr>
          <a:xfrm>
            <a:off x="1618972" y="3341069"/>
            <a:ext cx="1223154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Pipeline: sequential layers/groups; tensor partitioning additionally needs supported</a:t>
            </a:r>
            <a:r>
              <a:rPr sz="2710" b="0" i="0">
                <a:solidFill>
                  <a:srgbClr val="000000"/>
                </a:solidFill>
                <a:latin typeface="Latin Modern Sans"/>
              </a:rPr>
              <a:t> collectives.</a:t>
            </a:r>
          </a:p>
        </p:txBody>
      </p:sp>
      <p:sp>
        <p:nvSpPr>
          <p:cNvPr id="10" name="PDF_TEXT_GROUP_422"/>
          <p:cNvSpPr txBox="1"/>
          <p:nvPr/>
        </p:nvSpPr>
        <p:spPr>
          <a:xfrm>
            <a:off x="1618972" y="4313336"/>
            <a:ext cx="114890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ONNX [25] describes the graph; export alone does not implement distributed</a:t>
            </a:r>
            <a:r>
              <a:rPr sz="2710" b="0" i="0">
                <a:solidFill>
                  <a:srgbClr val="000000"/>
                </a:solidFill>
                <a:latin typeface="Latin Modern Sans"/>
              </a:rPr>
              <a:t> execution.</a:t>
            </a:r>
          </a:p>
        </p:txBody>
      </p:sp>
      <p:sp>
        <p:nvSpPr>
          <p:cNvPr id="11" name="PDF_TEXT_GROUP_423"/>
          <p:cNvSpPr txBox="1"/>
          <p:nvPr/>
        </p:nvSpPr>
        <p:spPr>
          <a:xfrm>
            <a:off x="1618972" y="5285603"/>
            <a:ext cx="1181722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 [24] stores artifacts; forwarding caches do not guarantee persistence.</a:t>
            </a:r>
          </a:p>
        </p:txBody>
      </p:sp>
      <p:sp>
        <p:nvSpPr>
          <p:cNvPr id="12" name="PDF_TEXT_GROUP_424"/>
          <p:cNvSpPr txBox="1"/>
          <p:nvPr/>
        </p:nvSpPr>
        <p:spPr>
          <a:xfrm>
            <a:off x="1143656" y="6186227"/>
            <a:ext cx="1241412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framework contribution is checked runtime assignment and data exchange, not</a:t>
            </a:r>
            <a:r>
              <a:rPr sz="2710" b="0" i="0">
                <a:solidFill>
                  <a:srgbClr val="000000"/>
                </a:solidFill>
                <a:latin typeface="Latin Modern Sans"/>
              </a:rPr>
              <a:t> model partitioning itself.</a:t>
            </a:r>
          </a:p>
        </p:txBody>
      </p:sp>
      <p:sp>
        <p:nvSpPr>
          <p:cNvPr id="13" name="PDF_TEXT_GROUP_42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42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42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42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42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33/49</a:t>
            </a:r>
          </a:p>
        </p:txBody>
      </p:sp>
      <p:sp>
        <p:nvSpPr>
          <p:cNvPr id="18" name="PDF_BULLET_SPAN_633"/>
          <p:cNvSpPr/>
          <p:nvPr/>
        </p:nvSpPr>
        <p:spPr>
          <a:xfrm rot="5400000">
            <a:off x="1207424" y="342686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636"/>
          <p:cNvSpPr/>
          <p:nvPr/>
        </p:nvSpPr>
        <p:spPr>
          <a:xfrm rot="5400000">
            <a:off x="1207424" y="439912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639"/>
          <p:cNvSpPr/>
          <p:nvPr/>
        </p:nvSpPr>
        <p:spPr>
          <a:xfrm rot="5400000">
            <a:off x="1207424" y="537139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4" descr="background-034.png"/>
          <p:cNvPicPr>
            <a:picLocks noChangeAspect="1"/>
          </p:cNvPicPr>
          <p:nvPr/>
        </p:nvPicPr>
        <p:blipFill>
          <a:blip r:embed="rId2"/>
          <a:stretch>
            <a:fillRect/>
          </a:stretch>
        </p:blipFill>
        <p:spPr>
          <a:xfrm>
            <a:off x="0" y="0"/>
            <a:ext cx="14630400" cy="8229600"/>
          </a:xfrm>
          <a:prstGeom prst="rect">
            <a:avLst/>
          </a:prstGeom>
        </p:spPr>
      </p:pic>
      <p:sp>
        <p:nvSpPr>
          <p:cNvPr id="3" name="PDF_TEXT_GROUP_43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 State and Evidence Boundaries</a:t>
            </a:r>
          </a:p>
        </p:txBody>
      </p:sp>
      <p:sp>
        <p:nvSpPr>
          <p:cNvPr id="4" name="PDF_TEXT_GROUP_431"/>
          <p:cNvSpPr txBox="1"/>
          <p:nvPr/>
        </p:nvSpPr>
        <p:spPr>
          <a:xfrm>
            <a:off x="1618972" y="1835375"/>
            <a:ext cx="121188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Model weights, reusable artifacts, request activations and KV state have different</a:t>
            </a:r>
            <a:r>
              <a:rPr sz="2710" b="0" i="0">
                <a:solidFill>
                  <a:srgbClr val="000000"/>
                </a:solidFill>
                <a:latin typeface="Latin Modern Sans"/>
              </a:rPr>
              <a:t> lifetimes.</a:t>
            </a:r>
          </a:p>
        </p:txBody>
      </p:sp>
      <p:sp>
        <p:nvSpPr>
          <p:cNvPr id="5" name="PDF_TEXT_GROUP_432"/>
          <p:cNvSpPr txBox="1"/>
          <p:nvPr/>
        </p:nvSpPr>
        <p:spPr>
          <a:xfrm>
            <a:off x="1618972" y="2807642"/>
            <a:ext cx="1200847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With KV caching, the runtime reuses prior key/value (K/V) tensors and supplies</a:t>
            </a:r>
            <a:r>
              <a:rPr sz="2710" b="0" i="0">
                <a:solidFill>
                  <a:srgbClr val="000000"/>
                </a:solidFill>
                <a:latin typeface="Latin Modern Sans"/>
              </a:rPr>
              <a:t> next-step inputs; resident weights do not replace this state. [31]</a:t>
            </a:r>
          </a:p>
        </p:txBody>
      </p:sp>
      <p:sp>
        <p:nvSpPr>
          <p:cNvPr id="6" name="PDF_TEXT_GROUP_433"/>
          <p:cNvSpPr txBox="1"/>
          <p:nvPr/>
        </p:nvSpPr>
        <p:spPr>
          <a:xfrm>
            <a:off x="1618972" y="3779909"/>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in-process test does not establish correct execution across processes or devices.</a:t>
            </a:r>
          </a:p>
        </p:txBody>
      </p:sp>
      <p:sp>
        <p:nvSpPr>
          <p:cNvPr id="7" name="PDF_TEXT_GROUP_434"/>
          <p:cNvSpPr txBox="1"/>
          <p:nvPr/>
        </p:nvSpPr>
        <p:spPr>
          <a:xfrm>
            <a:off x="1618972" y="4314338"/>
            <a:ext cx="115503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Freeze one supported model/partition first; tensor/hybrid and LLM streaming</a:t>
            </a:r>
            <a:r>
              <a:rPr sz="2710" b="0" i="0">
                <a:solidFill>
                  <a:srgbClr val="000000"/>
                </a:solidFill>
                <a:latin typeface="Latin Modern Sans"/>
              </a:rPr>
              <a:t> need their own evidence if claimed.</a:t>
            </a:r>
          </a:p>
        </p:txBody>
      </p:sp>
      <p:sp>
        <p:nvSpPr>
          <p:cNvPr id="8" name="PDF_TEXT_GROUP_435"/>
          <p:cNvSpPr txBox="1"/>
          <p:nvPr/>
        </p:nvSpPr>
        <p:spPr>
          <a:xfrm>
            <a:off x="1143656" y="5839485"/>
            <a:ext cx="1210831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Earlier small-model measurements do not validate the newer distributed inference</a:t>
            </a:r>
            <a:r>
              <a:rPr sz="2710" b="0" i="0">
                <a:solidFill>
                  <a:srgbClr val="000000"/>
                </a:solidFill>
                <a:latin typeface="Latin Modern Sans"/>
              </a:rPr>
              <a:t> and recovery paths. [28]</a:t>
            </a:r>
          </a:p>
        </p:txBody>
      </p:sp>
      <p:sp>
        <p:nvSpPr>
          <p:cNvPr id="9" name="PDF_TEXT_GROUP_43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3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3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3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4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34/49</a:t>
            </a:r>
          </a:p>
        </p:txBody>
      </p:sp>
      <p:sp>
        <p:nvSpPr>
          <p:cNvPr id="14" name="PDF_BULLET_SPAN_649"/>
          <p:cNvSpPr/>
          <p:nvPr/>
        </p:nvSpPr>
        <p:spPr>
          <a:xfrm rot="5400000">
            <a:off x="1207424" y="192116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652"/>
          <p:cNvSpPr/>
          <p:nvPr/>
        </p:nvSpPr>
        <p:spPr>
          <a:xfrm rot="5400000">
            <a:off x="1207424" y="289343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655"/>
          <p:cNvSpPr/>
          <p:nvPr/>
        </p:nvSpPr>
        <p:spPr>
          <a:xfrm rot="5400000">
            <a:off x="1207424" y="386570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657"/>
          <p:cNvSpPr/>
          <p:nvPr/>
        </p:nvSpPr>
        <p:spPr>
          <a:xfrm rot="5400000">
            <a:off x="1207424" y="440012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5" descr="background-035.png"/>
          <p:cNvPicPr>
            <a:picLocks noChangeAspect="1"/>
          </p:cNvPicPr>
          <p:nvPr/>
        </p:nvPicPr>
        <p:blipFill>
          <a:blip r:embed="rId2"/>
          <a:stretch>
            <a:fillRect/>
          </a:stretch>
        </p:blipFill>
        <p:spPr>
          <a:xfrm>
            <a:off x="0" y="0"/>
            <a:ext cx="14630400" cy="8229600"/>
          </a:xfrm>
          <a:prstGeom prst="rect">
            <a:avLst/>
          </a:prstGeom>
        </p:spPr>
      </p:pic>
      <p:sp>
        <p:nvSpPr>
          <p:cNvPr id="3" name="PDF_TEXT_GROUP_44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Application Coverage and Observable Outcomes</a:t>
            </a:r>
          </a:p>
        </p:txBody>
      </p:sp>
      <p:sp>
        <p:nvSpPr>
          <p:cNvPr id="4" name="PDF_TEXT_GROUP_442"/>
          <p:cNvSpPr txBox="1"/>
          <p:nvPr/>
        </p:nvSpPr>
        <p:spPr>
          <a:xfrm>
            <a:off x="1169087" y="2056961"/>
            <a:ext cx="12640583"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Name the application function and the production NDNSF API path it uses.</a:t>
            </a:r>
          </a:p>
        </p:txBody>
      </p:sp>
      <p:sp>
        <p:nvSpPr>
          <p:cNvPr id="5" name="PDF_TEXT_GROUP_443"/>
          <p:cNvSpPr txBox="1"/>
          <p:nvPr/>
        </p:nvSpPr>
        <p:spPr>
          <a:xfrm>
            <a:off x="1169087" y="2591389"/>
            <a:ext cx="12806707"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Specify the input, expected result, failure condition, and tested configuration.</a:t>
            </a:r>
          </a:p>
        </p:txBody>
      </p:sp>
      <p:sp>
        <p:nvSpPr>
          <p:cNvPr id="6" name="PDF_TEXT_GROUP_444"/>
          <p:cNvSpPr txBox="1"/>
          <p:nvPr/>
        </p:nvSpPr>
        <p:spPr>
          <a:xfrm>
            <a:off x="1169087" y="3125818"/>
            <a:ext cx="11928726" cy="929924"/>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Record evidence separately: implementation, focused test, multi-process test,</a:t>
            </a:r>
            <a:r>
              <a:rPr sz="2710" b="0" i="0">
                <a:solidFill>
                  <a:srgbClr val="000000"/>
                </a:solidFill>
                <a:latin typeface="Latin Modern Sans"/>
              </a:rPr>
              <a:t> measured outcome.</a:t>
            </a:r>
          </a:p>
        </p:txBody>
      </p:sp>
      <p:sp>
        <p:nvSpPr>
          <p:cNvPr id="7" name="PDF_TEXT_GROUP_445"/>
          <p:cNvSpPr txBox="1"/>
          <p:nvPr/>
        </p:nvSpPr>
        <p:spPr>
          <a:xfrm>
            <a:off x="1143656" y="4650965"/>
            <a:ext cx="12339801" cy="180560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UAV and DI cover discovery, authorization, data delivery, lifecycle, and</a:t>
            </a:r>
            <a:r>
              <a:rPr sz="2710" b="0" i="0">
                <a:solidFill>
                  <a:srgbClr val="000000"/>
                </a:solidFill>
                <a:latin typeface="Latin Modern Sans"/>
              </a:rPr>
              <a:t> collaboration. Local calls do not prove remote behavior. Representative workflows</a:t>
            </a:r>
            <a:r>
              <a:rPr sz="2710" b="0" i="0">
                <a:solidFill>
                  <a:srgbClr val="000000"/>
                </a:solidFill>
                <a:latin typeface="Latin Modern Sans"/>
              </a:rPr>
              <a:t> cover claimed mechanisms; optional application features need not become separate</a:t>
            </a:r>
            <a:r>
              <a:rPr sz="2710" b="0" i="0">
                <a:solidFill>
                  <a:srgbClr val="000000"/>
                </a:solidFill>
                <a:latin typeface="Latin Modern Sans"/>
              </a:rPr>
              <a:t> dissertation requirements.</a:t>
            </a:r>
          </a:p>
        </p:txBody>
      </p:sp>
      <p:sp>
        <p:nvSpPr>
          <p:cNvPr id="8" name="PDF_TEXT_GROUP_44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44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44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44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45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35/49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6" descr="background-036.png"/>
          <p:cNvPicPr>
            <a:picLocks noChangeAspect="1"/>
          </p:cNvPicPr>
          <p:nvPr/>
        </p:nvPicPr>
        <p:blipFill>
          <a:blip r:embed="rId2"/>
          <a:stretch>
            <a:fillRect/>
          </a:stretch>
        </p:blipFill>
        <p:spPr>
          <a:xfrm>
            <a:off x="0" y="0"/>
            <a:ext cx="14630400" cy="8229600"/>
          </a:xfrm>
          <a:prstGeom prst="rect">
            <a:avLst/>
          </a:prstGeom>
        </p:spPr>
      </p:pic>
      <p:sp>
        <p:nvSpPr>
          <p:cNvPr id="3" name="PDF_TEXT_GROUP_45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RQ3: Define the Baselines Before Comparing</a:t>
            </a:r>
          </a:p>
        </p:txBody>
      </p:sp>
      <p:sp>
        <p:nvSpPr>
          <p:cNvPr id="4" name="PDF_TEXT_GROUP_452"/>
          <p:cNvSpPr txBox="1"/>
          <p:nvPr/>
        </p:nvSpPr>
        <p:spPr>
          <a:xfrm>
            <a:off x="1618972" y="1750580"/>
            <a:ext cx="1192731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NSC [10]: named service calls; describe the tested executor, timeout, queue and</a:t>
            </a:r>
            <a:r>
              <a:rPr sz="2710" b="0" i="0">
                <a:solidFill>
                  <a:srgbClr val="000000"/>
                </a:solidFill>
                <a:latin typeface="Latin Modern Sans"/>
              </a:rPr>
              <a:t> recovery behavior.</a:t>
            </a:r>
          </a:p>
        </p:txBody>
      </p:sp>
      <p:sp>
        <p:nvSpPr>
          <p:cNvPr id="5" name="PDF_TEXT_GROUP_453"/>
          <p:cNvSpPr txBox="1"/>
          <p:nvPr/>
        </p:nvSpPr>
        <p:spPr>
          <a:xfrm>
            <a:off x="1618972" y="2722847"/>
            <a:ext cx="1124891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gRPC [17]: describe resolver, sequential/parallel policy, deadlines, retry and</a:t>
            </a:r>
            <a:r>
              <a:rPr sz="2710" b="0" i="0">
                <a:solidFill>
                  <a:srgbClr val="000000"/>
                </a:solidFill>
                <a:latin typeface="Latin Modern Sans"/>
              </a:rPr>
              <a:t> cancellation.</a:t>
            </a:r>
          </a:p>
        </p:txBody>
      </p:sp>
      <p:sp>
        <p:nvSpPr>
          <p:cNvPr id="6" name="PDF_TEXT_GROUP_454"/>
          <p:cNvSpPr txBox="1"/>
          <p:nvPr/>
        </p:nvSpPr>
        <p:spPr>
          <a:xfrm>
            <a:off x="1618972" y="3695114"/>
            <a:ext cx="1145589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Match Provider count, capacity, task, topology/traces, publication times and</a:t>
            </a:r>
            <a:r>
              <a:rPr sz="2710" b="0" i="0">
                <a:solidFill>
                  <a:srgbClr val="000000"/>
                </a:solidFill>
                <a:latin typeface="Latin Modern Sans"/>
              </a:rPr>
              <a:t> measurement windows.</a:t>
            </a:r>
          </a:p>
        </p:txBody>
      </p:sp>
      <p:sp>
        <p:nvSpPr>
          <p:cNvPr id="7" name="PDF_TEXT_GROUP_455"/>
          <p:cNvSpPr txBox="1"/>
          <p:nvPr/>
        </p:nvSpPr>
        <p:spPr>
          <a:xfrm>
            <a:off x="1618972" y="4667381"/>
            <a:ext cx="105077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Report fixed-list and dynamically discovered configurations as different</a:t>
            </a:r>
            <a:r>
              <a:rPr sz="2710" b="0" i="0">
                <a:solidFill>
                  <a:srgbClr val="000000"/>
                </a:solidFill>
                <a:latin typeface="Latin Modern Sans"/>
              </a:rPr>
              <a:t> configurations.</a:t>
            </a:r>
          </a:p>
        </p:txBody>
      </p:sp>
      <p:sp>
        <p:nvSpPr>
          <p:cNvPr id="8" name="PDF_TEXT_GROUP_456"/>
          <p:cNvSpPr txBox="1"/>
          <p:nvPr/>
        </p:nvSpPr>
        <p:spPr>
          <a:xfrm>
            <a:off x="1143656" y="5986261"/>
            <a:ext cx="1109319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incomplete baseline cannot establish a limitation of the full framework.</a:t>
            </a:r>
            <a:r>
              <a:rPr sz="2710" b="0" i="0">
                <a:solidFill>
                  <a:srgbClr val="000000"/>
                </a:solidFill>
                <a:latin typeface="Latin Modern Sans"/>
              </a:rPr>
              <a:t> Historical unmatched data remain diagnostics.</a:t>
            </a:r>
          </a:p>
        </p:txBody>
      </p:sp>
      <p:sp>
        <p:nvSpPr>
          <p:cNvPr id="9" name="PDF_TEXT_GROUP_45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5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5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6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6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36/49</a:t>
            </a:r>
          </a:p>
        </p:txBody>
      </p:sp>
      <p:sp>
        <p:nvSpPr>
          <p:cNvPr id="14" name="PDF_BULLET_SPAN_685"/>
          <p:cNvSpPr/>
          <p:nvPr/>
        </p:nvSpPr>
        <p:spPr>
          <a:xfrm rot="5400000">
            <a:off x="1207424" y="183637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688"/>
          <p:cNvSpPr/>
          <p:nvPr/>
        </p:nvSpPr>
        <p:spPr>
          <a:xfrm rot="5400000">
            <a:off x="1207424" y="280863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691"/>
          <p:cNvSpPr/>
          <p:nvPr/>
        </p:nvSpPr>
        <p:spPr>
          <a:xfrm rot="5400000">
            <a:off x="1207424" y="378090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694"/>
          <p:cNvSpPr/>
          <p:nvPr/>
        </p:nvSpPr>
        <p:spPr>
          <a:xfrm rot="5400000">
            <a:off x="1207424" y="47531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7" descr="background-037.png"/>
          <p:cNvPicPr>
            <a:picLocks noChangeAspect="1"/>
          </p:cNvPicPr>
          <p:nvPr/>
        </p:nvPicPr>
        <p:blipFill>
          <a:blip r:embed="rId2"/>
          <a:stretch>
            <a:fillRect/>
          </a:stretch>
        </p:blipFill>
        <p:spPr>
          <a:xfrm>
            <a:off x="0" y="0"/>
            <a:ext cx="14630400" cy="8229600"/>
          </a:xfrm>
          <a:prstGeom prst="rect">
            <a:avLst/>
          </a:prstGeom>
        </p:spPr>
      </p:pic>
      <p:sp>
        <p:nvSpPr>
          <p:cNvPr id="3" name="PDF_TEXT_GROUP_46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Preliminary Evidence: Mobility and Completion</a:t>
            </a:r>
          </a:p>
        </p:txBody>
      </p:sp>
      <p:sp>
        <p:nvSpPr>
          <p:cNvPr id="4" name="PDF_TEXT_GROUP_463"/>
          <p:cNvSpPr txBox="1"/>
          <p:nvPr/>
        </p:nvSpPr>
        <p:spPr>
          <a:xfrm>
            <a:off x="914808" y="1713575"/>
            <a:ext cx="120557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Ten seeds (62–71), four Providers/system, 2 m/s; mean seed completion rate. [28]</a:t>
            </a:r>
          </a:p>
        </p:txBody>
      </p:sp>
      <p:sp>
        <p:nvSpPr>
          <p:cNvPr id="5" name="PDF_TEXT_GROUP_464"/>
          <p:cNvSpPr txBox="1"/>
          <p:nvPr/>
        </p:nvSpPr>
        <p:spPr>
          <a:xfrm>
            <a:off x="1107736" y="2226546"/>
            <a:ext cx="15042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 radius</a:t>
            </a:r>
          </a:p>
        </p:txBody>
      </p:sp>
      <p:sp>
        <p:nvSpPr>
          <p:cNvPr id="6" name="PDF_TEXT_GROUP_465"/>
          <p:cNvSpPr txBox="1"/>
          <p:nvPr/>
        </p:nvSpPr>
        <p:spPr>
          <a:xfrm>
            <a:off x="9386102" y="2226546"/>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7" name="PDF_TEXT_GROUP_466"/>
          <p:cNvSpPr txBox="1"/>
          <p:nvPr/>
        </p:nvSpPr>
        <p:spPr>
          <a:xfrm>
            <a:off x="11203250" y="2226546"/>
            <a:ext cx="9599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a:t>
            </a:r>
          </a:p>
        </p:txBody>
      </p:sp>
      <p:sp>
        <p:nvSpPr>
          <p:cNvPr id="8" name="PDF_TEXT_GROUP_467"/>
          <p:cNvSpPr txBox="1"/>
          <p:nvPr/>
        </p:nvSpPr>
        <p:spPr>
          <a:xfrm>
            <a:off x="12917479" y="2226546"/>
            <a:ext cx="7924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a:t>
            </a:r>
          </a:p>
        </p:txBody>
      </p:sp>
      <p:sp>
        <p:nvSpPr>
          <p:cNvPr id="9" name="PDF_TEXT_GROUP_468"/>
          <p:cNvSpPr txBox="1"/>
          <p:nvPr/>
        </p:nvSpPr>
        <p:spPr>
          <a:xfrm>
            <a:off x="1107736" y="2794906"/>
            <a:ext cx="86473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50 m</a:t>
            </a:r>
          </a:p>
        </p:txBody>
      </p:sp>
      <p:sp>
        <p:nvSpPr>
          <p:cNvPr id="10" name="PDF_TEXT_GROUP_469"/>
          <p:cNvSpPr txBox="1"/>
          <p:nvPr/>
        </p:nvSpPr>
        <p:spPr>
          <a:xfrm>
            <a:off x="9435295" y="2794906"/>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54.57%</a:t>
            </a:r>
          </a:p>
        </p:txBody>
      </p:sp>
      <p:sp>
        <p:nvSpPr>
          <p:cNvPr id="11" name="PDF_TEXT_GROUP_470"/>
          <p:cNvSpPr txBox="1"/>
          <p:nvPr/>
        </p:nvSpPr>
        <p:spPr>
          <a:xfrm>
            <a:off x="10982171" y="2794906"/>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53.80%</a:t>
            </a:r>
          </a:p>
        </p:txBody>
      </p:sp>
      <p:sp>
        <p:nvSpPr>
          <p:cNvPr id="12" name="PDF_TEXT_GROUP_471"/>
          <p:cNvSpPr txBox="1"/>
          <p:nvPr/>
        </p:nvSpPr>
        <p:spPr>
          <a:xfrm>
            <a:off x="12529048" y="2794906"/>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55.47%</a:t>
            </a:r>
          </a:p>
        </p:txBody>
      </p:sp>
      <p:sp>
        <p:nvSpPr>
          <p:cNvPr id="13" name="PDF_TEXT_GROUP_472"/>
          <p:cNvSpPr txBox="1"/>
          <p:nvPr/>
        </p:nvSpPr>
        <p:spPr>
          <a:xfrm>
            <a:off x="1107736" y="3363265"/>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 m</a:t>
            </a:r>
          </a:p>
        </p:txBody>
      </p:sp>
      <p:sp>
        <p:nvSpPr>
          <p:cNvPr id="14" name="PDF_TEXT_GROUP_473"/>
          <p:cNvSpPr txBox="1"/>
          <p:nvPr/>
        </p:nvSpPr>
        <p:spPr>
          <a:xfrm>
            <a:off x="9435295" y="336326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5" name="PDF_TEXT_GROUP_474"/>
          <p:cNvSpPr txBox="1"/>
          <p:nvPr/>
        </p:nvSpPr>
        <p:spPr>
          <a:xfrm>
            <a:off x="10982171" y="336326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6" name="PDF_TEXT_GROUP_475"/>
          <p:cNvSpPr txBox="1"/>
          <p:nvPr/>
        </p:nvSpPr>
        <p:spPr>
          <a:xfrm>
            <a:off x="12529048" y="336326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98.33%</a:t>
            </a:r>
          </a:p>
        </p:txBody>
      </p:sp>
      <p:sp>
        <p:nvSpPr>
          <p:cNvPr id="17" name="PDF_TEXT_GROUP_476"/>
          <p:cNvSpPr txBox="1"/>
          <p:nvPr/>
        </p:nvSpPr>
        <p:spPr>
          <a:xfrm>
            <a:off x="1107736" y="3931625"/>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150 m</a:t>
            </a:r>
          </a:p>
        </p:txBody>
      </p:sp>
      <p:sp>
        <p:nvSpPr>
          <p:cNvPr id="18" name="PDF_TEXT_GROUP_477"/>
          <p:cNvSpPr txBox="1"/>
          <p:nvPr/>
        </p:nvSpPr>
        <p:spPr>
          <a:xfrm>
            <a:off x="9274534" y="3931625"/>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19" name="PDF_TEXT_GROUP_478"/>
          <p:cNvSpPr txBox="1"/>
          <p:nvPr/>
        </p:nvSpPr>
        <p:spPr>
          <a:xfrm>
            <a:off x="10821410" y="3931625"/>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0" name="PDF_TEXT_GROUP_479"/>
          <p:cNvSpPr txBox="1"/>
          <p:nvPr/>
        </p:nvSpPr>
        <p:spPr>
          <a:xfrm>
            <a:off x="12368286" y="3931625"/>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1" name="PDF_TEXT_GROUP_480"/>
          <p:cNvSpPr txBox="1"/>
          <p:nvPr/>
        </p:nvSpPr>
        <p:spPr>
          <a:xfrm>
            <a:off x="1123808" y="5179411"/>
            <a:ext cx="1137644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No overall NDNSF advantage is established. The next slide uses a separate holdout</a:t>
            </a:r>
            <a:r>
              <a:rPr sz="2371" b="0" i="0">
                <a:solidFill>
                  <a:srgbClr val="000000"/>
                </a:solidFill>
                <a:latin typeface="Latin Modern Sans"/>
              </a:rPr>
              <a:t> campaign (seeds 72–81), not a subset of these runs.</a:t>
            </a:r>
          </a:p>
        </p:txBody>
      </p:sp>
      <p:sp>
        <p:nvSpPr>
          <p:cNvPr id="22" name="PDF_TEXT_GROUP_48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3" name="PDF_TEXT_GROUP_48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4" name="PDF_TEXT_GROUP_48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5" name="PDF_TEXT_GROUP_48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6" name="PDF_TEXT_GROUP_48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37/49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8" descr="background-038.png"/>
          <p:cNvPicPr>
            <a:picLocks noChangeAspect="1"/>
          </p:cNvPicPr>
          <p:nvPr/>
        </p:nvPicPr>
        <p:blipFill>
          <a:blip r:embed="rId2"/>
          <a:stretch>
            <a:fillRect/>
          </a:stretch>
        </p:blipFill>
        <p:spPr>
          <a:xfrm>
            <a:off x="0" y="0"/>
            <a:ext cx="14630400" cy="8229600"/>
          </a:xfrm>
          <a:prstGeom prst="rect">
            <a:avLst/>
          </a:prstGeom>
        </p:spPr>
      </p:pic>
      <p:sp>
        <p:nvSpPr>
          <p:cNvPr id="3" name="PDF_TEXT_GROUP_48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Preliminary Evidence: Switching Latency</a:t>
            </a:r>
          </a:p>
        </p:txBody>
      </p:sp>
      <p:sp>
        <p:nvSpPr>
          <p:cNvPr id="4" name="PDF_TEXT_GROUP_487"/>
          <p:cNvSpPr txBox="1"/>
          <p:nvPr/>
        </p:nvSpPr>
        <p:spPr>
          <a:xfrm>
            <a:off x="914808" y="1808162"/>
            <a:ext cx="131053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Seeds 72–81; four Providers/system; 100 m, 2 m/s; 1,312 aligned switching requests. [28]</a:t>
            </a:r>
          </a:p>
        </p:txBody>
      </p:sp>
      <p:sp>
        <p:nvSpPr>
          <p:cNvPr id="5" name="PDF_TEXT_GROUP_488"/>
          <p:cNvSpPr txBox="1"/>
          <p:nvPr/>
        </p:nvSpPr>
        <p:spPr>
          <a:xfrm>
            <a:off x="1107736" y="2321133"/>
            <a:ext cx="175075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Comparison</a:t>
            </a:r>
          </a:p>
        </p:txBody>
      </p:sp>
      <p:sp>
        <p:nvSpPr>
          <p:cNvPr id="6" name="PDF_TEXT_GROUP_489"/>
          <p:cNvSpPr txBox="1"/>
          <p:nvPr/>
        </p:nvSpPr>
        <p:spPr>
          <a:xfrm>
            <a:off x="7937869" y="2321133"/>
            <a:ext cx="28191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Seed-p95 difference</a:t>
            </a:r>
          </a:p>
        </p:txBody>
      </p:sp>
      <p:sp>
        <p:nvSpPr>
          <p:cNvPr id="7" name="PDF_TEXT_GROUP_490"/>
          <p:cNvSpPr txBox="1"/>
          <p:nvPr/>
        </p:nvSpPr>
        <p:spPr>
          <a:xfrm>
            <a:off x="12538050" y="2321133"/>
            <a:ext cx="11719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95% CI</a:t>
            </a:r>
          </a:p>
        </p:txBody>
      </p:sp>
      <p:sp>
        <p:nvSpPr>
          <p:cNvPr id="8" name="PDF_TEXT_GROUP_491"/>
          <p:cNvSpPr txBox="1"/>
          <p:nvPr/>
        </p:nvSpPr>
        <p:spPr>
          <a:xfrm>
            <a:off x="9330171" y="2871464"/>
            <a:ext cx="1398901"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597</a:t>
            </a:r>
            <a:r>
              <a:rPr sz="2371" b="0" i="0">
                <a:solidFill>
                  <a:srgbClr val="000000"/>
                </a:solidFill>
                <a:latin typeface="Latin Modern Sans"/>
              </a:rPr>
              <a:t> ms</a:t>
            </a:r>
          </a:p>
        </p:txBody>
      </p:sp>
      <p:sp>
        <p:nvSpPr>
          <p:cNvPr id="9" name="PDF_TEXT_GROUP_493"/>
          <p:cNvSpPr txBox="1"/>
          <p:nvPr/>
        </p:nvSpPr>
        <p:spPr>
          <a:xfrm>
            <a:off x="1107736" y="2889492"/>
            <a:ext cx="41182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gRPC-SEQ-4</a:t>
            </a:r>
          </a:p>
        </p:txBody>
      </p:sp>
      <p:sp>
        <p:nvSpPr>
          <p:cNvPr id="10" name="PDF_TEXT_GROUP_492"/>
          <p:cNvSpPr txBox="1"/>
          <p:nvPr/>
        </p:nvSpPr>
        <p:spPr>
          <a:xfrm>
            <a:off x="11255736" y="2871464"/>
            <a:ext cx="2455552"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992</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200]</a:t>
            </a:r>
            <a:r>
              <a:rPr sz="2371" b="0" i="0">
                <a:solidFill>
                  <a:srgbClr val="000000"/>
                </a:solidFill>
                <a:latin typeface="Latin Modern Sans"/>
              </a:rPr>
              <a:t> ms</a:t>
            </a:r>
          </a:p>
        </p:txBody>
      </p:sp>
      <p:sp>
        <p:nvSpPr>
          <p:cNvPr id="11" name="PDF_TEXT_GROUP_494"/>
          <p:cNvSpPr txBox="1"/>
          <p:nvPr/>
        </p:nvSpPr>
        <p:spPr>
          <a:xfrm>
            <a:off x="9169388" y="3439823"/>
            <a:ext cx="1559685"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2618</a:t>
            </a:r>
            <a:r>
              <a:rPr sz="2371" b="0" i="0">
                <a:solidFill>
                  <a:srgbClr val="000000"/>
                </a:solidFill>
                <a:latin typeface="Latin Modern Sans"/>
              </a:rPr>
              <a:t> ms</a:t>
            </a:r>
          </a:p>
        </p:txBody>
      </p:sp>
      <p:sp>
        <p:nvSpPr>
          <p:cNvPr id="12" name="PDF_TEXT_GROUP_496"/>
          <p:cNvSpPr txBox="1"/>
          <p:nvPr/>
        </p:nvSpPr>
        <p:spPr>
          <a:xfrm>
            <a:off x="1107736" y="3457852"/>
            <a:ext cx="31653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NSC-4</a:t>
            </a:r>
          </a:p>
        </p:txBody>
      </p:sp>
      <p:sp>
        <p:nvSpPr>
          <p:cNvPr id="13" name="PDF_TEXT_GROUP_495"/>
          <p:cNvSpPr txBox="1"/>
          <p:nvPr/>
        </p:nvSpPr>
        <p:spPr>
          <a:xfrm>
            <a:off x="10934201" y="3439823"/>
            <a:ext cx="2802810"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2916</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2315]</a:t>
            </a:r>
            <a:r>
              <a:rPr sz="2371" b="0" i="0">
                <a:solidFill>
                  <a:srgbClr val="000000"/>
                </a:solidFill>
                <a:latin typeface="Latin Modern Sans"/>
              </a:rPr>
              <a:t> ms</a:t>
            </a:r>
          </a:p>
        </p:txBody>
      </p:sp>
      <p:sp>
        <p:nvSpPr>
          <p:cNvPr id="14" name="PDF_TEXT_GROUP_497"/>
          <p:cNvSpPr txBox="1"/>
          <p:nvPr/>
        </p:nvSpPr>
        <p:spPr>
          <a:xfrm>
            <a:off x="914808" y="4300147"/>
            <a:ext cx="100171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 NDNSF 1,311; gRPC 1,297; NSC 1,296 (of 1,312 each).</a:t>
            </a:r>
          </a:p>
        </p:txBody>
      </p:sp>
      <p:sp>
        <p:nvSpPr>
          <p:cNvPr id="15" name="PDF_TEXT_GROUP_498"/>
          <p:cNvSpPr txBox="1"/>
          <p:nvPr/>
        </p:nvSpPr>
        <p:spPr>
          <a:xfrm>
            <a:off x="1123808" y="5238612"/>
            <a:ext cx="1251746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Mean paired seed-p95 differences; each p95 uses that system’s successful requests. Different</a:t>
            </a:r>
            <a:r>
              <a:rPr sz="2371" b="0" i="0">
                <a:solidFill>
                  <a:srgbClr val="000000"/>
                </a:solidFill>
                <a:latin typeface="Latin Modern Sans"/>
              </a:rPr>
              <a:t> failures limit the comparison; no general advantage is inferred.</a:t>
            </a:r>
          </a:p>
        </p:txBody>
      </p:sp>
      <p:sp>
        <p:nvSpPr>
          <p:cNvPr id="16" name="PDF_TEXT_GROUP_49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50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50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50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50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38/49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9" descr="background-039.png"/>
          <p:cNvPicPr>
            <a:picLocks noChangeAspect="1"/>
          </p:cNvPicPr>
          <p:nvPr/>
        </p:nvPicPr>
        <p:blipFill>
          <a:blip r:embed="rId2"/>
          <a:stretch>
            <a:fillRect/>
          </a:stretch>
        </p:blipFill>
        <p:spPr>
          <a:xfrm>
            <a:off x="0" y="0"/>
            <a:ext cx="14630400" cy="8229600"/>
          </a:xfrm>
          <a:prstGeom prst="rect">
            <a:avLst/>
          </a:prstGeom>
        </p:spPr>
      </p:pic>
      <p:sp>
        <p:nvSpPr>
          <p:cNvPr id="3" name="PDF_TEXT_GROUP_50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Preliminary Evidence: Execution Starts</a:t>
            </a:r>
          </a:p>
        </p:txBody>
      </p:sp>
      <p:sp>
        <p:nvSpPr>
          <p:cNvPr id="4" name="PDF_TEXT_GROUP_505"/>
          <p:cNvSpPr txBox="1"/>
          <p:nvPr/>
        </p:nvSpPr>
        <p:spPr>
          <a:xfrm>
            <a:off x="914808" y="1587481"/>
            <a:ext cx="10431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Six-seed, capacity-matched comparison; 1,800 requests per system. [28]</a:t>
            </a:r>
          </a:p>
        </p:txBody>
      </p:sp>
      <p:sp>
        <p:nvSpPr>
          <p:cNvPr id="5" name="PDF_TEXT_GROUP_506"/>
          <p:cNvSpPr txBox="1"/>
          <p:nvPr/>
        </p:nvSpPr>
        <p:spPr>
          <a:xfrm>
            <a:off x="1107736" y="2100453"/>
            <a:ext cx="19964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Configuration</a:t>
            </a:r>
          </a:p>
        </p:txBody>
      </p:sp>
      <p:sp>
        <p:nvSpPr>
          <p:cNvPr id="6" name="PDF_TEXT_GROUP_507"/>
          <p:cNvSpPr txBox="1"/>
          <p:nvPr/>
        </p:nvSpPr>
        <p:spPr>
          <a:xfrm>
            <a:off x="8360092" y="2100453"/>
            <a:ext cx="28406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 requests</a:t>
            </a:r>
          </a:p>
        </p:txBody>
      </p:sp>
      <p:sp>
        <p:nvSpPr>
          <p:cNvPr id="7" name="PDF_TEXT_GROUP_508"/>
          <p:cNvSpPr txBox="1"/>
          <p:nvPr/>
        </p:nvSpPr>
        <p:spPr>
          <a:xfrm>
            <a:off x="11376133" y="2100453"/>
            <a:ext cx="23338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starts</a:t>
            </a:r>
          </a:p>
        </p:txBody>
      </p:sp>
      <p:sp>
        <p:nvSpPr>
          <p:cNvPr id="8" name="PDF_TEXT_GROUP_509"/>
          <p:cNvSpPr txBox="1"/>
          <p:nvPr/>
        </p:nvSpPr>
        <p:spPr>
          <a:xfrm>
            <a:off x="1107736" y="2668812"/>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9" name="PDF_TEXT_GROUP_510"/>
          <p:cNvSpPr txBox="1"/>
          <p:nvPr/>
        </p:nvSpPr>
        <p:spPr>
          <a:xfrm>
            <a:off x="9150522" y="2668812"/>
            <a:ext cx="20203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1,798 / 1,800</a:t>
            </a:r>
          </a:p>
        </p:txBody>
      </p:sp>
      <p:sp>
        <p:nvSpPr>
          <p:cNvPr id="10" name="PDF_TEXT_GROUP_511"/>
          <p:cNvSpPr txBox="1"/>
          <p:nvPr/>
        </p:nvSpPr>
        <p:spPr>
          <a:xfrm>
            <a:off x="12797101" y="266881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a:t>
            </a:r>
          </a:p>
        </p:txBody>
      </p:sp>
      <p:sp>
        <p:nvSpPr>
          <p:cNvPr id="11" name="PDF_TEXT_GROUP_512"/>
          <p:cNvSpPr txBox="1"/>
          <p:nvPr/>
        </p:nvSpPr>
        <p:spPr>
          <a:xfrm>
            <a:off x="1107736" y="3237172"/>
            <a:ext cx="19357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gRPC-PAR-4</a:t>
            </a:r>
          </a:p>
        </p:txBody>
      </p:sp>
      <p:sp>
        <p:nvSpPr>
          <p:cNvPr id="12" name="PDF_TEXT_GROUP_513"/>
          <p:cNvSpPr txBox="1"/>
          <p:nvPr/>
        </p:nvSpPr>
        <p:spPr>
          <a:xfrm>
            <a:off x="9150490" y="3237172"/>
            <a:ext cx="202067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 / 1,800</a:t>
            </a:r>
          </a:p>
        </p:txBody>
      </p:sp>
      <p:sp>
        <p:nvSpPr>
          <p:cNvPr id="13" name="PDF_TEXT_GROUP_514"/>
          <p:cNvSpPr txBox="1"/>
          <p:nvPr/>
        </p:nvSpPr>
        <p:spPr>
          <a:xfrm>
            <a:off x="12797069" y="323717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7,180</a:t>
            </a:r>
          </a:p>
        </p:txBody>
      </p:sp>
      <p:sp>
        <p:nvSpPr>
          <p:cNvPr id="14" name="PDF_TEXT_GROUP_515"/>
          <p:cNvSpPr txBox="1"/>
          <p:nvPr/>
        </p:nvSpPr>
        <p:spPr>
          <a:xfrm>
            <a:off x="914808" y="4079499"/>
            <a:ext cx="134141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NSC-4 also completed 1,800/1,800, with 1.002 starts/request (rounded). No work-efficiency</a:t>
            </a:r>
          </a:p>
        </p:txBody>
      </p:sp>
      <p:sp>
        <p:nvSpPr>
          <p:cNvPr id="15" name="PDF_TEXT_GROUP_516"/>
          <p:cNvSpPr txBox="1"/>
          <p:nvPr/>
        </p:nvSpPr>
        <p:spPr>
          <a:xfrm>
            <a:off x="914808" y="4740635"/>
            <a:ext cx="46124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advantage over NSC is claimed.</a:t>
            </a:r>
          </a:p>
        </p:txBody>
      </p:sp>
      <p:sp>
        <p:nvSpPr>
          <p:cNvPr id="16" name="PDF_TEXT_GROUP_517"/>
          <p:cNvSpPr txBox="1"/>
          <p:nvPr/>
        </p:nvSpPr>
        <p:spPr>
          <a:xfrm>
            <a:off x="1123808" y="5478003"/>
            <a:ext cx="122638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Fewer starts than gRPC-PAR-4 is not proof of fewer bytes, less CPU time or lower energy.</a:t>
            </a:r>
            <a:r>
              <a:rPr sz="2371" b="0" i="0">
                <a:solidFill>
                  <a:srgbClr val="000000"/>
                </a:solidFill>
                <a:latin typeface="Latin Modern Sans"/>
              </a:rPr>
              <a:t> Similar observed completion is not proven equivalence.</a:t>
            </a:r>
          </a:p>
        </p:txBody>
      </p:sp>
      <p:sp>
        <p:nvSpPr>
          <p:cNvPr id="17" name="PDF_TEXT_GROUP_51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51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52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52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52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39/49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0" descr="background-040.png"/>
          <p:cNvPicPr>
            <a:picLocks noChangeAspect="1"/>
          </p:cNvPicPr>
          <p:nvPr/>
        </p:nvPicPr>
        <p:blipFill>
          <a:blip r:embed="rId2"/>
          <a:stretch>
            <a:fillRect/>
          </a:stretch>
        </p:blipFill>
        <p:spPr>
          <a:xfrm>
            <a:off x="0" y="0"/>
            <a:ext cx="14630400" cy="8229600"/>
          </a:xfrm>
          <a:prstGeom prst="rect">
            <a:avLst/>
          </a:prstGeom>
        </p:spPr>
      </p:pic>
      <p:sp>
        <p:nvSpPr>
          <p:cNvPr id="3" name="PDF_TEXT_GROUP_52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Preliminary Diagnostic: Splitting Can Be Slower</a:t>
            </a:r>
          </a:p>
        </p:txBody>
      </p:sp>
      <p:sp>
        <p:nvSpPr>
          <p:cNvPr id="4" name="PDF_TEXT_GROUP_524"/>
          <p:cNvSpPr txBox="1"/>
          <p:nvPr/>
        </p:nvSpPr>
        <p:spPr>
          <a:xfrm>
            <a:off x="914808" y="1710893"/>
            <a:ext cx="1084533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Earlier small Qwen-style ONNX model; ten successful runs per layout. [28]</a:t>
            </a:r>
          </a:p>
        </p:txBody>
      </p:sp>
      <p:sp>
        <p:nvSpPr>
          <p:cNvPr id="5" name="PDF_TEXT_GROUP_525"/>
          <p:cNvSpPr txBox="1"/>
          <p:nvPr/>
        </p:nvSpPr>
        <p:spPr>
          <a:xfrm>
            <a:off x="1107736" y="2223864"/>
            <a:ext cx="10826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Layout</a:t>
            </a:r>
          </a:p>
        </p:txBody>
      </p:sp>
      <p:sp>
        <p:nvSpPr>
          <p:cNvPr id="6" name="PDF_TEXT_GROUP_526"/>
          <p:cNvSpPr txBox="1"/>
          <p:nvPr/>
        </p:nvSpPr>
        <p:spPr>
          <a:xfrm>
            <a:off x="10125828" y="2223864"/>
            <a:ext cx="19802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Mean latency</a:t>
            </a:r>
          </a:p>
        </p:txBody>
      </p:sp>
      <p:sp>
        <p:nvSpPr>
          <p:cNvPr id="7" name="PDF_TEXT_GROUP_527"/>
          <p:cNvSpPr txBox="1"/>
          <p:nvPr/>
        </p:nvSpPr>
        <p:spPr>
          <a:xfrm>
            <a:off x="13041715" y="2223864"/>
            <a:ext cx="6683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p95</a:t>
            </a:r>
          </a:p>
        </p:txBody>
      </p:sp>
      <p:sp>
        <p:nvSpPr>
          <p:cNvPr id="8" name="PDF_TEXT_GROUP_528"/>
          <p:cNvSpPr txBox="1"/>
          <p:nvPr/>
        </p:nvSpPr>
        <p:spPr>
          <a:xfrm>
            <a:off x="1107736" y="2792224"/>
            <a:ext cx="51051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Shared-backbone distributed layout</a:t>
            </a:r>
          </a:p>
        </p:txBody>
      </p:sp>
      <p:sp>
        <p:nvSpPr>
          <p:cNvPr id="9" name="PDF_TEXT_GROUP_529"/>
          <p:cNvSpPr txBox="1"/>
          <p:nvPr/>
        </p:nvSpPr>
        <p:spPr>
          <a:xfrm>
            <a:off x="10707109" y="2792224"/>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259.4 ms</a:t>
            </a:r>
          </a:p>
        </p:txBody>
      </p:sp>
      <p:sp>
        <p:nvSpPr>
          <p:cNvPr id="10" name="PDF_TEXT_GROUP_530"/>
          <p:cNvSpPr txBox="1"/>
          <p:nvPr/>
        </p:nvSpPr>
        <p:spPr>
          <a:xfrm>
            <a:off x="12311023" y="2792224"/>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283.9 ms</a:t>
            </a:r>
          </a:p>
        </p:txBody>
      </p:sp>
      <p:sp>
        <p:nvSpPr>
          <p:cNvPr id="11" name="PDF_TEXT_GROUP_531"/>
          <p:cNvSpPr txBox="1"/>
          <p:nvPr/>
        </p:nvSpPr>
        <p:spPr>
          <a:xfrm>
            <a:off x="1107736" y="3360583"/>
            <a:ext cx="220985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Single Provider</a:t>
            </a:r>
          </a:p>
        </p:txBody>
      </p:sp>
      <p:sp>
        <p:nvSpPr>
          <p:cNvPr id="12" name="PDF_TEXT_GROUP_532"/>
          <p:cNvSpPr txBox="1"/>
          <p:nvPr/>
        </p:nvSpPr>
        <p:spPr>
          <a:xfrm>
            <a:off x="10707109" y="3360583"/>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186.8 ms</a:t>
            </a:r>
          </a:p>
        </p:txBody>
      </p:sp>
      <p:sp>
        <p:nvSpPr>
          <p:cNvPr id="13" name="PDF_TEXT_GROUP_533"/>
          <p:cNvSpPr txBox="1"/>
          <p:nvPr/>
        </p:nvSpPr>
        <p:spPr>
          <a:xfrm>
            <a:off x="12311023" y="3360583"/>
            <a:ext cx="139913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206.3 ms</a:t>
            </a:r>
          </a:p>
        </p:txBody>
      </p:sp>
      <p:sp>
        <p:nvSpPr>
          <p:cNvPr id="14" name="PDF_TEXT_GROUP_534"/>
          <p:cNvSpPr txBox="1"/>
          <p:nvPr/>
        </p:nvSpPr>
        <p:spPr>
          <a:xfrm>
            <a:off x="1123808" y="4621909"/>
            <a:ext cx="1202405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split merely because several Providers exist. Communication/setup overhead is a</a:t>
            </a:r>
            <a:r>
              <a:rPr sz="2371" b="0" i="0">
                <a:solidFill>
                  <a:srgbClr val="000000"/>
                </a:solidFill>
                <a:latin typeface="Latin Modern Sans"/>
              </a:rPr>
              <a:t> candidate explanation, not a causal result established by this measurement.</a:t>
            </a:r>
          </a:p>
        </p:txBody>
      </p:sp>
      <p:sp>
        <p:nvSpPr>
          <p:cNvPr id="15" name="PDF_TEXT_GROUP_535"/>
          <p:cNvSpPr txBox="1"/>
          <p:nvPr/>
        </p:nvSpPr>
        <p:spPr>
          <a:xfrm>
            <a:off x="914808" y="6077766"/>
            <a:ext cx="1369912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Retained historical diagnostic; raw-run/model provenance remains to be rechecked. Not evidence for the newer</a:t>
            </a:r>
          </a:p>
        </p:txBody>
      </p:sp>
      <p:sp>
        <p:nvSpPr>
          <p:cNvPr id="16" name="PDF_TEXT_GROUP_536"/>
          <p:cNvSpPr txBox="1"/>
          <p:nvPr/>
        </p:nvSpPr>
        <p:spPr>
          <a:xfrm>
            <a:off x="914808" y="6566824"/>
            <a:ext cx="225620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distributed design.</a:t>
            </a:r>
          </a:p>
        </p:txBody>
      </p:sp>
      <p:sp>
        <p:nvSpPr>
          <p:cNvPr id="17" name="PDF_TEXT_GROUP_53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53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53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54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54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40/49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1" descr="background-041.png"/>
          <p:cNvPicPr>
            <a:picLocks noChangeAspect="1"/>
          </p:cNvPicPr>
          <p:nvPr/>
        </p:nvPicPr>
        <p:blipFill>
          <a:blip r:embed="rId2"/>
          <a:stretch>
            <a:fillRect/>
          </a:stretch>
        </p:blipFill>
        <p:spPr>
          <a:xfrm>
            <a:off x="0" y="0"/>
            <a:ext cx="14630400" cy="8229600"/>
          </a:xfrm>
          <a:prstGeom prst="rect">
            <a:avLst/>
          </a:prstGeom>
        </p:spPr>
      </p:pic>
      <p:sp>
        <p:nvSpPr>
          <p:cNvPr id="3" name="PDF_TEXT_GROUP_54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Proposed Evaluation: Evidence for Each RQ</a:t>
            </a:r>
          </a:p>
        </p:txBody>
      </p:sp>
      <p:sp>
        <p:nvSpPr>
          <p:cNvPr id="4" name="PDF_TEXT_GROUP_543"/>
          <p:cNvSpPr txBox="1"/>
          <p:nvPr/>
        </p:nvSpPr>
        <p:spPr>
          <a:xfrm>
            <a:off x="1107736" y="1400797"/>
            <a:ext cx="62504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a:t>
            </a:r>
          </a:p>
        </p:txBody>
      </p:sp>
      <p:sp>
        <p:nvSpPr>
          <p:cNvPr id="5" name="PDF_TEXT_GROUP_544"/>
          <p:cNvSpPr txBox="1"/>
          <p:nvPr/>
        </p:nvSpPr>
        <p:spPr>
          <a:xfrm>
            <a:off x="2646188" y="1400797"/>
            <a:ext cx="26077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evidence</a:t>
            </a:r>
          </a:p>
        </p:txBody>
      </p:sp>
      <p:sp>
        <p:nvSpPr>
          <p:cNvPr id="6" name="PDF_TEXT_GROUP_545"/>
          <p:cNvSpPr txBox="1"/>
          <p:nvPr/>
        </p:nvSpPr>
        <p:spPr>
          <a:xfrm>
            <a:off x="8280836" y="1400797"/>
            <a:ext cx="266200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Outcome and cost</a:t>
            </a:r>
          </a:p>
        </p:txBody>
      </p:sp>
      <p:sp>
        <p:nvSpPr>
          <p:cNvPr id="7" name="PDF_TEXT_GROUP_546"/>
          <p:cNvSpPr txBox="1"/>
          <p:nvPr/>
        </p:nvSpPr>
        <p:spPr>
          <a:xfrm>
            <a:off x="1107736" y="1969156"/>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RQ1</a:t>
            </a:r>
          </a:p>
        </p:txBody>
      </p:sp>
      <p:sp>
        <p:nvSpPr>
          <p:cNvPr id="8" name="PDF_TEXT_GROUP_547"/>
          <p:cNvSpPr txBox="1"/>
          <p:nvPr/>
        </p:nvSpPr>
        <p:spPr>
          <a:xfrm>
            <a:off x="2646188" y="1969156"/>
            <a:ext cx="513935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ABE-backed versus DNMP-inspired</a:t>
            </a:r>
          </a:p>
        </p:txBody>
      </p:sp>
      <p:sp>
        <p:nvSpPr>
          <p:cNvPr id="9" name="PDF_TEXT_GROUP_548"/>
          <p:cNvSpPr txBox="1"/>
          <p:nvPr/>
        </p:nvSpPr>
        <p:spPr>
          <a:xfrm>
            <a:off x="8280720" y="1969156"/>
            <a:ext cx="44441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No unauthorized handler start;</a:t>
            </a:r>
          </a:p>
        </p:txBody>
      </p:sp>
      <p:sp>
        <p:nvSpPr>
          <p:cNvPr id="10" name="PDF_TEXT_GROUP_549"/>
          <p:cNvSpPr txBox="1"/>
          <p:nvPr/>
        </p:nvSpPr>
        <p:spPr>
          <a:xfrm>
            <a:off x="2646187" y="2355484"/>
            <a:ext cx="505493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rules plus encryption; unauthorized</a:t>
            </a:r>
          </a:p>
        </p:txBody>
      </p:sp>
      <p:sp>
        <p:nvSpPr>
          <p:cNvPr id="11" name="PDF_TEXT_GROUP_550"/>
          <p:cNvSpPr txBox="1"/>
          <p:nvPr/>
        </p:nvSpPr>
        <p:spPr>
          <a:xfrm>
            <a:off x="8280720" y="2355484"/>
            <a:ext cx="55535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delay, key/policy size, status</a:t>
            </a:r>
          </a:p>
        </p:txBody>
      </p:sp>
      <p:sp>
        <p:nvSpPr>
          <p:cNvPr id="12" name="PDF_TEXT_GROUP_551"/>
          <p:cNvSpPr txBox="1"/>
          <p:nvPr/>
        </p:nvSpPr>
        <p:spPr>
          <a:xfrm>
            <a:off x="2646187" y="2741812"/>
            <a:ext cx="48139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call, replay, grant and withdrawal</a:t>
            </a:r>
          </a:p>
        </p:txBody>
      </p:sp>
      <p:sp>
        <p:nvSpPr>
          <p:cNvPr id="13" name="PDF_TEXT_GROUP_552"/>
          <p:cNvSpPr txBox="1"/>
          <p:nvPr/>
        </p:nvSpPr>
        <p:spPr>
          <a:xfrm>
            <a:off x="8280720" y="2741812"/>
            <a:ext cx="320228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delay and rekey traffic</a:t>
            </a:r>
          </a:p>
        </p:txBody>
      </p:sp>
      <p:sp>
        <p:nvSpPr>
          <p:cNvPr id="14" name="PDF_TEXT_GROUP_553"/>
          <p:cNvSpPr txBox="1"/>
          <p:nvPr/>
        </p:nvSpPr>
        <p:spPr>
          <a:xfrm>
            <a:off x="1107736" y="3310172"/>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RQ2</a:t>
            </a:r>
          </a:p>
        </p:txBody>
      </p:sp>
      <p:sp>
        <p:nvSpPr>
          <p:cNvPr id="15" name="PDF_TEXT_GROUP_554"/>
          <p:cNvSpPr txBox="1"/>
          <p:nvPr/>
        </p:nvSpPr>
        <p:spPr>
          <a:xfrm>
            <a:off x="2646188" y="3310172"/>
            <a:ext cx="51240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One UAV and one DI graph; wrong</a:t>
            </a:r>
          </a:p>
        </p:txBody>
      </p:sp>
      <p:sp>
        <p:nvSpPr>
          <p:cNvPr id="16" name="PDF_TEXT_GROUP_555"/>
          <p:cNvSpPr txBox="1"/>
          <p:nvPr/>
        </p:nvSpPr>
        <p:spPr>
          <a:xfrm>
            <a:off x="8280720" y="3310172"/>
            <a:ext cx="517491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Correct task completion; validation,</a:t>
            </a:r>
          </a:p>
        </p:txBody>
      </p:sp>
      <p:sp>
        <p:nvSpPr>
          <p:cNvPr id="17" name="PDF_TEXT_GROUP_556"/>
          <p:cNvSpPr txBox="1"/>
          <p:nvPr/>
        </p:nvSpPr>
        <p:spPr>
          <a:xfrm>
            <a:off x="2646187" y="3696500"/>
            <a:ext cx="420315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role/edge; direct/cache parity;</a:t>
            </a:r>
            <a:r>
              <a:rPr sz="2371" b="0" i="0">
                <a:solidFill>
                  <a:srgbClr val="000000"/>
                </a:solidFill>
                <a:latin typeface="Latin Modern Sans"/>
              </a:rPr>
              <a:t> cancellation/replacement</a:t>
            </a:r>
          </a:p>
        </p:txBody>
      </p:sp>
      <p:sp>
        <p:nvSpPr>
          <p:cNvPr id="18" name="PDF_TEXT_GROUP_557"/>
          <p:cNvSpPr txBox="1"/>
          <p:nvPr/>
        </p:nvSpPr>
        <p:spPr>
          <a:xfrm>
            <a:off x="8280720" y="3696500"/>
            <a:ext cx="37561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transfer and recovery cost</a:t>
            </a:r>
          </a:p>
        </p:txBody>
      </p:sp>
      <p:sp>
        <p:nvSpPr>
          <p:cNvPr id="19" name="PDF_TEXT_GROUP_558"/>
          <p:cNvSpPr txBox="1"/>
          <p:nvPr/>
        </p:nvSpPr>
        <p:spPr>
          <a:xfrm>
            <a:off x="1107736" y="4651187"/>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RQ3</a:t>
            </a:r>
          </a:p>
        </p:txBody>
      </p:sp>
      <p:sp>
        <p:nvSpPr>
          <p:cNvPr id="20" name="PDF_TEXT_GROUP_559"/>
          <p:cNvSpPr txBox="1"/>
          <p:nvPr/>
        </p:nvSpPr>
        <p:spPr>
          <a:xfrm>
            <a:off x="2646188" y="4651187"/>
            <a:ext cx="43105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Matched workload and failure</a:t>
            </a:r>
          </a:p>
        </p:txBody>
      </p:sp>
      <p:sp>
        <p:nvSpPr>
          <p:cNvPr id="21" name="PDF_TEXT_GROUP_560"/>
          <p:cNvSpPr txBox="1"/>
          <p:nvPr/>
        </p:nvSpPr>
        <p:spPr>
          <a:xfrm>
            <a:off x="8280720" y="4651187"/>
            <a:ext cx="512466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Completion plus latency, redundant</a:t>
            </a:r>
          </a:p>
        </p:txBody>
      </p:sp>
      <p:sp>
        <p:nvSpPr>
          <p:cNvPr id="22" name="PDF_TEXT_GROUP_561"/>
          <p:cNvSpPr txBox="1"/>
          <p:nvPr/>
        </p:nvSpPr>
        <p:spPr>
          <a:xfrm>
            <a:off x="2646187" y="5037515"/>
            <a:ext cx="433722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schedules; feasible single-device</a:t>
            </a:r>
            <a:r>
              <a:rPr sz="2371" b="0" i="0">
                <a:solidFill>
                  <a:srgbClr val="000000"/>
                </a:solidFill>
                <a:latin typeface="Latin Modern Sans"/>
              </a:rPr>
              <a:t> control; cold/warm state</a:t>
            </a:r>
          </a:p>
        </p:txBody>
      </p:sp>
      <p:sp>
        <p:nvSpPr>
          <p:cNvPr id="23" name="PDF_TEXT_GROUP_562"/>
          <p:cNvSpPr txBox="1"/>
          <p:nvPr/>
        </p:nvSpPr>
        <p:spPr>
          <a:xfrm>
            <a:off x="8280720" y="5037515"/>
            <a:ext cx="4785428"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work, bytes, uncertainty, and cases</a:t>
            </a:r>
            <a:r>
              <a:rPr sz="2371" b="0" i="0">
                <a:solidFill>
                  <a:srgbClr val="000000"/>
                </a:solidFill>
                <a:latin typeface="Latin Modern Sans"/>
              </a:rPr>
              <a:t> with no advantage</a:t>
            </a:r>
          </a:p>
        </p:txBody>
      </p:sp>
      <p:sp>
        <p:nvSpPr>
          <p:cNvPr id="24" name="PDF_TEXT_GROUP_563"/>
          <p:cNvSpPr txBox="1"/>
          <p:nvPr/>
        </p:nvSpPr>
        <p:spPr>
          <a:xfrm>
            <a:off x="1123808" y="6305240"/>
            <a:ext cx="132573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Planned tests are not completed findings. Record all scheduled runs and failure boundaries.</a:t>
            </a:r>
          </a:p>
        </p:txBody>
      </p:sp>
      <p:sp>
        <p:nvSpPr>
          <p:cNvPr id="25" name="PDF_TEXT_GROUP_56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6" name="PDF_TEXT_GROUP_56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7" name="PDF_TEXT_GROUP_56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8" name="PDF_TEXT_GROUP_56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9" name="PDF_TEXT_GROUP_56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41/49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2" descr="background-042.png"/>
          <p:cNvPicPr>
            <a:picLocks noChangeAspect="1"/>
          </p:cNvPicPr>
          <p:nvPr/>
        </p:nvPicPr>
        <p:blipFill>
          <a:blip r:embed="rId2"/>
          <a:stretch>
            <a:fillRect/>
          </a:stretch>
        </p:blipFill>
        <p:spPr>
          <a:xfrm>
            <a:off x="0" y="0"/>
            <a:ext cx="14630400" cy="8229600"/>
          </a:xfrm>
          <a:prstGeom prst="rect">
            <a:avLst/>
          </a:prstGeom>
        </p:spPr>
      </p:pic>
      <p:sp>
        <p:nvSpPr>
          <p:cNvPr id="3" name="PDF_TEXT_GROUP_56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Bounded Path to Spring 2027</a:t>
            </a:r>
          </a:p>
        </p:txBody>
      </p:sp>
      <p:sp>
        <p:nvSpPr>
          <p:cNvPr id="4" name="PDF_TEXT_GROUP_570"/>
          <p:cNvSpPr txBox="1"/>
          <p:nvPr/>
        </p:nvSpPr>
        <p:spPr>
          <a:xfrm>
            <a:off x="1107736" y="1242581"/>
            <a:ext cx="21007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Internal target</a:t>
            </a:r>
          </a:p>
        </p:txBody>
      </p:sp>
      <p:sp>
        <p:nvSpPr>
          <p:cNvPr id="5" name="PDF_TEXT_GROUP_571"/>
          <p:cNvSpPr txBox="1"/>
          <p:nvPr/>
        </p:nvSpPr>
        <p:spPr>
          <a:xfrm>
            <a:off x="4695540" y="1242581"/>
            <a:ext cx="29044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deliverable</a:t>
            </a:r>
          </a:p>
        </p:txBody>
      </p:sp>
      <p:sp>
        <p:nvSpPr>
          <p:cNvPr id="6" name="PDF_TEXT_GROUP_572"/>
          <p:cNvSpPr txBox="1"/>
          <p:nvPr/>
        </p:nvSpPr>
        <p:spPr>
          <a:xfrm>
            <a:off x="1107736" y="1810941"/>
            <a:ext cx="23608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September 2026</a:t>
            </a:r>
          </a:p>
        </p:txBody>
      </p:sp>
      <p:sp>
        <p:nvSpPr>
          <p:cNvPr id="7" name="PDF_TEXT_GROUP_573"/>
          <p:cNvSpPr txBox="1"/>
          <p:nvPr/>
        </p:nvSpPr>
        <p:spPr>
          <a:xfrm>
            <a:off x="4695454" y="1810941"/>
            <a:ext cx="854517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Agree scope/RQs; freeze one UAV graph and one DI partition;</a:t>
            </a:r>
            <a:r>
              <a:rPr sz="2371" b="0" i="0">
                <a:solidFill>
                  <a:srgbClr val="000000"/>
                </a:solidFill>
                <a:latin typeface="Latin Modern Sans"/>
              </a:rPr>
              <a:t> resolve correctness blockers</a:t>
            </a:r>
          </a:p>
        </p:txBody>
      </p:sp>
      <p:sp>
        <p:nvSpPr>
          <p:cNvPr id="8" name="PDF_TEXT_GROUP_574"/>
          <p:cNvSpPr txBox="1"/>
          <p:nvPr/>
        </p:nvSpPr>
        <p:spPr>
          <a:xfrm>
            <a:off x="1107736" y="2765661"/>
            <a:ext cx="273581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October–November</a:t>
            </a:r>
            <a:r>
              <a:rPr sz="2371" b="0" i="0">
                <a:solidFill>
                  <a:srgbClr val="000000"/>
                </a:solidFill>
                <a:latin typeface="Latin Modern Sans"/>
              </a:rPr>
              <a:t> 2026</a:t>
            </a:r>
          </a:p>
        </p:txBody>
      </p:sp>
      <p:sp>
        <p:nvSpPr>
          <p:cNvPr id="9" name="PDF_TEXT_GROUP_575"/>
          <p:cNvSpPr txBox="1"/>
          <p:nvPr/>
        </p:nvSpPr>
        <p:spPr>
          <a:xfrm>
            <a:off x="4695454" y="2765661"/>
            <a:ext cx="807550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registered experiments; freeze evidence and write</a:t>
            </a:r>
            <a:r>
              <a:rPr sz="2371" b="0" i="0">
                <a:solidFill>
                  <a:srgbClr val="000000"/>
                </a:solidFill>
                <a:latin typeface="Latin Modern Sans"/>
              </a:rPr>
              <a:t> bounded RQ answers</a:t>
            </a:r>
          </a:p>
        </p:txBody>
      </p:sp>
      <p:sp>
        <p:nvSpPr>
          <p:cNvPr id="10" name="PDF_TEXT_GROUP_576"/>
          <p:cNvSpPr txBox="1"/>
          <p:nvPr/>
        </p:nvSpPr>
        <p:spPr>
          <a:xfrm>
            <a:off x="1107736" y="3720348"/>
            <a:ext cx="22751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December 2026</a:t>
            </a:r>
          </a:p>
        </p:txBody>
      </p:sp>
      <p:sp>
        <p:nvSpPr>
          <p:cNvPr id="11" name="PDF_TEXT_GROUP_577"/>
          <p:cNvSpPr txBox="1"/>
          <p:nvPr/>
        </p:nvSpPr>
        <p:spPr>
          <a:xfrm>
            <a:off x="4695283" y="3720348"/>
            <a:ext cx="59002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integrated advisor-review draft</a:t>
            </a:r>
          </a:p>
        </p:txBody>
      </p:sp>
      <p:sp>
        <p:nvSpPr>
          <p:cNvPr id="12" name="PDF_TEXT_GROUP_578"/>
          <p:cNvSpPr txBox="1"/>
          <p:nvPr/>
        </p:nvSpPr>
        <p:spPr>
          <a:xfrm>
            <a:off x="1107736" y="4288708"/>
            <a:ext cx="19730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January 2027</a:t>
            </a:r>
          </a:p>
        </p:txBody>
      </p:sp>
      <p:sp>
        <p:nvSpPr>
          <p:cNvPr id="13" name="PDF_TEXT_GROUP_579"/>
          <p:cNvSpPr txBox="1"/>
          <p:nvPr/>
        </p:nvSpPr>
        <p:spPr>
          <a:xfrm>
            <a:off x="4695412" y="4288708"/>
            <a:ext cx="875619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Committee review and readiness decision; reduce scope or revise</a:t>
            </a:r>
            <a:r>
              <a:rPr sz="2371" b="0" i="0">
                <a:solidFill>
                  <a:srgbClr val="000000"/>
                </a:solidFill>
                <a:latin typeface="Latin Modern Sans"/>
              </a:rPr>
              <a:t> timing if core evidence is missing</a:t>
            </a:r>
          </a:p>
        </p:txBody>
      </p:sp>
      <p:sp>
        <p:nvSpPr>
          <p:cNvPr id="14" name="PDF_TEXT_GROUP_580"/>
          <p:cNvSpPr txBox="1"/>
          <p:nvPr/>
        </p:nvSpPr>
        <p:spPr>
          <a:xfrm>
            <a:off x="1107736" y="5243395"/>
            <a:ext cx="208488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February 2027</a:t>
            </a:r>
          </a:p>
        </p:txBody>
      </p:sp>
      <p:sp>
        <p:nvSpPr>
          <p:cNvPr id="15" name="PDF_TEXT_GROUP_581"/>
          <p:cNvSpPr txBox="1"/>
          <p:nvPr/>
        </p:nvSpPr>
        <p:spPr>
          <a:xfrm>
            <a:off x="4695379" y="5243395"/>
            <a:ext cx="82747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Final dissertation defense, subject to committee approval</a:t>
            </a:r>
          </a:p>
        </p:txBody>
      </p:sp>
      <p:sp>
        <p:nvSpPr>
          <p:cNvPr id="16" name="PDF_TEXT_GROUP_582"/>
          <p:cNvSpPr txBox="1"/>
          <p:nvPr/>
        </p:nvSpPr>
        <p:spPr>
          <a:xfrm>
            <a:off x="1123808" y="6138299"/>
            <a:ext cx="1222577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Committee draft: two weeks before defense. Spring 2027 application/candidacy: February</a:t>
            </a:r>
            <a:r>
              <a:rPr sz="2371" b="0" i="0">
                <a:solidFill>
                  <a:srgbClr val="000000"/>
                </a:solidFill>
                <a:latin typeface="Latin Modern Sans"/>
              </a:rPr>
              <a:t> 5; final ProQuest: March 26. Recheck before filing. [29,30]</a:t>
            </a:r>
          </a:p>
        </p:txBody>
      </p:sp>
      <p:sp>
        <p:nvSpPr>
          <p:cNvPr id="17" name="PDF_TEXT_GROUP_58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58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58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58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58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42/49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3" descr="background-043.png"/>
          <p:cNvPicPr>
            <a:picLocks noChangeAspect="1"/>
          </p:cNvPicPr>
          <p:nvPr/>
        </p:nvPicPr>
        <p:blipFill>
          <a:blip r:embed="rId2"/>
          <a:stretch>
            <a:fillRect/>
          </a:stretch>
        </p:blipFill>
        <p:spPr>
          <a:xfrm>
            <a:off x="0" y="0"/>
            <a:ext cx="14630400" cy="8229600"/>
          </a:xfrm>
          <a:prstGeom prst="rect">
            <a:avLst/>
          </a:prstGeom>
        </p:spPr>
      </p:pic>
      <p:sp>
        <p:nvSpPr>
          <p:cNvPr id="3" name="PDF_TEXT_GROUP_58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Expected Research Outcomes</a:t>
            </a:r>
          </a:p>
        </p:txBody>
      </p:sp>
      <p:sp>
        <p:nvSpPr>
          <p:cNvPr id="4" name="PDF_TEXT_GROUP_589"/>
          <p:cNvSpPr txBox="1"/>
          <p:nvPr/>
        </p:nvSpPr>
        <p:spPr>
          <a:xfrm>
            <a:off x="1618972" y="1777984"/>
            <a:ext cx="11754312"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 answer:</a:t>
            </a:r>
            <a:r>
              <a:rPr sz="2710" b="0" i="0">
                <a:solidFill>
                  <a:srgbClr val="000000"/>
                </a:solidFill>
                <a:latin typeface="Latin Modern Sans"/>
              </a:rPr>
              <a:t> when ABE-backed authorization is preferable to DNMP-inspired</a:t>
            </a:r>
            <a:r>
              <a:rPr sz="2710" b="0" i="0">
                <a:solidFill>
                  <a:srgbClr val="000000"/>
                </a:solidFill>
                <a:latin typeface="Latin Modern Sans"/>
              </a:rPr>
              <a:t> role rules plus encryption, accounting for confidentiality, management and</a:t>
            </a:r>
            <a:r>
              <a:rPr sz="2710" b="0" i="0">
                <a:solidFill>
                  <a:srgbClr val="000000"/>
                </a:solidFill>
                <a:latin typeface="Latin Modern Sans"/>
              </a:rPr>
              <a:t> withdrawal costs.</a:t>
            </a:r>
          </a:p>
        </p:txBody>
      </p:sp>
      <p:sp>
        <p:nvSpPr>
          <p:cNvPr id="5" name="PDF_TEXT_GROUP_590"/>
          <p:cNvSpPr txBox="1"/>
          <p:nvPr/>
        </p:nvSpPr>
        <p:spPr>
          <a:xfrm>
            <a:off x="1618972" y="3188121"/>
            <a:ext cx="1157866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 answer:</a:t>
            </a:r>
            <a:r>
              <a:rPr sz="2710" b="0" i="0">
                <a:solidFill>
                  <a:srgbClr val="000000"/>
                </a:solidFill>
                <a:latin typeface="Latin Modern Sans"/>
              </a:rPr>
              <a:t> exactly which task-assignment mistakes are rejected and which</a:t>
            </a:r>
            <a:r>
              <a:rPr sz="2710" b="0" i="0">
                <a:solidFill>
                  <a:srgbClr val="000000"/>
                </a:solidFill>
                <a:latin typeface="Latin Modern Sans"/>
              </a:rPr>
              <a:t> recovery behavior is supported.</a:t>
            </a:r>
          </a:p>
        </p:txBody>
      </p:sp>
      <p:sp>
        <p:nvSpPr>
          <p:cNvPr id="6" name="PDF_TEXT_GROUP_591"/>
          <p:cNvSpPr txBox="1"/>
          <p:nvPr/>
        </p:nvSpPr>
        <p:spPr>
          <a:xfrm>
            <a:off x="1618972" y="4160388"/>
            <a:ext cx="1164672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 answer:</a:t>
            </a:r>
            <a:r>
              <a:rPr sz="2710" b="0" i="0">
                <a:solidFill>
                  <a:srgbClr val="000000"/>
                </a:solidFill>
                <a:latin typeface="Latin Modern Sans"/>
              </a:rPr>
              <a:t> measured benefits, negative results and deployment limits.</a:t>
            </a:r>
          </a:p>
        </p:txBody>
      </p:sp>
      <p:sp>
        <p:nvSpPr>
          <p:cNvPr id="7" name="PDF_TEXT_GROUP_592"/>
          <p:cNvSpPr txBox="1"/>
          <p:nvPr/>
        </p:nvSpPr>
        <p:spPr>
          <a:xfrm>
            <a:off x="1618972" y="4694817"/>
            <a:ext cx="1157274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Reproducible configurations and evidence linking each conclusion to its tested</a:t>
            </a:r>
            <a:r>
              <a:rPr sz="2710" b="0" i="0">
                <a:solidFill>
                  <a:srgbClr val="000000"/>
                </a:solidFill>
                <a:latin typeface="Latin Modern Sans"/>
              </a:rPr>
              <a:t> scope.</a:t>
            </a:r>
          </a:p>
        </p:txBody>
      </p:sp>
      <p:sp>
        <p:nvSpPr>
          <p:cNvPr id="8" name="PDF_TEXT_GROUP_593"/>
          <p:cNvSpPr txBox="1"/>
          <p:nvPr/>
        </p:nvSpPr>
        <p:spPr>
          <a:xfrm>
            <a:off x="1143656" y="6013664"/>
            <a:ext cx="1233902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intended outcome is a tested service protocol and an evidence-backed account</a:t>
            </a:r>
            <a:r>
              <a:rPr sz="2710" b="0" i="0">
                <a:solidFill>
                  <a:srgbClr val="000000"/>
                </a:solidFill>
                <a:latin typeface="Latin Modern Sans"/>
              </a:rPr>
              <a:t> of when its mechanisms are worth their cost.</a:t>
            </a:r>
          </a:p>
        </p:txBody>
      </p:sp>
      <p:sp>
        <p:nvSpPr>
          <p:cNvPr id="9" name="PDF_TEXT_GROUP_59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59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59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59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59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43/49</a:t>
            </a:r>
          </a:p>
        </p:txBody>
      </p:sp>
      <p:sp>
        <p:nvSpPr>
          <p:cNvPr id="14" name="PDF_BULLET_SPAN_859"/>
          <p:cNvSpPr/>
          <p:nvPr/>
        </p:nvSpPr>
        <p:spPr>
          <a:xfrm rot="5400000">
            <a:off x="1207424" y="186377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864"/>
          <p:cNvSpPr/>
          <p:nvPr/>
        </p:nvSpPr>
        <p:spPr>
          <a:xfrm rot="5400000">
            <a:off x="1207424" y="327391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868"/>
          <p:cNvSpPr/>
          <p:nvPr/>
        </p:nvSpPr>
        <p:spPr>
          <a:xfrm rot="5400000">
            <a:off x="1207424" y="424617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871"/>
          <p:cNvSpPr/>
          <p:nvPr/>
        </p:nvSpPr>
        <p:spPr>
          <a:xfrm rot="5400000">
            <a:off x="1207424" y="478060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4" descr="background-044.png"/>
          <p:cNvPicPr>
            <a:picLocks noChangeAspect="1"/>
          </p:cNvPicPr>
          <p:nvPr/>
        </p:nvPicPr>
        <p:blipFill>
          <a:blip r:embed="rId2"/>
          <a:stretch>
            <a:fillRect/>
          </a:stretch>
        </p:blipFill>
        <p:spPr>
          <a:xfrm>
            <a:off x="0" y="0"/>
            <a:ext cx="14630400" cy="8229600"/>
          </a:xfrm>
          <a:prstGeom prst="rect">
            <a:avLst/>
          </a:prstGeom>
        </p:spPr>
      </p:pic>
      <p:sp>
        <p:nvSpPr>
          <p:cNvPr id="3" name="PDF_TEXT_GROUP_59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Discussion: Is This Scope Sufficient and Feasible?</a:t>
            </a:r>
          </a:p>
        </p:txBody>
      </p:sp>
      <p:sp>
        <p:nvSpPr>
          <p:cNvPr id="4" name="PDF_TEXT_GROUP_600"/>
          <p:cNvSpPr txBox="1"/>
          <p:nvPr/>
        </p:nvSpPr>
        <p:spPr>
          <a:xfrm>
            <a:off x="1169087" y="2129411"/>
            <a:ext cx="1311055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Are the three research questions specific enough to support defensible answers?</a:t>
            </a:r>
          </a:p>
        </p:txBody>
      </p:sp>
      <p:sp>
        <p:nvSpPr>
          <p:cNvPr id="5" name="PDF_TEXT_GROUP_601"/>
          <p:cNvSpPr txBox="1"/>
          <p:nvPr/>
        </p:nvSpPr>
        <p:spPr>
          <a:xfrm>
            <a:off x="1169087" y="2663840"/>
            <a:ext cx="10917475"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Are the authorization alternatives complete and fairly configured?</a:t>
            </a:r>
          </a:p>
        </p:txBody>
      </p:sp>
      <p:sp>
        <p:nvSpPr>
          <p:cNvPr id="6" name="PDF_TEXT_GROUP_602"/>
          <p:cNvSpPr txBox="1"/>
          <p:nvPr/>
        </p:nvSpPr>
        <p:spPr>
          <a:xfrm>
            <a:off x="1169087" y="3198268"/>
            <a:ext cx="11221526"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Are one UAV graph and one supported DI partition sufficient to test the</a:t>
            </a:r>
            <a:r>
              <a:rPr sz="2710" b="0" i="0">
                <a:solidFill>
                  <a:srgbClr val="000000"/>
                </a:solidFill>
                <a:latin typeface="Latin Modern Sans"/>
              </a:rPr>
              <a:t> abstraction?</a:t>
            </a:r>
          </a:p>
        </p:txBody>
      </p:sp>
      <p:sp>
        <p:nvSpPr>
          <p:cNvPr id="7" name="PDF_TEXT_GROUP_603"/>
          <p:cNvSpPr txBox="1"/>
          <p:nvPr/>
        </p:nvSpPr>
        <p:spPr>
          <a:xfrm>
            <a:off x="1169087" y="4170535"/>
            <a:ext cx="12521417"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Which optional features should be excluded if they delay the core evidence?</a:t>
            </a:r>
          </a:p>
        </p:txBody>
      </p:sp>
      <p:sp>
        <p:nvSpPr>
          <p:cNvPr id="8" name="PDF_TEXT_GROUP_604"/>
          <p:cNvSpPr txBox="1"/>
          <p:nvPr/>
        </p:nvSpPr>
        <p:spPr>
          <a:xfrm>
            <a:off x="1143656" y="5417998"/>
            <a:ext cx="115701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Committee feedback sought: research significance, bounded scope, evaluation</a:t>
            </a:r>
            <a:r>
              <a:rPr sz="2710" b="0" i="0">
                <a:solidFill>
                  <a:srgbClr val="000000"/>
                </a:solidFill>
                <a:latin typeface="Latin Modern Sans"/>
              </a:rPr>
              <a:t> criteria, and a feasible completion plan.</a:t>
            </a:r>
          </a:p>
        </p:txBody>
      </p:sp>
      <p:sp>
        <p:nvSpPr>
          <p:cNvPr id="9" name="PDF_TEXT_GROUP_60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60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60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60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60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44/49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5" descr="background-045.png"/>
          <p:cNvPicPr>
            <a:picLocks noChangeAspect="1"/>
          </p:cNvPicPr>
          <p:nvPr/>
        </p:nvPicPr>
        <p:blipFill>
          <a:blip r:embed="rId2"/>
          <a:stretch>
            <a:fillRect/>
          </a:stretch>
        </p:blipFill>
        <p:spPr>
          <a:xfrm>
            <a:off x="0" y="0"/>
            <a:ext cx="14630400" cy="8229600"/>
          </a:xfrm>
          <a:prstGeom prst="rect">
            <a:avLst/>
          </a:prstGeom>
        </p:spPr>
      </p:pic>
      <p:sp>
        <p:nvSpPr>
          <p:cNvPr id="3" name="PDF_TEXT_GROUP_61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Discovery Configuration Is Not Framework Capability</a:t>
            </a:r>
          </a:p>
        </p:txBody>
      </p:sp>
      <p:sp>
        <p:nvSpPr>
          <p:cNvPr id="4" name="PDF_TEXT_GROUP_611"/>
          <p:cNvSpPr txBox="1"/>
          <p:nvPr/>
        </p:nvSpPr>
        <p:spPr>
          <a:xfrm>
            <a:off x="1107736" y="2050946"/>
            <a:ext cx="470224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Provider-transition configuration</a:t>
            </a:r>
          </a:p>
        </p:txBody>
      </p:sp>
      <p:sp>
        <p:nvSpPr>
          <p:cNvPr id="5" name="PDF_TEXT_GROUP_612"/>
          <p:cNvSpPr txBox="1"/>
          <p:nvPr/>
        </p:nvSpPr>
        <p:spPr>
          <a:xfrm>
            <a:off x="12096922" y="2050946"/>
            <a:ext cx="16130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a:t>
            </a:r>
          </a:p>
        </p:txBody>
      </p:sp>
      <p:sp>
        <p:nvSpPr>
          <p:cNvPr id="6" name="PDF_TEXT_GROUP_613"/>
          <p:cNvSpPr txBox="1"/>
          <p:nvPr/>
        </p:nvSpPr>
        <p:spPr>
          <a:xfrm>
            <a:off x="1107736" y="2619305"/>
            <a:ext cx="65609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no pre-registered Provider addresses</a:t>
            </a:r>
          </a:p>
        </p:txBody>
      </p:sp>
      <p:sp>
        <p:nvSpPr>
          <p:cNvPr id="7" name="PDF_TEXT_GROUP_614"/>
          <p:cNvSpPr txBox="1"/>
          <p:nvPr/>
        </p:nvSpPr>
        <p:spPr>
          <a:xfrm>
            <a:off x="12189745" y="2619305"/>
            <a:ext cx="15201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8" name="PDF_TEXT_GROUP_615"/>
          <p:cNvSpPr txBox="1"/>
          <p:nvPr/>
        </p:nvSpPr>
        <p:spPr>
          <a:xfrm>
            <a:off x="1107736" y="3187665"/>
            <a:ext cx="53217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Static-list NSC/gRPC configurations</a:t>
            </a:r>
          </a:p>
        </p:txBody>
      </p:sp>
      <p:sp>
        <p:nvSpPr>
          <p:cNvPr id="9" name="PDF_TEXT_GROUP_616"/>
          <p:cNvSpPr txBox="1"/>
          <p:nvPr/>
        </p:nvSpPr>
        <p:spPr>
          <a:xfrm>
            <a:off x="12511042" y="3187665"/>
            <a:ext cx="11989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0 / 357</a:t>
            </a:r>
          </a:p>
        </p:txBody>
      </p:sp>
      <p:sp>
        <p:nvSpPr>
          <p:cNvPr id="10" name="PDF_TEXT_GROUP_617"/>
          <p:cNvSpPr txBox="1"/>
          <p:nvPr/>
        </p:nvSpPr>
        <p:spPr>
          <a:xfrm>
            <a:off x="1107736" y="3756024"/>
            <a:ext cx="449372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Pre-registered baseline variants</a:t>
            </a:r>
          </a:p>
        </p:txBody>
      </p:sp>
      <p:sp>
        <p:nvSpPr>
          <p:cNvPr id="11" name="PDF_TEXT_GROUP_618"/>
          <p:cNvSpPr txBox="1"/>
          <p:nvPr/>
        </p:nvSpPr>
        <p:spPr>
          <a:xfrm>
            <a:off x="12189681" y="3756024"/>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12" name="PDF_TEXT_GROUP_619"/>
          <p:cNvSpPr txBox="1"/>
          <p:nvPr/>
        </p:nvSpPr>
        <p:spPr>
          <a:xfrm>
            <a:off x="1123808" y="4650961"/>
            <a:ext cx="1234342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This isolates the configured discovery boundary. Resolver/discovery integration can update</a:t>
            </a:r>
            <a:r>
              <a:rPr sz="2371" b="0" i="0">
                <a:solidFill>
                  <a:srgbClr val="000000"/>
                </a:solidFill>
                <a:latin typeface="Latin Modern Sans"/>
              </a:rPr>
              <a:t> candidates; it is not proof that gRPC or NSC cannot do so. [27,28]</a:t>
            </a:r>
          </a:p>
        </p:txBody>
      </p:sp>
      <p:sp>
        <p:nvSpPr>
          <p:cNvPr id="13" name="PDF_TEXT_GROUP_62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62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62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62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62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45/49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6" descr="background-046.png"/>
          <p:cNvPicPr>
            <a:picLocks noChangeAspect="1"/>
          </p:cNvPicPr>
          <p:nvPr/>
        </p:nvPicPr>
        <p:blipFill>
          <a:blip r:embed="rId2"/>
          <a:stretch>
            <a:fillRect/>
          </a:stretch>
        </p:blipFill>
        <p:spPr>
          <a:xfrm>
            <a:off x="0" y="0"/>
            <a:ext cx="14630400" cy="8229600"/>
          </a:xfrm>
          <a:prstGeom prst="rect">
            <a:avLst/>
          </a:prstGeom>
        </p:spPr>
      </p:pic>
      <p:sp>
        <p:nvSpPr>
          <p:cNvPr id="3" name="PDF_TEXT_GROUP_62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Historical Loss Evidence Is Not a New Matched Test</a:t>
            </a:r>
          </a:p>
        </p:txBody>
      </p:sp>
      <p:sp>
        <p:nvSpPr>
          <p:cNvPr id="4" name="PDF_TEXT_GROUP_626"/>
          <p:cNvSpPr txBox="1"/>
          <p:nvPr/>
        </p:nvSpPr>
        <p:spPr>
          <a:xfrm>
            <a:off x="1107736" y="1909567"/>
            <a:ext cx="3204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Historical per-link loss</a:t>
            </a:r>
          </a:p>
        </p:txBody>
      </p:sp>
      <p:sp>
        <p:nvSpPr>
          <p:cNvPr id="5" name="PDF_TEXT_GROUP_627"/>
          <p:cNvSpPr txBox="1"/>
          <p:nvPr/>
        </p:nvSpPr>
        <p:spPr>
          <a:xfrm>
            <a:off x="9804981" y="1909567"/>
            <a:ext cx="402240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completed requests</a:t>
            </a:r>
          </a:p>
        </p:txBody>
      </p:sp>
      <p:sp>
        <p:nvSpPr>
          <p:cNvPr id="6" name="PDF_TEXT_GROUP_628"/>
          <p:cNvSpPr txBox="1"/>
          <p:nvPr/>
        </p:nvSpPr>
        <p:spPr>
          <a:xfrm>
            <a:off x="1107736" y="2477926"/>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a:t>
            </a:r>
          </a:p>
        </p:txBody>
      </p:sp>
      <p:sp>
        <p:nvSpPr>
          <p:cNvPr id="7" name="PDF_TEXT_GROUP_629"/>
          <p:cNvSpPr txBox="1"/>
          <p:nvPr/>
        </p:nvSpPr>
        <p:spPr>
          <a:xfrm>
            <a:off x="12189748" y="2477926"/>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599 / 600</a:t>
            </a:r>
          </a:p>
        </p:txBody>
      </p:sp>
      <p:sp>
        <p:nvSpPr>
          <p:cNvPr id="8" name="PDF_TEXT_GROUP_630"/>
          <p:cNvSpPr txBox="1"/>
          <p:nvPr/>
        </p:nvSpPr>
        <p:spPr>
          <a:xfrm>
            <a:off x="1107736" y="3046286"/>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a:t>
            </a:r>
          </a:p>
        </p:txBody>
      </p:sp>
      <p:sp>
        <p:nvSpPr>
          <p:cNvPr id="9" name="PDF_TEXT_GROUP_631"/>
          <p:cNvSpPr txBox="1"/>
          <p:nvPr/>
        </p:nvSpPr>
        <p:spPr>
          <a:xfrm>
            <a:off x="12189748" y="3046286"/>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598 / 600</a:t>
            </a:r>
          </a:p>
        </p:txBody>
      </p:sp>
      <p:sp>
        <p:nvSpPr>
          <p:cNvPr id="10" name="PDF_TEXT_GROUP_632"/>
          <p:cNvSpPr txBox="1"/>
          <p:nvPr/>
        </p:nvSpPr>
        <p:spPr>
          <a:xfrm>
            <a:off x="1107736" y="3614645"/>
            <a:ext cx="355650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 (best recorded run)</a:t>
            </a:r>
          </a:p>
        </p:txBody>
      </p:sp>
      <p:sp>
        <p:nvSpPr>
          <p:cNvPr id="11" name="PDF_TEXT_GROUP_633"/>
          <p:cNvSpPr txBox="1"/>
          <p:nvPr/>
        </p:nvSpPr>
        <p:spPr>
          <a:xfrm>
            <a:off x="12189681" y="3614645"/>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539 / 600</a:t>
            </a:r>
          </a:p>
        </p:txBody>
      </p:sp>
      <p:sp>
        <p:nvSpPr>
          <p:cNvPr id="12" name="PDF_TEXT_GROUP_634"/>
          <p:cNvSpPr txBox="1"/>
          <p:nvPr/>
        </p:nvSpPr>
        <p:spPr>
          <a:xfrm>
            <a:off x="1123808" y="4496010"/>
            <a:ext cx="1223040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 selected run is not an aggregate estimate. Do not combine these numbers with another</a:t>
            </a:r>
            <a:r>
              <a:rPr sz="2371" b="0" i="0">
                <a:solidFill>
                  <a:srgbClr val="000000"/>
                </a:solidFill>
                <a:latin typeface="Latin Modern Sans"/>
              </a:rPr>
              <a:t> batch and label the result “matched.” [28]</a:t>
            </a:r>
          </a:p>
        </p:txBody>
      </p:sp>
      <p:sp>
        <p:nvSpPr>
          <p:cNvPr id="13" name="PDF_TEXT_GROUP_635"/>
          <p:cNvSpPr txBox="1"/>
          <p:nvPr/>
        </p:nvSpPr>
        <p:spPr>
          <a:xfrm>
            <a:off x="914808" y="5969769"/>
            <a:ext cx="1367892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Per-link packet loss is not the probability of service failure: retrieval retries and the request deadline also affect</a:t>
            </a:r>
          </a:p>
        </p:txBody>
      </p:sp>
      <p:sp>
        <p:nvSpPr>
          <p:cNvPr id="14" name="PDF_TEXT_GROUP_636"/>
          <p:cNvSpPr txBox="1"/>
          <p:nvPr/>
        </p:nvSpPr>
        <p:spPr>
          <a:xfrm>
            <a:off x="914808" y="6458795"/>
            <a:ext cx="14625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completion.</a:t>
            </a:r>
          </a:p>
        </p:txBody>
      </p:sp>
      <p:sp>
        <p:nvSpPr>
          <p:cNvPr id="15" name="PDF_TEXT_GROUP_63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63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63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64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64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46/49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7"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64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NDN and Authorization</a:t>
            </a:r>
          </a:p>
        </p:txBody>
      </p:sp>
      <p:sp>
        <p:nvSpPr>
          <p:cNvPr id="4" name="PDF_TEXT_GROUP_643"/>
          <p:cNvSpPr txBox="1"/>
          <p:nvPr/>
        </p:nvSpPr>
        <p:spPr>
          <a:xfrm>
            <a:off x="1122356" y="2099218"/>
            <a:ext cx="965227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a:t>
            </a:r>
            <a:r>
              <a:rPr sz="1863" b="0" i="0">
                <a:solidFill>
                  <a:srgbClr val="000000"/>
                </a:solidFill>
                <a:latin typeface="Latin Modern Sans"/>
              </a:rPr>
              <a:t> L. Zhang et al., “Named Data Networking,” ACM SIGCOMM CCR, 2014.</a:t>
            </a:r>
          </a:p>
        </p:txBody>
      </p:sp>
      <p:sp>
        <p:nvSpPr>
          <p:cNvPr id="5" name="PDF_TEXT_GROUP_644"/>
          <p:cNvSpPr txBox="1"/>
          <p:nvPr/>
        </p:nvSpPr>
        <p:spPr>
          <a:xfrm>
            <a:off x="1122356" y="2514985"/>
            <a:ext cx="1281495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a:t>
            </a:r>
            <a:r>
              <a:rPr sz="1863" b="0" i="0">
                <a:solidFill>
                  <a:srgbClr val="000000"/>
                </a:solidFill>
                <a:latin typeface="Latin Modern Sans"/>
              </a:rPr>
              <a:t> T. Li et al., “A Brief Introduction to NDN Dataset Synchronization (NDN Sync),” MILCOM, 2018.</a:t>
            </a:r>
          </a:p>
        </p:txBody>
      </p:sp>
      <p:sp>
        <p:nvSpPr>
          <p:cNvPr id="6" name="PDF_TEXT_GROUP_645"/>
          <p:cNvSpPr txBox="1"/>
          <p:nvPr/>
        </p:nvSpPr>
        <p:spPr>
          <a:xfrm>
            <a:off x="1122356" y="2930752"/>
            <a:ext cx="110089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a:t>
            </a:r>
            <a:r>
              <a:rPr sz="1863" b="0" i="0">
                <a:solidFill>
                  <a:srgbClr val="000000"/>
                </a:solidFill>
                <a:latin typeface="Latin Modern Sans"/>
              </a:rPr>
              <a:t> P. Moll et al., “A Brief Introduction to State Vector Sync,” NDN-0073, rev. 2, 2021.</a:t>
            </a:r>
          </a:p>
        </p:txBody>
      </p:sp>
      <p:sp>
        <p:nvSpPr>
          <p:cNvPr id="7" name="PDF_TEXT_GROUP_646"/>
          <p:cNvSpPr txBox="1"/>
          <p:nvPr/>
        </p:nvSpPr>
        <p:spPr>
          <a:xfrm>
            <a:off x="1122356" y="3346520"/>
            <a:ext cx="1126618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[4]</a:t>
            </a:r>
            <a:r>
              <a:rPr sz="1863" b="0" i="0">
                <a:solidFill>
                  <a:srgbClr val="000000"/>
                </a:solidFill>
                <a:latin typeface="Latin Modern Sans"/>
              </a:rPr>
              <a:t> Z. Zhang et al., “NAC: Automating Access Control via Named Data,” MILCOM, 2018.</a:t>
            </a:r>
          </a:p>
        </p:txBody>
      </p:sp>
      <p:sp>
        <p:nvSpPr>
          <p:cNvPr id="8" name="PDF_TEXT_GROUP_647"/>
          <p:cNvSpPr txBox="1"/>
          <p:nvPr/>
        </p:nvSpPr>
        <p:spPr>
          <a:xfrm>
            <a:off x="985712" y="3762287"/>
            <a:ext cx="1324170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[12]</a:t>
            </a:r>
            <a:r>
              <a:rPr sz="1863" b="0" i="0">
                <a:solidFill>
                  <a:srgbClr val="000000"/>
                </a:solidFill>
                <a:latin typeface="Latin Modern Sans"/>
              </a:rPr>
              <a:t> K. Nichols, “Lessons Learned Building a Secure Network Measurement Framework using Basic NDN,”</a:t>
            </a:r>
          </a:p>
        </p:txBody>
      </p:sp>
      <p:sp>
        <p:nvSpPr>
          <p:cNvPr id="9" name="PDF_TEXT_GROUP_648"/>
          <p:cNvSpPr txBox="1"/>
          <p:nvPr/>
        </p:nvSpPr>
        <p:spPr>
          <a:xfrm>
            <a:off x="1582632" y="4068150"/>
            <a:ext cx="20647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ACM ICN, 2019.</a:t>
            </a:r>
          </a:p>
        </p:txBody>
      </p:sp>
      <p:sp>
        <p:nvSpPr>
          <p:cNvPr id="10" name="PDF_TEXT_GROUP_649"/>
          <p:cNvSpPr txBox="1"/>
          <p:nvPr/>
        </p:nvSpPr>
        <p:spPr>
          <a:xfrm>
            <a:off x="985712" y="4483917"/>
            <a:ext cx="1063258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[16]</a:t>
            </a:r>
            <a:r>
              <a:rPr sz="1863" b="0" i="0">
                <a:solidFill>
                  <a:srgbClr val="000000"/>
                </a:solidFill>
                <a:latin typeface="Latin Modern Sans"/>
              </a:rPr>
              <a:t> Y. Yu et al., “Schematizing Trust in Named Data Networking,” ACM ICN, 2015.</a:t>
            </a:r>
          </a:p>
        </p:txBody>
      </p:sp>
      <p:sp>
        <p:nvSpPr>
          <p:cNvPr id="11" name="PDF_TEXT_GROUP_650"/>
          <p:cNvSpPr txBox="1"/>
          <p:nvPr/>
        </p:nvSpPr>
        <p:spPr>
          <a:xfrm>
            <a:off x="985712" y="4899684"/>
            <a:ext cx="1361178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[19]</a:t>
            </a:r>
            <a:r>
              <a:rPr sz="1863" b="0" i="0">
                <a:solidFill>
                  <a:srgbClr val="000000"/>
                </a:solidFill>
                <a:latin typeface="Latin Modern Sans"/>
              </a:rPr>
              <a:t> S. Dulal et al., “Enhancing NAC-ABE to Support Access Control for mHealth Applications and Beyond,”</a:t>
            </a:r>
          </a:p>
        </p:txBody>
      </p:sp>
      <p:sp>
        <p:nvSpPr>
          <p:cNvPr id="12" name="PDF_TEXT_GROUP_651"/>
          <p:cNvSpPr txBox="1"/>
          <p:nvPr/>
        </p:nvSpPr>
        <p:spPr>
          <a:xfrm>
            <a:off x="1582632" y="5205515"/>
            <a:ext cx="29824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arXiv:2311.07299, 2023.</a:t>
            </a:r>
          </a:p>
        </p:txBody>
      </p:sp>
      <p:sp>
        <p:nvSpPr>
          <p:cNvPr id="13" name="PDF_TEXT_GROUP_652"/>
          <p:cNvSpPr txBox="1"/>
          <p:nvPr/>
        </p:nvSpPr>
        <p:spPr>
          <a:xfrm>
            <a:off x="985712" y="5621282"/>
            <a:ext cx="870940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[26]</a:t>
            </a:r>
            <a:r>
              <a:rPr sz="1863" b="0" i="0">
                <a:solidFill>
                  <a:srgbClr val="000000"/>
                </a:solidFill>
                <a:latin typeface="Latin Modern Sans"/>
              </a:rPr>
              <a:t> NDN Project, “Data Packet,” NDN Packet Format Specification.</a:t>
            </a:r>
          </a:p>
        </p:txBody>
      </p:sp>
      <p:sp>
        <p:nvSpPr>
          <p:cNvPr id="14" name="PDF_TEXT_GROUP_653"/>
          <p:cNvSpPr txBox="1"/>
          <p:nvPr/>
        </p:nvSpPr>
        <p:spPr>
          <a:xfrm>
            <a:off x="1582632" y="5927113"/>
            <a:ext cx="1013958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docs.named-data.net/NDN-packet-spec/current/data.html (accessed Sept. 2026).</a:t>
            </a:r>
          </a:p>
        </p:txBody>
      </p:sp>
      <p:sp>
        <p:nvSpPr>
          <p:cNvPr id="15" name="PDF_TEXT_GROUP_65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65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65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65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65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47/49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8"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65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Invocation and Composition</a:t>
            </a:r>
          </a:p>
        </p:txBody>
      </p:sp>
      <p:sp>
        <p:nvSpPr>
          <p:cNvPr id="4" name="PDF_TEXT_GROUP_660"/>
          <p:cNvSpPr txBox="1"/>
          <p:nvPr/>
        </p:nvSpPr>
        <p:spPr>
          <a:xfrm>
            <a:off x="1122356" y="2143199"/>
            <a:ext cx="1253957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[6]</a:t>
            </a:r>
            <a:r>
              <a:rPr sz="1863" b="0" i="0">
                <a:solidFill>
                  <a:srgbClr val="000000"/>
                </a:solidFill>
                <a:latin typeface="Latin Modern Sans"/>
              </a:rPr>
              <a:t> C. Tschudin and M. Sifalakis, “Named Functions and Cached Computations,” IEEE CCNC, 2014.</a:t>
            </a:r>
          </a:p>
        </p:txBody>
      </p:sp>
      <p:sp>
        <p:nvSpPr>
          <p:cNvPr id="5" name="PDF_TEXT_GROUP_661"/>
          <p:cNvSpPr txBox="1"/>
          <p:nvPr/>
        </p:nvSpPr>
        <p:spPr>
          <a:xfrm>
            <a:off x="1122356" y="2558966"/>
            <a:ext cx="1045382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[7]</a:t>
            </a:r>
            <a:r>
              <a:rPr sz="1863" b="0" i="0">
                <a:solidFill>
                  <a:srgbClr val="000000"/>
                </a:solidFill>
                <a:latin typeface="Latin Modern Sans"/>
              </a:rPr>
              <a:t> M. Krol and I. Psaras, “NFaaS: Named Function as a Service,” ACM ICN, 2017.</a:t>
            </a:r>
          </a:p>
        </p:txBody>
      </p:sp>
      <p:sp>
        <p:nvSpPr>
          <p:cNvPr id="6" name="PDF_TEXT_GROUP_662"/>
          <p:cNvSpPr txBox="1"/>
          <p:nvPr/>
        </p:nvSpPr>
        <p:spPr>
          <a:xfrm>
            <a:off x="1122356" y="2974733"/>
            <a:ext cx="998026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[9]</a:t>
            </a:r>
            <a:r>
              <a:rPr sz="1863" b="0" i="0">
                <a:solidFill>
                  <a:srgbClr val="000000"/>
                </a:solidFill>
                <a:latin typeface="Latin Modern Sans"/>
              </a:rPr>
              <a:t> M. Krol et al., “RICE: Remote Method Invocation in ICN,” ACM ICN, 2018.</a:t>
            </a:r>
          </a:p>
        </p:txBody>
      </p:sp>
      <p:sp>
        <p:nvSpPr>
          <p:cNvPr id="7" name="PDF_TEXT_GROUP_663"/>
          <p:cNvSpPr txBox="1"/>
          <p:nvPr/>
        </p:nvSpPr>
        <p:spPr>
          <a:xfrm>
            <a:off x="985712" y="3390500"/>
            <a:ext cx="1278309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[10]</a:t>
            </a:r>
            <a:r>
              <a:rPr sz="1863" b="0" i="0">
                <a:solidFill>
                  <a:srgbClr val="000000"/>
                </a:solidFill>
                <a:latin typeface="Latin Modern Sans"/>
              </a:rPr>
              <a:t> D. Meirovitch and L. Zhang, “NSC—Named Service Calls, or a Remote Procedure Call for NDN,”</a:t>
            </a:r>
          </a:p>
        </p:txBody>
      </p:sp>
      <p:sp>
        <p:nvSpPr>
          <p:cNvPr id="8" name="PDF_TEXT_GROUP_664"/>
          <p:cNvSpPr txBox="1"/>
          <p:nvPr/>
        </p:nvSpPr>
        <p:spPr>
          <a:xfrm>
            <a:off x="1582632" y="3696331"/>
            <a:ext cx="308031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NDN-0074, rev. 1, 2021.</a:t>
            </a:r>
          </a:p>
        </p:txBody>
      </p:sp>
      <p:sp>
        <p:nvSpPr>
          <p:cNvPr id="9" name="PDF_TEXT_GROUP_665"/>
          <p:cNvSpPr txBox="1"/>
          <p:nvPr/>
        </p:nvSpPr>
        <p:spPr>
          <a:xfrm>
            <a:off x="985712" y="4112099"/>
            <a:ext cx="127791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[15]</a:t>
            </a:r>
            <a:r>
              <a:rPr sz="1863" b="0" i="0">
                <a:solidFill>
                  <a:srgbClr val="000000"/>
                </a:solidFill>
                <a:latin typeface="Latin Modern Sans"/>
              </a:rPr>
              <a:t> C. Barrios, E. Alker and M. Kumar, “CaSCON: Cache-Assisted Service Composition Orchestration</a:t>
            </a:r>
          </a:p>
        </p:txBody>
      </p:sp>
      <p:sp>
        <p:nvSpPr>
          <p:cNvPr id="10" name="PDF_TEXT_GROUP_666"/>
          <p:cNvSpPr txBox="1"/>
          <p:nvPr/>
        </p:nvSpPr>
        <p:spPr>
          <a:xfrm>
            <a:off x="1582632" y="4417962"/>
            <a:ext cx="7747138"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Leveraging NDN,” IEEE SMARTCOMP, pp. 122–129, 2025. DOI:</a:t>
            </a:r>
            <a:r>
              <a:rPr sz="1863" b="0" i="0">
                <a:solidFill>
                  <a:srgbClr val="000000"/>
                </a:solidFill>
                <a:latin typeface="Latin Modern Sans"/>
              </a:rPr>
              <a:t> 10.1109/SMARTCOMP65954.2025.00061.</a:t>
            </a:r>
          </a:p>
        </p:txBody>
      </p:sp>
      <p:sp>
        <p:nvSpPr>
          <p:cNvPr id="11" name="PDF_TEXT_GROUP_667"/>
          <p:cNvSpPr txBox="1"/>
          <p:nvPr/>
        </p:nvSpPr>
        <p:spPr>
          <a:xfrm>
            <a:off x="985712" y="5139560"/>
            <a:ext cx="109522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[17]</a:t>
            </a:r>
            <a:r>
              <a:rPr sz="1863" b="0" i="0">
                <a:solidFill>
                  <a:srgbClr val="000000"/>
                </a:solidFill>
                <a:latin typeface="Latin Modern Sans"/>
              </a:rPr>
              <a:t> gRPC Authors, “Core Concepts, Architecture and Lifecycle,” gRPC documentation.</a:t>
            </a:r>
          </a:p>
        </p:txBody>
      </p:sp>
      <p:sp>
        <p:nvSpPr>
          <p:cNvPr id="12" name="PDF_TEXT_GROUP_668"/>
          <p:cNvSpPr txBox="1"/>
          <p:nvPr/>
        </p:nvSpPr>
        <p:spPr>
          <a:xfrm>
            <a:off x="985712" y="5555327"/>
            <a:ext cx="1313275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[27]</a:t>
            </a:r>
            <a:r>
              <a:rPr sz="1863" b="0" i="0">
                <a:solidFill>
                  <a:srgbClr val="000000"/>
                </a:solidFill>
                <a:latin typeface="Latin Modern Sans"/>
              </a:rPr>
              <a:t> gRPC Authors, “Custom Name Resolution,” grpc.io/docs/guides/custom-name-resolution/ (accessed</a:t>
            </a:r>
          </a:p>
        </p:txBody>
      </p:sp>
      <p:sp>
        <p:nvSpPr>
          <p:cNvPr id="13" name="PDF_TEXT_GROUP_669"/>
          <p:cNvSpPr txBox="1"/>
          <p:nvPr/>
        </p:nvSpPr>
        <p:spPr>
          <a:xfrm>
            <a:off x="1582632" y="5861190"/>
            <a:ext cx="15812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 2026).</a:t>
            </a:r>
          </a:p>
        </p:txBody>
      </p:sp>
      <p:sp>
        <p:nvSpPr>
          <p:cNvPr id="14" name="PDF_TEXT_GROUP_67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67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67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67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67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48/49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9"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67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Tools, Evidence and Degree Planning</a:t>
            </a:r>
          </a:p>
        </p:txBody>
      </p:sp>
      <p:sp>
        <p:nvSpPr>
          <p:cNvPr id="4" name="PDF_TEXT_GROUP_676"/>
          <p:cNvSpPr txBox="1"/>
          <p:nvPr/>
        </p:nvSpPr>
        <p:spPr>
          <a:xfrm>
            <a:off x="985712" y="1976905"/>
            <a:ext cx="743865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[22]</a:t>
            </a:r>
            <a:r>
              <a:rPr sz="1863" b="0" i="0">
                <a:solidFill>
                  <a:srgbClr val="000000"/>
                </a:solidFill>
                <a:latin typeface="Latin Modern Sans"/>
              </a:rPr>
              <a:t> Mini-NDN, project documentation: minindn.ndn.today.</a:t>
            </a:r>
          </a:p>
        </p:txBody>
      </p:sp>
      <p:sp>
        <p:nvSpPr>
          <p:cNvPr id="5" name="PDF_TEXT_GROUP_677"/>
          <p:cNvSpPr txBox="1"/>
          <p:nvPr/>
        </p:nvSpPr>
        <p:spPr>
          <a:xfrm>
            <a:off x="985712" y="2392672"/>
            <a:ext cx="787254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[23]</a:t>
            </a:r>
            <a:r>
              <a:rPr sz="1863" b="0" i="0">
                <a:solidFill>
                  <a:srgbClr val="000000"/>
                </a:solidFill>
                <a:latin typeface="Latin Modern Sans"/>
              </a:rPr>
              <a:t> PX4, “Software-in-the-Loop Simulation,” PX4 User Guide.</a:t>
            </a:r>
          </a:p>
        </p:txBody>
      </p:sp>
      <p:sp>
        <p:nvSpPr>
          <p:cNvPr id="6" name="PDF_TEXT_GROUP_678"/>
          <p:cNvSpPr txBox="1"/>
          <p:nvPr/>
        </p:nvSpPr>
        <p:spPr>
          <a:xfrm>
            <a:off x="985712" y="2808439"/>
            <a:ext cx="929261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[24]</a:t>
            </a:r>
            <a:r>
              <a:rPr sz="1863" b="0" i="0">
                <a:solidFill>
                  <a:srgbClr val="000000"/>
                </a:solidFill>
                <a:latin typeface="Latin Modern Sans"/>
              </a:rPr>
              <a:t> NDN Project, “Repo Protocol Specification,” repo-ng documentation.</a:t>
            </a:r>
          </a:p>
        </p:txBody>
      </p:sp>
      <p:sp>
        <p:nvSpPr>
          <p:cNvPr id="7" name="PDF_TEXT_GROUP_679"/>
          <p:cNvSpPr txBox="1"/>
          <p:nvPr/>
        </p:nvSpPr>
        <p:spPr>
          <a:xfrm>
            <a:off x="985712" y="3224174"/>
            <a:ext cx="111462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[25]</a:t>
            </a:r>
            <a:r>
              <a:rPr sz="1863" b="0" i="0">
                <a:solidFill>
                  <a:srgbClr val="000000"/>
                </a:solidFill>
                <a:latin typeface="Latin Modern Sans"/>
              </a:rPr>
              <a:t> ONNX, “Open Neural Network Exchange Intermediate Representation Specification.”</a:t>
            </a:r>
          </a:p>
        </p:txBody>
      </p:sp>
      <p:sp>
        <p:nvSpPr>
          <p:cNvPr id="8" name="PDF_TEXT_GROUP_680"/>
          <p:cNvSpPr txBox="1"/>
          <p:nvPr/>
        </p:nvSpPr>
        <p:spPr>
          <a:xfrm>
            <a:off x="985712" y="3639941"/>
            <a:ext cx="1306133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[28]</a:t>
            </a:r>
            <a:r>
              <a:rPr sz="1863" b="0" i="0">
                <a:solidFill>
                  <a:srgbClr val="000000"/>
                </a:solidFill>
                <a:latin typeface="Latin Modern Sans"/>
              </a:rPr>
              <a:t> NDNSF, research-revision-audit.md, companion claim/evidence ledger, September 9, 2026. Contains</a:t>
            </a:r>
          </a:p>
        </p:txBody>
      </p:sp>
      <p:sp>
        <p:nvSpPr>
          <p:cNvPr id="9" name="PDF_TEXT_GROUP_681"/>
          <p:cNvSpPr txBox="1"/>
          <p:nvPr/>
        </p:nvSpPr>
        <p:spPr>
          <a:xfrm>
            <a:off x="1582632" y="3945805"/>
            <a:ext cx="494190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campaign paths and required validation.</a:t>
            </a:r>
          </a:p>
        </p:txBody>
      </p:sp>
      <p:sp>
        <p:nvSpPr>
          <p:cNvPr id="10" name="PDF_TEXT_GROUP_682"/>
          <p:cNvSpPr txBox="1"/>
          <p:nvPr/>
        </p:nvSpPr>
        <p:spPr>
          <a:xfrm>
            <a:off x="985712" y="4361572"/>
            <a:ext cx="1055697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[29]</a:t>
            </a:r>
            <a:r>
              <a:rPr sz="1863" b="0" i="0">
                <a:solidFill>
                  <a:srgbClr val="000000"/>
                </a:solidFill>
                <a:latin typeface="Latin Modern Sans"/>
              </a:rPr>
              <a:t> University of Memphis CS, “Information for Computer Science Ph.D. Students,”</a:t>
            </a:r>
          </a:p>
        </p:txBody>
      </p:sp>
      <p:sp>
        <p:nvSpPr>
          <p:cNvPr id="11" name="PDF_TEXT_GROUP_683"/>
          <p:cNvSpPr txBox="1"/>
          <p:nvPr/>
        </p:nvSpPr>
        <p:spPr>
          <a:xfrm>
            <a:off x="1582632" y="4667403"/>
            <a:ext cx="811345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forms_grad_phd_programinfo.pdf (accessed September 9, 2026).</a:t>
            </a:r>
          </a:p>
        </p:txBody>
      </p:sp>
      <p:sp>
        <p:nvSpPr>
          <p:cNvPr id="12" name="PDF_TEXT_GROUP_684"/>
          <p:cNvSpPr txBox="1"/>
          <p:nvPr/>
        </p:nvSpPr>
        <p:spPr>
          <a:xfrm>
            <a:off x="985712" y="5083170"/>
            <a:ext cx="1094691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[30]</a:t>
            </a:r>
            <a:r>
              <a:rPr sz="1863" b="0" i="0">
                <a:solidFill>
                  <a:srgbClr val="000000"/>
                </a:solidFill>
                <a:latin typeface="Latin Modern Sans"/>
              </a:rPr>
              <a:t> University of Memphis Graduate School, “Graduate School Calendar,” Spring 2027.</a:t>
            </a:r>
          </a:p>
        </p:txBody>
      </p:sp>
      <p:sp>
        <p:nvSpPr>
          <p:cNvPr id="13" name="PDF_TEXT_GROUP_685"/>
          <p:cNvSpPr txBox="1"/>
          <p:nvPr/>
        </p:nvSpPr>
        <p:spPr>
          <a:xfrm>
            <a:off x="1582632" y="5389033"/>
            <a:ext cx="1033287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memphis.edu/gradschool/news-events/calendar.php (checked September 14, 2026).</a:t>
            </a:r>
          </a:p>
        </p:txBody>
      </p:sp>
      <p:sp>
        <p:nvSpPr>
          <p:cNvPr id="14" name="PDF_TEXT_GROUP_686"/>
          <p:cNvSpPr txBox="1"/>
          <p:nvPr/>
        </p:nvSpPr>
        <p:spPr>
          <a:xfrm>
            <a:off x="985712" y="5804800"/>
            <a:ext cx="1293287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[31]</a:t>
            </a:r>
            <a:r>
              <a:rPr sz="1863" b="0" i="0">
                <a:solidFill>
                  <a:srgbClr val="000000"/>
                </a:solidFill>
                <a:latin typeface="Latin Modern Sans"/>
              </a:rPr>
              <a:t> ONNX Runtime, “How to configure the past present share buffer,” GenAI documentation (accessed</a:t>
            </a:r>
          </a:p>
        </p:txBody>
      </p:sp>
      <p:sp>
        <p:nvSpPr>
          <p:cNvPr id="15" name="PDF_TEXT_GROUP_687"/>
          <p:cNvSpPr txBox="1"/>
          <p:nvPr/>
        </p:nvSpPr>
        <p:spPr>
          <a:xfrm>
            <a:off x="1582632" y="6110631"/>
            <a:ext cx="267342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September 11, 2026).</a:t>
            </a:r>
          </a:p>
        </p:txBody>
      </p:sp>
      <p:sp>
        <p:nvSpPr>
          <p:cNvPr id="16" name="PDF_TEXT_GROUP_68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68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69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69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69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49/49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