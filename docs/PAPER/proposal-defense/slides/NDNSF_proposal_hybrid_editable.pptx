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slide" Target="slides/slide50.xml" /><Relationship Id="rId57" Type="http://schemas.openxmlformats.org/officeDocument/2006/relationships/slide" Target="slides/slide51.xml" /><Relationship Id="rId58" Type="http://schemas.openxmlformats.org/officeDocument/2006/relationships/slide" Target="slides/slide52.xml" /><Relationship Id="rId59" Type="http://schemas.openxmlformats.org/officeDocument/2006/relationships/slide" Target="slides/slide53.xml" /><Relationship Id="rId6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_rels/notesSlide39.xml.rels><?xml version="1.0" encoding="UTF-8" standalone="yes"?>
<Relationships xmlns="http://schemas.openxmlformats.org/package/2006/relationships">
  <Relationship Id="rId1" Type="http://schemas.openxmlformats.org/officeDocument/2006/relationships/slide" Target="../slides/slide39.xml"/>
  <Relationship Id="rId2" Type="http://schemas.openxmlformats.org/officeDocument/2006/relationships/notesMaster" Target="../notesMasters/notesMaster1.xml"/>
</Relationships>

</file>

<file path=ppt/notesSlides/_rels/notesSlide40.xml.rels><?xml version="1.0" encoding="UTF-8" standalone="yes"?>
<Relationships xmlns="http://schemas.openxmlformats.org/package/2006/relationships">
  <Relationship Id="rId1" Type="http://schemas.openxmlformats.org/officeDocument/2006/relationships/slide" Target="../slides/slide40.xml"/>
  <Relationship Id="rId2" Type="http://schemas.openxmlformats.org/officeDocument/2006/relationships/notesMaster" Target="../notesMasters/notesMaster1.xml"/>
</Relationships>

</file>

<file path=ppt/notesSlides/_rels/notesSlide41.xml.rels><?xml version="1.0" encoding="UTF-8" standalone="yes"?>
<Relationships xmlns="http://schemas.openxmlformats.org/package/2006/relationships">
  <Relationship Id="rId1" Type="http://schemas.openxmlformats.org/officeDocument/2006/relationships/slide" Target="../slides/slide41.xml"/>
  <Relationship Id="rId2" Type="http://schemas.openxmlformats.org/officeDocument/2006/relationships/notesMaster" Target="../notesMasters/notesMaster1.xml"/>
</Relationships>

</file>

<file path=ppt/notesSlides/_rels/notesSlide42.xml.rels><?xml version="1.0" encoding="UTF-8" standalone="yes"?>
<Relationships xmlns="http://schemas.openxmlformats.org/package/2006/relationships">
  <Relationship Id="rId1" Type="http://schemas.openxmlformats.org/officeDocument/2006/relationships/slide" Target="../slides/slide42.xml"/>
  <Relationship Id="rId2" Type="http://schemas.openxmlformats.org/officeDocument/2006/relationships/notesMaster" Target="../notesMasters/notesMaster1.xml"/>
</Relationships>

</file>

<file path=ppt/notesSlides/_rels/notesSlide43.xml.rels><?xml version="1.0" encoding="UTF-8" standalone="yes"?>
<Relationships xmlns="http://schemas.openxmlformats.org/package/2006/relationships">
  <Relationship Id="rId1" Type="http://schemas.openxmlformats.org/officeDocument/2006/relationships/slide" Target="../slides/slide43.xml"/>
  <Relationship Id="rId2" Type="http://schemas.openxmlformats.org/officeDocument/2006/relationships/notesMaster" Target="../notesMasters/notesMaster1.xml"/>
</Relationships>

</file>

<file path=ppt/notesSlides/_rels/notesSlide44.xml.rels><?xml version="1.0" encoding="UTF-8" standalone="yes"?>
<Relationships xmlns="http://schemas.openxmlformats.org/package/2006/relationships">
  <Relationship Id="rId1" Type="http://schemas.openxmlformats.org/officeDocument/2006/relationships/slide" Target="../slides/slide44.xml"/>
  <Relationship Id="rId2" Type="http://schemas.openxmlformats.org/officeDocument/2006/relationships/notesMaster" Target="../notesMasters/notesMaster1.xml"/>
</Relationships>

</file>

<file path=ppt/notesSlides/_rels/notesSlide45.xml.rels><?xml version="1.0" encoding="UTF-8" standalone="yes"?>
<Relationships xmlns="http://schemas.openxmlformats.org/package/2006/relationships">
  <Relationship Id="rId1" Type="http://schemas.openxmlformats.org/officeDocument/2006/relationships/slide" Target="../slides/slide45.xml"/>
  <Relationship Id="rId2" Type="http://schemas.openxmlformats.org/officeDocument/2006/relationships/notesMaster" Target="../notesMasters/notesMaster1.xml"/>
</Relationships>

</file>

<file path=ppt/notesSlides/_rels/notesSlide46.xml.rels><?xml version="1.0" encoding="UTF-8" standalone="yes"?>
<Relationships xmlns="http://schemas.openxmlformats.org/package/2006/relationships">
  <Relationship Id="rId1" Type="http://schemas.openxmlformats.org/officeDocument/2006/relationships/slide" Target="../slides/slide46.xml"/>
  <Relationship Id="rId2" Type="http://schemas.openxmlformats.org/officeDocument/2006/relationships/notesMaster" Target="../notesMasters/notesMaster1.xml"/>
</Relationships>

</file>

<file path=ppt/notesSlides/_rels/notesSlide47.xml.rels><?xml version="1.0" encoding="UTF-8" standalone="yes"?>
<Relationships xmlns="http://schemas.openxmlformats.org/package/2006/relationships">
  <Relationship Id="rId1" Type="http://schemas.openxmlformats.org/officeDocument/2006/relationships/slide" Target="../slides/slide47.xml"/>
  <Relationship Id="rId2" Type="http://schemas.openxmlformats.org/officeDocument/2006/relationships/notesMaster" Target="../notesMasters/notesMaster1.xml"/>
</Relationships>

</file>

<file path=ppt/notesSlides/_rels/notesSlide48.xml.rels><?xml version="1.0" encoding="UTF-8" standalone="yes"?>
<Relationships xmlns="http://schemas.openxmlformats.org/package/2006/relationships">
  <Relationship Id="rId1" Type="http://schemas.openxmlformats.org/officeDocument/2006/relationships/slide" Target="../slides/slide48.xml"/>
  <Relationship Id="rId2" Type="http://schemas.openxmlformats.org/officeDocument/2006/relationships/notesMaster" Target="../notesMasters/notesMaster1.xml"/>
</Relationships>

</file>

<file path=ppt/notesSlides/_rels/notesSlide49.xml.rels><?xml version="1.0" encoding="UTF-8" standalone="yes"?>
<Relationships xmlns="http://schemas.openxmlformats.org/package/2006/relationships">
  <Relationship Id="rId1" Type="http://schemas.openxmlformats.org/officeDocument/2006/relationships/slide" Target="../slides/slide49.xml"/>
  <Relationship Id="rId2" Type="http://schemas.openxmlformats.org/officeDocument/2006/relationships/notesMaster" Target="../notesMasters/notesMaster1.xml"/>
</Relationships>

</file>

<file path=ppt/notesSlides/_rels/notesSlide50.xml.rels><?xml version="1.0" encoding="UTF-8" standalone="yes"?>
<Relationships xmlns="http://schemas.openxmlformats.org/package/2006/relationships">
  <Relationship Id="rId1" Type="http://schemas.openxmlformats.org/officeDocument/2006/relationships/slide" Target="../slides/slide50.xml"/>
  <Relationship Id="rId2" Type="http://schemas.openxmlformats.org/officeDocument/2006/relationships/notesMaster" Target="../notesMasters/notesMaster1.xml"/>
</Relationships>

</file>

<file path=ppt/notesSlides/_rels/notesSlide51.xml.rels><?xml version="1.0" encoding="UTF-8" standalone="yes"?>
<Relationships xmlns="http://schemas.openxmlformats.org/package/2006/relationships">
  <Relationship Id="rId1" Type="http://schemas.openxmlformats.org/officeDocument/2006/relationships/slide" Target="../slides/slide51.xml"/>
  <Relationship Id="rId2" Type="http://schemas.openxmlformats.org/officeDocument/2006/relationships/notesMaster" Target="../notesMasters/notesMaster1.xml"/>
</Relationships>

</file>

<file path=ppt/notesSlides/_rels/notesSlide52.xml.rels><?xml version="1.0" encoding="UTF-8" standalone="yes"?>
<Relationships xmlns="http://schemas.openxmlformats.org/package/2006/relationships">
  <Relationship Id="rId1" Type="http://schemas.openxmlformats.org/officeDocument/2006/relationships/slide" Target="../slides/slide52.xml"/>
  <Relationship Id="rId2" Type="http://schemas.openxmlformats.org/officeDocument/2006/relationships/notesMaster" Target="../notesMasters/notesMaster1.xml"/>
</Relationships>

</file>

<file path=ppt/notesSlides/_rels/notesSlide53.xml.rels><?xml version="1.0" encoding="UTF-8" standalone="yes"?>
<Relationships xmlns="http://schemas.openxmlformats.org/package/2006/relationships">
  <Relationship Id="rId1" Type="http://schemas.openxmlformats.org/officeDocument/2006/relationships/slide" Target="../slides/slide53.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Networked applications need mechanisms for service discovery, invocation authorization, and application-data exchange. Some operations discover a currently willing Provider; others must retain an already selected Provider. Applications must associate permissions, execution state and exchanged data with the requested operation. Changes in service availability, resources and connectivity add further challenges. Research goal: a reusable service protocol. UAV and inference applications provide validation cases, not limits on the framework’s intended scope.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Foundation: evaluate discovery and authorization The initial prototype discovers candidates and selects one Provider whose positive ACK passes validation. Discovery confidentiality, service permissions and management costs matter even without collaboration. Extension: coordinate complementary roles Some tasks need several Providers with different responsibilities. Separate calls do not define a shared role assignment or enforce dependencies between them. Invocation and initial plan-commit mechanisms exist. [28] The proposed research evaluates authorization choices, completes dependency/recovery rules, and tests their reuse and cost.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Apply Trust Schema [16] rules to validate signing authority Interest retrieval and caching [1,26] Check task identity, dependencies and deadlines; caches do not guarantee storage Dataset synchronization / SVS [2,3] Discover names; define service-message transitions NAC [4] / enhanced NAC-ABE [19] Encrypt Content for read access; check invocation permission separately NDN: Named Data Networking [1]; NAC: Name-based Access Control; ABE: attribute-based encryption; SVS: State Vector Sync. NDNSF adds service authorization and invocation-state rules.</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Follow the invocation lifecycle, informed by invocation [9,10] and authorization [12] mechanisms. Stage / concern Failure to test RQ Discover candidates Ineligible candidate or unauthorized descriptor access 1, 3 Select execution Wrong Provider, unauthorized or repeated start 1, 3 Use inputs Wrong producer, object or dependency 1--3 Close or replace Late results advance the wrong execution 2, 3 Change permissions Missed grant; withdrawn permission still accepted 1, 3 Test applicable rows in the declared UAV and inference workflows. Permission changes affect multiple stages.</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When does ABE permission reuse offer a better cost--protection tradeoff than complete role-authorized alternatives, as permission scale, overlap, membership and withdrawals change? RQ2: How can single-Provider invocation be extended to roles and named dependencies across Providers, whether Data comes from producers or caches? RQ3: When do these mechanisms improve completion, latency, or execution efficiency, and when do their costs outweigh the benefits? RQ1 studies invocation; RQ2 studies collaboration. RQ3 evaluates their benefits and costs, not another protocol.</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Published mechanism Proposed comparison boundary NSC [10]: signed invocation Caller authorization versus task-specific predecessor checks DNMP [12]: role commands Standing permission versus this task’s assignment CFN [33]: dynamic graph Internally trusted components versus explicit object-admission rules CaSCON [15]: composition Caching is prior art; detailed recovery rules still need verification NFN [6], NFaaS [7] and RICE [9] are computation/invocation precedents. Proposed focus: turn post-ACK assignments into input-acceptance rules, including explicit artifact reuse during replacement.</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Hypothesis: A common named-Data protocol can separate discovery from authorized execution and enforce runtime role assignments when intermediate objects are used. Intended knowledge Evidence to deliver When permission reuse is worthwhile Permission overlap, churn and lifecycle costs under equal protection Which task-specific checks are needed Valid completion; wrong-role/edge and replacement tests Which rules can be shared Common Core checks; application validators; matched utility tests Overall contribution: an evaluated service framework for invocation, named-object exchange and collaboration across UAV and inference applications.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 service and selects a Provider; the extension also assigns collaboration roles. Provider: offers and executes a service. A node may play both roles. Controller: administers identities and service permissions approved by the organization. Participants use provisioned trust anchors and validation rules for certificates and Controller material. Enrollment establishes identities and service permissions. The User then discovers which authorized Providers are currently willing and selects participants for the task.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requests an aerial image. Authorized camera Providers A and B consider the task. User Request Data Candidates ACK Data User Selection Data Selected Provider Response Data A returns a positive ACK; B is busy and returns a negative ACK. The User selects A; A checks Selection before capturing the image. Arrows show application order. Data is retrieved with Interests; neither an ACK nor a network delivery alone authorizes execution.</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RequestNonce ACK Report positive or negative participation; positive ACK supplies selection information and ProviderChallenge Selection Assign selected execution; provide input/references and protected request-scoped keys; constructed using ProviderChallenge Response Return status, results or result references; the User still validates them before use Sync helps discover names; Interests retrieve Data. The Provider checks Selection before execution; a positive ACK alone does not start the task.</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Input and results use request-scoped symmetric keys. Selection delivers key material encrypted for the selected Provider; the requesting User retains the keys.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Keep discovery descriptors confidential from unauthorized readers before selecting a Provider. 2. Authenticate participants, verify service permissions, and reject replayed invocation messages. 3. Grant and withdraw service permissions during operation. Additional benefit: aggregate service permissions in a decryption key (DKEY) while retaining identity-signing credentials. This is a management property, not another security guarantee.</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The User encrypts the descriptor using ABE and the service attribute, without listing Provider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ABE was introduced to keep discovery descriptors non-public. [19] NDNSF reuses the attribute authority to manage Provider and User service permissions. [28] RequestNonce and ProviderChallenge checks use these permissions during invocation. ABE discovery plus role-based invocation is also possible. NDNSF avoids adding role signing credentials solely for service membership; signature validation and request-state checks remain necessary. User DKEYs and challenge processing still add cost.</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Provider permission: recover RequestNonce from ABE-protected Request content and return it in ACK Data. The User compares it with RequestNonce stored for this request. 2. User permission: recover ProviderChallenge from ABE-protected ACK content and construct Selection Data. The Provider validates Selection using its stored ProviderChallenge. Participants also check current service permissions. Challenge checks establish access to protected values, not exclusive key possession. RequestNonce is an application value, distinct from the Interest Nonce.</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Identity authentication Validate Data signatures and certificate chains under trust rules. An accepted signing identity alone does not establish service permission. Replay protection Match messages to an active request and its state. Record whether ProviderChallenge has already been used to accept Selection for execution; duplicate Selection must not start another execution. Retain or safely invalidate request state, including across restart. Encryption or a challenge value alone does not prevent replay.</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Distributed Network Measurement Protocol (DNMP) [12] authorizes measurement commands: 1. The Network Key anchors role keys, device keys, and the schema. 2. The client uses target, probe type, arguments, and user role to find an allowed signing key; among matching keys, it chooses the least privileged. 3. The receiving Network Observer Daemon validates the publication under the schema before dispatching the probe. DNMP also uses publication lifetimes and retained state against replay, assuming loosely synchronized clocks. These are concrete command-authorization mechanisms, not just identity checks.</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[12] Check role-constrained signatures and NDNSF invocation state Retain ABE for the first controlled comparison NDNSF ABE-backed Check signatures, RequestNonce, ProviderChallenge, current permissions and request state User encrypts descriptor content with service-level ABE Hold discovery encryption constant to isolate authorization cost. Both retain Selection, current permissions and replay checks. This adapts DNMP, not its original implementation. Group encryption is a separate comparison.</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For n Users and k service permissions per User, on average: Additional authorization credentials Logical objects One role certificate per service nk: O(nk) certificates One policy DKEY per User n: O(n), but policy size grows Both retain identity certificates. Shared roles can also use n certificates. Fixed k: both grow linearly with n. Fewer credentials need not cost less. Measure CPU time and bytes for setup, calls, permission updates and background checks.</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Configuration Controlled comparison G1: Per-service roles 100 Users, five permissions each: 500 role certificates versus 100 DKEYs. G2: Shared combination roles Same permissions: 100 role certificates versus 100 DKEYs. Shared roles, individual private keys. G3: Frequent withdrawals Fixed invocation rate; matched grant/withdrawal traces. Compare update delay, rekey traffic and completion. Analytical examples, not measurements. Both retain ABE-protected discovery, identical permissions and the same status-validity bound. Identify when each design is preferable, with correctness and availability checked alongside cost.</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Both operations update Controller-signed permission status. [28] Ordinary grant: update the target’s complete policy; it retrieves a replacement DKEY. Public parameters stay unchanged. Withdrawal: rotate the Controller’s ABE master key and public parameters; remaining members obtain DKEYs for their remaining permissions. The master key stays with the Controller. Rotation is Controller-wide. Participants must retrieve and validate updates before applying them; disconnected nodes cannot do so immediately.</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Revised design: the Controller publishes new public parameters as signed Data; Sync announces availability. 2. Participants retrieve and validate parameters and permission status, then refresh DKEYs as required. 3. Grants also require status discovery, even when public parameters do not change. Status retrieval and rotation are implemented; Sync announcements are planned for end-to-end validation. Evaluation will measure propagation, rejection delay and rekeying traffic. Previously disclosed keys and plaintext remain accessible to their holders.</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Scope: trusted Controller and User, Content confidentiality, and withdrawal after validated updates. Malicious-coordinator agreement and traffic-analysis resistance are outside this scope.</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dependencies, constraints and deadline. 2. The User closes ACK collection and freezes eligible, validated positive ACKs. 3. A replaceable policy assigns Providers; the User signs the plan. 4. Providers validate assignments, permitted inputs and resource readiness. The template precedes discovery; concrete signer/name constraints follow ACKs. Core commit checks exist. [28] Dependency and recovery contracts remain research to validate.</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Proposed task: User assigns UAV A to view 1, UAV B to view 2, and Provider C to analysis. UAV A signed ViewImage UAV B signed ViewImage C validates producer and edge C analyzes after both inputs pass Arrows show object dependencies; Interests retrieve the images from producers or caches. B’s valid signature and matching request ID do not let its image fill A’s view-1 role. C must check the assignment before accepting that dependency.</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Check active execution and deadline; identify the permitted dependency. 3. For new Data, match request/plan/execution and assigned producer; for historical Data, check explicit reuse permission. 4. Check that the object matches the declared edge, permitted name, data format and key scope. 5. Require complete validated input before the dependent computation starts. The proposed rules apply equally to Data retrieved from producers, caches and repositories. End-to-end tests will check valid inputs and rejection of wrong-role, wrong-edge and outdated-execution objects.</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Check whether execution was already authorized; do not repeat a side effect Incomplete dependency Wait within policy/deadline, recover, or fail; do not execute on partial data Provider replacement Authorize a new assignment; reject old execution actions and specify permitted result reuse Cancellation Prevent late messages from reauthorizing cancelled work A new plan may permit a specific old artifact with its original name and signature. This does not reactivate the old execution. Application checks still decide whether it is usable.</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UAV (unmanned aerial vehicle) workflows test NDNSF mechanisms. [28] Application function NDNSF validation scope Control, telemetry, mission status Provider/request association, permissions, operation lifecycle Live video and recordings Stream lifecycle, protected delivery, named-object retrieval Detection and multi-view tasks Service provision/consumption, role assignments, dependencies Use these workflows to test the invocation foundation and collaboration extension. Validate service behavior through the actual NDNSF path; evaluate flight safety and perception accuracy separately.</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selects a ground area on a map and requests views and analysis. 1. Selected UAVs capture views, symmetrically encrypt images, and publish signed ViewImage Data under their own authorized namespaces. 2. The assigned compute Provider retrieves permitted images and publishes Annotation Data. 3. Its encrypted result supplies original image names and permitted keys; the requester retrieves images and displays annotations. Reuse original image Data. Fixed-camera viewing geometry requires synchronized UAV attitude and calibration; GPS alone does not establish visibility.</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Core: service authorization and request state. UAV application: operator authority, mission progress and reassignment. Vehicle: readiness, flight limits and local failsafe behavior. Operator leases are currently checked at the ground station, without an independent repeat check in the Drone MAVLink handler. [28] Tests will examine this command path. NDNSF ACK reports willingness; flight-controller acceptance and vehicle behavior are separate observations.</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native lifecycle: prepare a model, submit an inference request, and collect results. [28] Application function NDNSF validation scope Single-Provider inference Discovery, permissions, input and result delivery Model preparation and reuse Package identity, artifact references, named-object retrieval Incremental output and conversation Request state, cancellation, output lifecycle Multi-Provider inference Assignments, dependencies, recovery PreparedModel describes a verified local package. Provider selection and remote preparation follow during invocation. The study will extend focused tests to the selected model, device and recovery configurations.</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Verify a local model package; choose partitions and Providers after ACK collection closes. Providers authenticate Selection before preparing or reusing assigned resources. Pipeline divides layer groups; tensor partitioning needs supported collective exchanges. ONNX [25] describes the graph; Repo [24] stores artifacts. Neither implements distributed execution by itself. The proposed contribution is checked runtime assignment and data exchange, not model partitioning itself.</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key/value (K/V) state have different lifetimes. [31] With K/V caching, the runtime reuses prior tensors and supplies next-step inputs; resident weights do not replace this state. Cross-process tests will compare distributed results with the same model’s unsplit execution. Begin with one supported model/partition; evaluate additional strategies and LLM streaming as their implementations become ready. Earlier small-model measurements motivate separate preparation, transfer and execution measurements in the new campaigns. [28]</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Core checks Application responsibility Signer, assigned role and edge UAV: view/time requirements; DI: model/tensor compatibility Complete object; permitted reuse Decide whether the image or retained state remains useful Cancellation/replacement state Stop physical work or drain computation and release resources Test both applications with wrong-role inputs and authentic but application-invalid inputs. Record which layer rejects them; retain valid controls. Expected outcome: shared checks and explicit application validators. Signatures establish provenance, not image truth or numerical correctness.</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Stage Evidence sought Contract / local tests Valid transitions and explicit rejection cases MiniNDN [22] Authenticated request chains, caches, loss and outages UAV simulation / bench Operator workflow, telemetry, camera and command handling; PX4 SITL [23] is simulation TigerCluster [28] (preparation) Multi-node GPU inference: correctness, latency, data-transfer overhead and peak GPU memory Supported devices Actual camera/inference outputs, memory and processing costs Use defined outcomes and reproducible configurations. Cluster experiments complement UAV wireless and mobility tests; simulation does not establish real-flight safety.</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Specify primary outcomes, completion deadlines and useful-improvement criteria before comparative runs. Comparative conclusions will refer to the tested configurations. Historical unmatched results motivate questions for the matched experiments.</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Observed completion rates are close across systems. The next slide examines switching latency in a separate holdout campaign (seeds 72--81).</a:t>
            </a:r>
            <a:endParaRPr lang="en-US" sz="120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Seeds 72--81; four Providers/system; 100 m, 2 m/s; 1,312 aligned switching requests. [28] Comparison Seed-p95 difference 95% CI NDNSF minus gRPC-SEQ-4 -597 ms [-992, -200] ms NDNSF minus NSC-4 -2618 ms [-2916, -2315] ms Completed: NDNSF 1,311; gRPC 1,297; NSC 1,296 (of 1,312 each). NDNSF has lower mean seed-p95 latency in this switching workload. Each p95 uses that system’s successful requests; different failure sets limit interpretation.</a:t>
            </a:r>
            <a:endParaRPr lang="en-US" sz="120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NDNSF used fewer execution starts than gRPC-PAR-4 at the reported completion rates. Bytes, CPU time and energy require separate measurement.</a:t>
            </a:r>
            <a:endParaRPr lang="en-US" sz="120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Controlled test Decision / measurement RQ1 One User, four candidates; identical discovery encryption Reject unauthorized starts; compare grant/withdrawal and invocation costs RQ2 Wrong role/edge within one request; direct/cache delivery; individual-check ablations Reject invalid dependencies before dependent work; valid tasks complete RQ2/3 Cancel/replace one Provider Reject late old work after local update; measure recovery RQ3 Fixed inputs; UAV relay and feasible unsplit DI controls Compare correct outputs, completion, latency, bytes and memory Retain signatures and request IDs in ablations. Define tolerances and useful-improvement criteria before runs.</a:t>
            </a:r>
            <a:endParaRPr lang="en-US" sz="120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Minimum case Required evidence UAV Two capture roles and one analyzer; fixed images/algorithm; compare direct exchange with User relay DI Target two-Provider YOLO partition; declare crossing tensors; fix model/cut after compatibility checks Both graphs Valid completion, wrong-input rejection, one cancellation/replacement case, matched costs Extensions More models, LLM streaming, larger deployments and real-flight trials These are planned cases. If either core graph cannot be validated, reconsider its claim and schedule with the committee; optional features cannot replace missing core evidence.</a:t>
            </a:r>
            <a:endParaRPr lang="en-US" sz="120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Required deliverable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Final dissertation defense, subject to committee approval Committee draft: two weeks before defense. Spring 2027 application/candidacy: February 5; final ProQuest: March 26. Recheck before filing. [29,30]</a:t>
            </a:r>
            <a:endParaRPr lang="en-US" sz="120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tradeoff regions across permission overlap, membership changes and withdrawals, using complete alternatives with equal protection. RQ2 answer: which assignment and dependency rules can be shared across UAV and DI, what they reject, and their recovery limits. RQ3 answer: measured benefits, negative results and deployment limits, including which checks belong in Core or the application. Reproducible configurations and evidence linking each conclusion to its tested scope. The intended outcome is a tested service protocol and an evidence-backed account of when its mechanisms are worth their cost.</a:t>
            </a:r>
            <a:endParaRPr lang="en-US" sz="120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Committee feedback sought: research significance, bounded scope, evaluation criteria, and a feasible completion plan.</a:t>
            </a:r>
            <a:endParaRPr lang="en-US" sz="120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Within one Controller domain, combine several service permissions in one entity’s DKEY; retain identity-signing credentials. [19,28] DNMP represents command authority through role keys and schema rules. One role can permit several commands. [12] Where equivalent permissions require distinct role credentials, NDNSF avoids maintaining those extra signing credentials. Fewer independently managed credentials does not imply fixed DKEY size or lower total cost. Policy size, key distribution and updates still matter.</a:t>
            </a:r>
            <a:endParaRPr lang="en-US" sz="120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Compare complete combinations of authorization and encryption. ABE-backed authorization is one design choice, not a universally superior solution.</a:t>
            </a:r>
            <a:endParaRPr lang="en-US" sz="120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Original proposal: ten successful runs per layout. [32] Layout Mean latency p95 Shared-backbone distributed layout 259.4 ms 283.9 ms Single Provider 186.8 ms 206.3 ms This motivates measuring preparation and transfer costs. Their causal contribution was not isolated; model/export identity and raw runs require verification. Historical record, not evidence for the newer DI design. Further archived observations and limits are retained in the proposal’s Appendix A.</a:t>
            </a:r>
            <a:endParaRPr lang="en-US" sz="120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Completion depends on how candidates are configured in these runs. Resolver or discovery integration can update baseline candidate lists. [27,28]</a:t>
            </a:r>
            <a:endParaRPr lang="en-US" sz="120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Archived NDNSF results from a separate campaign. The 10% value is the best recorded run, not an aggregate estimate; these values are not a matched baseline comparison. [28] Per-link packet loss is not the probability of service failure: retrieval retries and the request deadline also affect completion.</a:t>
            </a:r>
            <a:endParaRPr lang="en-US" sz="1200"/>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[33] M. Krol, S. Mastorakis, D. Oran and D. Kutscher, “Compute First Networking: Distributed Computing Meets ICN,” ACM ICN, pp. 67--77, 2019. DOI: 10.1145/3357150.3357395. [15] C. Barrios, E. Alker and M. Kumar, “CaSCON: Cache-Assisted Service Composition Orchestration Leveraging NDN,” IEEE SMARTCOMP, pp. 122--129, 2025. DOI: 10.1109/SMARTCOMP65954.2025.00061.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required validation. [29] University of Memphis CS, “Information for Computer Science Ph.D. Students,” forms_grad_phd_programinfo.pdf (accessed September 9, 2026). [30] University of Memphis Graduate School, “Graduate School Calendar,” Spring 2027. memphis.edu/gradschool/news-events/calendar.php (checked September 14, 2026). [31] ONNX Runtime, “How to configure the past present share buffer,” GenAI documentation (accessed September 11, 2026). [32] T. Ma, archived dissertation proposal, Section 5.6; Tianxing_Dissertation_Proposal_Origin.pdf, complete 59-page version.</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6.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7.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8.png" /><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9.png" /><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0.png" /><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1.png" /><Relationship Id="rId3"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2.png" /><Relationship Id="rId3"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3.png" /><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4.png" /><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5.png" /><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6.png" /><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7.png" /><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8.png" /><Relationship Id="rId3"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9.png" /><Relationship Id="rId3"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53.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Why Service-Level Mechanisms Are Needed</a:t>
            </a:r>
          </a:p>
        </p:txBody>
      </p:sp>
      <p:sp>
        <p:nvSpPr>
          <p:cNvPr id="4" name="PDF_TEXT_GROUP_7"/>
          <p:cNvSpPr txBox="1"/>
          <p:nvPr/>
        </p:nvSpPr>
        <p:spPr>
          <a:xfrm>
            <a:off x="914808" y="1647915"/>
            <a:ext cx="1093547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Networked applications need mechanisms for service discovery, invocation</a:t>
            </a:r>
            <a:r>
              <a:rPr sz="2710" b="0" i="0">
                <a:solidFill>
                  <a:srgbClr val="000000"/>
                </a:solidFill>
                <a:latin typeface="Latin Modern Sans"/>
              </a:rPr>
              <a:t> authorization, and application-data exchange.</a:t>
            </a:r>
          </a:p>
        </p:txBody>
      </p:sp>
      <p:sp>
        <p:nvSpPr>
          <p:cNvPr id="5" name="PDF_TEXT_GROUP_8"/>
          <p:cNvSpPr txBox="1"/>
          <p:nvPr/>
        </p:nvSpPr>
        <p:spPr>
          <a:xfrm>
            <a:off x="1618972" y="2894990"/>
            <a:ext cx="1132950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Some operations discover a currently willing Provider; others must retain an</a:t>
            </a:r>
            <a:r>
              <a:rPr sz="2710" b="0" i="0">
                <a:solidFill>
                  <a:srgbClr val="000000"/>
                </a:solidFill>
                <a:latin typeface="Latin Modern Sans"/>
              </a:rPr>
              <a:t> already selected Provider.</a:t>
            </a:r>
          </a:p>
        </p:txBody>
      </p:sp>
      <p:sp>
        <p:nvSpPr>
          <p:cNvPr id="6" name="PDF_TEXT_GROUP_9"/>
          <p:cNvSpPr txBox="1"/>
          <p:nvPr/>
        </p:nvSpPr>
        <p:spPr>
          <a:xfrm>
            <a:off x="1618972" y="3867257"/>
            <a:ext cx="1223140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Applications must associate permissions, execution state and exchanged data with</a:t>
            </a:r>
            <a:r>
              <a:rPr sz="2710" b="0" i="0">
                <a:solidFill>
                  <a:srgbClr val="000000"/>
                </a:solidFill>
                <a:latin typeface="Latin Modern Sans"/>
              </a:rPr>
              <a:t> the requested operation.</a:t>
            </a:r>
          </a:p>
        </p:txBody>
      </p:sp>
      <p:sp>
        <p:nvSpPr>
          <p:cNvPr id="7" name="PDF_TEXT_GROUP_10"/>
          <p:cNvSpPr txBox="1"/>
          <p:nvPr/>
        </p:nvSpPr>
        <p:spPr>
          <a:xfrm>
            <a:off x="1618972" y="4839524"/>
            <a:ext cx="1281381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Changes in service availability, resources and connectivity add further challenges.</a:t>
            </a:r>
          </a:p>
        </p:txBody>
      </p:sp>
      <p:sp>
        <p:nvSpPr>
          <p:cNvPr id="8" name="PDF_TEXT_GROUP_11"/>
          <p:cNvSpPr txBox="1"/>
          <p:nvPr/>
        </p:nvSpPr>
        <p:spPr>
          <a:xfrm>
            <a:off x="1143656" y="5995374"/>
            <a:ext cx="122891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Research goal: a reusable service protocol. UAV and inference applications provide</a:t>
            </a:r>
            <a:r>
              <a:rPr sz="2710" b="0" i="0">
                <a:solidFill>
                  <a:srgbClr val="000000"/>
                </a:solidFill>
                <a:latin typeface="Latin Modern Sans"/>
              </a:rPr>
              <a:t> validation cases, not limits on the framework’s intended scope.</a:t>
            </a:r>
          </a:p>
        </p:txBody>
      </p:sp>
      <p:sp>
        <p:nvSpPr>
          <p:cNvPr id="9" name="PDF_TEXT_GROUP_1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6"/>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2/53</a:t>
            </a:r>
          </a:p>
        </p:txBody>
      </p:sp>
      <p:sp>
        <p:nvSpPr>
          <p:cNvPr id="14" name="PDF_BULLET_SPAN_13"/>
          <p:cNvSpPr/>
          <p:nvPr/>
        </p:nvSpPr>
        <p:spPr>
          <a:xfrm rot="5400000">
            <a:off x="1207424" y="298078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6"/>
          <p:cNvSpPr/>
          <p:nvPr/>
        </p:nvSpPr>
        <p:spPr>
          <a:xfrm rot="5400000">
            <a:off x="1207424" y="39530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9"/>
          <p:cNvSpPr/>
          <p:nvPr/>
        </p:nvSpPr>
        <p:spPr>
          <a:xfrm rot="5400000">
            <a:off x="1207424" y="49253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1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From Invocation to Collaboration: Two Research Scopes</a:t>
            </a:r>
          </a:p>
        </p:txBody>
      </p:sp>
      <p:sp>
        <p:nvSpPr>
          <p:cNvPr id="4" name="PDF_TEXT_GROUP_18"/>
          <p:cNvSpPr txBox="1"/>
          <p:nvPr/>
        </p:nvSpPr>
        <p:spPr>
          <a:xfrm>
            <a:off x="914808" y="1516780"/>
            <a:ext cx="8371585"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Foundation: evaluate discovery and authorization</a:t>
            </a:r>
          </a:p>
        </p:txBody>
      </p:sp>
      <p:sp>
        <p:nvSpPr>
          <p:cNvPr id="5" name="PDF_TEXT_GROUP_19"/>
          <p:cNvSpPr txBox="1"/>
          <p:nvPr/>
        </p:nvSpPr>
        <p:spPr>
          <a:xfrm>
            <a:off x="914808" y="2085398"/>
            <a:ext cx="12935537"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initial prototype discovers candidates and selects one Provider whose positive ACK</a:t>
            </a:r>
            <a:r>
              <a:rPr sz="2710" b="0" i="0">
                <a:solidFill>
                  <a:srgbClr val="000000"/>
                </a:solidFill>
                <a:latin typeface="Latin Modern Sans"/>
              </a:rPr>
              <a:t> passes validation. Discovery confidentiality, service permissions and management costs</a:t>
            </a:r>
            <a:r>
              <a:rPr sz="2710" b="0" i="0">
                <a:solidFill>
                  <a:srgbClr val="000000"/>
                </a:solidFill>
                <a:latin typeface="Latin Modern Sans"/>
              </a:rPr>
              <a:t> matter even without collaboration.</a:t>
            </a:r>
          </a:p>
        </p:txBody>
      </p:sp>
      <p:sp>
        <p:nvSpPr>
          <p:cNvPr id="6" name="PDF_TEXT_GROUP_20"/>
          <p:cNvSpPr txBox="1"/>
          <p:nvPr/>
        </p:nvSpPr>
        <p:spPr>
          <a:xfrm>
            <a:off x="914808" y="3782721"/>
            <a:ext cx="730759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Extension: coordinate complementary roles</a:t>
            </a:r>
          </a:p>
        </p:txBody>
      </p:sp>
      <p:sp>
        <p:nvSpPr>
          <p:cNvPr id="7" name="PDF_TEXT_GROUP_21"/>
          <p:cNvSpPr txBox="1"/>
          <p:nvPr/>
        </p:nvSpPr>
        <p:spPr>
          <a:xfrm>
            <a:off x="914808" y="4351339"/>
            <a:ext cx="1282688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Some tasks need several Providers with different responsibilities. Separate calls do not</a:t>
            </a:r>
            <a:r>
              <a:rPr sz="2710" b="0" i="0">
                <a:solidFill>
                  <a:srgbClr val="000000"/>
                </a:solidFill>
                <a:latin typeface="Latin Modern Sans"/>
              </a:rPr>
              <a:t> define a shared role assignment or enforce dependencies between them.</a:t>
            </a:r>
          </a:p>
        </p:txBody>
      </p:sp>
      <p:sp>
        <p:nvSpPr>
          <p:cNvPr id="8" name="PDF_TEXT_GROUP_22"/>
          <p:cNvSpPr txBox="1"/>
          <p:nvPr/>
        </p:nvSpPr>
        <p:spPr>
          <a:xfrm>
            <a:off x="1143656" y="6077357"/>
            <a:ext cx="12082827"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Invocation and initial plan-commit mechanisms exist. [28] The proposed research</a:t>
            </a:r>
            <a:r>
              <a:rPr sz="2710" b="0" i="0">
                <a:solidFill>
                  <a:srgbClr val="000000"/>
                </a:solidFill>
                <a:latin typeface="Latin Modern Sans"/>
              </a:rPr>
              <a:t> evaluates authorization choices, completes dependency/recovery rules, and tests</a:t>
            </a:r>
            <a:r>
              <a:rPr sz="2710" b="0" i="0">
                <a:solidFill>
                  <a:srgbClr val="000000"/>
                </a:solidFill>
                <a:latin typeface="Latin Modern Sans"/>
              </a:rPr>
              <a:t> their reuse and cost.</a:t>
            </a:r>
          </a:p>
        </p:txBody>
      </p:sp>
      <p:sp>
        <p:nvSpPr>
          <p:cNvPr id="9" name="PDF_TEXT_GROUP_2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7"/>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2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 Primitives and Service-Level Decisions</a:t>
            </a:r>
          </a:p>
        </p:txBody>
      </p:sp>
      <p:sp>
        <p:nvSpPr>
          <p:cNvPr id="4" name="PDF_TEXT_GROUP_29"/>
          <p:cNvSpPr txBox="1"/>
          <p:nvPr/>
        </p:nvSpPr>
        <p:spPr>
          <a:xfrm>
            <a:off x="1107736" y="1401023"/>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0"/>
          <p:cNvSpPr txBox="1"/>
          <p:nvPr/>
        </p:nvSpPr>
        <p:spPr>
          <a:xfrm>
            <a:off x="6488510" y="1401023"/>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1"/>
          <p:cNvSpPr txBox="1"/>
          <p:nvPr/>
        </p:nvSpPr>
        <p:spPr>
          <a:xfrm>
            <a:off x="1107736" y="1969382"/>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2"/>
          <p:cNvSpPr txBox="1"/>
          <p:nvPr/>
        </p:nvSpPr>
        <p:spPr>
          <a:xfrm>
            <a:off x="6488446" y="1969382"/>
            <a:ext cx="676719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Apply Trust Schema [16] rules to validate signing</a:t>
            </a:r>
            <a:r>
              <a:rPr sz="2371" b="0" i="0">
                <a:solidFill>
                  <a:srgbClr val="000000"/>
                </a:solidFill>
                <a:latin typeface="Latin Modern Sans"/>
              </a:rPr>
              <a:t> authority</a:t>
            </a:r>
          </a:p>
        </p:txBody>
      </p:sp>
      <p:sp>
        <p:nvSpPr>
          <p:cNvPr id="8" name="PDF_TEXT_GROUP_33"/>
          <p:cNvSpPr txBox="1"/>
          <p:nvPr/>
        </p:nvSpPr>
        <p:spPr>
          <a:xfrm>
            <a:off x="1107736" y="2924070"/>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4"/>
          <p:cNvSpPr txBox="1"/>
          <p:nvPr/>
        </p:nvSpPr>
        <p:spPr>
          <a:xfrm>
            <a:off x="6488381" y="2924070"/>
            <a:ext cx="6637783"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task identity, dependencies and deadlines;</a:t>
            </a:r>
            <a:r>
              <a:rPr sz="2371" b="0" i="0">
                <a:solidFill>
                  <a:srgbClr val="000000"/>
                </a:solidFill>
                <a:latin typeface="Latin Modern Sans"/>
              </a:rPr>
              <a:t> caches do not guarantee storage</a:t>
            </a:r>
          </a:p>
        </p:txBody>
      </p:sp>
      <p:sp>
        <p:nvSpPr>
          <p:cNvPr id="10" name="PDF_TEXT_GROUP_35"/>
          <p:cNvSpPr txBox="1"/>
          <p:nvPr/>
        </p:nvSpPr>
        <p:spPr>
          <a:xfrm>
            <a:off x="1107736" y="3878790"/>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36"/>
          <p:cNvSpPr txBox="1"/>
          <p:nvPr/>
        </p:nvSpPr>
        <p:spPr>
          <a:xfrm>
            <a:off x="6488413" y="3878790"/>
            <a:ext cx="731587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names; define service-message transitions</a:t>
            </a:r>
          </a:p>
        </p:txBody>
      </p:sp>
      <p:sp>
        <p:nvSpPr>
          <p:cNvPr id="12" name="PDF_TEXT_GROUP_37"/>
          <p:cNvSpPr txBox="1"/>
          <p:nvPr/>
        </p:nvSpPr>
        <p:spPr>
          <a:xfrm>
            <a:off x="1107736" y="4447149"/>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38"/>
          <p:cNvSpPr txBox="1"/>
          <p:nvPr/>
        </p:nvSpPr>
        <p:spPr>
          <a:xfrm>
            <a:off x="6488446" y="4447149"/>
            <a:ext cx="68682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Encrypt Content for read access; check invocation</a:t>
            </a:r>
            <a:r>
              <a:rPr sz="2371" b="0" i="0">
                <a:solidFill>
                  <a:srgbClr val="000000"/>
                </a:solidFill>
                <a:latin typeface="Latin Modern Sans"/>
              </a:rPr>
              <a:t> permission separately</a:t>
            </a:r>
          </a:p>
        </p:txBody>
      </p:sp>
      <p:sp>
        <p:nvSpPr>
          <p:cNvPr id="14" name="PDF_TEXT_GROUP_39"/>
          <p:cNvSpPr txBox="1"/>
          <p:nvPr/>
        </p:nvSpPr>
        <p:spPr>
          <a:xfrm>
            <a:off x="914808" y="5310119"/>
            <a:ext cx="136086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 Named Data Networking [1]; NAC: Name-based Access Control; ABE: attribute-based encryption; SVS:</a:t>
            </a:r>
          </a:p>
        </p:txBody>
      </p:sp>
      <p:sp>
        <p:nvSpPr>
          <p:cNvPr id="15" name="PDF_TEXT_GROUP_40"/>
          <p:cNvSpPr txBox="1"/>
          <p:nvPr/>
        </p:nvSpPr>
        <p:spPr>
          <a:xfrm>
            <a:off x="914808" y="5799177"/>
            <a:ext cx="231009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State Vector Sync.</a:t>
            </a:r>
          </a:p>
        </p:txBody>
      </p:sp>
      <p:sp>
        <p:nvSpPr>
          <p:cNvPr id="16" name="PDF_TEXT_GROUP_41"/>
          <p:cNvSpPr txBox="1"/>
          <p:nvPr/>
        </p:nvSpPr>
        <p:spPr>
          <a:xfrm>
            <a:off x="1092471" y="6447944"/>
            <a:ext cx="89397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adds service authorization and invocation-state rules.</a:t>
            </a:r>
          </a:p>
        </p:txBody>
      </p:sp>
      <p:sp>
        <p:nvSpPr>
          <p:cNvPr id="17" name="PDF_TEXT_GROUP_4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6"/>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4/53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4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Research Scope: From Application Needs to Checks</a:t>
            </a:r>
          </a:p>
        </p:txBody>
      </p:sp>
      <p:sp>
        <p:nvSpPr>
          <p:cNvPr id="4" name="PDF_TEXT_GROUP_48"/>
          <p:cNvSpPr txBox="1"/>
          <p:nvPr/>
        </p:nvSpPr>
        <p:spPr>
          <a:xfrm>
            <a:off x="914808" y="1135715"/>
            <a:ext cx="113583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Follow the invocation lifecycle, informed by invocation [9,10] and authorization [12]</a:t>
            </a:r>
            <a:r>
              <a:rPr sz="2371" b="0" i="0">
                <a:solidFill>
                  <a:srgbClr val="000000"/>
                </a:solidFill>
                <a:latin typeface="Latin Modern Sans"/>
              </a:rPr>
              <a:t> mechanisms.</a:t>
            </a:r>
          </a:p>
        </p:txBody>
      </p:sp>
      <p:sp>
        <p:nvSpPr>
          <p:cNvPr id="5" name="PDF_TEXT_GROUP_49"/>
          <p:cNvSpPr txBox="1"/>
          <p:nvPr/>
        </p:nvSpPr>
        <p:spPr>
          <a:xfrm>
            <a:off x="1107736" y="2137744"/>
            <a:ext cx="2340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Stage / concern</a:t>
            </a:r>
          </a:p>
        </p:txBody>
      </p:sp>
      <p:sp>
        <p:nvSpPr>
          <p:cNvPr id="6" name="PDF_TEXT_GROUP_50"/>
          <p:cNvSpPr txBox="1"/>
          <p:nvPr/>
        </p:nvSpPr>
        <p:spPr>
          <a:xfrm>
            <a:off x="4695347" y="2137744"/>
            <a:ext cx="20715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Failure to test</a:t>
            </a:r>
          </a:p>
        </p:txBody>
      </p:sp>
      <p:sp>
        <p:nvSpPr>
          <p:cNvPr id="7" name="PDF_TEXT_GROUP_51"/>
          <p:cNvSpPr txBox="1"/>
          <p:nvPr/>
        </p:nvSpPr>
        <p:spPr>
          <a:xfrm>
            <a:off x="11736270" y="2137744"/>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8" name="PDF_TEXT_GROUP_52"/>
          <p:cNvSpPr txBox="1"/>
          <p:nvPr/>
        </p:nvSpPr>
        <p:spPr>
          <a:xfrm>
            <a:off x="1107736" y="2706104"/>
            <a:ext cx="28656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candidates</a:t>
            </a:r>
          </a:p>
        </p:txBody>
      </p:sp>
      <p:sp>
        <p:nvSpPr>
          <p:cNvPr id="9" name="PDF_TEXT_GROUP_53"/>
          <p:cNvSpPr txBox="1"/>
          <p:nvPr/>
        </p:nvSpPr>
        <p:spPr>
          <a:xfrm>
            <a:off x="4695454" y="2706104"/>
            <a:ext cx="630789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Ineligible candidate or unauthorized descriptor</a:t>
            </a:r>
            <a:r>
              <a:rPr sz="2371" b="0" i="0">
                <a:solidFill>
                  <a:srgbClr val="000000"/>
                </a:solidFill>
                <a:latin typeface="Latin Modern Sans"/>
              </a:rPr>
              <a:t> access</a:t>
            </a:r>
          </a:p>
        </p:txBody>
      </p:sp>
      <p:sp>
        <p:nvSpPr>
          <p:cNvPr id="10" name="PDF_TEXT_GROUP_54"/>
          <p:cNvSpPr txBox="1"/>
          <p:nvPr/>
        </p:nvSpPr>
        <p:spPr>
          <a:xfrm>
            <a:off x="11736377" y="2706104"/>
            <a:ext cx="6986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1, 3</a:t>
            </a:r>
          </a:p>
        </p:txBody>
      </p:sp>
      <p:sp>
        <p:nvSpPr>
          <p:cNvPr id="11" name="PDF_TEXT_GROUP_55"/>
          <p:cNvSpPr txBox="1"/>
          <p:nvPr/>
        </p:nvSpPr>
        <p:spPr>
          <a:xfrm>
            <a:off x="1107736" y="3660791"/>
            <a:ext cx="235100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 execution</a:t>
            </a:r>
          </a:p>
        </p:txBody>
      </p:sp>
      <p:sp>
        <p:nvSpPr>
          <p:cNvPr id="12" name="PDF_TEXT_GROUP_56"/>
          <p:cNvSpPr txBox="1"/>
          <p:nvPr/>
        </p:nvSpPr>
        <p:spPr>
          <a:xfrm>
            <a:off x="4695283" y="3660791"/>
            <a:ext cx="689335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Wrong Provider, unauthorized or repeated start</a:t>
            </a:r>
          </a:p>
        </p:txBody>
      </p:sp>
      <p:sp>
        <p:nvSpPr>
          <p:cNvPr id="13" name="PDF_TEXT_GROUP_57"/>
          <p:cNvSpPr txBox="1"/>
          <p:nvPr/>
        </p:nvSpPr>
        <p:spPr>
          <a:xfrm>
            <a:off x="11736173" y="3660791"/>
            <a:ext cx="6989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1, 3</a:t>
            </a:r>
          </a:p>
        </p:txBody>
      </p:sp>
      <p:sp>
        <p:nvSpPr>
          <p:cNvPr id="14" name="PDF_TEXT_GROUP_58"/>
          <p:cNvSpPr txBox="1"/>
          <p:nvPr/>
        </p:nvSpPr>
        <p:spPr>
          <a:xfrm>
            <a:off x="1107736" y="4229151"/>
            <a:ext cx="15895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 inputs</a:t>
            </a:r>
          </a:p>
        </p:txBody>
      </p:sp>
      <p:sp>
        <p:nvSpPr>
          <p:cNvPr id="15" name="PDF_TEXT_GROUP_59"/>
          <p:cNvSpPr txBox="1"/>
          <p:nvPr/>
        </p:nvSpPr>
        <p:spPr>
          <a:xfrm>
            <a:off x="4487086" y="4229151"/>
            <a:ext cx="5627404" cy="38555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Wrong producer, object or dependency</a:t>
            </a:r>
          </a:p>
        </p:txBody>
      </p:sp>
      <p:sp>
        <p:nvSpPr>
          <p:cNvPr id="16" name="PDF_TEXT_GROUP_60"/>
          <p:cNvSpPr txBox="1"/>
          <p:nvPr/>
        </p:nvSpPr>
        <p:spPr>
          <a:xfrm>
            <a:off x="11736495" y="4229151"/>
            <a:ext cx="6630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1–3</a:t>
            </a:r>
          </a:p>
        </p:txBody>
      </p:sp>
      <p:sp>
        <p:nvSpPr>
          <p:cNvPr id="17" name="PDF_TEXT_GROUP_61"/>
          <p:cNvSpPr txBox="1"/>
          <p:nvPr/>
        </p:nvSpPr>
        <p:spPr>
          <a:xfrm>
            <a:off x="1107736" y="4797510"/>
            <a:ext cx="230200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Close or replace</a:t>
            </a:r>
          </a:p>
        </p:txBody>
      </p:sp>
      <p:sp>
        <p:nvSpPr>
          <p:cNvPr id="18" name="PDF_TEXT_GROUP_62"/>
          <p:cNvSpPr txBox="1"/>
          <p:nvPr/>
        </p:nvSpPr>
        <p:spPr>
          <a:xfrm>
            <a:off x="4695476" y="4797510"/>
            <a:ext cx="600725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results advance the wrong execution</a:t>
            </a:r>
          </a:p>
        </p:txBody>
      </p:sp>
      <p:sp>
        <p:nvSpPr>
          <p:cNvPr id="19" name="PDF_TEXT_GROUP_63"/>
          <p:cNvSpPr txBox="1"/>
          <p:nvPr/>
        </p:nvSpPr>
        <p:spPr>
          <a:xfrm>
            <a:off x="11736109" y="4797510"/>
            <a:ext cx="6989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2, 3</a:t>
            </a:r>
          </a:p>
        </p:txBody>
      </p:sp>
      <p:sp>
        <p:nvSpPr>
          <p:cNvPr id="20" name="PDF_TEXT_GROUP_64"/>
          <p:cNvSpPr txBox="1"/>
          <p:nvPr/>
        </p:nvSpPr>
        <p:spPr>
          <a:xfrm>
            <a:off x="1107736" y="5365870"/>
            <a:ext cx="2847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Change permissions</a:t>
            </a:r>
          </a:p>
        </p:txBody>
      </p:sp>
      <p:sp>
        <p:nvSpPr>
          <p:cNvPr id="21" name="PDF_TEXT_GROUP_65"/>
          <p:cNvSpPr txBox="1"/>
          <p:nvPr/>
        </p:nvSpPr>
        <p:spPr>
          <a:xfrm>
            <a:off x="4695283" y="5365870"/>
            <a:ext cx="71875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Missed grant; withdrawn permission still accepted</a:t>
            </a:r>
          </a:p>
        </p:txBody>
      </p:sp>
      <p:sp>
        <p:nvSpPr>
          <p:cNvPr id="22" name="PDF_TEXT_GROUP_66"/>
          <p:cNvSpPr txBox="1"/>
          <p:nvPr/>
        </p:nvSpPr>
        <p:spPr>
          <a:xfrm>
            <a:off x="11736270" y="5365870"/>
            <a:ext cx="6986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1, 3</a:t>
            </a:r>
          </a:p>
        </p:txBody>
      </p:sp>
      <p:sp>
        <p:nvSpPr>
          <p:cNvPr id="23" name="PDF_TEXT_GROUP_67"/>
          <p:cNvSpPr txBox="1"/>
          <p:nvPr/>
        </p:nvSpPr>
        <p:spPr>
          <a:xfrm>
            <a:off x="1123808" y="6247266"/>
            <a:ext cx="1176998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Test applicable rows in the declared UAV and inference workflows. Permission changes</a:t>
            </a:r>
            <a:r>
              <a:rPr sz="2371" b="0" i="0">
                <a:solidFill>
                  <a:srgbClr val="000000"/>
                </a:solidFill>
                <a:latin typeface="Latin Modern Sans"/>
              </a:rPr>
              <a:t> affect multiple stages.</a:t>
            </a:r>
          </a:p>
        </p:txBody>
      </p:sp>
      <p:sp>
        <p:nvSpPr>
          <p:cNvPr id="24" name="PDF_TEXT_GROUP_6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5" name="PDF_TEXT_GROUP_6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6" name="PDF_TEXT_GROUP_7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7" name="PDF_TEXT_GROUP_7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8" name="PDF_TEXT_GROUP_72"/>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5/53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7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74"/>
          <p:cNvSpPr txBox="1"/>
          <p:nvPr/>
        </p:nvSpPr>
        <p:spPr>
          <a:xfrm>
            <a:off x="1618972" y="1854409"/>
            <a:ext cx="11746357"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When does ABE permission reuse offer a better cost–protection tradeoff</a:t>
            </a:r>
            <a:r>
              <a:rPr sz="2710" b="0" i="0">
                <a:solidFill>
                  <a:srgbClr val="000000"/>
                </a:solidFill>
                <a:latin typeface="Latin Modern Sans"/>
              </a:rPr>
              <a:t> than complete role-authorized alternatives, as permission scale, overlap,</a:t>
            </a:r>
            <a:r>
              <a:rPr sz="2710" b="0" i="0">
                <a:solidFill>
                  <a:srgbClr val="000000"/>
                </a:solidFill>
                <a:latin typeface="Latin Modern Sans"/>
              </a:rPr>
              <a:t> membership and withdrawals change?</a:t>
            </a:r>
          </a:p>
        </p:txBody>
      </p:sp>
      <p:sp>
        <p:nvSpPr>
          <p:cNvPr id="5" name="PDF_TEXT_GROUP_75"/>
          <p:cNvSpPr txBox="1"/>
          <p:nvPr/>
        </p:nvSpPr>
        <p:spPr>
          <a:xfrm>
            <a:off x="1618972" y="3264547"/>
            <a:ext cx="117462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single-Provider invocation be extended to roles and named</a:t>
            </a:r>
            <a:r>
              <a:rPr sz="2710" b="0" i="0">
                <a:solidFill>
                  <a:srgbClr val="000000"/>
                </a:solidFill>
                <a:latin typeface="Latin Modern Sans"/>
              </a:rPr>
              <a:t> dependencies across Providers, whether Data comes from producers or caches?</a:t>
            </a:r>
          </a:p>
        </p:txBody>
      </p:sp>
      <p:sp>
        <p:nvSpPr>
          <p:cNvPr id="6" name="PDF_TEXT_GROUP_76"/>
          <p:cNvSpPr txBox="1"/>
          <p:nvPr/>
        </p:nvSpPr>
        <p:spPr>
          <a:xfrm>
            <a:off x="1618972" y="4236814"/>
            <a:ext cx="1140692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77"/>
          <p:cNvSpPr txBox="1"/>
          <p:nvPr/>
        </p:nvSpPr>
        <p:spPr>
          <a:xfrm>
            <a:off x="1143656" y="5830501"/>
            <a:ext cx="1195400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RQ1 studies invocation; RQ2 studies collaboration. RQ3 evaluates their benefits</a:t>
            </a:r>
            <a:r>
              <a:rPr sz="2710" b="0" i="0">
                <a:solidFill>
                  <a:srgbClr val="000000"/>
                </a:solidFill>
                <a:latin typeface="Latin Modern Sans"/>
              </a:rPr>
              <a:t> and costs, not another protocol.</a:t>
            </a:r>
          </a:p>
        </p:txBody>
      </p:sp>
      <p:sp>
        <p:nvSpPr>
          <p:cNvPr id="8" name="PDF_TEXT_GROUP_7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7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8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8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82"/>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6/53</a:t>
            </a:r>
          </a:p>
        </p:txBody>
      </p:sp>
      <p:sp>
        <p:nvSpPr>
          <p:cNvPr id="13" name="PDF_BULLET_SPAN_96"/>
          <p:cNvSpPr/>
          <p:nvPr/>
        </p:nvSpPr>
        <p:spPr>
          <a:xfrm rot="5400000">
            <a:off x="1207424" y="19402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101"/>
          <p:cNvSpPr/>
          <p:nvPr/>
        </p:nvSpPr>
        <p:spPr>
          <a:xfrm rot="5400000">
            <a:off x="1207424" y="33503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05"/>
          <p:cNvSpPr/>
          <p:nvPr/>
        </p:nvSpPr>
        <p:spPr>
          <a:xfrm rot="5400000">
            <a:off x="1207424" y="43226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8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Mechanisms and Limits of the Comparison</a:t>
            </a:r>
          </a:p>
        </p:txBody>
      </p:sp>
      <p:sp>
        <p:nvSpPr>
          <p:cNvPr id="4" name="PDF_TEXT_GROUP_84"/>
          <p:cNvSpPr txBox="1"/>
          <p:nvPr/>
        </p:nvSpPr>
        <p:spPr>
          <a:xfrm>
            <a:off x="1107736" y="1188066"/>
            <a:ext cx="31106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Published mechanism</a:t>
            </a:r>
          </a:p>
        </p:txBody>
      </p:sp>
      <p:sp>
        <p:nvSpPr>
          <p:cNvPr id="5" name="PDF_TEXT_GROUP_85"/>
          <p:cNvSpPr txBox="1"/>
          <p:nvPr/>
        </p:nvSpPr>
        <p:spPr>
          <a:xfrm>
            <a:off x="4951601" y="1188066"/>
            <a:ext cx="45400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comparison boundary</a:t>
            </a:r>
          </a:p>
        </p:txBody>
      </p:sp>
      <p:sp>
        <p:nvSpPr>
          <p:cNvPr id="6" name="PDF_TEXT_GROUP_86"/>
          <p:cNvSpPr txBox="1"/>
          <p:nvPr/>
        </p:nvSpPr>
        <p:spPr>
          <a:xfrm>
            <a:off x="1107736" y="1756425"/>
            <a:ext cx="242252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 [10]: signed</a:t>
            </a:r>
            <a:r>
              <a:rPr sz="2371" b="0" i="0">
                <a:solidFill>
                  <a:srgbClr val="000000"/>
                </a:solidFill>
                <a:latin typeface="Latin Modern Sans"/>
              </a:rPr>
              <a:t> invocation</a:t>
            </a:r>
          </a:p>
        </p:txBody>
      </p:sp>
      <p:sp>
        <p:nvSpPr>
          <p:cNvPr id="7" name="PDF_TEXT_GROUP_87"/>
          <p:cNvSpPr txBox="1"/>
          <p:nvPr/>
        </p:nvSpPr>
        <p:spPr>
          <a:xfrm>
            <a:off x="4951637" y="1756425"/>
            <a:ext cx="85251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Caller authorization versus task-specific predecessor checks</a:t>
            </a:r>
          </a:p>
        </p:txBody>
      </p:sp>
      <p:sp>
        <p:nvSpPr>
          <p:cNvPr id="8" name="PDF_TEXT_GROUP_88"/>
          <p:cNvSpPr txBox="1"/>
          <p:nvPr/>
        </p:nvSpPr>
        <p:spPr>
          <a:xfrm>
            <a:off x="1107736" y="2711113"/>
            <a:ext cx="241182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 role</a:t>
            </a:r>
            <a:r>
              <a:rPr sz="2371" b="0" i="0">
                <a:solidFill>
                  <a:srgbClr val="000000"/>
                </a:solidFill>
                <a:latin typeface="Latin Modern Sans"/>
              </a:rPr>
              <a:t> commands</a:t>
            </a:r>
          </a:p>
        </p:txBody>
      </p:sp>
      <p:sp>
        <p:nvSpPr>
          <p:cNvPr id="9" name="PDF_TEXT_GROUP_89"/>
          <p:cNvSpPr txBox="1"/>
          <p:nvPr/>
        </p:nvSpPr>
        <p:spPr>
          <a:xfrm>
            <a:off x="4951637" y="2711113"/>
            <a:ext cx="720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Standing permission versus this task’s assignment</a:t>
            </a:r>
          </a:p>
        </p:txBody>
      </p:sp>
      <p:sp>
        <p:nvSpPr>
          <p:cNvPr id="10" name="PDF_TEXT_GROUP_90"/>
          <p:cNvSpPr txBox="1"/>
          <p:nvPr/>
        </p:nvSpPr>
        <p:spPr>
          <a:xfrm>
            <a:off x="1107736" y="3665800"/>
            <a:ext cx="37125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CFN [33]: dynamic graph</a:t>
            </a:r>
          </a:p>
        </p:txBody>
      </p:sp>
      <p:sp>
        <p:nvSpPr>
          <p:cNvPr id="11" name="PDF_TEXT_GROUP_91"/>
          <p:cNvSpPr txBox="1"/>
          <p:nvPr/>
        </p:nvSpPr>
        <p:spPr>
          <a:xfrm>
            <a:off x="4951408" y="3665800"/>
            <a:ext cx="844567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Internally trusted components versus explicit object-admission</a:t>
            </a:r>
            <a:r>
              <a:rPr sz="2371" b="0" i="0">
                <a:solidFill>
                  <a:srgbClr val="000000"/>
                </a:solidFill>
                <a:latin typeface="Latin Modern Sans"/>
              </a:rPr>
              <a:t> rules</a:t>
            </a:r>
          </a:p>
        </p:txBody>
      </p:sp>
      <p:sp>
        <p:nvSpPr>
          <p:cNvPr id="12" name="PDF_TEXT_GROUP_92"/>
          <p:cNvSpPr txBox="1"/>
          <p:nvPr/>
        </p:nvSpPr>
        <p:spPr>
          <a:xfrm>
            <a:off x="1107736" y="4620488"/>
            <a:ext cx="204004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r>
              <a:rPr sz="2371" b="0" i="0">
                <a:solidFill>
                  <a:srgbClr val="000000"/>
                </a:solidFill>
                <a:latin typeface="Latin Modern Sans"/>
              </a:rPr>
              <a:t> composition</a:t>
            </a:r>
          </a:p>
        </p:txBody>
      </p:sp>
      <p:sp>
        <p:nvSpPr>
          <p:cNvPr id="13" name="PDF_TEXT_GROUP_93"/>
          <p:cNvSpPr txBox="1"/>
          <p:nvPr/>
        </p:nvSpPr>
        <p:spPr>
          <a:xfrm>
            <a:off x="4951637" y="4620488"/>
            <a:ext cx="92637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Caching is prior art; detailed recovery rules still need verification</a:t>
            </a:r>
          </a:p>
        </p:txBody>
      </p:sp>
      <p:sp>
        <p:nvSpPr>
          <p:cNvPr id="14" name="PDF_TEXT_GROUP_94"/>
          <p:cNvSpPr txBox="1"/>
          <p:nvPr/>
        </p:nvSpPr>
        <p:spPr>
          <a:xfrm>
            <a:off x="914808" y="5482721"/>
            <a:ext cx="1071446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 and RICE [9] are computation/invocation precedents.</a:t>
            </a:r>
          </a:p>
        </p:txBody>
      </p:sp>
      <p:sp>
        <p:nvSpPr>
          <p:cNvPr id="15" name="PDF_TEXT_GROUP_95"/>
          <p:cNvSpPr txBox="1"/>
          <p:nvPr/>
        </p:nvSpPr>
        <p:spPr>
          <a:xfrm>
            <a:off x="1123808" y="6329605"/>
            <a:ext cx="122884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focus: turn post-ACK assignments into input-acceptance rules, including explicit</a:t>
            </a:r>
            <a:r>
              <a:rPr sz="2371" b="0" i="0">
                <a:solidFill>
                  <a:srgbClr val="000000"/>
                </a:solidFill>
                <a:latin typeface="Latin Modern Sans"/>
              </a:rPr>
              <a:t> artifact reuse during replacement.</a:t>
            </a:r>
          </a:p>
        </p:txBody>
      </p:sp>
      <p:sp>
        <p:nvSpPr>
          <p:cNvPr id="16" name="PDF_TEXT_GROUP_9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9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9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9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10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7/53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10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Research Hypothesis and Expected Contributions</a:t>
            </a:r>
          </a:p>
        </p:txBody>
      </p:sp>
      <p:sp>
        <p:nvSpPr>
          <p:cNvPr id="4" name="PDF_TEXT_GROUP_102"/>
          <p:cNvSpPr txBox="1"/>
          <p:nvPr/>
        </p:nvSpPr>
        <p:spPr>
          <a:xfrm>
            <a:off x="914808" y="1183025"/>
            <a:ext cx="117352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1" i="0">
                <a:solidFill>
                  <a:srgbClr val="000000"/>
                </a:solidFill>
                <a:latin typeface="Latin Modern Sans"/>
              </a:rPr>
              <a:t>Hypothesis:</a:t>
            </a:r>
            <a:r>
              <a:rPr sz="2371" b="0" i="0">
                <a:solidFill>
                  <a:srgbClr val="000000"/>
                </a:solidFill>
                <a:latin typeface="Latin Modern Sans"/>
              </a:rPr>
              <a:t> A common named-Data protocol can separate discovery from authorized</a:t>
            </a:r>
            <a:r>
              <a:rPr sz="2371" b="0" i="0">
                <a:solidFill>
                  <a:srgbClr val="000000"/>
                </a:solidFill>
                <a:latin typeface="Latin Modern Sans"/>
              </a:rPr>
              <a:t> execution and enforce runtime role assignments when intermediate objects are used.</a:t>
            </a:r>
          </a:p>
        </p:txBody>
      </p:sp>
      <p:sp>
        <p:nvSpPr>
          <p:cNvPr id="5" name="PDF_TEXT_GROUP_103"/>
          <p:cNvSpPr txBox="1"/>
          <p:nvPr/>
        </p:nvSpPr>
        <p:spPr>
          <a:xfrm>
            <a:off x="1107736" y="2339262"/>
            <a:ext cx="28589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knowledge</a:t>
            </a:r>
          </a:p>
        </p:txBody>
      </p:sp>
      <p:sp>
        <p:nvSpPr>
          <p:cNvPr id="6" name="PDF_TEXT_GROUP_104"/>
          <p:cNvSpPr txBox="1"/>
          <p:nvPr/>
        </p:nvSpPr>
        <p:spPr>
          <a:xfrm>
            <a:off x="6360512" y="2339262"/>
            <a:ext cx="27354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Evidence to deliver</a:t>
            </a:r>
          </a:p>
        </p:txBody>
      </p:sp>
      <p:sp>
        <p:nvSpPr>
          <p:cNvPr id="7" name="PDF_TEXT_GROUP_105"/>
          <p:cNvSpPr txBox="1"/>
          <p:nvPr/>
        </p:nvSpPr>
        <p:spPr>
          <a:xfrm>
            <a:off x="1107736" y="2907621"/>
            <a:ext cx="352348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When permission reuse is</a:t>
            </a:r>
            <a:r>
              <a:rPr sz="2371" b="0" i="0">
                <a:solidFill>
                  <a:srgbClr val="000000"/>
                </a:solidFill>
                <a:latin typeface="Latin Modern Sans"/>
              </a:rPr>
              <a:t> worthwhile</a:t>
            </a:r>
          </a:p>
        </p:txBody>
      </p:sp>
      <p:sp>
        <p:nvSpPr>
          <p:cNvPr id="8" name="PDF_TEXT_GROUP_106"/>
          <p:cNvSpPr txBox="1"/>
          <p:nvPr/>
        </p:nvSpPr>
        <p:spPr>
          <a:xfrm>
            <a:off x="6360480" y="2907621"/>
            <a:ext cx="695483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Permission overlap, churn and lifecycle costs under</a:t>
            </a:r>
            <a:r>
              <a:rPr sz="2371" b="0" i="0">
                <a:solidFill>
                  <a:srgbClr val="000000"/>
                </a:solidFill>
                <a:latin typeface="Latin Modern Sans"/>
              </a:rPr>
              <a:t> equal protection</a:t>
            </a:r>
          </a:p>
        </p:txBody>
      </p:sp>
      <p:sp>
        <p:nvSpPr>
          <p:cNvPr id="9" name="PDF_TEXT_GROUP_107"/>
          <p:cNvSpPr txBox="1"/>
          <p:nvPr/>
        </p:nvSpPr>
        <p:spPr>
          <a:xfrm>
            <a:off x="1107736" y="3862309"/>
            <a:ext cx="42132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Which task-specific checks are</a:t>
            </a:r>
            <a:r>
              <a:rPr sz="2371" b="0" i="0">
                <a:solidFill>
                  <a:srgbClr val="000000"/>
                </a:solidFill>
                <a:latin typeface="Latin Modern Sans"/>
              </a:rPr>
              <a:t> needed</a:t>
            </a:r>
          </a:p>
        </p:txBody>
      </p:sp>
      <p:sp>
        <p:nvSpPr>
          <p:cNvPr id="10" name="PDF_TEXT_GROUP_108"/>
          <p:cNvSpPr txBox="1"/>
          <p:nvPr/>
        </p:nvSpPr>
        <p:spPr>
          <a:xfrm>
            <a:off x="6360480" y="3862309"/>
            <a:ext cx="708187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Valid completion; wrong-role/edge and replacement</a:t>
            </a:r>
            <a:r>
              <a:rPr sz="2371" b="0" i="0">
                <a:solidFill>
                  <a:srgbClr val="000000"/>
                </a:solidFill>
                <a:latin typeface="Latin Modern Sans"/>
              </a:rPr>
              <a:t> tests</a:t>
            </a:r>
          </a:p>
        </p:txBody>
      </p:sp>
      <p:sp>
        <p:nvSpPr>
          <p:cNvPr id="11" name="PDF_TEXT_GROUP_109"/>
          <p:cNvSpPr txBox="1"/>
          <p:nvPr/>
        </p:nvSpPr>
        <p:spPr>
          <a:xfrm>
            <a:off x="1107736" y="4816996"/>
            <a:ext cx="3821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Which rules can be shared</a:t>
            </a:r>
          </a:p>
        </p:txBody>
      </p:sp>
      <p:sp>
        <p:nvSpPr>
          <p:cNvPr id="12" name="PDF_TEXT_GROUP_110"/>
          <p:cNvSpPr txBox="1"/>
          <p:nvPr/>
        </p:nvSpPr>
        <p:spPr>
          <a:xfrm>
            <a:off x="6360319" y="4816996"/>
            <a:ext cx="615996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Common Core checks; application validators;</a:t>
            </a:r>
            <a:r>
              <a:rPr sz="2371" b="0" i="0">
                <a:solidFill>
                  <a:srgbClr val="000000"/>
                </a:solidFill>
                <a:latin typeface="Latin Modern Sans"/>
              </a:rPr>
              <a:t> matched utility tests</a:t>
            </a:r>
          </a:p>
        </p:txBody>
      </p:sp>
      <p:sp>
        <p:nvSpPr>
          <p:cNvPr id="13" name="PDF_TEXT_GROUP_111"/>
          <p:cNvSpPr txBox="1"/>
          <p:nvPr/>
        </p:nvSpPr>
        <p:spPr>
          <a:xfrm>
            <a:off x="1123808" y="6084721"/>
            <a:ext cx="1251264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Overall contribution: an evaluated service framework for invocation, named-object exchange</a:t>
            </a:r>
            <a:r>
              <a:rPr sz="2371" b="0" i="0">
                <a:solidFill>
                  <a:srgbClr val="000000"/>
                </a:solidFill>
                <a:latin typeface="Latin Modern Sans"/>
              </a:rPr>
              <a:t> and collaboration across UAV and inference applications.</a:t>
            </a:r>
          </a:p>
        </p:txBody>
      </p:sp>
      <p:sp>
        <p:nvSpPr>
          <p:cNvPr id="14" name="PDF_TEXT_GROUP_11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11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11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11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116"/>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8/53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1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118"/>
          <p:cNvSpPr txBox="1"/>
          <p:nvPr/>
        </p:nvSpPr>
        <p:spPr>
          <a:xfrm>
            <a:off x="1618972" y="1843196"/>
            <a:ext cx="109281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 service and selects a Provider; the extension also assigns</a:t>
            </a:r>
            <a:r>
              <a:rPr sz="2710" b="0" i="0">
                <a:solidFill>
                  <a:srgbClr val="000000"/>
                </a:solidFill>
                <a:latin typeface="Latin Modern Sans"/>
              </a:rPr>
              <a:t> collaboration roles.</a:t>
            </a:r>
          </a:p>
        </p:txBody>
      </p:sp>
      <p:sp>
        <p:nvSpPr>
          <p:cNvPr id="5" name="PDF_TEXT_GROUP_119"/>
          <p:cNvSpPr txBox="1"/>
          <p:nvPr/>
        </p:nvSpPr>
        <p:spPr>
          <a:xfrm>
            <a:off x="1618972" y="2815463"/>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120"/>
          <p:cNvSpPr txBox="1"/>
          <p:nvPr/>
        </p:nvSpPr>
        <p:spPr>
          <a:xfrm>
            <a:off x="1618972" y="3349891"/>
            <a:ext cx="109315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121"/>
          <p:cNvSpPr txBox="1"/>
          <p:nvPr/>
        </p:nvSpPr>
        <p:spPr>
          <a:xfrm>
            <a:off x="1618972" y="4322190"/>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122"/>
          <p:cNvSpPr txBox="1"/>
          <p:nvPr/>
        </p:nvSpPr>
        <p:spPr>
          <a:xfrm>
            <a:off x="1143656" y="5847305"/>
            <a:ext cx="124779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Enrollment establishes identities and service permissions. The User then discovers</a:t>
            </a:r>
            <a:r>
              <a:rPr sz="2710" b="0" i="0">
                <a:solidFill>
                  <a:srgbClr val="000000"/>
                </a:solidFill>
                <a:latin typeface="Latin Modern Sans"/>
              </a:rPr>
              <a:t> which authorized Providers are currently willing and selects participants for the task.</a:t>
            </a:r>
          </a:p>
        </p:txBody>
      </p:sp>
      <p:sp>
        <p:nvSpPr>
          <p:cNvPr id="9" name="PDF_TEXT_GROUP_12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2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2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2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27"/>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9/53</a:t>
            </a:r>
          </a:p>
        </p:txBody>
      </p:sp>
      <p:sp>
        <p:nvSpPr>
          <p:cNvPr id="14" name="PDF_BULLET_SPAN_164"/>
          <p:cNvSpPr/>
          <p:nvPr/>
        </p:nvSpPr>
        <p:spPr>
          <a:xfrm rot="5400000">
            <a:off x="1207424" y="19289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67"/>
          <p:cNvSpPr/>
          <p:nvPr/>
        </p:nvSpPr>
        <p:spPr>
          <a:xfrm rot="5400000">
            <a:off x="1207424" y="290125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69"/>
          <p:cNvSpPr/>
          <p:nvPr/>
        </p:nvSpPr>
        <p:spPr>
          <a:xfrm rot="5400000">
            <a:off x="1207424" y="34356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72"/>
          <p:cNvSpPr/>
          <p:nvPr/>
        </p:nvSpPr>
        <p:spPr>
          <a:xfrm rot="5400000">
            <a:off x="1207424" y="440798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Invocation Overview: Request a Timely Aerial Image</a:t>
            </a:r>
          </a:p>
        </p:txBody>
      </p:sp>
      <p:sp>
        <p:nvSpPr>
          <p:cNvPr id="4" name="PDF_TEXT_GROUP_129"/>
          <p:cNvSpPr txBox="1"/>
          <p:nvPr/>
        </p:nvSpPr>
        <p:spPr>
          <a:xfrm>
            <a:off x="914808" y="1747862"/>
            <a:ext cx="1367996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 operator requests an aerial image. Authorized camera Providers A and B consider the task.</a:t>
            </a:r>
          </a:p>
        </p:txBody>
      </p:sp>
      <p:sp>
        <p:nvSpPr>
          <p:cNvPr id="5" name="PDF_TEXT_GROUP_130"/>
          <p:cNvSpPr txBox="1"/>
          <p:nvPr/>
        </p:nvSpPr>
        <p:spPr>
          <a:xfrm>
            <a:off x="2013670" y="2804762"/>
            <a:ext cx="777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a:t>
            </a:r>
          </a:p>
        </p:txBody>
      </p:sp>
      <p:sp>
        <p:nvSpPr>
          <p:cNvPr id="6" name="PDF_TEXT_GROUP_131"/>
          <p:cNvSpPr txBox="1"/>
          <p:nvPr/>
        </p:nvSpPr>
        <p:spPr>
          <a:xfrm>
            <a:off x="11156755" y="2804762"/>
            <a:ext cx="252331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Selected Provider</a:t>
            </a:r>
          </a:p>
        </p:txBody>
      </p:sp>
      <p:sp>
        <p:nvSpPr>
          <p:cNvPr id="7" name="PDF_TEXT_GROUP_132"/>
          <p:cNvSpPr txBox="1"/>
          <p:nvPr/>
        </p:nvSpPr>
        <p:spPr>
          <a:xfrm>
            <a:off x="4913878" y="2836075"/>
            <a:ext cx="16525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Candidates</a:t>
            </a:r>
          </a:p>
        </p:txBody>
      </p:sp>
      <p:sp>
        <p:nvSpPr>
          <p:cNvPr id="8" name="PDF_TEXT_GROUP_133"/>
          <p:cNvSpPr txBox="1"/>
          <p:nvPr/>
        </p:nvSpPr>
        <p:spPr>
          <a:xfrm>
            <a:off x="8688843" y="2836075"/>
            <a:ext cx="777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a:t>
            </a:r>
          </a:p>
        </p:txBody>
      </p:sp>
      <p:sp>
        <p:nvSpPr>
          <p:cNvPr id="9" name="PDF_TEXT_GROUP_134"/>
          <p:cNvSpPr txBox="1"/>
          <p:nvPr/>
        </p:nvSpPr>
        <p:spPr>
          <a:xfrm>
            <a:off x="1397450" y="3191090"/>
            <a:ext cx="20101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 Data</a:t>
            </a:r>
          </a:p>
        </p:txBody>
      </p:sp>
      <p:sp>
        <p:nvSpPr>
          <p:cNvPr id="10" name="PDF_TEXT_GROUP_135"/>
          <p:cNvSpPr txBox="1"/>
          <p:nvPr/>
        </p:nvSpPr>
        <p:spPr>
          <a:xfrm>
            <a:off x="11321799" y="3191122"/>
            <a:ext cx="218706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 Data</a:t>
            </a:r>
          </a:p>
        </p:txBody>
      </p:sp>
      <p:sp>
        <p:nvSpPr>
          <p:cNvPr id="11" name="PDF_TEXT_GROUP_136"/>
          <p:cNvSpPr txBox="1"/>
          <p:nvPr/>
        </p:nvSpPr>
        <p:spPr>
          <a:xfrm>
            <a:off x="4950475" y="3222403"/>
            <a:ext cx="1579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 Data</a:t>
            </a:r>
          </a:p>
        </p:txBody>
      </p:sp>
      <p:sp>
        <p:nvSpPr>
          <p:cNvPr id="12" name="PDF_TEXT_GROUP_137"/>
          <p:cNvSpPr txBox="1"/>
          <p:nvPr/>
        </p:nvSpPr>
        <p:spPr>
          <a:xfrm>
            <a:off x="8003173" y="3222403"/>
            <a:ext cx="21490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 Data</a:t>
            </a:r>
          </a:p>
        </p:txBody>
      </p:sp>
      <p:sp>
        <p:nvSpPr>
          <p:cNvPr id="13" name="PDF_TEXT_GROUP_138"/>
          <p:cNvSpPr txBox="1"/>
          <p:nvPr/>
        </p:nvSpPr>
        <p:spPr>
          <a:xfrm>
            <a:off x="1618972" y="4388562"/>
            <a:ext cx="94582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returns a positive ACK; B is busy and returns a negative ACK.</a:t>
            </a:r>
          </a:p>
        </p:txBody>
      </p:sp>
      <p:sp>
        <p:nvSpPr>
          <p:cNvPr id="14" name="PDF_TEXT_GROUP_139"/>
          <p:cNvSpPr txBox="1"/>
          <p:nvPr/>
        </p:nvSpPr>
        <p:spPr>
          <a:xfrm>
            <a:off x="1618972" y="4968070"/>
            <a:ext cx="9770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 User selects A; A checks Selection before capturing the image.</a:t>
            </a:r>
          </a:p>
        </p:txBody>
      </p:sp>
      <p:sp>
        <p:nvSpPr>
          <p:cNvPr id="15" name="PDF_TEXT_GROUP_140"/>
          <p:cNvSpPr txBox="1"/>
          <p:nvPr/>
        </p:nvSpPr>
        <p:spPr>
          <a:xfrm>
            <a:off x="1123808" y="5898585"/>
            <a:ext cx="11642697"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Arrows show application order. Data is retrieved with Interests; neither an ACK nor a</a:t>
            </a:r>
            <a:r>
              <a:rPr sz="2371" b="0" i="0">
                <a:solidFill>
                  <a:srgbClr val="000000"/>
                </a:solidFill>
                <a:latin typeface="Latin Modern Sans"/>
              </a:rPr>
              <a:t> network delivery alone authorizes execution.</a:t>
            </a:r>
          </a:p>
        </p:txBody>
      </p:sp>
      <p:sp>
        <p:nvSpPr>
          <p:cNvPr id="16" name="PDF_TEXT_GROUP_14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14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14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14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14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10/53</a:t>
            </a:r>
          </a:p>
        </p:txBody>
      </p:sp>
      <p:sp>
        <p:nvSpPr>
          <p:cNvPr id="21" name="PDF_BULLET_SPAN_192"/>
          <p:cNvSpPr/>
          <p:nvPr/>
        </p:nvSpPr>
        <p:spPr>
          <a:xfrm rot="5400000">
            <a:off x="1227851" y="4466909"/>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194"/>
          <p:cNvSpPr/>
          <p:nvPr/>
        </p:nvSpPr>
        <p:spPr>
          <a:xfrm rot="5400000">
            <a:off x="1227851" y="5046417"/>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4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Single-Provider Invocation: Four Named Data Types</a:t>
            </a:r>
          </a:p>
        </p:txBody>
      </p:sp>
      <p:sp>
        <p:nvSpPr>
          <p:cNvPr id="4" name="PDF_TEXT_GROUP_147"/>
          <p:cNvSpPr txBox="1"/>
          <p:nvPr/>
        </p:nvSpPr>
        <p:spPr>
          <a:xfrm>
            <a:off x="1107736" y="1291345"/>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48"/>
          <p:cNvSpPr txBox="1"/>
          <p:nvPr/>
        </p:nvSpPr>
        <p:spPr>
          <a:xfrm>
            <a:off x="3414434" y="1291345"/>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49"/>
          <p:cNvSpPr txBox="1"/>
          <p:nvPr/>
        </p:nvSpPr>
        <p:spPr>
          <a:xfrm>
            <a:off x="1107736" y="1859705"/>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50"/>
          <p:cNvSpPr txBox="1"/>
          <p:nvPr/>
        </p:nvSpPr>
        <p:spPr>
          <a:xfrm>
            <a:off x="3414531" y="1859705"/>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RequestNonce</a:t>
            </a:r>
          </a:p>
        </p:txBody>
      </p:sp>
      <p:sp>
        <p:nvSpPr>
          <p:cNvPr id="8" name="PDF_TEXT_GROUP_151"/>
          <p:cNvSpPr txBox="1"/>
          <p:nvPr/>
        </p:nvSpPr>
        <p:spPr>
          <a:xfrm>
            <a:off x="1107736" y="2814392"/>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52"/>
          <p:cNvSpPr txBox="1"/>
          <p:nvPr/>
        </p:nvSpPr>
        <p:spPr>
          <a:xfrm>
            <a:off x="3414606" y="2814392"/>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ProviderChallenge</a:t>
            </a:r>
          </a:p>
        </p:txBody>
      </p:sp>
      <p:sp>
        <p:nvSpPr>
          <p:cNvPr id="10" name="PDF_TEXT_GROUP_153"/>
          <p:cNvSpPr txBox="1"/>
          <p:nvPr/>
        </p:nvSpPr>
        <p:spPr>
          <a:xfrm>
            <a:off x="1107736" y="3769079"/>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54"/>
          <p:cNvSpPr txBox="1"/>
          <p:nvPr/>
        </p:nvSpPr>
        <p:spPr>
          <a:xfrm>
            <a:off x="3414531" y="3769079"/>
            <a:ext cx="891892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 selected execution; provide input/references and protected</a:t>
            </a:r>
            <a:r>
              <a:rPr sz="2371" b="0" i="0">
                <a:solidFill>
                  <a:srgbClr val="000000"/>
                </a:solidFill>
                <a:latin typeface="Latin Modern Sans"/>
              </a:rPr>
              <a:t> request-scoped keys; constructed using ProviderChallenge</a:t>
            </a:r>
          </a:p>
        </p:txBody>
      </p:sp>
      <p:sp>
        <p:nvSpPr>
          <p:cNvPr id="12" name="PDF_TEXT_GROUP_155"/>
          <p:cNvSpPr txBox="1"/>
          <p:nvPr/>
        </p:nvSpPr>
        <p:spPr>
          <a:xfrm>
            <a:off x="1107736" y="4723767"/>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56"/>
          <p:cNvSpPr txBox="1"/>
          <p:nvPr/>
        </p:nvSpPr>
        <p:spPr>
          <a:xfrm>
            <a:off x="3414595" y="4723767"/>
            <a:ext cx="9595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Return status, results or result references; the User still validates them</a:t>
            </a:r>
            <a:r>
              <a:rPr sz="2371" b="0" i="0">
                <a:solidFill>
                  <a:srgbClr val="000000"/>
                </a:solidFill>
                <a:latin typeface="Latin Modern Sans"/>
              </a:rPr>
              <a:t> before use</a:t>
            </a:r>
          </a:p>
        </p:txBody>
      </p:sp>
      <p:sp>
        <p:nvSpPr>
          <p:cNvPr id="14" name="PDF_TEXT_GROUP_157"/>
          <p:cNvSpPr txBox="1"/>
          <p:nvPr/>
        </p:nvSpPr>
        <p:spPr>
          <a:xfrm>
            <a:off x="1123808" y="5991492"/>
            <a:ext cx="120696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Data. The Provider checks Selection before</a:t>
            </a:r>
            <a:r>
              <a:rPr sz="2371" b="0" i="0">
                <a:solidFill>
                  <a:srgbClr val="000000"/>
                </a:solidFill>
                <a:latin typeface="Latin Modern Sans"/>
              </a:rPr>
              <a:t> execution; a positive ACK alone does not start the task.</a:t>
            </a:r>
          </a:p>
        </p:txBody>
      </p:sp>
      <p:sp>
        <p:nvSpPr>
          <p:cNvPr id="15" name="PDF_TEXT_GROUP_15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5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6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6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6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11/53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6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Request: Discovery Descriptor; Selection: Task Input</a:t>
            </a:r>
          </a:p>
        </p:txBody>
      </p:sp>
      <p:sp>
        <p:nvSpPr>
          <p:cNvPr id="4" name="PDF_TEXT_GROUP_164"/>
          <p:cNvSpPr txBox="1"/>
          <p:nvPr/>
        </p:nvSpPr>
        <p:spPr>
          <a:xfrm>
            <a:off x="914808" y="1770067"/>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65"/>
          <p:cNvSpPr txBox="1"/>
          <p:nvPr/>
        </p:nvSpPr>
        <p:spPr>
          <a:xfrm>
            <a:off x="7574782" y="1770067"/>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66"/>
          <p:cNvSpPr txBox="1"/>
          <p:nvPr/>
        </p:nvSpPr>
        <p:spPr>
          <a:xfrm>
            <a:off x="914808" y="2338684"/>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67"/>
          <p:cNvSpPr txBox="1"/>
          <p:nvPr/>
        </p:nvSpPr>
        <p:spPr>
          <a:xfrm>
            <a:off x="7574782" y="2338684"/>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68"/>
          <p:cNvSpPr txBox="1"/>
          <p:nvPr/>
        </p:nvSpPr>
        <p:spPr>
          <a:xfrm>
            <a:off x="914808" y="2776523"/>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69"/>
          <p:cNvSpPr txBox="1"/>
          <p:nvPr/>
        </p:nvSpPr>
        <p:spPr>
          <a:xfrm>
            <a:off x="7574782" y="2776523"/>
            <a:ext cx="6020132" cy="26812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 Input and</a:t>
            </a:r>
            <a:r>
              <a:rPr sz="2710" b="0" i="0">
                <a:solidFill>
                  <a:srgbClr val="000000"/>
                </a:solidFill>
                <a:latin typeface="Latin Modern Sans"/>
              </a:rPr>
              <a:t> results use request-scoped symmetric</a:t>
            </a:r>
            <a:r>
              <a:rPr sz="2710" b="0" i="0">
                <a:solidFill>
                  <a:srgbClr val="000000"/>
                </a:solidFill>
                <a:latin typeface="Latin Modern Sans"/>
              </a:rPr>
              <a:t> keys. Selection delivers key material</a:t>
            </a:r>
            <a:r>
              <a:rPr sz="2710" b="0" i="0">
                <a:solidFill>
                  <a:srgbClr val="000000"/>
                </a:solidFill>
                <a:latin typeface="Latin Modern Sans"/>
              </a:rPr>
              <a:t> encrypted for the selected Provider; the</a:t>
            </a:r>
            <a:r>
              <a:rPr sz="2710" b="0" i="0">
                <a:solidFill>
                  <a:srgbClr val="000000"/>
                </a:solidFill>
                <a:latin typeface="Latin Modern Sans"/>
              </a:rPr>
              <a:t> requesting User retains the keys.</a:t>
            </a:r>
          </a:p>
        </p:txBody>
      </p:sp>
      <p:sp>
        <p:nvSpPr>
          <p:cNvPr id="10" name="PDF_TEXT_GROUP_170"/>
          <p:cNvSpPr txBox="1"/>
          <p:nvPr/>
        </p:nvSpPr>
        <p:spPr>
          <a:xfrm>
            <a:off x="1143656" y="6234118"/>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7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7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7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7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7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12/53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7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Security Requirements; One Additional Benefit</a:t>
            </a:r>
          </a:p>
        </p:txBody>
      </p:sp>
      <p:sp>
        <p:nvSpPr>
          <p:cNvPr id="4" name="PDF_TEXT_GROUP_177"/>
          <p:cNvSpPr txBox="1"/>
          <p:nvPr/>
        </p:nvSpPr>
        <p:spPr>
          <a:xfrm>
            <a:off x="1169087" y="2023644"/>
            <a:ext cx="12609345"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Keep discovery descriptors confidential from unauthorized readers before selecting</a:t>
            </a:r>
            <a:r>
              <a:rPr sz="2710" b="0" i="0">
                <a:solidFill>
                  <a:srgbClr val="000000"/>
                </a:solidFill>
                <a:latin typeface="Latin Modern Sans"/>
              </a:rPr>
              <a:t> a Provider.</a:t>
            </a:r>
          </a:p>
        </p:txBody>
      </p:sp>
      <p:sp>
        <p:nvSpPr>
          <p:cNvPr id="5" name="PDF_TEXT_GROUP_178"/>
          <p:cNvSpPr txBox="1"/>
          <p:nvPr/>
        </p:nvSpPr>
        <p:spPr>
          <a:xfrm>
            <a:off x="1169087" y="2995911"/>
            <a:ext cx="11158505"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Authenticate participants, verify service permissions, and reject replayed</a:t>
            </a:r>
            <a:r>
              <a:rPr sz="2710" b="0" i="0">
                <a:solidFill>
                  <a:srgbClr val="000000"/>
                </a:solidFill>
                <a:latin typeface="Latin Modern Sans"/>
              </a:rPr>
              <a:t> invocation messages.</a:t>
            </a:r>
          </a:p>
        </p:txBody>
      </p:sp>
      <p:sp>
        <p:nvSpPr>
          <p:cNvPr id="6" name="PDF_TEXT_GROUP_179"/>
          <p:cNvSpPr txBox="1"/>
          <p:nvPr/>
        </p:nvSpPr>
        <p:spPr>
          <a:xfrm>
            <a:off x="1169087" y="3968177"/>
            <a:ext cx="962616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Grant and withdraw service permissions during operation.</a:t>
            </a:r>
          </a:p>
        </p:txBody>
      </p:sp>
      <p:sp>
        <p:nvSpPr>
          <p:cNvPr id="7" name="PDF_TEXT_GROUP_180"/>
          <p:cNvSpPr txBox="1"/>
          <p:nvPr/>
        </p:nvSpPr>
        <p:spPr>
          <a:xfrm>
            <a:off x="1143656" y="5138827"/>
            <a:ext cx="12423171"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Additional benefit: aggregate service permissions in a decryption key (DKEY) while</a:t>
            </a:r>
            <a:r>
              <a:rPr sz="2710" b="0" i="0">
                <a:solidFill>
                  <a:srgbClr val="000000"/>
                </a:solidFill>
                <a:latin typeface="Latin Modern Sans"/>
              </a:rPr>
              <a:t> retaining identity-signing credentials. This is a management property, not another</a:t>
            </a:r>
            <a:r>
              <a:rPr sz="2710" b="0" i="0">
                <a:solidFill>
                  <a:srgbClr val="000000"/>
                </a:solidFill>
                <a:latin typeface="Latin Modern Sans"/>
              </a:rPr>
              <a:t> security guarantee.</a:t>
            </a:r>
          </a:p>
        </p:txBody>
      </p:sp>
      <p:sp>
        <p:nvSpPr>
          <p:cNvPr id="8" name="PDF_TEXT_GROUP_18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8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8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8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8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8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87"/>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88"/>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89"/>
          <p:cNvSpPr txBox="1"/>
          <p:nvPr/>
        </p:nvSpPr>
        <p:spPr>
          <a:xfrm>
            <a:off x="1618972" y="3703548"/>
            <a:ext cx="1166759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the descriptor using ABE and the service attribute, without</a:t>
            </a:r>
            <a:r>
              <a:rPr sz="2710" b="0" i="0">
                <a:solidFill>
                  <a:srgbClr val="000000"/>
                </a:solidFill>
                <a:latin typeface="Latin Modern Sans"/>
              </a:rPr>
              <a:t> listing Provider identities. [19]</a:t>
            </a:r>
          </a:p>
        </p:txBody>
      </p:sp>
      <p:sp>
        <p:nvSpPr>
          <p:cNvPr id="7" name="PDF_TEXT_GROUP_190"/>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9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9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9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9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9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14/53</a:t>
            </a:r>
          </a:p>
        </p:txBody>
      </p:sp>
      <p:sp>
        <p:nvSpPr>
          <p:cNvPr id="13" name="PDF_BULLET_SPAN_263"/>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65"/>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68"/>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9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Reuse Service-Permission Management</a:t>
            </a:r>
          </a:p>
        </p:txBody>
      </p:sp>
      <p:sp>
        <p:nvSpPr>
          <p:cNvPr id="4" name="PDF_TEXT_GROUP_197"/>
          <p:cNvSpPr txBox="1"/>
          <p:nvPr/>
        </p:nvSpPr>
        <p:spPr>
          <a:xfrm>
            <a:off x="1618972" y="1909248"/>
            <a:ext cx="1057461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was introduced to keep discovery descriptors non-public. [19]</a:t>
            </a:r>
          </a:p>
        </p:txBody>
      </p:sp>
      <p:sp>
        <p:nvSpPr>
          <p:cNvPr id="5" name="PDF_TEXT_GROUP_198"/>
          <p:cNvSpPr txBox="1"/>
          <p:nvPr/>
        </p:nvSpPr>
        <p:spPr>
          <a:xfrm>
            <a:off x="1618972" y="2443676"/>
            <a:ext cx="1120680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reuses the attribute authority to manage Provider and User service</a:t>
            </a:r>
            <a:r>
              <a:rPr sz="2710" b="0" i="0">
                <a:solidFill>
                  <a:srgbClr val="000000"/>
                </a:solidFill>
                <a:latin typeface="Latin Modern Sans"/>
              </a:rPr>
              <a:t> permissions. [28]</a:t>
            </a:r>
          </a:p>
        </p:txBody>
      </p:sp>
      <p:sp>
        <p:nvSpPr>
          <p:cNvPr id="6" name="PDF_TEXT_GROUP_199"/>
          <p:cNvSpPr txBox="1"/>
          <p:nvPr/>
        </p:nvSpPr>
        <p:spPr>
          <a:xfrm>
            <a:off x="1618972" y="3415943"/>
            <a:ext cx="1100447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RequestNonce and ProviderChallenge checks use these permissions during</a:t>
            </a:r>
            <a:r>
              <a:rPr sz="2710" b="0" i="0">
                <a:solidFill>
                  <a:srgbClr val="000000"/>
                </a:solidFill>
                <a:latin typeface="Latin Modern Sans"/>
              </a:rPr>
              <a:t> invocation.</a:t>
            </a:r>
          </a:p>
        </p:txBody>
      </p:sp>
      <p:sp>
        <p:nvSpPr>
          <p:cNvPr id="7" name="PDF_TEXT_GROUP_200"/>
          <p:cNvSpPr txBox="1"/>
          <p:nvPr/>
        </p:nvSpPr>
        <p:spPr>
          <a:xfrm>
            <a:off x="1143656" y="4941091"/>
            <a:ext cx="12096909" cy="180556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discovery plus role-based invocation is also possible. NDNSF avoids adding</a:t>
            </a:r>
            <a:r>
              <a:rPr sz="2710" b="0" i="0">
                <a:solidFill>
                  <a:srgbClr val="000000"/>
                </a:solidFill>
                <a:latin typeface="Latin Modern Sans"/>
              </a:rPr>
              <a:t> role signing credentials solely for service membership; signature validation and</a:t>
            </a:r>
            <a:r>
              <a:rPr sz="2710" b="0" i="0">
                <a:solidFill>
                  <a:srgbClr val="000000"/>
                </a:solidFill>
                <a:latin typeface="Latin Modern Sans"/>
              </a:rPr>
              <a:t> request-state checks remain necessary. User DKEYs and challenge processing still</a:t>
            </a:r>
            <a:r>
              <a:rPr sz="2710" b="0" i="0">
                <a:solidFill>
                  <a:srgbClr val="000000"/>
                </a:solidFill>
                <a:latin typeface="Latin Modern Sans"/>
              </a:rPr>
              <a:t> add cost.</a:t>
            </a:r>
          </a:p>
        </p:txBody>
      </p:sp>
      <p:sp>
        <p:nvSpPr>
          <p:cNvPr id="8" name="PDF_TEXT_GROUP_20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0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0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0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0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15/53</a:t>
            </a:r>
          </a:p>
        </p:txBody>
      </p:sp>
      <p:sp>
        <p:nvSpPr>
          <p:cNvPr id="13" name="PDF_BULLET_SPAN_279"/>
          <p:cNvSpPr/>
          <p:nvPr/>
        </p:nvSpPr>
        <p:spPr>
          <a:xfrm rot="5400000">
            <a:off x="1207424" y="19950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81"/>
          <p:cNvSpPr/>
          <p:nvPr/>
        </p:nvSpPr>
        <p:spPr>
          <a:xfrm rot="5400000">
            <a:off x="1207424" y="252946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84"/>
          <p:cNvSpPr/>
          <p:nvPr/>
        </p:nvSpPr>
        <p:spPr>
          <a:xfrm rot="5400000">
            <a:off x="1207424" y="350173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20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How NDNSF Checks Service Permissions</a:t>
            </a:r>
          </a:p>
        </p:txBody>
      </p:sp>
      <p:sp>
        <p:nvSpPr>
          <p:cNvPr id="4" name="PDF_TEXT_GROUP_207"/>
          <p:cNvSpPr txBox="1"/>
          <p:nvPr/>
        </p:nvSpPr>
        <p:spPr>
          <a:xfrm>
            <a:off x="1169087" y="1893058"/>
            <a:ext cx="12569632" cy="1367730"/>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Provider permission: recover RequestNonce from ABE-protected Request content</a:t>
            </a:r>
            <a:r>
              <a:rPr sz="2710" b="0" i="0">
                <a:solidFill>
                  <a:srgbClr val="000000"/>
                </a:solidFill>
                <a:latin typeface="Latin Modern Sans"/>
              </a:rPr>
              <a:t> and return it in ACK Data. The User compares it with RequestNonce stored for</a:t>
            </a:r>
            <a:r>
              <a:rPr sz="2710" b="0" i="0">
                <a:solidFill>
                  <a:srgbClr val="000000"/>
                </a:solidFill>
                <a:latin typeface="Latin Modern Sans"/>
              </a:rPr>
              <a:t> this request.</a:t>
            </a:r>
          </a:p>
        </p:txBody>
      </p:sp>
      <p:sp>
        <p:nvSpPr>
          <p:cNvPr id="5" name="PDF_TEXT_GROUP_208"/>
          <p:cNvSpPr txBox="1"/>
          <p:nvPr/>
        </p:nvSpPr>
        <p:spPr>
          <a:xfrm>
            <a:off x="1169087" y="3303163"/>
            <a:ext cx="12681343" cy="1367762"/>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User permission: recover ProviderChallenge from ABE-protected ACK content and</a:t>
            </a:r>
            <a:r>
              <a:rPr sz="2710" b="0" i="0">
                <a:solidFill>
                  <a:srgbClr val="000000"/>
                </a:solidFill>
                <a:latin typeface="Latin Modern Sans"/>
              </a:rPr>
              <a:t> construct Selection Data. The Provider validates Selection using its stored</a:t>
            </a:r>
            <a:r>
              <a:rPr sz="2710" b="0" i="0">
                <a:solidFill>
                  <a:srgbClr val="000000"/>
                </a:solidFill>
                <a:latin typeface="Latin Modern Sans"/>
              </a:rPr>
              <a:t> ProviderChallenge.</a:t>
            </a:r>
          </a:p>
        </p:txBody>
      </p:sp>
      <p:sp>
        <p:nvSpPr>
          <p:cNvPr id="6" name="PDF_TEXT_GROUP_209"/>
          <p:cNvSpPr txBox="1"/>
          <p:nvPr/>
        </p:nvSpPr>
        <p:spPr>
          <a:xfrm>
            <a:off x="1143656" y="5334690"/>
            <a:ext cx="11656295"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also check current service permissions. Challenge checks establish</a:t>
            </a:r>
            <a:r>
              <a:rPr sz="2710" b="0" i="0">
                <a:solidFill>
                  <a:srgbClr val="000000"/>
                </a:solidFill>
                <a:latin typeface="Latin Modern Sans"/>
              </a:rPr>
              <a:t> access to protected values, not exclusive key possession. RequestNonce is an</a:t>
            </a:r>
            <a:r>
              <a:rPr sz="2710" b="0" i="0">
                <a:solidFill>
                  <a:srgbClr val="000000"/>
                </a:solidFill>
                <a:latin typeface="Latin Modern Sans"/>
              </a:rPr>
              <a:t> application value, distinct from the Interest Nonce.</a:t>
            </a:r>
          </a:p>
        </p:txBody>
      </p:sp>
      <p:sp>
        <p:nvSpPr>
          <p:cNvPr id="7" name="PDF_TEXT_GROUP_21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8" name="PDF_TEXT_GROUP_21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9" name="PDF_TEXT_GROUP_21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0" name="PDF_TEXT_GROUP_21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1" name="PDF_TEXT_GROUP_21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16/53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1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Identity and Replay Checks Have Different Jobs</a:t>
            </a:r>
          </a:p>
        </p:txBody>
      </p:sp>
      <p:sp>
        <p:nvSpPr>
          <p:cNvPr id="4" name="PDF_TEXT_GROUP_216"/>
          <p:cNvSpPr txBox="1"/>
          <p:nvPr/>
        </p:nvSpPr>
        <p:spPr>
          <a:xfrm>
            <a:off x="914808" y="1780343"/>
            <a:ext cx="3841268"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Identity authentication</a:t>
            </a:r>
          </a:p>
        </p:txBody>
      </p:sp>
      <p:sp>
        <p:nvSpPr>
          <p:cNvPr id="5" name="PDF_TEXT_GROUP_217"/>
          <p:cNvSpPr txBox="1"/>
          <p:nvPr/>
        </p:nvSpPr>
        <p:spPr>
          <a:xfrm>
            <a:off x="914808" y="2348961"/>
            <a:ext cx="1273690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Validate Data signatures and certificate chains under trust rules. An accepted signing</a:t>
            </a:r>
            <a:r>
              <a:rPr sz="2710" b="0" i="0">
                <a:solidFill>
                  <a:srgbClr val="000000"/>
                </a:solidFill>
                <a:latin typeface="Latin Modern Sans"/>
              </a:rPr>
              <a:t> identity alone does not establish service permission.</a:t>
            </a:r>
          </a:p>
        </p:txBody>
      </p:sp>
      <p:sp>
        <p:nvSpPr>
          <p:cNvPr id="6" name="PDF_TEXT_GROUP_218"/>
          <p:cNvSpPr txBox="1"/>
          <p:nvPr/>
        </p:nvSpPr>
        <p:spPr>
          <a:xfrm>
            <a:off x="914808" y="3676986"/>
            <a:ext cx="296312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Replay protection</a:t>
            </a:r>
          </a:p>
        </p:txBody>
      </p:sp>
      <p:sp>
        <p:nvSpPr>
          <p:cNvPr id="7" name="PDF_TEXT_GROUP_219"/>
          <p:cNvSpPr txBox="1"/>
          <p:nvPr/>
        </p:nvSpPr>
        <p:spPr>
          <a:xfrm>
            <a:off x="914808" y="4245603"/>
            <a:ext cx="12819495"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messages to an active request and its state. Record whether ProviderChallenge</a:t>
            </a:r>
            <a:r>
              <a:rPr sz="2710" b="0" i="0">
                <a:solidFill>
                  <a:srgbClr val="000000"/>
                </a:solidFill>
                <a:latin typeface="Latin Modern Sans"/>
              </a:rPr>
              <a:t> has already been used to accept Selection for execution; duplicate Selection must not</a:t>
            </a:r>
            <a:r>
              <a:rPr sz="2710" b="0" i="0">
                <a:solidFill>
                  <a:srgbClr val="000000"/>
                </a:solidFill>
                <a:latin typeface="Latin Modern Sans"/>
              </a:rPr>
              <a:t> start another execution.</a:t>
            </a:r>
          </a:p>
        </p:txBody>
      </p:sp>
      <p:sp>
        <p:nvSpPr>
          <p:cNvPr id="8" name="PDF_TEXT_GROUP_220"/>
          <p:cNvSpPr txBox="1"/>
          <p:nvPr/>
        </p:nvSpPr>
        <p:spPr>
          <a:xfrm>
            <a:off x="1143656" y="6051279"/>
            <a:ext cx="1206363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Retain or safely invalidate request state, including across restart. Encryption or a</a:t>
            </a:r>
            <a:r>
              <a:rPr sz="2710" b="0" i="0">
                <a:solidFill>
                  <a:srgbClr val="000000"/>
                </a:solidFill>
                <a:latin typeface="Latin Modern Sans"/>
              </a:rPr>
              <a:t> challenge value alone does not prevent replay.</a:t>
            </a:r>
          </a:p>
        </p:txBody>
      </p:sp>
      <p:sp>
        <p:nvSpPr>
          <p:cNvPr id="9" name="PDF_TEXT_GROUP_22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2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2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2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2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17/53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2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 Trust-Schema Command Authorization</a:t>
            </a:r>
          </a:p>
        </p:txBody>
      </p:sp>
      <p:sp>
        <p:nvSpPr>
          <p:cNvPr id="4" name="PDF_TEXT_GROUP_227"/>
          <p:cNvSpPr txBox="1"/>
          <p:nvPr/>
        </p:nvSpPr>
        <p:spPr>
          <a:xfrm>
            <a:off x="914808" y="1803638"/>
            <a:ext cx="136825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Distributed Network Measurement Protocol (DNMP) [12] authorizes measurement commands:</a:t>
            </a:r>
          </a:p>
        </p:txBody>
      </p:sp>
      <p:sp>
        <p:nvSpPr>
          <p:cNvPr id="5" name="PDF_TEXT_GROUP_228"/>
          <p:cNvSpPr txBox="1"/>
          <p:nvPr/>
        </p:nvSpPr>
        <p:spPr>
          <a:xfrm>
            <a:off x="1192840" y="2383146"/>
            <a:ext cx="1000344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The Network Key anchors role keys, device keys, and the schema.</a:t>
            </a:r>
          </a:p>
        </p:txBody>
      </p:sp>
      <p:sp>
        <p:nvSpPr>
          <p:cNvPr id="6" name="PDF_TEXT_GROUP_229"/>
          <p:cNvSpPr txBox="1"/>
          <p:nvPr/>
        </p:nvSpPr>
        <p:spPr>
          <a:xfrm>
            <a:off x="1192840" y="2962654"/>
            <a:ext cx="12155654"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client uses target, probe type, arguments, and user role to find an allowed signing</a:t>
            </a:r>
            <a:r>
              <a:rPr sz="2371" b="0" i="0">
                <a:solidFill>
                  <a:srgbClr val="000000"/>
                </a:solidFill>
                <a:latin typeface="Latin Modern Sans"/>
              </a:rPr>
              <a:t> key; among matching keys, it chooses the least privileged.</a:t>
            </a:r>
          </a:p>
        </p:txBody>
      </p:sp>
      <p:sp>
        <p:nvSpPr>
          <p:cNvPr id="7" name="PDF_TEXT_GROUP_230"/>
          <p:cNvSpPr txBox="1"/>
          <p:nvPr/>
        </p:nvSpPr>
        <p:spPr>
          <a:xfrm>
            <a:off x="1192840" y="3928490"/>
            <a:ext cx="11934929"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The receiving Network Observer Daemon validates the publication under the schema</a:t>
            </a:r>
            <a:r>
              <a:rPr sz="2371" b="0" i="0">
                <a:solidFill>
                  <a:srgbClr val="000000"/>
                </a:solidFill>
                <a:latin typeface="Latin Modern Sans"/>
              </a:rPr>
              <a:t> before dispatching the probe.</a:t>
            </a:r>
          </a:p>
        </p:txBody>
      </p:sp>
      <p:sp>
        <p:nvSpPr>
          <p:cNvPr id="8" name="PDF_TEXT_GROUP_231"/>
          <p:cNvSpPr txBox="1"/>
          <p:nvPr/>
        </p:nvSpPr>
        <p:spPr>
          <a:xfrm>
            <a:off x="1123808" y="5428561"/>
            <a:ext cx="12046272"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also uses publication lifetimes and retained state against replay, assuming loosely</a:t>
            </a:r>
            <a:r>
              <a:rPr sz="2371" b="0" i="0">
                <a:solidFill>
                  <a:srgbClr val="000000"/>
                </a:solidFill>
                <a:latin typeface="Latin Modern Sans"/>
              </a:rPr>
              <a:t> synchronized clocks. These are concrete command-authorization mechanisms, not just</a:t>
            </a:r>
            <a:r>
              <a:rPr sz="2371" b="0" i="0">
                <a:solidFill>
                  <a:srgbClr val="000000"/>
                </a:solidFill>
                <a:latin typeface="Latin Modern Sans"/>
              </a:rPr>
              <a:t> identity checks.</a:t>
            </a:r>
          </a:p>
        </p:txBody>
      </p:sp>
      <p:sp>
        <p:nvSpPr>
          <p:cNvPr id="9" name="PDF_TEXT_GROUP_23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3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3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3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3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18/53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3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DNMP-inspired Authorization versus NDNSF</a:t>
            </a:r>
          </a:p>
        </p:txBody>
      </p:sp>
      <p:sp>
        <p:nvSpPr>
          <p:cNvPr id="4" name="PDF_TEXT_GROUP_238"/>
          <p:cNvSpPr txBox="1"/>
          <p:nvPr/>
        </p:nvSpPr>
        <p:spPr>
          <a:xfrm>
            <a:off x="1107736" y="1436957"/>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239"/>
          <p:cNvSpPr txBox="1"/>
          <p:nvPr/>
        </p:nvSpPr>
        <p:spPr>
          <a:xfrm>
            <a:off x="4951729" y="1436957"/>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240"/>
          <p:cNvSpPr txBox="1"/>
          <p:nvPr/>
        </p:nvSpPr>
        <p:spPr>
          <a:xfrm>
            <a:off x="9433494" y="1436957"/>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241"/>
          <p:cNvSpPr txBox="1"/>
          <p:nvPr/>
        </p:nvSpPr>
        <p:spPr>
          <a:xfrm>
            <a:off x="1107736" y="2005317"/>
            <a:ext cx="291195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[12]</a:t>
            </a:r>
          </a:p>
        </p:txBody>
      </p:sp>
      <p:sp>
        <p:nvSpPr>
          <p:cNvPr id="8" name="PDF_TEXT_GROUP_242"/>
          <p:cNvSpPr txBox="1"/>
          <p:nvPr/>
        </p:nvSpPr>
        <p:spPr>
          <a:xfrm>
            <a:off x="4951504" y="2005317"/>
            <a:ext cx="3288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role-constrained</a:t>
            </a:r>
          </a:p>
        </p:txBody>
      </p:sp>
      <p:sp>
        <p:nvSpPr>
          <p:cNvPr id="9" name="PDF_TEXT_GROUP_243"/>
          <p:cNvSpPr txBox="1"/>
          <p:nvPr/>
        </p:nvSpPr>
        <p:spPr>
          <a:xfrm>
            <a:off x="9433445" y="2005317"/>
            <a:ext cx="34775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Retain ABE for the first</a:t>
            </a:r>
          </a:p>
        </p:txBody>
      </p:sp>
      <p:sp>
        <p:nvSpPr>
          <p:cNvPr id="10" name="PDF_TEXT_GROUP_244"/>
          <p:cNvSpPr txBox="1"/>
          <p:nvPr/>
        </p:nvSpPr>
        <p:spPr>
          <a:xfrm>
            <a:off x="4951637" y="2391645"/>
            <a:ext cx="32179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and NDNSF</a:t>
            </a:r>
            <a:r>
              <a:rPr sz="2371" b="0" i="0">
                <a:solidFill>
                  <a:srgbClr val="000000"/>
                </a:solidFill>
                <a:latin typeface="Latin Modern Sans"/>
              </a:rPr>
              <a:t> invocation state</a:t>
            </a:r>
          </a:p>
        </p:txBody>
      </p:sp>
      <p:sp>
        <p:nvSpPr>
          <p:cNvPr id="11" name="PDF_TEXT_GROUP_245"/>
          <p:cNvSpPr txBox="1"/>
          <p:nvPr/>
        </p:nvSpPr>
        <p:spPr>
          <a:xfrm>
            <a:off x="9433445" y="2391645"/>
            <a:ext cx="316849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controlled comparison</a:t>
            </a:r>
          </a:p>
        </p:txBody>
      </p:sp>
      <p:sp>
        <p:nvSpPr>
          <p:cNvPr id="12" name="PDF_TEXT_GROUP_246"/>
          <p:cNvSpPr txBox="1"/>
          <p:nvPr/>
        </p:nvSpPr>
        <p:spPr>
          <a:xfrm>
            <a:off x="1107736" y="3346332"/>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3" name="PDF_TEXT_GROUP_247"/>
          <p:cNvSpPr txBox="1"/>
          <p:nvPr/>
        </p:nvSpPr>
        <p:spPr>
          <a:xfrm>
            <a:off x="4951637" y="3346332"/>
            <a:ext cx="4089686" cy="16015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signatures,</a:t>
            </a:r>
            <a:r>
              <a:rPr sz="2371" b="0" i="0">
                <a:solidFill>
                  <a:srgbClr val="000000"/>
                </a:solidFill>
                <a:latin typeface="Latin Modern Sans"/>
              </a:rPr>
              <a:t> RequestNonce,</a:t>
            </a:r>
            <a:r>
              <a:rPr sz="2371" b="0" i="0">
                <a:solidFill>
                  <a:srgbClr val="000000"/>
                </a:solidFill>
                <a:latin typeface="Latin Modern Sans"/>
              </a:rPr>
              <a:t> ProviderChallenge, current</a:t>
            </a:r>
            <a:r>
              <a:rPr sz="2371" b="0" i="0">
                <a:solidFill>
                  <a:srgbClr val="000000"/>
                </a:solidFill>
                <a:latin typeface="Latin Modern Sans"/>
              </a:rPr>
              <a:t> permissions and request state</a:t>
            </a:r>
          </a:p>
        </p:txBody>
      </p:sp>
      <p:sp>
        <p:nvSpPr>
          <p:cNvPr id="14" name="PDF_TEXT_GROUP_248"/>
          <p:cNvSpPr txBox="1"/>
          <p:nvPr/>
        </p:nvSpPr>
        <p:spPr>
          <a:xfrm>
            <a:off x="9433445" y="3346332"/>
            <a:ext cx="422385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encrypts descriptor</a:t>
            </a:r>
            <a:r>
              <a:rPr sz="2371" b="0" i="0">
                <a:solidFill>
                  <a:srgbClr val="000000"/>
                </a:solidFill>
                <a:latin typeface="Latin Modern Sans"/>
              </a:rPr>
              <a:t> content with service-level ABE</a:t>
            </a:r>
          </a:p>
        </p:txBody>
      </p:sp>
      <p:sp>
        <p:nvSpPr>
          <p:cNvPr id="15" name="PDF_TEXT_GROUP_249"/>
          <p:cNvSpPr txBox="1"/>
          <p:nvPr/>
        </p:nvSpPr>
        <p:spPr>
          <a:xfrm>
            <a:off x="1123808" y="5386713"/>
            <a:ext cx="12440169"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Hold discovery encryption constant to isolate authorization cost. Both retain Selection,</a:t>
            </a:r>
            <a:r>
              <a:rPr sz="2371" b="0" i="0">
                <a:solidFill>
                  <a:srgbClr val="000000"/>
                </a:solidFill>
                <a:latin typeface="Latin Modern Sans"/>
              </a:rPr>
              <a:t> current permissions and replay checks. This adapts DNMP, not its original implementation.</a:t>
            </a:r>
            <a:r>
              <a:rPr sz="2371" b="0" i="0">
                <a:solidFill>
                  <a:srgbClr val="000000"/>
                </a:solidFill>
                <a:latin typeface="Latin Modern Sans"/>
              </a:rPr>
              <a:t> Group encryption is a separate comparison.</a:t>
            </a:r>
          </a:p>
        </p:txBody>
      </p:sp>
      <p:sp>
        <p:nvSpPr>
          <p:cNvPr id="16" name="PDF_TEXT_GROUP_25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25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25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25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25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19/53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5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RQ1: Evaluate Authorization Design Tradeoffs</a:t>
            </a:r>
          </a:p>
        </p:txBody>
      </p:sp>
      <p:sp>
        <p:nvSpPr>
          <p:cNvPr id="4" name="PDF_TEXT_GROUP_256"/>
          <p:cNvSpPr txBox="1"/>
          <p:nvPr/>
        </p:nvSpPr>
        <p:spPr>
          <a:xfrm>
            <a:off x="914808" y="1827874"/>
            <a:ext cx="86935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For</a:t>
            </a:r>
            <a:r>
              <a:rPr sz="2371" b="0" i="1">
                <a:solidFill>
                  <a:srgbClr val="000000"/>
                </a:solidFill>
                <a:latin typeface="Cambria Math"/>
              </a:rPr>
              <a:t> n</a:t>
            </a:r>
            <a:r>
              <a:rPr sz="2371" b="0" i="0">
                <a:solidFill>
                  <a:srgbClr val="000000"/>
                </a:solidFill>
                <a:latin typeface="Latin Modern Sans"/>
              </a:rPr>
              <a:t> Users and</a:t>
            </a:r>
            <a:r>
              <a:rPr sz="2371" b="0" i="1">
                <a:solidFill>
                  <a:srgbClr val="000000"/>
                </a:solidFill>
                <a:latin typeface="Cambria Math"/>
              </a:rPr>
              <a:t> k</a:t>
            </a:r>
            <a:r>
              <a:rPr sz="2371" b="0" i="0">
                <a:solidFill>
                  <a:srgbClr val="000000"/>
                </a:solidFill>
                <a:latin typeface="Latin Modern Sans"/>
              </a:rPr>
              <a:t> service permissions per User, on average:</a:t>
            </a:r>
          </a:p>
        </p:txBody>
      </p:sp>
      <p:sp>
        <p:nvSpPr>
          <p:cNvPr id="5" name="PDF_TEXT_GROUP_257"/>
          <p:cNvSpPr txBox="1"/>
          <p:nvPr/>
        </p:nvSpPr>
        <p:spPr>
          <a:xfrm>
            <a:off x="1107736" y="2597783"/>
            <a:ext cx="513362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Additional authorization credentials</a:t>
            </a:r>
          </a:p>
        </p:txBody>
      </p:sp>
      <p:sp>
        <p:nvSpPr>
          <p:cNvPr id="6" name="PDF_TEXT_GROUP_258"/>
          <p:cNvSpPr txBox="1"/>
          <p:nvPr/>
        </p:nvSpPr>
        <p:spPr>
          <a:xfrm>
            <a:off x="8281512" y="2597783"/>
            <a:ext cx="217233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objects</a:t>
            </a:r>
          </a:p>
        </p:txBody>
      </p:sp>
      <p:sp>
        <p:nvSpPr>
          <p:cNvPr id="7" name="PDF_TEXT_GROUP_259"/>
          <p:cNvSpPr txBox="1"/>
          <p:nvPr/>
        </p:nvSpPr>
        <p:spPr>
          <a:xfrm>
            <a:off x="1107736" y="3166143"/>
            <a:ext cx="44243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role certificate per service</a:t>
            </a:r>
          </a:p>
        </p:txBody>
      </p:sp>
      <p:sp>
        <p:nvSpPr>
          <p:cNvPr id="8" name="PDF_TEXT_GROUP_260"/>
          <p:cNvSpPr txBox="1"/>
          <p:nvPr/>
        </p:nvSpPr>
        <p:spPr>
          <a:xfrm>
            <a:off x="8281527" y="3166143"/>
            <a:ext cx="32673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1">
                <a:solidFill>
                  <a:srgbClr val="000000"/>
                </a:solidFill>
                <a:latin typeface="Cambria Math"/>
              </a:rPr>
              <a:t>nk</a:t>
            </a:r>
            <a:r>
              <a:rPr sz="2371" b="0" i="0">
                <a:solidFill>
                  <a:srgbClr val="000000"/>
                </a:solidFill>
                <a:latin typeface="Latin Modern Sans"/>
              </a:rPr>
              <a:t>:</a:t>
            </a:r>
            <a:r>
              <a:rPr sz="2371" b="0" i="1">
                <a:solidFill>
                  <a:srgbClr val="000000"/>
                </a:solidFill>
                <a:latin typeface="Cambria Math"/>
              </a:rPr>
              <a:t> O</a:t>
            </a:r>
            <a:r>
              <a:rPr sz="2371" b="0" i="0">
                <a:solidFill>
                  <a:srgbClr val="000000"/>
                </a:solidFill>
                <a:latin typeface="Latin Modern Roman"/>
              </a:rPr>
              <a:t>(</a:t>
            </a:r>
            <a:r>
              <a:rPr sz="2371" b="0" i="1">
                <a:solidFill>
                  <a:srgbClr val="000000"/>
                </a:solidFill>
                <a:latin typeface="Cambria Math"/>
              </a:rPr>
              <a:t>nk</a:t>
            </a:r>
            <a:r>
              <a:rPr sz="2371" b="0" i="0">
                <a:solidFill>
                  <a:srgbClr val="000000"/>
                </a:solidFill>
                <a:latin typeface="Latin Modern Roman"/>
              </a:rPr>
              <a:t>)</a:t>
            </a:r>
            <a:r>
              <a:rPr sz="2371" b="0" i="0">
                <a:solidFill>
                  <a:srgbClr val="000000"/>
                </a:solidFill>
                <a:latin typeface="Latin Modern Sans"/>
              </a:rPr>
              <a:t> certificates</a:t>
            </a:r>
          </a:p>
        </p:txBody>
      </p:sp>
      <p:sp>
        <p:nvSpPr>
          <p:cNvPr id="9" name="PDF_TEXT_GROUP_261"/>
          <p:cNvSpPr txBox="1"/>
          <p:nvPr/>
        </p:nvSpPr>
        <p:spPr>
          <a:xfrm>
            <a:off x="1107736" y="3734502"/>
            <a:ext cx="393316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policy DKEY per User</a:t>
            </a:r>
          </a:p>
        </p:txBody>
      </p:sp>
      <p:sp>
        <p:nvSpPr>
          <p:cNvPr id="10" name="PDF_TEXT_GROUP_262"/>
          <p:cNvSpPr txBox="1"/>
          <p:nvPr/>
        </p:nvSpPr>
        <p:spPr>
          <a:xfrm>
            <a:off x="8281527" y="3734502"/>
            <a:ext cx="444686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1">
                <a:solidFill>
                  <a:srgbClr val="000000"/>
                </a:solidFill>
                <a:latin typeface="Cambria Math"/>
              </a:rPr>
              <a:t>n</a:t>
            </a:r>
            <a:r>
              <a:rPr sz="2371" b="0" i="0">
                <a:solidFill>
                  <a:srgbClr val="000000"/>
                </a:solidFill>
                <a:latin typeface="Latin Modern Sans"/>
              </a:rPr>
              <a:t>:</a:t>
            </a:r>
            <a:r>
              <a:rPr sz="2371" b="0" i="1">
                <a:solidFill>
                  <a:srgbClr val="000000"/>
                </a:solidFill>
                <a:latin typeface="Cambria Math"/>
              </a:rPr>
              <a:t> O</a:t>
            </a:r>
            <a:r>
              <a:rPr sz="2371" b="0" i="0">
                <a:solidFill>
                  <a:srgbClr val="000000"/>
                </a:solidFill>
                <a:latin typeface="Latin Modern Roman"/>
              </a:rPr>
              <a:t>(</a:t>
            </a:r>
            <a:r>
              <a:rPr sz="2371" b="0" i="1">
                <a:solidFill>
                  <a:srgbClr val="000000"/>
                </a:solidFill>
                <a:latin typeface="Cambria Math"/>
              </a:rPr>
              <a:t>n</a:t>
            </a:r>
            <a:r>
              <a:rPr sz="2371" b="0" i="0">
                <a:solidFill>
                  <a:srgbClr val="000000"/>
                </a:solidFill>
                <a:latin typeface="Latin Modern Roman"/>
              </a:rPr>
              <a:t>)</a:t>
            </a:r>
            <a:r>
              <a:rPr sz="2371" b="0" i="0">
                <a:solidFill>
                  <a:srgbClr val="000000"/>
                </a:solidFill>
                <a:latin typeface="Latin Modern Sans"/>
              </a:rPr>
              <a:t>, but policy size grows</a:t>
            </a:r>
          </a:p>
        </p:txBody>
      </p:sp>
      <p:sp>
        <p:nvSpPr>
          <p:cNvPr id="11" name="PDF_TEXT_GROUP_263"/>
          <p:cNvSpPr txBox="1"/>
          <p:nvPr/>
        </p:nvSpPr>
        <p:spPr>
          <a:xfrm>
            <a:off x="914808" y="4380063"/>
            <a:ext cx="1259059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Both retain identity certificates. Shared roles can also use</a:t>
            </a:r>
            <a:r>
              <a:rPr sz="2371" b="0" i="1">
                <a:solidFill>
                  <a:srgbClr val="000000"/>
                </a:solidFill>
                <a:latin typeface="Cambria Math"/>
              </a:rPr>
              <a:t> n</a:t>
            </a:r>
            <a:r>
              <a:rPr sz="2371" b="0" i="0">
                <a:solidFill>
                  <a:srgbClr val="000000"/>
                </a:solidFill>
                <a:latin typeface="Latin Modern Sans"/>
              </a:rPr>
              <a:t> certificates. Fixed</a:t>
            </a:r>
            <a:r>
              <a:rPr sz="2371" b="0" i="1">
                <a:solidFill>
                  <a:srgbClr val="000000"/>
                </a:solidFill>
                <a:latin typeface="Cambria Math"/>
              </a:rPr>
              <a:t> k</a:t>
            </a:r>
            <a:r>
              <a:rPr sz="2371" b="0" i="0">
                <a:solidFill>
                  <a:srgbClr val="000000"/>
                </a:solidFill>
                <a:latin typeface="Latin Modern Sans"/>
              </a:rPr>
              <a:t>: both grow</a:t>
            </a:r>
            <a:r>
              <a:rPr sz="2371" b="0" i="0">
                <a:solidFill>
                  <a:srgbClr val="000000"/>
                </a:solidFill>
                <a:latin typeface="Latin Modern Sans"/>
              </a:rPr>
              <a:t> linearly with</a:t>
            </a:r>
            <a:r>
              <a:rPr sz="2371" b="0" i="1">
                <a:solidFill>
                  <a:srgbClr val="000000"/>
                </a:solidFill>
                <a:latin typeface="Cambria Math"/>
              </a:rPr>
              <a:t> n</a:t>
            </a:r>
            <a:r>
              <a:rPr sz="2371" b="0" i="0">
                <a:solidFill>
                  <a:srgbClr val="000000"/>
                </a:solidFill>
                <a:latin typeface="Latin Modern Sans"/>
              </a:rPr>
              <a:t>.</a:t>
            </a:r>
          </a:p>
        </p:txBody>
      </p:sp>
      <p:sp>
        <p:nvSpPr>
          <p:cNvPr id="12" name="PDF_TEXT_GROUP_264"/>
          <p:cNvSpPr txBox="1"/>
          <p:nvPr/>
        </p:nvSpPr>
        <p:spPr>
          <a:xfrm>
            <a:off x="1123808" y="5778567"/>
            <a:ext cx="1126098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credentials need not cost less. Measure CPU time and bytes for setup, calls,</a:t>
            </a:r>
            <a:r>
              <a:rPr sz="2371" b="0" i="0">
                <a:solidFill>
                  <a:srgbClr val="000000"/>
                </a:solidFill>
                <a:latin typeface="Latin Modern Sans"/>
              </a:rPr>
              <a:t> permission updates and background checks.</a:t>
            </a:r>
          </a:p>
        </p:txBody>
      </p:sp>
      <p:sp>
        <p:nvSpPr>
          <p:cNvPr id="13" name="PDF_TEXT_GROUP_26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6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6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6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6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20/53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7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RQ1: Three Planned Validation Configurations</a:t>
            </a:r>
          </a:p>
        </p:txBody>
      </p:sp>
      <p:sp>
        <p:nvSpPr>
          <p:cNvPr id="4" name="PDF_TEXT_GROUP_271"/>
          <p:cNvSpPr txBox="1"/>
          <p:nvPr/>
        </p:nvSpPr>
        <p:spPr>
          <a:xfrm>
            <a:off x="1107736" y="149761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5" name="PDF_TEXT_GROUP_272"/>
          <p:cNvSpPr txBox="1"/>
          <p:nvPr/>
        </p:nvSpPr>
        <p:spPr>
          <a:xfrm>
            <a:off x="5463818" y="1497613"/>
            <a:ext cx="32360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Controlled comparison</a:t>
            </a:r>
          </a:p>
        </p:txBody>
      </p:sp>
      <p:sp>
        <p:nvSpPr>
          <p:cNvPr id="6" name="PDF_TEXT_GROUP_273"/>
          <p:cNvSpPr txBox="1"/>
          <p:nvPr/>
        </p:nvSpPr>
        <p:spPr>
          <a:xfrm>
            <a:off x="1107736" y="2065972"/>
            <a:ext cx="299317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G1: Per-service roles</a:t>
            </a:r>
          </a:p>
        </p:txBody>
      </p:sp>
      <p:sp>
        <p:nvSpPr>
          <p:cNvPr id="7" name="PDF_TEXT_GROUP_274"/>
          <p:cNvSpPr txBox="1"/>
          <p:nvPr/>
        </p:nvSpPr>
        <p:spPr>
          <a:xfrm>
            <a:off x="5463873" y="2065972"/>
            <a:ext cx="81934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Users, five permissions each: 500 role certificates versus</a:t>
            </a:r>
            <a:r>
              <a:rPr sz="2371" b="0" i="0">
                <a:solidFill>
                  <a:srgbClr val="000000"/>
                </a:solidFill>
                <a:latin typeface="Latin Modern Sans"/>
              </a:rPr>
              <a:t> 100 DKEYs.</a:t>
            </a:r>
          </a:p>
        </p:txBody>
      </p:sp>
      <p:sp>
        <p:nvSpPr>
          <p:cNvPr id="8" name="PDF_TEXT_GROUP_275"/>
          <p:cNvSpPr txBox="1"/>
          <p:nvPr/>
        </p:nvSpPr>
        <p:spPr>
          <a:xfrm>
            <a:off x="1107736" y="3020660"/>
            <a:ext cx="42877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G2: Shared combination roles</a:t>
            </a:r>
          </a:p>
        </p:txBody>
      </p:sp>
      <p:sp>
        <p:nvSpPr>
          <p:cNvPr id="9" name="PDF_TEXT_GROUP_276"/>
          <p:cNvSpPr txBox="1"/>
          <p:nvPr/>
        </p:nvSpPr>
        <p:spPr>
          <a:xfrm>
            <a:off x="5463689" y="3020660"/>
            <a:ext cx="802473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Same permissions: 100 role certificates versus 100 DKEYs.</a:t>
            </a:r>
            <a:r>
              <a:rPr sz="2371" b="0" i="0">
                <a:solidFill>
                  <a:srgbClr val="000000"/>
                </a:solidFill>
                <a:latin typeface="Latin Modern Sans"/>
              </a:rPr>
              <a:t> Shared roles, individual private keys.</a:t>
            </a:r>
          </a:p>
        </p:txBody>
      </p:sp>
      <p:sp>
        <p:nvSpPr>
          <p:cNvPr id="10" name="PDF_TEXT_GROUP_277"/>
          <p:cNvSpPr txBox="1"/>
          <p:nvPr/>
        </p:nvSpPr>
        <p:spPr>
          <a:xfrm>
            <a:off x="1107736" y="3975380"/>
            <a:ext cx="374145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G3: Frequent withdrawals</a:t>
            </a:r>
          </a:p>
        </p:txBody>
      </p:sp>
      <p:sp>
        <p:nvSpPr>
          <p:cNvPr id="11" name="PDF_TEXT_GROUP_278"/>
          <p:cNvSpPr txBox="1"/>
          <p:nvPr/>
        </p:nvSpPr>
        <p:spPr>
          <a:xfrm>
            <a:off x="5463625" y="3975380"/>
            <a:ext cx="77050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Fixed invocation rate; matched grant/withdrawal traces.</a:t>
            </a:r>
            <a:r>
              <a:rPr sz="2371" b="0" i="0">
                <a:solidFill>
                  <a:srgbClr val="000000"/>
                </a:solidFill>
                <a:latin typeface="Latin Modern Sans"/>
              </a:rPr>
              <a:t> Compare update delay, rekey traffic and completion.</a:t>
            </a:r>
          </a:p>
        </p:txBody>
      </p:sp>
      <p:sp>
        <p:nvSpPr>
          <p:cNvPr id="12" name="PDF_TEXT_GROUP_279"/>
          <p:cNvSpPr txBox="1"/>
          <p:nvPr/>
        </p:nvSpPr>
        <p:spPr>
          <a:xfrm>
            <a:off x="914808" y="5007268"/>
            <a:ext cx="11885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Analytical examples, not measurements. Both retain ABE-protected discovery, identical</a:t>
            </a:r>
            <a:r>
              <a:rPr sz="2371" b="0" i="0">
                <a:solidFill>
                  <a:srgbClr val="000000"/>
                </a:solidFill>
                <a:latin typeface="Latin Modern Sans"/>
              </a:rPr>
              <a:t> permissions and the same status-validity bound.</a:t>
            </a:r>
          </a:p>
        </p:txBody>
      </p:sp>
      <p:sp>
        <p:nvSpPr>
          <p:cNvPr id="13" name="PDF_TEXT_GROUP_280"/>
          <p:cNvSpPr txBox="1"/>
          <p:nvPr/>
        </p:nvSpPr>
        <p:spPr>
          <a:xfrm>
            <a:off x="1123808" y="6405772"/>
            <a:ext cx="1227336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Identify when each design is preferable, with correctness and availability checked alongside</a:t>
            </a:r>
            <a:r>
              <a:rPr sz="2371" b="0" i="0">
                <a:solidFill>
                  <a:srgbClr val="000000"/>
                </a:solidFill>
                <a:latin typeface="Latin Modern Sans"/>
              </a:rPr>
              <a:t> cost.</a:t>
            </a:r>
          </a:p>
        </p:txBody>
      </p:sp>
      <p:sp>
        <p:nvSpPr>
          <p:cNvPr id="14" name="PDF_TEXT_GROUP_28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28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28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28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28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21/53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8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Runtime Permission Grants and Withdrawals</a:t>
            </a:r>
          </a:p>
        </p:txBody>
      </p:sp>
      <p:sp>
        <p:nvSpPr>
          <p:cNvPr id="4" name="PDF_TEXT_GROUP_287"/>
          <p:cNvSpPr txBox="1"/>
          <p:nvPr/>
        </p:nvSpPr>
        <p:spPr>
          <a:xfrm>
            <a:off x="1618972" y="2029557"/>
            <a:ext cx="1030963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Both operations update Controller-signed permission status. [28]</a:t>
            </a:r>
          </a:p>
        </p:txBody>
      </p:sp>
      <p:sp>
        <p:nvSpPr>
          <p:cNvPr id="5" name="PDF_TEXT_GROUP_288"/>
          <p:cNvSpPr txBox="1"/>
          <p:nvPr/>
        </p:nvSpPr>
        <p:spPr>
          <a:xfrm>
            <a:off x="1618972" y="2563986"/>
            <a:ext cx="1169558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Ordinary grant: update the target’s complete policy; it retrieves a replacement</a:t>
            </a:r>
            <a:r>
              <a:rPr sz="2710" b="0" i="0">
                <a:solidFill>
                  <a:srgbClr val="000000"/>
                </a:solidFill>
                <a:latin typeface="Latin Modern Sans"/>
              </a:rPr>
              <a:t> DKEY. Public parameters stay unchanged.</a:t>
            </a:r>
          </a:p>
        </p:txBody>
      </p:sp>
      <p:sp>
        <p:nvSpPr>
          <p:cNvPr id="6" name="PDF_TEXT_GROUP_289"/>
          <p:cNvSpPr txBox="1"/>
          <p:nvPr/>
        </p:nvSpPr>
        <p:spPr>
          <a:xfrm>
            <a:off x="1618972" y="3536253"/>
            <a:ext cx="1127373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Withdrawal: rotate the Controller’s ABE master key and public parameters;</a:t>
            </a:r>
            <a:r>
              <a:rPr sz="2710" b="0" i="0">
                <a:solidFill>
                  <a:srgbClr val="000000"/>
                </a:solidFill>
                <a:latin typeface="Latin Modern Sans"/>
              </a:rPr>
              <a:t> remaining members obtain DKEYs for their remaining permissions.</a:t>
            </a:r>
          </a:p>
        </p:txBody>
      </p:sp>
      <p:sp>
        <p:nvSpPr>
          <p:cNvPr id="7" name="PDF_TEXT_GROUP_290"/>
          <p:cNvSpPr txBox="1"/>
          <p:nvPr/>
        </p:nvSpPr>
        <p:spPr>
          <a:xfrm>
            <a:off x="1143656" y="5129941"/>
            <a:ext cx="12353074"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master key stays with the Controller. Rotation is Controller-wide. Participants</a:t>
            </a:r>
            <a:r>
              <a:rPr sz="2710" b="0" i="0">
                <a:solidFill>
                  <a:srgbClr val="000000"/>
                </a:solidFill>
                <a:latin typeface="Latin Modern Sans"/>
              </a:rPr>
              <a:t> must retrieve and validate updates before applying them; disconnected nodes</a:t>
            </a:r>
            <a:r>
              <a:rPr sz="2710" b="0" i="0">
                <a:solidFill>
                  <a:srgbClr val="000000"/>
                </a:solidFill>
                <a:latin typeface="Latin Modern Sans"/>
              </a:rPr>
              <a:t> cannot do so immediately.</a:t>
            </a:r>
          </a:p>
        </p:txBody>
      </p:sp>
      <p:sp>
        <p:nvSpPr>
          <p:cNvPr id="8" name="PDF_TEXT_GROUP_29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9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9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9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9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22/53</a:t>
            </a:r>
          </a:p>
        </p:txBody>
      </p:sp>
      <p:sp>
        <p:nvSpPr>
          <p:cNvPr id="13" name="PDF_BULLET_SPAN_432"/>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434"/>
          <p:cNvSpPr/>
          <p:nvPr/>
        </p:nvSpPr>
        <p:spPr>
          <a:xfrm rot="5400000">
            <a:off x="1207424" y="264977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37"/>
          <p:cNvSpPr/>
          <p:nvPr/>
        </p:nvSpPr>
        <p:spPr>
          <a:xfrm rot="5400000">
            <a:off x="1207424" y="36220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29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Permission Updates: Discovery, Validation and Application</a:t>
            </a:r>
          </a:p>
        </p:txBody>
      </p:sp>
      <p:sp>
        <p:nvSpPr>
          <p:cNvPr id="4" name="PDF_TEXT_GROUP_297"/>
          <p:cNvSpPr txBox="1"/>
          <p:nvPr/>
        </p:nvSpPr>
        <p:spPr>
          <a:xfrm>
            <a:off x="1169087" y="1918490"/>
            <a:ext cx="12238723"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Revised design: the Controller publishes new public parameters as signed Data;</a:t>
            </a:r>
            <a:r>
              <a:rPr sz="2710" b="0" i="0">
                <a:solidFill>
                  <a:srgbClr val="000000"/>
                </a:solidFill>
                <a:latin typeface="Latin Modern Sans"/>
              </a:rPr>
              <a:t> Sync announces availability.</a:t>
            </a:r>
          </a:p>
        </p:txBody>
      </p:sp>
      <p:sp>
        <p:nvSpPr>
          <p:cNvPr id="5" name="PDF_TEXT_GROUP_298"/>
          <p:cNvSpPr txBox="1"/>
          <p:nvPr/>
        </p:nvSpPr>
        <p:spPr>
          <a:xfrm>
            <a:off x="1169087" y="2890757"/>
            <a:ext cx="12408384"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Participants retrieve and validate parameters and permission status, then refresh</a:t>
            </a:r>
            <a:r>
              <a:rPr sz="2710" b="0" i="0">
                <a:solidFill>
                  <a:srgbClr val="000000"/>
                </a:solidFill>
                <a:latin typeface="Latin Modern Sans"/>
              </a:rPr>
              <a:t> DKEYs as required.</a:t>
            </a:r>
          </a:p>
        </p:txBody>
      </p:sp>
      <p:sp>
        <p:nvSpPr>
          <p:cNvPr id="6" name="PDF_TEXT_GROUP_299"/>
          <p:cNvSpPr txBox="1"/>
          <p:nvPr/>
        </p:nvSpPr>
        <p:spPr>
          <a:xfrm>
            <a:off x="1169087" y="3863024"/>
            <a:ext cx="1340337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Grants also require status discovery, even when public parameters do not change.</a:t>
            </a:r>
          </a:p>
        </p:txBody>
      </p:sp>
      <p:sp>
        <p:nvSpPr>
          <p:cNvPr id="7" name="PDF_TEXT_GROUP_300"/>
          <p:cNvSpPr txBox="1"/>
          <p:nvPr/>
        </p:nvSpPr>
        <p:spPr>
          <a:xfrm>
            <a:off x="1143656" y="4927260"/>
            <a:ext cx="12446373" cy="180556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Status retrieval and rotation are implemented; Sync announcements are planned for</a:t>
            </a:r>
            <a:r>
              <a:rPr sz="2710" b="0" i="0">
                <a:solidFill>
                  <a:srgbClr val="000000"/>
                </a:solidFill>
                <a:latin typeface="Latin Modern Sans"/>
              </a:rPr>
              <a:t> end-to-end validation. Evaluation will measure propagation, rejection delay and</a:t>
            </a:r>
            <a:r>
              <a:rPr sz="2710" b="0" i="0">
                <a:solidFill>
                  <a:srgbClr val="000000"/>
                </a:solidFill>
                <a:latin typeface="Latin Modern Sans"/>
              </a:rPr>
              <a:t> rekeying traffic. Previously disclosed keys and plaintext remain accessible to their</a:t>
            </a:r>
            <a:r>
              <a:rPr sz="2710" b="0" i="0">
                <a:solidFill>
                  <a:srgbClr val="000000"/>
                </a:solidFill>
                <a:latin typeface="Latin Modern Sans"/>
              </a:rPr>
              <a:t> holders.</a:t>
            </a:r>
          </a:p>
        </p:txBody>
      </p:sp>
      <p:sp>
        <p:nvSpPr>
          <p:cNvPr id="8" name="PDF_TEXT_GROUP_30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30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30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30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30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23/53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30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307"/>
          <p:cNvSpPr txBox="1"/>
          <p:nvPr/>
        </p:nvSpPr>
        <p:spPr>
          <a:xfrm>
            <a:off x="1618972" y="1750580"/>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308"/>
          <p:cNvSpPr txBox="1"/>
          <p:nvPr/>
        </p:nvSpPr>
        <p:spPr>
          <a:xfrm>
            <a:off x="1618972" y="2285009"/>
            <a:ext cx="1211838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309"/>
          <p:cNvSpPr txBox="1"/>
          <p:nvPr/>
        </p:nvSpPr>
        <p:spPr>
          <a:xfrm>
            <a:off x="1618972" y="3257276"/>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310"/>
          <p:cNvSpPr txBox="1"/>
          <p:nvPr/>
        </p:nvSpPr>
        <p:spPr>
          <a:xfrm>
            <a:off x="1618972" y="4229543"/>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311"/>
          <p:cNvSpPr txBox="1"/>
          <p:nvPr/>
        </p:nvSpPr>
        <p:spPr>
          <a:xfrm>
            <a:off x="1143656" y="5548422"/>
            <a:ext cx="12161021"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Scope: trusted Controller and User, Content confidentiality, and withdrawal after</a:t>
            </a:r>
            <a:r>
              <a:rPr sz="2710" b="0" i="0">
                <a:solidFill>
                  <a:srgbClr val="000000"/>
                </a:solidFill>
                <a:latin typeface="Latin Modern Sans"/>
              </a:rPr>
              <a:t> validated updates. Malicious-coordinator agreement and traffic-analysis resistance</a:t>
            </a:r>
            <a:r>
              <a:rPr sz="2710" b="0" i="0">
                <a:solidFill>
                  <a:srgbClr val="000000"/>
                </a:solidFill>
                <a:latin typeface="Latin Modern Sans"/>
              </a:rPr>
              <a:t> are outside this scope.</a:t>
            </a:r>
          </a:p>
        </p:txBody>
      </p:sp>
      <p:sp>
        <p:nvSpPr>
          <p:cNvPr id="9" name="PDF_TEXT_GROUP_31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1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1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1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1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24/53</a:t>
            </a:r>
          </a:p>
        </p:txBody>
      </p:sp>
      <p:sp>
        <p:nvSpPr>
          <p:cNvPr id="14" name="PDF_BULLET_SPAN_467"/>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69"/>
          <p:cNvSpPr/>
          <p:nvPr/>
        </p:nvSpPr>
        <p:spPr>
          <a:xfrm rot="5400000">
            <a:off x="1207424" y="23708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72"/>
          <p:cNvSpPr/>
          <p:nvPr/>
        </p:nvSpPr>
        <p:spPr>
          <a:xfrm rot="5400000">
            <a:off x="1207424" y="334306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75"/>
          <p:cNvSpPr/>
          <p:nvPr/>
        </p:nvSpPr>
        <p:spPr>
          <a:xfrm rot="5400000">
            <a:off x="1207424" y="431533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1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Extension: From Positive ACKs to a Role Plan</a:t>
            </a:r>
          </a:p>
        </p:txBody>
      </p:sp>
      <p:sp>
        <p:nvSpPr>
          <p:cNvPr id="4" name="PDF_TEXT_GROUP_318"/>
          <p:cNvSpPr txBox="1"/>
          <p:nvPr/>
        </p:nvSpPr>
        <p:spPr>
          <a:xfrm>
            <a:off x="1169087" y="2187546"/>
            <a:ext cx="10978313"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dependencies, constraints and deadline.</a:t>
            </a:r>
          </a:p>
        </p:txBody>
      </p:sp>
      <p:sp>
        <p:nvSpPr>
          <p:cNvPr id="5" name="PDF_TEXT_GROUP_319"/>
          <p:cNvSpPr txBox="1"/>
          <p:nvPr/>
        </p:nvSpPr>
        <p:spPr>
          <a:xfrm>
            <a:off x="1169087" y="2721975"/>
            <a:ext cx="12699899"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User closes ACK collection and freezes eligible, validated positive ACKs.</a:t>
            </a:r>
          </a:p>
        </p:txBody>
      </p:sp>
      <p:sp>
        <p:nvSpPr>
          <p:cNvPr id="6" name="PDF_TEXT_GROUP_320"/>
          <p:cNvSpPr txBox="1"/>
          <p:nvPr/>
        </p:nvSpPr>
        <p:spPr>
          <a:xfrm>
            <a:off x="1169087" y="3256403"/>
            <a:ext cx="10474883"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 replaceable policy assigns Providers; the User signs the plan.</a:t>
            </a:r>
          </a:p>
        </p:txBody>
      </p:sp>
      <p:sp>
        <p:nvSpPr>
          <p:cNvPr id="7" name="PDF_TEXT_GROUP_321"/>
          <p:cNvSpPr txBox="1"/>
          <p:nvPr/>
        </p:nvSpPr>
        <p:spPr>
          <a:xfrm>
            <a:off x="1169087" y="3790832"/>
            <a:ext cx="11984983"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Providers validate assignments, permitted inputs and resource readiness.</a:t>
            </a:r>
          </a:p>
        </p:txBody>
      </p:sp>
      <p:sp>
        <p:nvSpPr>
          <p:cNvPr id="8" name="PDF_TEXT_GROUP_322"/>
          <p:cNvSpPr txBox="1"/>
          <p:nvPr/>
        </p:nvSpPr>
        <p:spPr>
          <a:xfrm>
            <a:off x="1143656" y="4961482"/>
            <a:ext cx="12439824"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template precedes discovery; concrete signer/name constraints follow ACKs.</a:t>
            </a:r>
            <a:r>
              <a:rPr sz="2710" b="0" i="0">
                <a:solidFill>
                  <a:srgbClr val="000000"/>
                </a:solidFill>
                <a:latin typeface="Latin Modern Sans"/>
              </a:rPr>
              <a:t> Core commit checks exist. [28] Dependency and recovery contracts remain research</a:t>
            </a:r>
            <a:r>
              <a:rPr sz="2710" b="0" i="0">
                <a:solidFill>
                  <a:srgbClr val="000000"/>
                </a:solidFill>
                <a:latin typeface="Latin Modern Sans"/>
              </a:rPr>
              <a:t> to validate.</a:t>
            </a:r>
          </a:p>
        </p:txBody>
      </p:sp>
      <p:sp>
        <p:nvSpPr>
          <p:cNvPr id="9" name="PDF_TEXT_GROUP_32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2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2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2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2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25/53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2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329"/>
          <p:cNvSpPr txBox="1"/>
          <p:nvPr/>
        </p:nvSpPr>
        <p:spPr>
          <a:xfrm>
            <a:off x="914808" y="1314967"/>
            <a:ext cx="134589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 User assigns UAV A to view 1, UAV B to view 2, and Provider C to analysis.</a:t>
            </a:r>
          </a:p>
        </p:txBody>
      </p:sp>
      <p:sp>
        <p:nvSpPr>
          <p:cNvPr id="5" name="PDF_TEXT_GROUP_330"/>
          <p:cNvSpPr txBox="1"/>
          <p:nvPr/>
        </p:nvSpPr>
        <p:spPr>
          <a:xfrm>
            <a:off x="2030957" y="2188673"/>
            <a:ext cx="2527762"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UAV A</a:t>
            </a:r>
            <a:br/>
            <a:r>
              <a:rPr sz="2371" b="0" i="0">
                <a:solidFill>
                  <a:srgbClr val="000000"/>
                </a:solidFill>
                <a:latin typeface="Latin Modern Sans"/>
              </a:rPr>
              <a:t>signed ViewImage</a:t>
            </a:r>
          </a:p>
        </p:txBody>
      </p:sp>
      <p:sp>
        <p:nvSpPr>
          <p:cNvPr id="6" name="PDF_TEXT_GROUP_331"/>
          <p:cNvSpPr txBox="1"/>
          <p:nvPr/>
        </p:nvSpPr>
        <p:spPr>
          <a:xfrm>
            <a:off x="6719871" y="3013098"/>
            <a:ext cx="165246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 validates</a:t>
            </a:r>
          </a:p>
        </p:txBody>
      </p:sp>
      <p:sp>
        <p:nvSpPr>
          <p:cNvPr id="7" name="PDF_TEXT_GROUP_332"/>
          <p:cNvSpPr txBox="1"/>
          <p:nvPr/>
        </p:nvSpPr>
        <p:spPr>
          <a:xfrm>
            <a:off x="10268539" y="3013098"/>
            <a:ext cx="232798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 analyzes after</a:t>
            </a:r>
          </a:p>
        </p:txBody>
      </p:sp>
      <p:sp>
        <p:nvSpPr>
          <p:cNvPr id="8" name="PDF_TEXT_GROUP_333"/>
          <p:cNvSpPr txBox="1"/>
          <p:nvPr/>
        </p:nvSpPr>
        <p:spPr>
          <a:xfrm>
            <a:off x="6216607" y="3399426"/>
            <a:ext cx="26765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producer and edge</a:t>
            </a:r>
          </a:p>
        </p:txBody>
      </p:sp>
      <p:sp>
        <p:nvSpPr>
          <p:cNvPr id="9" name="PDF_TEXT_GROUP_334"/>
          <p:cNvSpPr txBox="1"/>
          <p:nvPr/>
        </p:nvSpPr>
        <p:spPr>
          <a:xfrm>
            <a:off x="10235266" y="3399426"/>
            <a:ext cx="23946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both inputs pass</a:t>
            </a:r>
          </a:p>
        </p:txBody>
      </p:sp>
      <p:sp>
        <p:nvSpPr>
          <p:cNvPr id="10" name="PDF_TEXT_GROUP_335"/>
          <p:cNvSpPr txBox="1"/>
          <p:nvPr/>
        </p:nvSpPr>
        <p:spPr>
          <a:xfrm>
            <a:off x="2030957" y="3850384"/>
            <a:ext cx="2527762"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UAV B</a:t>
            </a:r>
            <a:br/>
            <a:r>
              <a:rPr sz="2371" b="0" i="0">
                <a:solidFill>
                  <a:srgbClr val="000000"/>
                </a:solidFill>
                <a:latin typeface="Latin Modern Sans"/>
              </a:rPr>
              <a:t>signed ViewImage</a:t>
            </a:r>
          </a:p>
        </p:txBody>
      </p:sp>
      <p:sp>
        <p:nvSpPr>
          <p:cNvPr id="11" name="PDF_TEXT_GROUP_336"/>
          <p:cNvSpPr txBox="1"/>
          <p:nvPr/>
        </p:nvSpPr>
        <p:spPr>
          <a:xfrm>
            <a:off x="914808" y="5241004"/>
            <a:ext cx="1298217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Arrows show object dependencies; Interests retrieve the images from producers or caches.</a:t>
            </a:r>
          </a:p>
        </p:txBody>
      </p:sp>
      <p:sp>
        <p:nvSpPr>
          <p:cNvPr id="12" name="PDF_TEXT_GROUP_337"/>
          <p:cNvSpPr txBox="1"/>
          <p:nvPr/>
        </p:nvSpPr>
        <p:spPr>
          <a:xfrm>
            <a:off x="1123808" y="5978404"/>
            <a:ext cx="125173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B’s valid signature and matching request ID do not let its image fill A’s view-1 role. C must</a:t>
            </a:r>
            <a:r>
              <a:rPr sz="2371" b="0" i="0">
                <a:solidFill>
                  <a:srgbClr val="000000"/>
                </a:solidFill>
                <a:latin typeface="Latin Modern Sans"/>
              </a:rPr>
              <a:t> check the assignment before accepting that dependency.</a:t>
            </a:r>
          </a:p>
        </p:txBody>
      </p:sp>
      <p:sp>
        <p:nvSpPr>
          <p:cNvPr id="13" name="PDF_TEXT_GROUP_33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3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4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4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4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26/53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4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344"/>
          <p:cNvSpPr txBox="1"/>
          <p:nvPr/>
        </p:nvSpPr>
        <p:spPr>
          <a:xfrm>
            <a:off x="1169087" y="1602027"/>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345"/>
          <p:cNvSpPr txBox="1"/>
          <p:nvPr/>
        </p:nvSpPr>
        <p:spPr>
          <a:xfrm>
            <a:off x="1169087" y="2136456"/>
            <a:ext cx="11986009"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Check active execution and deadline; identify the permitted dependency.</a:t>
            </a:r>
          </a:p>
        </p:txBody>
      </p:sp>
      <p:sp>
        <p:nvSpPr>
          <p:cNvPr id="6" name="PDF_TEXT_GROUP_346"/>
          <p:cNvSpPr txBox="1"/>
          <p:nvPr/>
        </p:nvSpPr>
        <p:spPr>
          <a:xfrm>
            <a:off x="1169087" y="2670884"/>
            <a:ext cx="12661592"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For new Data, match request/plan/execution and assigned producer; for historical</a:t>
            </a:r>
            <a:r>
              <a:rPr sz="2710" b="0" i="0">
                <a:solidFill>
                  <a:srgbClr val="000000"/>
                </a:solidFill>
                <a:latin typeface="Latin Modern Sans"/>
              </a:rPr>
              <a:t> Data, check explicit reuse permission.</a:t>
            </a:r>
          </a:p>
        </p:txBody>
      </p:sp>
      <p:sp>
        <p:nvSpPr>
          <p:cNvPr id="7" name="PDF_TEXT_GROUP_347"/>
          <p:cNvSpPr txBox="1"/>
          <p:nvPr/>
        </p:nvSpPr>
        <p:spPr>
          <a:xfrm>
            <a:off x="1169087" y="3643151"/>
            <a:ext cx="1228804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Check that the object matches the declared edge, permitted name, data format</a:t>
            </a:r>
            <a:r>
              <a:rPr sz="2710" b="0" i="0">
                <a:solidFill>
                  <a:srgbClr val="000000"/>
                </a:solidFill>
                <a:latin typeface="Latin Modern Sans"/>
              </a:rPr>
              <a:t> and key scope.</a:t>
            </a:r>
          </a:p>
        </p:txBody>
      </p:sp>
      <p:sp>
        <p:nvSpPr>
          <p:cNvPr id="8" name="PDF_TEXT_GROUP_348"/>
          <p:cNvSpPr txBox="1"/>
          <p:nvPr/>
        </p:nvSpPr>
        <p:spPr>
          <a:xfrm>
            <a:off x="1169087" y="4615418"/>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349"/>
          <p:cNvSpPr txBox="1"/>
          <p:nvPr/>
        </p:nvSpPr>
        <p:spPr>
          <a:xfrm>
            <a:off x="1143656" y="5771235"/>
            <a:ext cx="12010476"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proposed rules apply equally to Data retrieved from producers, caches and</a:t>
            </a:r>
            <a:r>
              <a:rPr sz="2710" b="0" i="0">
                <a:solidFill>
                  <a:srgbClr val="000000"/>
                </a:solidFill>
                <a:latin typeface="Latin Modern Sans"/>
              </a:rPr>
              <a:t> repositories. End-to-end tests will check valid inputs and rejection of wrong-role,</a:t>
            </a:r>
            <a:r>
              <a:rPr sz="2710" b="0" i="0">
                <a:solidFill>
                  <a:srgbClr val="000000"/>
                </a:solidFill>
                <a:latin typeface="Latin Modern Sans"/>
              </a:rPr>
              <a:t> wrong-edge and outdated-execution objects.</a:t>
            </a:r>
          </a:p>
        </p:txBody>
      </p:sp>
      <p:sp>
        <p:nvSpPr>
          <p:cNvPr id="10" name="PDF_TEXT_GROUP_35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35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35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35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35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27/53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5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Collaboration Recovery Needs Explicit State</a:t>
            </a:r>
          </a:p>
        </p:txBody>
      </p:sp>
      <p:sp>
        <p:nvSpPr>
          <p:cNvPr id="4" name="PDF_TEXT_GROUP_356"/>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357"/>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358"/>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359"/>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360"/>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361"/>
          <p:cNvSpPr txBox="1"/>
          <p:nvPr/>
        </p:nvSpPr>
        <p:spPr>
          <a:xfrm>
            <a:off x="5335879" y="2355226"/>
            <a:ext cx="77098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whether execution was already authorized; do not</a:t>
            </a:r>
            <a:r>
              <a:rPr sz="2371" b="0" i="0">
                <a:solidFill>
                  <a:srgbClr val="000000"/>
                </a:solidFill>
                <a:latin typeface="Latin Modern Sans"/>
              </a:rPr>
              <a:t> repeat a side effect</a:t>
            </a:r>
          </a:p>
        </p:txBody>
      </p:sp>
      <p:sp>
        <p:nvSpPr>
          <p:cNvPr id="10" name="PDF_TEXT_GROUP_362"/>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363"/>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364"/>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365"/>
          <p:cNvSpPr txBox="1"/>
          <p:nvPr/>
        </p:nvSpPr>
        <p:spPr>
          <a:xfrm>
            <a:off x="5335879" y="4264633"/>
            <a:ext cx="83213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reject old execution actions and</a:t>
            </a:r>
            <a:r>
              <a:rPr sz="2371" b="0" i="0">
                <a:solidFill>
                  <a:srgbClr val="000000"/>
                </a:solidFill>
                <a:latin typeface="Latin Modern Sans"/>
              </a:rPr>
              <a:t> specify permitted result reuse</a:t>
            </a:r>
          </a:p>
        </p:txBody>
      </p:sp>
      <p:sp>
        <p:nvSpPr>
          <p:cNvPr id="14" name="PDF_TEXT_GROUP_366"/>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367"/>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368"/>
          <p:cNvSpPr txBox="1"/>
          <p:nvPr/>
        </p:nvSpPr>
        <p:spPr>
          <a:xfrm>
            <a:off x="1123808" y="6100685"/>
            <a:ext cx="1216369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new plan may permit a specific old artifact with its original name and signature. This</a:t>
            </a:r>
            <a:r>
              <a:rPr sz="2371" b="0" i="0">
                <a:solidFill>
                  <a:srgbClr val="000000"/>
                </a:solidFill>
                <a:latin typeface="Latin Modern Sans"/>
              </a:rPr>
              <a:t> does not reactivate the old execution. Application checks still decide whether it is usable.</a:t>
            </a:r>
          </a:p>
        </p:txBody>
      </p:sp>
      <p:sp>
        <p:nvSpPr>
          <p:cNvPr id="17" name="PDF_TEXT_GROUP_36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37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37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37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37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28/53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7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NDNSF-UAV: Planned Framework Validation</a:t>
            </a:r>
          </a:p>
        </p:txBody>
      </p:sp>
      <p:sp>
        <p:nvSpPr>
          <p:cNvPr id="4" name="PDF_TEXT_GROUP_375"/>
          <p:cNvSpPr txBox="1"/>
          <p:nvPr/>
        </p:nvSpPr>
        <p:spPr>
          <a:xfrm>
            <a:off x="914808" y="1212496"/>
            <a:ext cx="105842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(unmanned aerial vehicle) workflows test NDNSF mechanisms. [28]</a:t>
            </a:r>
          </a:p>
        </p:txBody>
      </p:sp>
      <p:sp>
        <p:nvSpPr>
          <p:cNvPr id="5" name="PDF_TEXT_GROUP_376"/>
          <p:cNvSpPr txBox="1"/>
          <p:nvPr/>
        </p:nvSpPr>
        <p:spPr>
          <a:xfrm>
            <a:off x="1107736" y="1908694"/>
            <a:ext cx="2935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Application function</a:t>
            </a:r>
          </a:p>
        </p:txBody>
      </p:sp>
      <p:sp>
        <p:nvSpPr>
          <p:cNvPr id="6" name="PDF_TEXT_GROUP_377"/>
          <p:cNvSpPr txBox="1"/>
          <p:nvPr/>
        </p:nvSpPr>
        <p:spPr>
          <a:xfrm>
            <a:off x="6232064" y="1908694"/>
            <a:ext cx="357001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validation scope</a:t>
            </a:r>
          </a:p>
        </p:txBody>
      </p:sp>
      <p:sp>
        <p:nvSpPr>
          <p:cNvPr id="7" name="PDF_TEXT_GROUP_378"/>
          <p:cNvSpPr txBox="1"/>
          <p:nvPr/>
        </p:nvSpPr>
        <p:spPr>
          <a:xfrm>
            <a:off x="1107736" y="2477054"/>
            <a:ext cx="4862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Control, telemetry, mission status</a:t>
            </a:r>
          </a:p>
        </p:txBody>
      </p:sp>
      <p:sp>
        <p:nvSpPr>
          <p:cNvPr id="8" name="PDF_TEXT_GROUP_379"/>
          <p:cNvSpPr txBox="1"/>
          <p:nvPr/>
        </p:nvSpPr>
        <p:spPr>
          <a:xfrm>
            <a:off x="6232224" y="2477054"/>
            <a:ext cx="713723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Provider/request association, permissions, operation</a:t>
            </a:r>
            <a:r>
              <a:rPr sz="2371" b="0" i="0">
                <a:solidFill>
                  <a:srgbClr val="000000"/>
                </a:solidFill>
                <a:latin typeface="Latin Modern Sans"/>
              </a:rPr>
              <a:t> lifecycle</a:t>
            </a:r>
          </a:p>
        </p:txBody>
      </p:sp>
      <p:sp>
        <p:nvSpPr>
          <p:cNvPr id="9" name="PDF_TEXT_GROUP_380"/>
          <p:cNvSpPr txBox="1"/>
          <p:nvPr/>
        </p:nvSpPr>
        <p:spPr>
          <a:xfrm>
            <a:off x="1107736" y="3431741"/>
            <a:ext cx="36673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Live video and recordings</a:t>
            </a:r>
          </a:p>
        </p:txBody>
      </p:sp>
      <p:sp>
        <p:nvSpPr>
          <p:cNvPr id="10" name="PDF_TEXT_GROUP_381"/>
          <p:cNvSpPr txBox="1"/>
          <p:nvPr/>
        </p:nvSpPr>
        <p:spPr>
          <a:xfrm>
            <a:off x="6232256" y="3431741"/>
            <a:ext cx="678783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Stream lifecycle, protected delivery, named-object</a:t>
            </a:r>
            <a:r>
              <a:rPr sz="2371" b="0" i="0">
                <a:solidFill>
                  <a:srgbClr val="000000"/>
                </a:solidFill>
                <a:latin typeface="Latin Modern Sans"/>
              </a:rPr>
              <a:t> retrieval</a:t>
            </a:r>
          </a:p>
        </p:txBody>
      </p:sp>
      <p:sp>
        <p:nvSpPr>
          <p:cNvPr id="11" name="PDF_TEXT_GROUP_382"/>
          <p:cNvSpPr txBox="1"/>
          <p:nvPr/>
        </p:nvSpPr>
        <p:spPr>
          <a:xfrm>
            <a:off x="1107736" y="4386429"/>
            <a:ext cx="44987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Detection and multi-view tasks</a:t>
            </a:r>
          </a:p>
        </p:txBody>
      </p:sp>
      <p:sp>
        <p:nvSpPr>
          <p:cNvPr id="12" name="PDF_TEXT_GROUP_383"/>
          <p:cNvSpPr txBox="1"/>
          <p:nvPr/>
        </p:nvSpPr>
        <p:spPr>
          <a:xfrm>
            <a:off x="6232031" y="4386429"/>
            <a:ext cx="67103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 provision/consumption, role assignments,</a:t>
            </a:r>
            <a:r>
              <a:rPr sz="2371" b="0" i="0">
                <a:solidFill>
                  <a:srgbClr val="000000"/>
                </a:solidFill>
                <a:latin typeface="Latin Modern Sans"/>
              </a:rPr>
              <a:t> dependencies</a:t>
            </a:r>
          </a:p>
        </p:txBody>
      </p:sp>
      <p:sp>
        <p:nvSpPr>
          <p:cNvPr id="13" name="PDF_TEXT_GROUP_384"/>
          <p:cNvSpPr txBox="1"/>
          <p:nvPr/>
        </p:nvSpPr>
        <p:spPr>
          <a:xfrm>
            <a:off x="1123808" y="5654153"/>
            <a:ext cx="12462997"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 these workflows to test the invocation foundation and collaboration extension. Validate</a:t>
            </a:r>
            <a:r>
              <a:rPr sz="2371" b="0" i="0">
                <a:solidFill>
                  <a:srgbClr val="000000"/>
                </a:solidFill>
                <a:latin typeface="Latin Modern Sans"/>
              </a:rPr>
              <a:t> service behavior through the actual NDNSF path; evaluate flight safety and perception</a:t>
            </a:r>
            <a:r>
              <a:rPr sz="2371" b="0" i="0">
                <a:solidFill>
                  <a:srgbClr val="000000"/>
                </a:solidFill>
                <a:latin typeface="Latin Modern Sans"/>
              </a:rPr>
              <a:t> accuracy separately.</a:t>
            </a:r>
          </a:p>
        </p:txBody>
      </p:sp>
      <p:sp>
        <p:nvSpPr>
          <p:cNvPr id="14" name="PDF_TEXT_GROUP_38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38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38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38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38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29/53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39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UAV Collaboration Example: Capture, Analyze and Return</a:t>
            </a:r>
          </a:p>
        </p:txBody>
      </p:sp>
      <p:sp>
        <p:nvSpPr>
          <p:cNvPr id="4" name="PDF_TEXT_GROUP_391"/>
          <p:cNvSpPr txBox="1"/>
          <p:nvPr/>
        </p:nvSpPr>
        <p:spPr>
          <a:xfrm>
            <a:off x="914808" y="1803638"/>
            <a:ext cx="111721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 operator selects a ground area on a map and requests views and analysis.</a:t>
            </a:r>
          </a:p>
        </p:txBody>
      </p:sp>
      <p:sp>
        <p:nvSpPr>
          <p:cNvPr id="5" name="PDF_TEXT_GROUP_392"/>
          <p:cNvSpPr txBox="1"/>
          <p:nvPr/>
        </p:nvSpPr>
        <p:spPr>
          <a:xfrm>
            <a:off x="1192840" y="2383146"/>
            <a:ext cx="11241341"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Selected UAVs capture views, symmetrically encrypt images, and publish signed</a:t>
            </a:r>
            <a:r>
              <a:rPr sz="2371" b="0" i="0">
                <a:solidFill>
                  <a:srgbClr val="000000"/>
                </a:solidFill>
                <a:latin typeface="Latin Modern Sans"/>
              </a:rPr>
              <a:t> ViewImage Data under their own authorized namespaces.</a:t>
            </a:r>
          </a:p>
        </p:txBody>
      </p:sp>
      <p:sp>
        <p:nvSpPr>
          <p:cNvPr id="6" name="PDF_TEXT_GROUP_393"/>
          <p:cNvSpPr txBox="1"/>
          <p:nvPr/>
        </p:nvSpPr>
        <p:spPr>
          <a:xfrm>
            <a:off x="1192840" y="3348982"/>
            <a:ext cx="11950169"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assigned compute Provider retrieves permitted images and publishes Annotation</a:t>
            </a:r>
            <a:r>
              <a:rPr sz="2371" b="0" i="0">
                <a:solidFill>
                  <a:srgbClr val="000000"/>
                </a:solidFill>
                <a:latin typeface="Latin Modern Sans"/>
              </a:rPr>
              <a:t> Data.</a:t>
            </a:r>
          </a:p>
        </p:txBody>
      </p:sp>
      <p:sp>
        <p:nvSpPr>
          <p:cNvPr id="7" name="PDF_TEXT_GROUP_394"/>
          <p:cNvSpPr txBox="1"/>
          <p:nvPr/>
        </p:nvSpPr>
        <p:spPr>
          <a:xfrm>
            <a:off x="1192840" y="4314818"/>
            <a:ext cx="11830499"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Its encrypted result supplies original image names and permitted keys; the requester</a:t>
            </a:r>
            <a:r>
              <a:rPr sz="2371" b="0" i="0">
                <a:solidFill>
                  <a:srgbClr val="000000"/>
                </a:solidFill>
                <a:latin typeface="Latin Modern Sans"/>
              </a:rPr>
              <a:t> retrieves images and displays annotations.</a:t>
            </a:r>
          </a:p>
        </p:txBody>
      </p:sp>
      <p:sp>
        <p:nvSpPr>
          <p:cNvPr id="8" name="PDF_TEXT_GROUP_395"/>
          <p:cNvSpPr txBox="1"/>
          <p:nvPr/>
        </p:nvSpPr>
        <p:spPr>
          <a:xfrm>
            <a:off x="1123808" y="5814889"/>
            <a:ext cx="11795067"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Reuse original image Data. Fixed-camera viewing geometry requires synchronized UAV</a:t>
            </a:r>
            <a:r>
              <a:rPr sz="2371" b="0" i="0">
                <a:solidFill>
                  <a:srgbClr val="000000"/>
                </a:solidFill>
                <a:latin typeface="Latin Modern Sans"/>
              </a:rPr>
              <a:t> attitude and calibration; GPS alone does not establish visibility.</a:t>
            </a:r>
          </a:p>
        </p:txBody>
      </p:sp>
      <p:sp>
        <p:nvSpPr>
          <p:cNvPr id="9" name="PDF_TEXT_GROUP_39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9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9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9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0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30/53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40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UAV Authorization and Safety: Separate Responsibilities</a:t>
            </a:r>
          </a:p>
        </p:txBody>
      </p:sp>
      <p:sp>
        <p:nvSpPr>
          <p:cNvPr id="4" name="PDF_TEXT_GROUP_402"/>
          <p:cNvSpPr txBox="1"/>
          <p:nvPr/>
        </p:nvSpPr>
        <p:spPr>
          <a:xfrm>
            <a:off x="1618972" y="2204706"/>
            <a:ext cx="722505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Core: service authorization and request state.</a:t>
            </a:r>
          </a:p>
        </p:txBody>
      </p:sp>
      <p:sp>
        <p:nvSpPr>
          <p:cNvPr id="5" name="PDF_TEXT_GROUP_403"/>
          <p:cNvSpPr txBox="1"/>
          <p:nvPr/>
        </p:nvSpPr>
        <p:spPr>
          <a:xfrm>
            <a:off x="1618972" y="2739134"/>
            <a:ext cx="1148455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UAV application: operator authority, mission progress and reassignment.</a:t>
            </a:r>
          </a:p>
        </p:txBody>
      </p:sp>
      <p:sp>
        <p:nvSpPr>
          <p:cNvPr id="6" name="PDF_TEXT_GROUP_404"/>
          <p:cNvSpPr txBox="1"/>
          <p:nvPr/>
        </p:nvSpPr>
        <p:spPr>
          <a:xfrm>
            <a:off x="1618972" y="3273563"/>
            <a:ext cx="9211136"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Vehicle: readiness, flight limits and local failsafe behavior.</a:t>
            </a:r>
          </a:p>
        </p:txBody>
      </p:sp>
      <p:sp>
        <p:nvSpPr>
          <p:cNvPr id="7" name="PDF_TEXT_GROUP_405"/>
          <p:cNvSpPr txBox="1"/>
          <p:nvPr/>
        </p:nvSpPr>
        <p:spPr>
          <a:xfrm>
            <a:off x="1143656" y="4429380"/>
            <a:ext cx="12188482" cy="180560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Operator leases are currently checked at the ground station, without an</a:t>
            </a:r>
            <a:r>
              <a:rPr sz="2710" b="0" i="0">
                <a:solidFill>
                  <a:srgbClr val="000000"/>
                </a:solidFill>
                <a:latin typeface="Latin Modern Sans"/>
              </a:rPr>
              <a:t> independent repeat check in the Drone MAVLink handler. [28] Tests will examine</a:t>
            </a:r>
            <a:r>
              <a:rPr sz="2710" b="0" i="0">
                <a:solidFill>
                  <a:srgbClr val="000000"/>
                </a:solidFill>
                <a:latin typeface="Latin Modern Sans"/>
              </a:rPr>
              <a:t> this command path. NDNSF ACK reports willingness; flight-controller acceptance</a:t>
            </a:r>
            <a:r>
              <a:rPr sz="2710" b="0" i="0">
                <a:solidFill>
                  <a:srgbClr val="000000"/>
                </a:solidFill>
                <a:latin typeface="Latin Modern Sans"/>
              </a:rPr>
              <a:t> and vehicle behavior are separate observations.</a:t>
            </a:r>
          </a:p>
        </p:txBody>
      </p:sp>
      <p:sp>
        <p:nvSpPr>
          <p:cNvPr id="8" name="PDF_TEXT_GROUP_40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40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40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40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41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31/53</a:t>
            </a:r>
          </a:p>
        </p:txBody>
      </p:sp>
      <p:sp>
        <p:nvSpPr>
          <p:cNvPr id="13" name="PDF_BULLET_SPAN_605"/>
          <p:cNvSpPr/>
          <p:nvPr/>
        </p:nvSpPr>
        <p:spPr>
          <a:xfrm rot="5400000">
            <a:off x="1207424" y="229049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607"/>
          <p:cNvSpPr/>
          <p:nvPr/>
        </p:nvSpPr>
        <p:spPr>
          <a:xfrm rot="5400000">
            <a:off x="1207424" y="28249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09"/>
          <p:cNvSpPr/>
          <p:nvPr/>
        </p:nvSpPr>
        <p:spPr>
          <a:xfrm rot="5400000">
            <a:off x="1207424" y="335935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41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NDNSF-DI: Planned Framework Validation</a:t>
            </a:r>
          </a:p>
        </p:txBody>
      </p:sp>
      <p:sp>
        <p:nvSpPr>
          <p:cNvPr id="4" name="PDF_TEXT_GROUP_412"/>
          <p:cNvSpPr txBox="1"/>
          <p:nvPr/>
        </p:nvSpPr>
        <p:spPr>
          <a:xfrm>
            <a:off x="914808" y="1294221"/>
            <a:ext cx="137155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native lifecycle: prepare a model, submit an inference request, and collect results. [28]</a:t>
            </a:r>
          </a:p>
        </p:txBody>
      </p:sp>
      <p:sp>
        <p:nvSpPr>
          <p:cNvPr id="5" name="PDF_TEXT_GROUP_413"/>
          <p:cNvSpPr txBox="1"/>
          <p:nvPr/>
        </p:nvSpPr>
        <p:spPr>
          <a:xfrm>
            <a:off x="1107736" y="1990419"/>
            <a:ext cx="2935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Application function</a:t>
            </a:r>
          </a:p>
        </p:txBody>
      </p:sp>
      <p:sp>
        <p:nvSpPr>
          <p:cNvPr id="6" name="PDF_TEXT_GROUP_414"/>
          <p:cNvSpPr txBox="1"/>
          <p:nvPr/>
        </p:nvSpPr>
        <p:spPr>
          <a:xfrm>
            <a:off x="6360351" y="1990419"/>
            <a:ext cx="35696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validation scope</a:t>
            </a:r>
          </a:p>
        </p:txBody>
      </p:sp>
      <p:sp>
        <p:nvSpPr>
          <p:cNvPr id="7" name="PDF_TEXT_GROUP_415"/>
          <p:cNvSpPr txBox="1"/>
          <p:nvPr/>
        </p:nvSpPr>
        <p:spPr>
          <a:xfrm>
            <a:off x="1107736" y="2558779"/>
            <a:ext cx="35911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Single-Provider inference</a:t>
            </a:r>
          </a:p>
        </p:txBody>
      </p:sp>
      <p:sp>
        <p:nvSpPr>
          <p:cNvPr id="8" name="PDF_TEXT_GROUP_416"/>
          <p:cNvSpPr txBox="1"/>
          <p:nvPr/>
        </p:nvSpPr>
        <p:spPr>
          <a:xfrm>
            <a:off x="6360383" y="2558779"/>
            <a:ext cx="69459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permissions, input and result delivery</a:t>
            </a:r>
          </a:p>
        </p:txBody>
      </p:sp>
      <p:sp>
        <p:nvSpPr>
          <p:cNvPr id="9" name="PDF_TEXT_GROUP_417"/>
          <p:cNvSpPr txBox="1"/>
          <p:nvPr/>
        </p:nvSpPr>
        <p:spPr>
          <a:xfrm>
            <a:off x="1107736" y="3127138"/>
            <a:ext cx="414286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Model preparation and reuse</a:t>
            </a:r>
          </a:p>
        </p:txBody>
      </p:sp>
      <p:sp>
        <p:nvSpPr>
          <p:cNvPr id="10" name="PDF_TEXT_GROUP_418"/>
          <p:cNvSpPr txBox="1"/>
          <p:nvPr/>
        </p:nvSpPr>
        <p:spPr>
          <a:xfrm>
            <a:off x="6360351" y="3127138"/>
            <a:ext cx="690673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Package identity, artifact references, named-object</a:t>
            </a:r>
            <a:r>
              <a:rPr sz="2371" b="0" i="0">
                <a:solidFill>
                  <a:srgbClr val="000000"/>
                </a:solidFill>
                <a:latin typeface="Latin Modern Sans"/>
              </a:rPr>
              <a:t> retrieval</a:t>
            </a:r>
          </a:p>
        </p:txBody>
      </p:sp>
      <p:sp>
        <p:nvSpPr>
          <p:cNvPr id="11" name="PDF_TEXT_GROUP_419"/>
          <p:cNvSpPr txBox="1"/>
          <p:nvPr/>
        </p:nvSpPr>
        <p:spPr>
          <a:xfrm>
            <a:off x="1107736" y="4081826"/>
            <a:ext cx="52560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Incremental output and conversation</a:t>
            </a:r>
          </a:p>
        </p:txBody>
      </p:sp>
      <p:sp>
        <p:nvSpPr>
          <p:cNvPr id="12" name="PDF_TEXT_GROUP_420"/>
          <p:cNvSpPr txBox="1"/>
          <p:nvPr/>
        </p:nvSpPr>
        <p:spPr>
          <a:xfrm>
            <a:off x="6360287" y="4081826"/>
            <a:ext cx="63097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 state, cancellation, output lifecycle</a:t>
            </a:r>
          </a:p>
        </p:txBody>
      </p:sp>
      <p:sp>
        <p:nvSpPr>
          <p:cNvPr id="13" name="PDF_TEXT_GROUP_421"/>
          <p:cNvSpPr txBox="1"/>
          <p:nvPr/>
        </p:nvSpPr>
        <p:spPr>
          <a:xfrm>
            <a:off x="1107736" y="4650185"/>
            <a:ext cx="34994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Multi-Provider inference</a:t>
            </a:r>
          </a:p>
        </p:txBody>
      </p:sp>
      <p:sp>
        <p:nvSpPr>
          <p:cNvPr id="14" name="PDF_TEXT_GROUP_422"/>
          <p:cNvSpPr txBox="1"/>
          <p:nvPr/>
        </p:nvSpPr>
        <p:spPr>
          <a:xfrm>
            <a:off x="6360415" y="4650185"/>
            <a:ext cx="53148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Assignments, dependencies, recovery</a:t>
            </a:r>
          </a:p>
        </p:txBody>
      </p:sp>
      <p:sp>
        <p:nvSpPr>
          <p:cNvPr id="15" name="PDF_TEXT_GROUP_423"/>
          <p:cNvSpPr txBox="1"/>
          <p:nvPr/>
        </p:nvSpPr>
        <p:spPr>
          <a:xfrm>
            <a:off x="1123808" y="5531550"/>
            <a:ext cx="12517431"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PreparedModel describes a verified local package. Provider selection and remote preparation</a:t>
            </a:r>
            <a:r>
              <a:rPr sz="2371" b="0" i="0">
                <a:solidFill>
                  <a:srgbClr val="000000"/>
                </a:solidFill>
                <a:latin typeface="Latin Modern Sans"/>
              </a:rPr>
              <a:t> follow during invocation. The study will extend focused tests to the selected model, device</a:t>
            </a:r>
            <a:r>
              <a:rPr sz="2371" b="0" i="0">
                <a:solidFill>
                  <a:srgbClr val="000000"/>
                </a:solidFill>
                <a:latin typeface="Latin Modern Sans"/>
              </a:rPr>
              <a:t> and recovery configurations.</a:t>
            </a:r>
          </a:p>
        </p:txBody>
      </p:sp>
      <p:sp>
        <p:nvSpPr>
          <p:cNvPr id="16" name="PDF_TEXT_GROUP_42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2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2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2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2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2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Collaboration Example: Named Computation Dependencies</a:t>
            </a:r>
          </a:p>
        </p:txBody>
      </p:sp>
      <p:sp>
        <p:nvSpPr>
          <p:cNvPr id="4" name="PDF_TEXT_GROUP_430"/>
          <p:cNvSpPr txBox="1"/>
          <p:nvPr/>
        </p:nvSpPr>
        <p:spPr>
          <a:xfrm>
            <a:off x="1830768" y="1497742"/>
            <a:ext cx="1881213" cy="82884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431"/>
          <p:cNvSpPr txBox="1"/>
          <p:nvPr/>
        </p:nvSpPr>
        <p:spPr>
          <a:xfrm>
            <a:off x="6377993" y="1497742"/>
            <a:ext cx="1881213" cy="82884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432"/>
          <p:cNvSpPr txBox="1"/>
          <p:nvPr/>
        </p:nvSpPr>
        <p:spPr>
          <a:xfrm>
            <a:off x="10953780" y="1497742"/>
            <a:ext cx="1823950" cy="82884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433"/>
          <p:cNvSpPr txBox="1"/>
          <p:nvPr/>
        </p:nvSpPr>
        <p:spPr>
          <a:xfrm>
            <a:off x="4487229" y="1524751"/>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434"/>
          <p:cNvSpPr txBox="1"/>
          <p:nvPr/>
        </p:nvSpPr>
        <p:spPr>
          <a:xfrm>
            <a:off x="9034422" y="1524751"/>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435"/>
          <p:cNvSpPr txBox="1"/>
          <p:nvPr/>
        </p:nvSpPr>
        <p:spPr>
          <a:xfrm>
            <a:off x="1618972" y="2954030"/>
            <a:ext cx="108113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Verify a local model package; choose partitions and Providers after ACK</a:t>
            </a:r>
            <a:r>
              <a:rPr sz="2710" b="0" i="0">
                <a:solidFill>
                  <a:srgbClr val="000000"/>
                </a:solidFill>
                <a:latin typeface="Latin Modern Sans"/>
              </a:rPr>
              <a:t> collection closes.</a:t>
            </a:r>
          </a:p>
        </p:txBody>
      </p:sp>
      <p:sp>
        <p:nvSpPr>
          <p:cNvPr id="10" name="PDF_TEXT_GROUP_436"/>
          <p:cNvSpPr txBox="1"/>
          <p:nvPr/>
        </p:nvSpPr>
        <p:spPr>
          <a:xfrm>
            <a:off x="1618972" y="3920157"/>
            <a:ext cx="1259940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Providers authenticate Selection before preparing or reusing assigned resources.</a:t>
            </a:r>
          </a:p>
        </p:txBody>
      </p:sp>
      <p:sp>
        <p:nvSpPr>
          <p:cNvPr id="11" name="PDF_TEXT_GROUP_437"/>
          <p:cNvSpPr txBox="1"/>
          <p:nvPr/>
        </p:nvSpPr>
        <p:spPr>
          <a:xfrm>
            <a:off x="1618972" y="4448413"/>
            <a:ext cx="1112717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divides layer groups; tensor partitioning needs supported collective</a:t>
            </a:r>
            <a:r>
              <a:rPr sz="2710" b="0" i="0">
                <a:solidFill>
                  <a:srgbClr val="000000"/>
                </a:solidFill>
                <a:latin typeface="Latin Modern Sans"/>
              </a:rPr>
              <a:t> exchanges.</a:t>
            </a:r>
          </a:p>
        </p:txBody>
      </p:sp>
      <p:sp>
        <p:nvSpPr>
          <p:cNvPr id="12" name="PDF_TEXT_GROUP_438"/>
          <p:cNvSpPr txBox="1"/>
          <p:nvPr/>
        </p:nvSpPr>
        <p:spPr>
          <a:xfrm>
            <a:off x="1618972" y="5414508"/>
            <a:ext cx="11772231"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Repo [24] stores artifacts. Neither implements</a:t>
            </a:r>
            <a:r>
              <a:rPr sz="2710" b="0" i="0">
                <a:solidFill>
                  <a:srgbClr val="000000"/>
                </a:solidFill>
                <a:latin typeface="Latin Modern Sans"/>
              </a:rPr>
              <a:t> distributed execution by itself.</a:t>
            </a:r>
          </a:p>
        </p:txBody>
      </p:sp>
      <p:sp>
        <p:nvSpPr>
          <p:cNvPr id="13" name="PDF_TEXT_GROUP_439"/>
          <p:cNvSpPr txBox="1"/>
          <p:nvPr/>
        </p:nvSpPr>
        <p:spPr>
          <a:xfrm>
            <a:off x="1143656" y="6728250"/>
            <a:ext cx="1220115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proposed contribution is checked runtime assignment and data exchange, not</a:t>
            </a:r>
            <a:r>
              <a:rPr sz="2710" b="0" i="0">
                <a:solidFill>
                  <a:srgbClr val="000000"/>
                </a:solidFill>
                <a:latin typeface="Latin Modern Sans"/>
              </a:rPr>
              <a:t> model partitioning itself.</a:t>
            </a:r>
          </a:p>
        </p:txBody>
      </p:sp>
      <p:sp>
        <p:nvSpPr>
          <p:cNvPr id="14" name="PDF_TEXT_GROUP_44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44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44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44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44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33/53</a:t>
            </a:r>
          </a:p>
        </p:txBody>
      </p:sp>
      <p:sp>
        <p:nvSpPr>
          <p:cNvPr id="19" name="PDF_BULLET_SPAN_650"/>
          <p:cNvSpPr/>
          <p:nvPr/>
        </p:nvSpPr>
        <p:spPr>
          <a:xfrm rot="5400000">
            <a:off x="1207424" y="303982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653"/>
          <p:cNvSpPr/>
          <p:nvPr/>
        </p:nvSpPr>
        <p:spPr>
          <a:xfrm rot="5400000">
            <a:off x="1207424" y="40059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DF_BULLET_SPAN_655"/>
          <p:cNvSpPr/>
          <p:nvPr/>
        </p:nvSpPr>
        <p:spPr>
          <a:xfrm rot="5400000">
            <a:off x="1207424" y="45342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658"/>
          <p:cNvSpPr/>
          <p:nvPr/>
        </p:nvSpPr>
        <p:spPr>
          <a:xfrm rot="5400000">
            <a:off x="1207424" y="550029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4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Planned Validation</a:t>
            </a:r>
          </a:p>
        </p:txBody>
      </p:sp>
      <p:sp>
        <p:nvSpPr>
          <p:cNvPr id="4" name="PDF_TEXT_GROUP_446"/>
          <p:cNvSpPr txBox="1"/>
          <p:nvPr/>
        </p:nvSpPr>
        <p:spPr>
          <a:xfrm>
            <a:off x="1618972" y="1632824"/>
            <a:ext cx="1197900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key/value (K/V) state</a:t>
            </a:r>
            <a:r>
              <a:rPr sz="2710" b="0" i="0">
                <a:solidFill>
                  <a:srgbClr val="000000"/>
                </a:solidFill>
                <a:latin typeface="Latin Modern Sans"/>
              </a:rPr>
              <a:t> have different lifetimes. [31]</a:t>
            </a:r>
          </a:p>
        </p:txBody>
      </p:sp>
      <p:sp>
        <p:nvSpPr>
          <p:cNvPr id="5" name="PDF_TEXT_GROUP_447"/>
          <p:cNvSpPr txBox="1"/>
          <p:nvPr/>
        </p:nvSpPr>
        <p:spPr>
          <a:xfrm>
            <a:off x="1618972" y="2605091"/>
            <a:ext cx="1217936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 K/V caching, the runtime reuses prior tensors and supplies next-step inputs;</a:t>
            </a:r>
            <a:r>
              <a:rPr sz="2710" b="0" i="0">
                <a:solidFill>
                  <a:srgbClr val="000000"/>
                </a:solidFill>
                <a:latin typeface="Latin Modern Sans"/>
              </a:rPr>
              <a:t> resident weights do not replace this state.</a:t>
            </a:r>
          </a:p>
        </p:txBody>
      </p:sp>
      <p:sp>
        <p:nvSpPr>
          <p:cNvPr id="6" name="PDF_TEXT_GROUP_448"/>
          <p:cNvSpPr txBox="1"/>
          <p:nvPr/>
        </p:nvSpPr>
        <p:spPr>
          <a:xfrm>
            <a:off x="1618972" y="3577358"/>
            <a:ext cx="1211306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Cross-process tests will compare distributed results with the same model’s unsplit</a:t>
            </a:r>
            <a:r>
              <a:rPr sz="2710" b="0" i="0">
                <a:solidFill>
                  <a:srgbClr val="000000"/>
                </a:solidFill>
                <a:latin typeface="Latin Modern Sans"/>
              </a:rPr>
              <a:t> execution.</a:t>
            </a:r>
          </a:p>
        </p:txBody>
      </p:sp>
      <p:sp>
        <p:nvSpPr>
          <p:cNvPr id="7" name="PDF_TEXT_GROUP_449"/>
          <p:cNvSpPr txBox="1"/>
          <p:nvPr/>
        </p:nvSpPr>
        <p:spPr>
          <a:xfrm>
            <a:off x="1618972" y="4549625"/>
            <a:ext cx="1223150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Begin with one supported model/partition; evaluate additional strategies and LLM</a:t>
            </a:r>
            <a:r>
              <a:rPr sz="2710" b="0" i="0">
                <a:solidFill>
                  <a:srgbClr val="000000"/>
                </a:solidFill>
                <a:latin typeface="Latin Modern Sans"/>
              </a:rPr>
              <a:t> streaming as their implementations become ready.</a:t>
            </a:r>
          </a:p>
        </p:txBody>
      </p:sp>
      <p:sp>
        <p:nvSpPr>
          <p:cNvPr id="8" name="PDF_TEXT_GROUP_450"/>
          <p:cNvSpPr txBox="1"/>
          <p:nvPr/>
        </p:nvSpPr>
        <p:spPr>
          <a:xfrm>
            <a:off x="1143656" y="6143312"/>
            <a:ext cx="1160647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motivate separate preparation, transfer and</a:t>
            </a:r>
            <a:r>
              <a:rPr sz="2710" b="0" i="0">
                <a:solidFill>
                  <a:srgbClr val="000000"/>
                </a:solidFill>
                <a:latin typeface="Latin Modern Sans"/>
              </a:rPr>
              <a:t> execution measurements in the new campaigns. [28]</a:t>
            </a:r>
          </a:p>
        </p:txBody>
      </p:sp>
      <p:sp>
        <p:nvSpPr>
          <p:cNvPr id="9" name="PDF_TEXT_GROUP_45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5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5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5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5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34/53</a:t>
            </a:r>
          </a:p>
        </p:txBody>
      </p:sp>
      <p:sp>
        <p:nvSpPr>
          <p:cNvPr id="14" name="PDF_BULLET_SPAN_669"/>
          <p:cNvSpPr/>
          <p:nvPr/>
        </p:nvSpPr>
        <p:spPr>
          <a:xfrm rot="5400000">
            <a:off x="1207424" y="1718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72"/>
          <p:cNvSpPr/>
          <p:nvPr/>
        </p:nvSpPr>
        <p:spPr>
          <a:xfrm rot="5400000">
            <a:off x="1207424" y="2690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75"/>
          <p:cNvSpPr/>
          <p:nvPr/>
        </p:nvSpPr>
        <p:spPr>
          <a:xfrm rot="5400000">
            <a:off x="1207424" y="366314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78"/>
          <p:cNvSpPr/>
          <p:nvPr/>
        </p:nvSpPr>
        <p:spPr>
          <a:xfrm rot="5400000">
            <a:off x="1207424" y="46354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5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Cross-Application Study: Where Does the Framework Stop?</a:t>
            </a:r>
          </a:p>
        </p:txBody>
      </p:sp>
      <p:sp>
        <p:nvSpPr>
          <p:cNvPr id="4" name="PDF_TEXT_GROUP_457"/>
          <p:cNvSpPr txBox="1"/>
          <p:nvPr/>
        </p:nvSpPr>
        <p:spPr>
          <a:xfrm>
            <a:off x="1107736" y="1354683"/>
            <a:ext cx="177306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Core checks</a:t>
            </a:r>
          </a:p>
        </p:txBody>
      </p:sp>
      <p:sp>
        <p:nvSpPr>
          <p:cNvPr id="5" name="PDF_TEXT_GROUP_458"/>
          <p:cNvSpPr txBox="1"/>
          <p:nvPr/>
        </p:nvSpPr>
        <p:spPr>
          <a:xfrm>
            <a:off x="5848102" y="1354683"/>
            <a:ext cx="3622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Application responsibility</a:t>
            </a:r>
          </a:p>
        </p:txBody>
      </p:sp>
      <p:sp>
        <p:nvSpPr>
          <p:cNvPr id="6" name="PDF_TEXT_GROUP_459"/>
          <p:cNvSpPr txBox="1"/>
          <p:nvPr/>
        </p:nvSpPr>
        <p:spPr>
          <a:xfrm>
            <a:off x="1107736" y="1923042"/>
            <a:ext cx="438107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Signer, assigned role and edge</a:t>
            </a:r>
          </a:p>
        </p:txBody>
      </p:sp>
      <p:sp>
        <p:nvSpPr>
          <p:cNvPr id="7" name="PDF_TEXT_GROUP_460"/>
          <p:cNvSpPr txBox="1"/>
          <p:nvPr/>
        </p:nvSpPr>
        <p:spPr>
          <a:xfrm>
            <a:off x="5847844" y="1923042"/>
            <a:ext cx="660010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view/time requirements; DI: model/tensor</a:t>
            </a:r>
            <a:r>
              <a:rPr sz="2371" b="0" i="0">
                <a:solidFill>
                  <a:srgbClr val="000000"/>
                </a:solidFill>
                <a:latin typeface="Latin Modern Sans"/>
              </a:rPr>
              <a:t> compatibility</a:t>
            </a:r>
          </a:p>
        </p:txBody>
      </p:sp>
      <p:sp>
        <p:nvSpPr>
          <p:cNvPr id="8" name="PDF_TEXT_GROUP_461"/>
          <p:cNvSpPr txBox="1"/>
          <p:nvPr/>
        </p:nvSpPr>
        <p:spPr>
          <a:xfrm>
            <a:off x="1107736" y="2877730"/>
            <a:ext cx="448236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a:t>
            </a:r>
            <a:r>
              <a:rPr sz="2371" b="0" i="0">
                <a:solidFill>
                  <a:srgbClr val="000000"/>
                </a:solidFill>
                <a:latin typeface="Latin Modern Sans"/>
              </a:rPr>
              <a:t> object;</a:t>
            </a:r>
            <a:r>
              <a:rPr sz="2371" b="0" i="0">
                <a:solidFill>
                  <a:srgbClr val="000000"/>
                </a:solidFill>
                <a:latin typeface="Latin Modern Sans"/>
              </a:rPr>
              <a:t> permitted</a:t>
            </a:r>
            <a:r>
              <a:rPr sz="2371" b="0" i="0">
                <a:solidFill>
                  <a:srgbClr val="000000"/>
                </a:solidFill>
                <a:latin typeface="Latin Modern Sans"/>
              </a:rPr>
              <a:t> reuse</a:t>
            </a:r>
          </a:p>
        </p:txBody>
      </p:sp>
      <p:sp>
        <p:nvSpPr>
          <p:cNvPr id="9" name="PDF_TEXT_GROUP_462"/>
          <p:cNvSpPr txBox="1"/>
          <p:nvPr/>
        </p:nvSpPr>
        <p:spPr>
          <a:xfrm>
            <a:off x="5848082" y="2877730"/>
            <a:ext cx="707971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Decide whether the image or retained state remains</a:t>
            </a:r>
            <a:r>
              <a:rPr sz="2371" b="0" i="0">
                <a:solidFill>
                  <a:srgbClr val="000000"/>
                </a:solidFill>
                <a:latin typeface="Latin Modern Sans"/>
              </a:rPr>
              <a:t> useful</a:t>
            </a:r>
          </a:p>
        </p:txBody>
      </p:sp>
      <p:sp>
        <p:nvSpPr>
          <p:cNvPr id="10" name="PDF_TEXT_GROUP_463"/>
          <p:cNvSpPr txBox="1"/>
          <p:nvPr/>
        </p:nvSpPr>
        <p:spPr>
          <a:xfrm>
            <a:off x="1107736" y="3832450"/>
            <a:ext cx="45112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Cancellation/replacement state</a:t>
            </a:r>
          </a:p>
        </p:txBody>
      </p:sp>
      <p:sp>
        <p:nvSpPr>
          <p:cNvPr id="11" name="PDF_TEXT_GROUP_464"/>
          <p:cNvSpPr txBox="1"/>
          <p:nvPr/>
        </p:nvSpPr>
        <p:spPr>
          <a:xfrm>
            <a:off x="5847812" y="3832450"/>
            <a:ext cx="718073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Stop physical work or drain computation and release</a:t>
            </a:r>
            <a:r>
              <a:rPr sz="2371" b="0" i="0">
                <a:solidFill>
                  <a:srgbClr val="000000"/>
                </a:solidFill>
                <a:latin typeface="Latin Modern Sans"/>
              </a:rPr>
              <a:t> resources</a:t>
            </a:r>
          </a:p>
        </p:txBody>
      </p:sp>
      <p:sp>
        <p:nvSpPr>
          <p:cNvPr id="12" name="PDF_TEXT_GROUP_465"/>
          <p:cNvSpPr txBox="1"/>
          <p:nvPr/>
        </p:nvSpPr>
        <p:spPr>
          <a:xfrm>
            <a:off x="914808" y="4681143"/>
            <a:ext cx="1314312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Test both applications with wrong-role inputs and authentic but application-invalid inputs.</a:t>
            </a:r>
          </a:p>
        </p:txBody>
      </p:sp>
      <p:sp>
        <p:nvSpPr>
          <p:cNvPr id="13" name="PDF_TEXT_GROUP_466"/>
          <p:cNvSpPr txBox="1"/>
          <p:nvPr/>
        </p:nvSpPr>
        <p:spPr>
          <a:xfrm>
            <a:off x="914808" y="5250666"/>
            <a:ext cx="78037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Record which layer rejects them; retain valid controls.</a:t>
            </a:r>
          </a:p>
        </p:txBody>
      </p:sp>
      <p:sp>
        <p:nvSpPr>
          <p:cNvPr id="14" name="PDF_TEXT_GROUP_467"/>
          <p:cNvSpPr txBox="1"/>
          <p:nvPr/>
        </p:nvSpPr>
        <p:spPr>
          <a:xfrm>
            <a:off x="1123808" y="5988034"/>
            <a:ext cx="121527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Expected outcome: shared checks and explicit application validators. Signatures establish</a:t>
            </a:r>
            <a:r>
              <a:rPr sz="2371" b="0" i="0">
                <a:solidFill>
                  <a:srgbClr val="000000"/>
                </a:solidFill>
                <a:latin typeface="Latin Modern Sans"/>
              </a:rPr>
              <a:t> provenance, not image truth or numerical correctness.</a:t>
            </a:r>
          </a:p>
        </p:txBody>
      </p:sp>
      <p:sp>
        <p:nvSpPr>
          <p:cNvPr id="15" name="PDF_TEXT_GROUP_46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46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47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47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47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35/53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36.png"/>
          <p:cNvPicPr>
            <a:picLocks noChangeAspect="1"/>
          </p:cNvPicPr>
          <p:nvPr/>
        </p:nvPicPr>
        <p:blipFill>
          <a:blip r:embed="rId2"/>
          <a:stretch>
            <a:fillRect/>
          </a:stretch>
        </p:blipFill>
        <p:spPr>
          <a:xfrm>
            <a:off x="0" y="0"/>
            <a:ext cx="14630400" cy="8229600"/>
          </a:xfrm>
          <a:prstGeom prst="rect">
            <a:avLst/>
          </a:prstGeom>
        </p:spPr>
      </p:pic>
      <p:sp>
        <p:nvSpPr>
          <p:cNvPr id="3" name="PDF_TEXT_GROUP_47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Validation Stages: What Each Test Establishes</a:t>
            </a:r>
          </a:p>
        </p:txBody>
      </p:sp>
      <p:sp>
        <p:nvSpPr>
          <p:cNvPr id="4" name="PDF_TEXT_GROUP_474"/>
          <p:cNvSpPr txBox="1"/>
          <p:nvPr/>
        </p:nvSpPr>
        <p:spPr>
          <a:xfrm>
            <a:off x="1107736" y="1218507"/>
            <a:ext cx="9336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Stage</a:t>
            </a:r>
          </a:p>
        </p:txBody>
      </p:sp>
      <p:sp>
        <p:nvSpPr>
          <p:cNvPr id="5" name="PDF_TEXT_GROUP_475"/>
          <p:cNvSpPr txBox="1"/>
          <p:nvPr/>
        </p:nvSpPr>
        <p:spPr>
          <a:xfrm>
            <a:off x="5463914" y="1218507"/>
            <a:ext cx="23590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Evidence sought</a:t>
            </a:r>
          </a:p>
        </p:txBody>
      </p:sp>
      <p:sp>
        <p:nvSpPr>
          <p:cNvPr id="6" name="PDF_TEXT_GROUP_476"/>
          <p:cNvSpPr txBox="1"/>
          <p:nvPr/>
        </p:nvSpPr>
        <p:spPr>
          <a:xfrm>
            <a:off x="1107736" y="1786866"/>
            <a:ext cx="3128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Contract / local tests</a:t>
            </a:r>
          </a:p>
        </p:txBody>
      </p:sp>
      <p:sp>
        <p:nvSpPr>
          <p:cNvPr id="7" name="PDF_TEXT_GROUP_477"/>
          <p:cNvSpPr txBox="1"/>
          <p:nvPr/>
        </p:nvSpPr>
        <p:spPr>
          <a:xfrm>
            <a:off x="5463914" y="1786866"/>
            <a:ext cx="633897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Valid transitions and explicit rejection cases</a:t>
            </a:r>
          </a:p>
        </p:txBody>
      </p:sp>
      <p:sp>
        <p:nvSpPr>
          <p:cNvPr id="8" name="PDF_TEXT_GROUP_478"/>
          <p:cNvSpPr txBox="1"/>
          <p:nvPr/>
        </p:nvSpPr>
        <p:spPr>
          <a:xfrm>
            <a:off x="1107736" y="2355226"/>
            <a:ext cx="20838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MiniNDN [22]</a:t>
            </a:r>
          </a:p>
        </p:txBody>
      </p:sp>
      <p:sp>
        <p:nvSpPr>
          <p:cNvPr id="9" name="PDF_TEXT_GROUP_479"/>
          <p:cNvSpPr txBox="1"/>
          <p:nvPr/>
        </p:nvSpPr>
        <p:spPr>
          <a:xfrm>
            <a:off x="5463754" y="2355226"/>
            <a:ext cx="79539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Authenticated request chains, caches, loss and outages</a:t>
            </a:r>
          </a:p>
        </p:txBody>
      </p:sp>
      <p:sp>
        <p:nvSpPr>
          <p:cNvPr id="10" name="PDF_TEXT_GROUP_480"/>
          <p:cNvSpPr txBox="1"/>
          <p:nvPr/>
        </p:nvSpPr>
        <p:spPr>
          <a:xfrm>
            <a:off x="1107736" y="2923617"/>
            <a:ext cx="35229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simulation / bench</a:t>
            </a:r>
          </a:p>
        </p:txBody>
      </p:sp>
      <p:sp>
        <p:nvSpPr>
          <p:cNvPr id="11" name="PDF_TEXT_GROUP_481"/>
          <p:cNvSpPr txBox="1"/>
          <p:nvPr/>
        </p:nvSpPr>
        <p:spPr>
          <a:xfrm>
            <a:off x="5463850" y="2923617"/>
            <a:ext cx="71851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Operator workflow, telemetry, camera and command</a:t>
            </a:r>
            <a:r>
              <a:rPr sz="2371" b="0" i="0">
                <a:solidFill>
                  <a:srgbClr val="000000"/>
                </a:solidFill>
                <a:latin typeface="Latin Modern Sans"/>
              </a:rPr>
              <a:t> handling; PX4 SITL [23] is simulation</a:t>
            </a:r>
          </a:p>
        </p:txBody>
      </p:sp>
      <p:sp>
        <p:nvSpPr>
          <p:cNvPr id="12" name="PDF_TEXT_GROUP_482"/>
          <p:cNvSpPr txBox="1"/>
          <p:nvPr/>
        </p:nvSpPr>
        <p:spPr>
          <a:xfrm>
            <a:off x="1107736" y="3878305"/>
            <a:ext cx="239201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TigerCluster [28]</a:t>
            </a:r>
            <a:r>
              <a:rPr sz="2371" b="0" i="0">
                <a:solidFill>
                  <a:srgbClr val="000000"/>
                </a:solidFill>
                <a:latin typeface="Latin Modern Sans"/>
              </a:rPr>
              <a:t> (preparation)</a:t>
            </a:r>
          </a:p>
        </p:txBody>
      </p:sp>
      <p:sp>
        <p:nvSpPr>
          <p:cNvPr id="13" name="PDF_TEXT_GROUP_483"/>
          <p:cNvSpPr txBox="1"/>
          <p:nvPr/>
        </p:nvSpPr>
        <p:spPr>
          <a:xfrm>
            <a:off x="5463873" y="3878305"/>
            <a:ext cx="65516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Multi-node GPU inference: correctness, latency,</a:t>
            </a:r>
            <a:r>
              <a:rPr sz="2371" b="0" i="0">
                <a:solidFill>
                  <a:srgbClr val="000000"/>
                </a:solidFill>
                <a:latin typeface="Latin Modern Sans"/>
              </a:rPr>
              <a:t> data-transfer overhead and peak GPU memory</a:t>
            </a:r>
          </a:p>
        </p:txBody>
      </p:sp>
      <p:sp>
        <p:nvSpPr>
          <p:cNvPr id="14" name="PDF_TEXT_GROUP_484"/>
          <p:cNvSpPr txBox="1"/>
          <p:nvPr/>
        </p:nvSpPr>
        <p:spPr>
          <a:xfrm>
            <a:off x="1107736" y="4832992"/>
            <a:ext cx="261686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Supported devices</a:t>
            </a:r>
          </a:p>
        </p:txBody>
      </p:sp>
      <p:sp>
        <p:nvSpPr>
          <p:cNvPr id="15" name="PDF_TEXT_GROUP_485"/>
          <p:cNvSpPr txBox="1"/>
          <p:nvPr/>
        </p:nvSpPr>
        <p:spPr>
          <a:xfrm>
            <a:off x="5463754" y="4832992"/>
            <a:ext cx="786223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Actual camera/inference outputs, memory and processing</a:t>
            </a:r>
            <a:r>
              <a:rPr sz="2371" b="0" i="0">
                <a:solidFill>
                  <a:srgbClr val="000000"/>
                </a:solidFill>
                <a:latin typeface="Latin Modern Sans"/>
              </a:rPr>
              <a:t> costs</a:t>
            </a:r>
          </a:p>
        </p:txBody>
      </p:sp>
      <p:sp>
        <p:nvSpPr>
          <p:cNvPr id="16" name="PDF_TEXT_GROUP_486"/>
          <p:cNvSpPr txBox="1"/>
          <p:nvPr/>
        </p:nvSpPr>
        <p:spPr>
          <a:xfrm>
            <a:off x="1123808" y="6100685"/>
            <a:ext cx="1197823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 defined outcomes and reproducible configurations. Cluster experiments complement</a:t>
            </a:r>
            <a:r>
              <a:rPr sz="2371" b="0" i="0">
                <a:solidFill>
                  <a:srgbClr val="000000"/>
                </a:solidFill>
                <a:latin typeface="Latin Modern Sans"/>
              </a:rPr>
              <a:t> UAV wireless and mobility tests; simulation does not establish real-flight safety.</a:t>
            </a:r>
          </a:p>
        </p:txBody>
      </p:sp>
      <p:sp>
        <p:nvSpPr>
          <p:cNvPr id="17" name="PDF_TEXT_GROUP_48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8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8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9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9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36/53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37.png"/>
          <p:cNvPicPr>
            <a:picLocks noChangeAspect="1"/>
          </p:cNvPicPr>
          <p:nvPr/>
        </p:nvPicPr>
        <p:blipFill>
          <a:blip r:embed="rId2"/>
          <a:stretch>
            <a:fillRect/>
          </a:stretch>
        </p:blipFill>
        <p:spPr>
          <a:xfrm>
            <a:off x="0" y="0"/>
            <a:ext cx="14630400" cy="8229600"/>
          </a:xfrm>
          <a:prstGeom prst="rect">
            <a:avLst/>
          </a:prstGeom>
        </p:spPr>
      </p:pic>
      <p:sp>
        <p:nvSpPr>
          <p:cNvPr id="3" name="PDF_TEXT_GROUP_49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493"/>
          <p:cNvSpPr txBox="1"/>
          <p:nvPr/>
        </p:nvSpPr>
        <p:spPr>
          <a:xfrm>
            <a:off x="1618972" y="1361667"/>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494"/>
          <p:cNvSpPr txBox="1"/>
          <p:nvPr/>
        </p:nvSpPr>
        <p:spPr>
          <a:xfrm>
            <a:off x="1618972" y="2333934"/>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495"/>
          <p:cNvSpPr txBox="1"/>
          <p:nvPr/>
        </p:nvSpPr>
        <p:spPr>
          <a:xfrm>
            <a:off x="1618972" y="3306201"/>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496"/>
          <p:cNvSpPr txBox="1"/>
          <p:nvPr/>
        </p:nvSpPr>
        <p:spPr>
          <a:xfrm>
            <a:off x="1618972" y="4278468"/>
            <a:ext cx="10507741"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497"/>
          <p:cNvSpPr txBox="1"/>
          <p:nvPr/>
        </p:nvSpPr>
        <p:spPr>
          <a:xfrm>
            <a:off x="1618972" y="5250767"/>
            <a:ext cx="1193499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Specify primary outcomes, completion deadlines and useful-improvement criteria</a:t>
            </a:r>
            <a:r>
              <a:rPr sz="2710" b="0" i="0">
                <a:solidFill>
                  <a:srgbClr val="000000"/>
                </a:solidFill>
                <a:latin typeface="Latin Modern Sans"/>
              </a:rPr>
              <a:t> before comparative runs.</a:t>
            </a:r>
          </a:p>
        </p:txBody>
      </p:sp>
      <p:sp>
        <p:nvSpPr>
          <p:cNvPr id="9" name="PDF_TEXT_GROUP_498"/>
          <p:cNvSpPr txBox="1"/>
          <p:nvPr/>
        </p:nvSpPr>
        <p:spPr>
          <a:xfrm>
            <a:off x="1143656" y="6569614"/>
            <a:ext cx="10931738"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Comparative conclusions will refer to the tested configurations. Historical</a:t>
            </a:r>
            <a:r>
              <a:rPr sz="2710" b="0" i="0">
                <a:solidFill>
                  <a:srgbClr val="000000"/>
                </a:solidFill>
                <a:latin typeface="Latin Modern Sans"/>
              </a:rPr>
              <a:t> unmatched results motivate questions for the matched experiments.</a:t>
            </a:r>
          </a:p>
        </p:txBody>
      </p:sp>
      <p:sp>
        <p:nvSpPr>
          <p:cNvPr id="10" name="PDF_TEXT_GROUP_4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5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5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5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50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37/53</a:t>
            </a:r>
          </a:p>
        </p:txBody>
      </p:sp>
      <p:sp>
        <p:nvSpPr>
          <p:cNvPr id="15" name="PDF_BULLET_SPAN_737"/>
          <p:cNvSpPr/>
          <p:nvPr/>
        </p:nvSpPr>
        <p:spPr>
          <a:xfrm rot="5400000">
            <a:off x="1207424" y="14474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740"/>
          <p:cNvSpPr/>
          <p:nvPr/>
        </p:nvSpPr>
        <p:spPr>
          <a:xfrm rot="5400000">
            <a:off x="1207424" y="24197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743"/>
          <p:cNvSpPr/>
          <p:nvPr/>
        </p:nvSpPr>
        <p:spPr>
          <a:xfrm rot="5400000">
            <a:off x="1207424" y="339199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746"/>
          <p:cNvSpPr/>
          <p:nvPr/>
        </p:nvSpPr>
        <p:spPr>
          <a:xfrm rot="5400000">
            <a:off x="1207424" y="436425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749"/>
          <p:cNvSpPr/>
          <p:nvPr/>
        </p:nvSpPr>
        <p:spPr>
          <a:xfrm rot="5400000">
            <a:off x="1207424" y="53365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38.png"/>
          <p:cNvPicPr>
            <a:picLocks noChangeAspect="1"/>
          </p:cNvPicPr>
          <p:nvPr/>
        </p:nvPicPr>
        <p:blipFill>
          <a:blip r:embed="rId2"/>
          <a:stretch>
            <a:fillRect/>
          </a:stretch>
        </p:blipFill>
        <p:spPr>
          <a:xfrm>
            <a:off x="0" y="0"/>
            <a:ext cx="14630400" cy="8229600"/>
          </a:xfrm>
          <a:prstGeom prst="rect">
            <a:avLst/>
          </a:prstGeom>
        </p:spPr>
      </p:pic>
      <p:sp>
        <p:nvSpPr>
          <p:cNvPr id="3" name="PDF_TEXT_GROUP_5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Preliminary Evidence: Mobility and Completion</a:t>
            </a:r>
          </a:p>
        </p:txBody>
      </p:sp>
      <p:sp>
        <p:nvSpPr>
          <p:cNvPr id="4" name="PDF_TEXT_GROUP_505"/>
          <p:cNvSpPr txBox="1"/>
          <p:nvPr/>
        </p:nvSpPr>
        <p:spPr>
          <a:xfrm>
            <a:off x="914808" y="1713575"/>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506"/>
          <p:cNvSpPr txBox="1"/>
          <p:nvPr/>
        </p:nvSpPr>
        <p:spPr>
          <a:xfrm>
            <a:off x="1107736" y="2592936"/>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507"/>
          <p:cNvSpPr txBox="1"/>
          <p:nvPr/>
        </p:nvSpPr>
        <p:spPr>
          <a:xfrm>
            <a:off x="9386102" y="2592936"/>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508"/>
          <p:cNvSpPr txBox="1"/>
          <p:nvPr/>
        </p:nvSpPr>
        <p:spPr>
          <a:xfrm>
            <a:off x="11203250" y="2592936"/>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509"/>
          <p:cNvSpPr txBox="1"/>
          <p:nvPr/>
        </p:nvSpPr>
        <p:spPr>
          <a:xfrm>
            <a:off x="12917479" y="2592936"/>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510"/>
          <p:cNvSpPr txBox="1"/>
          <p:nvPr/>
        </p:nvSpPr>
        <p:spPr>
          <a:xfrm>
            <a:off x="1107736" y="3161295"/>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511"/>
          <p:cNvSpPr txBox="1"/>
          <p:nvPr/>
        </p:nvSpPr>
        <p:spPr>
          <a:xfrm>
            <a:off x="9435295" y="316129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512"/>
          <p:cNvSpPr txBox="1"/>
          <p:nvPr/>
        </p:nvSpPr>
        <p:spPr>
          <a:xfrm>
            <a:off x="10982171" y="316129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513"/>
          <p:cNvSpPr txBox="1"/>
          <p:nvPr/>
        </p:nvSpPr>
        <p:spPr>
          <a:xfrm>
            <a:off x="12529048" y="316129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514"/>
          <p:cNvSpPr txBox="1"/>
          <p:nvPr/>
        </p:nvSpPr>
        <p:spPr>
          <a:xfrm>
            <a:off x="1107736" y="372965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515"/>
          <p:cNvSpPr txBox="1"/>
          <p:nvPr/>
        </p:nvSpPr>
        <p:spPr>
          <a:xfrm>
            <a:off x="9435295" y="372965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516"/>
          <p:cNvSpPr txBox="1"/>
          <p:nvPr/>
        </p:nvSpPr>
        <p:spPr>
          <a:xfrm>
            <a:off x="10982171" y="372965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517"/>
          <p:cNvSpPr txBox="1"/>
          <p:nvPr/>
        </p:nvSpPr>
        <p:spPr>
          <a:xfrm>
            <a:off x="12529048" y="372965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518"/>
          <p:cNvSpPr txBox="1"/>
          <p:nvPr/>
        </p:nvSpPr>
        <p:spPr>
          <a:xfrm>
            <a:off x="1107736" y="4298014"/>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519"/>
          <p:cNvSpPr txBox="1"/>
          <p:nvPr/>
        </p:nvSpPr>
        <p:spPr>
          <a:xfrm>
            <a:off x="9274534" y="4298014"/>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520"/>
          <p:cNvSpPr txBox="1"/>
          <p:nvPr/>
        </p:nvSpPr>
        <p:spPr>
          <a:xfrm>
            <a:off x="10821410" y="4298014"/>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521"/>
          <p:cNvSpPr txBox="1"/>
          <p:nvPr/>
        </p:nvSpPr>
        <p:spPr>
          <a:xfrm>
            <a:off x="12368286" y="4298014"/>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522"/>
          <p:cNvSpPr txBox="1"/>
          <p:nvPr/>
        </p:nvSpPr>
        <p:spPr>
          <a:xfrm>
            <a:off x="1123808" y="5179411"/>
            <a:ext cx="118169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Observed completion rates are close across systems. The next slide examines switching</a:t>
            </a:r>
            <a:r>
              <a:rPr sz="2371" b="0" i="0">
                <a:solidFill>
                  <a:srgbClr val="000000"/>
                </a:solidFill>
                <a:latin typeface="Latin Modern Sans"/>
              </a:rPr>
              <a:t> latency in a separate holdout campaign (seeds 72–81).</a:t>
            </a:r>
          </a:p>
        </p:txBody>
      </p:sp>
      <p:sp>
        <p:nvSpPr>
          <p:cNvPr id="22" name="PDF_TEXT_GROUP_52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52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52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52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52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38/53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9" descr="background-039.png"/>
          <p:cNvPicPr>
            <a:picLocks noChangeAspect="1"/>
          </p:cNvPicPr>
          <p:nvPr/>
        </p:nvPicPr>
        <p:blipFill>
          <a:blip r:embed="rId2"/>
          <a:stretch>
            <a:fillRect/>
          </a:stretch>
        </p:blipFill>
        <p:spPr>
          <a:xfrm>
            <a:off x="0" y="0"/>
            <a:ext cx="14630400" cy="8229600"/>
          </a:xfrm>
          <a:prstGeom prst="rect">
            <a:avLst/>
          </a:prstGeom>
        </p:spPr>
      </p:pic>
      <p:sp>
        <p:nvSpPr>
          <p:cNvPr id="3" name="PDF_TEXT_GROUP_52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Preliminary Evidence: Switching Latency</a:t>
            </a:r>
          </a:p>
        </p:txBody>
      </p:sp>
      <p:sp>
        <p:nvSpPr>
          <p:cNvPr id="4" name="PDF_TEXT_GROUP_529"/>
          <p:cNvSpPr txBox="1"/>
          <p:nvPr/>
        </p:nvSpPr>
        <p:spPr>
          <a:xfrm>
            <a:off x="914808" y="1808162"/>
            <a:ext cx="131053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Seeds 72–81; four Providers/system; 100 m, 2 m/s; 1,312 aligned switching requests. [28]</a:t>
            </a:r>
          </a:p>
        </p:txBody>
      </p:sp>
      <p:sp>
        <p:nvSpPr>
          <p:cNvPr id="5" name="PDF_TEXT_GROUP_530"/>
          <p:cNvSpPr txBox="1"/>
          <p:nvPr/>
        </p:nvSpPr>
        <p:spPr>
          <a:xfrm>
            <a:off x="1107736" y="2687523"/>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531"/>
          <p:cNvSpPr txBox="1"/>
          <p:nvPr/>
        </p:nvSpPr>
        <p:spPr>
          <a:xfrm>
            <a:off x="7937869" y="2687523"/>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532"/>
          <p:cNvSpPr txBox="1"/>
          <p:nvPr/>
        </p:nvSpPr>
        <p:spPr>
          <a:xfrm>
            <a:off x="12538050" y="2687523"/>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533"/>
          <p:cNvSpPr txBox="1"/>
          <p:nvPr/>
        </p:nvSpPr>
        <p:spPr>
          <a:xfrm>
            <a:off x="9330171" y="3237853"/>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535"/>
          <p:cNvSpPr txBox="1"/>
          <p:nvPr/>
        </p:nvSpPr>
        <p:spPr>
          <a:xfrm>
            <a:off x="1107736" y="3255882"/>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534"/>
          <p:cNvSpPr txBox="1"/>
          <p:nvPr/>
        </p:nvSpPr>
        <p:spPr>
          <a:xfrm>
            <a:off x="11255736" y="3237853"/>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536"/>
          <p:cNvSpPr txBox="1"/>
          <p:nvPr/>
        </p:nvSpPr>
        <p:spPr>
          <a:xfrm>
            <a:off x="9169388" y="3806213"/>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538"/>
          <p:cNvSpPr txBox="1"/>
          <p:nvPr/>
        </p:nvSpPr>
        <p:spPr>
          <a:xfrm>
            <a:off x="1107736" y="3824241"/>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537"/>
          <p:cNvSpPr txBox="1"/>
          <p:nvPr/>
        </p:nvSpPr>
        <p:spPr>
          <a:xfrm>
            <a:off x="10934201" y="3806213"/>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539"/>
          <p:cNvSpPr txBox="1"/>
          <p:nvPr/>
        </p:nvSpPr>
        <p:spPr>
          <a:xfrm>
            <a:off x="914808" y="4300147"/>
            <a:ext cx="100171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NDNSF 1,311; gRPC 1,297; NSC 1,296 (of 1,312 each).</a:t>
            </a:r>
          </a:p>
        </p:txBody>
      </p:sp>
      <p:sp>
        <p:nvSpPr>
          <p:cNvPr id="15" name="PDF_TEXT_GROUP_540"/>
          <p:cNvSpPr txBox="1"/>
          <p:nvPr/>
        </p:nvSpPr>
        <p:spPr>
          <a:xfrm>
            <a:off x="1123808" y="5238612"/>
            <a:ext cx="1208112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has lower mean seed-p95 latency in this switching workload. Each p95 uses that</a:t>
            </a:r>
            <a:r>
              <a:rPr sz="2371" b="0" i="0">
                <a:solidFill>
                  <a:srgbClr val="000000"/>
                </a:solidFill>
                <a:latin typeface="Latin Modern Sans"/>
              </a:rPr>
              <a:t> system’s successful requests; different failure sets limit interpretation.</a:t>
            </a:r>
          </a:p>
        </p:txBody>
      </p:sp>
      <p:sp>
        <p:nvSpPr>
          <p:cNvPr id="16" name="PDF_TEXT_GROUP_54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54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54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54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54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39/53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0" descr="background-040.png"/>
          <p:cNvPicPr>
            <a:picLocks noChangeAspect="1"/>
          </p:cNvPicPr>
          <p:nvPr/>
        </p:nvPicPr>
        <p:blipFill>
          <a:blip r:embed="rId2"/>
          <a:stretch>
            <a:fillRect/>
          </a:stretch>
        </p:blipFill>
        <p:spPr>
          <a:xfrm>
            <a:off x="0" y="0"/>
            <a:ext cx="14630400" cy="8229600"/>
          </a:xfrm>
          <a:prstGeom prst="rect">
            <a:avLst/>
          </a:prstGeom>
        </p:spPr>
      </p:pic>
      <p:sp>
        <p:nvSpPr>
          <p:cNvPr id="3" name="PDF_TEXT_GROUP_54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Preliminary Evidence: Execution Starts</a:t>
            </a:r>
          </a:p>
        </p:txBody>
      </p:sp>
      <p:sp>
        <p:nvSpPr>
          <p:cNvPr id="4" name="PDF_TEXT_GROUP_547"/>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548"/>
          <p:cNvSpPr txBox="1"/>
          <p:nvPr/>
        </p:nvSpPr>
        <p:spPr>
          <a:xfrm>
            <a:off x="1107736" y="2466875"/>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549"/>
          <p:cNvSpPr txBox="1"/>
          <p:nvPr/>
        </p:nvSpPr>
        <p:spPr>
          <a:xfrm>
            <a:off x="8360092" y="2466875"/>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550"/>
          <p:cNvSpPr txBox="1"/>
          <p:nvPr/>
        </p:nvSpPr>
        <p:spPr>
          <a:xfrm>
            <a:off x="11376133" y="2466875"/>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551"/>
          <p:cNvSpPr txBox="1"/>
          <p:nvPr/>
        </p:nvSpPr>
        <p:spPr>
          <a:xfrm>
            <a:off x="1107736" y="3035234"/>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552"/>
          <p:cNvSpPr txBox="1"/>
          <p:nvPr/>
        </p:nvSpPr>
        <p:spPr>
          <a:xfrm>
            <a:off x="9150522" y="3035234"/>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553"/>
          <p:cNvSpPr txBox="1"/>
          <p:nvPr/>
        </p:nvSpPr>
        <p:spPr>
          <a:xfrm>
            <a:off x="12797101" y="3035234"/>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554"/>
          <p:cNvSpPr txBox="1"/>
          <p:nvPr/>
        </p:nvSpPr>
        <p:spPr>
          <a:xfrm>
            <a:off x="1107736" y="3603593"/>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555"/>
          <p:cNvSpPr txBox="1"/>
          <p:nvPr/>
        </p:nvSpPr>
        <p:spPr>
          <a:xfrm>
            <a:off x="9150490" y="3603593"/>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556"/>
          <p:cNvSpPr txBox="1"/>
          <p:nvPr/>
        </p:nvSpPr>
        <p:spPr>
          <a:xfrm>
            <a:off x="12797069" y="3603593"/>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557"/>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558"/>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559"/>
          <p:cNvSpPr txBox="1"/>
          <p:nvPr/>
        </p:nvSpPr>
        <p:spPr>
          <a:xfrm>
            <a:off x="1123808" y="5478003"/>
            <a:ext cx="1202511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used fewer execution starts than gRPC-PAR-4 at the reported completion rates.</a:t>
            </a:r>
            <a:r>
              <a:rPr sz="2371" b="0" i="0">
                <a:solidFill>
                  <a:srgbClr val="000000"/>
                </a:solidFill>
                <a:latin typeface="Latin Modern Sans"/>
              </a:rPr>
              <a:t> Bytes, CPU time and energy require separate measurement.</a:t>
            </a:r>
          </a:p>
        </p:txBody>
      </p:sp>
      <p:sp>
        <p:nvSpPr>
          <p:cNvPr id="17" name="PDF_TEXT_GROUP_56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56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56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56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56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40/53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1" descr="background-041.png"/>
          <p:cNvPicPr>
            <a:picLocks noChangeAspect="1"/>
          </p:cNvPicPr>
          <p:nvPr/>
        </p:nvPicPr>
        <p:blipFill>
          <a:blip r:embed="rId2"/>
          <a:stretch>
            <a:fillRect/>
          </a:stretch>
        </p:blipFill>
        <p:spPr>
          <a:xfrm>
            <a:off x="0" y="0"/>
            <a:ext cx="14630400" cy="8229600"/>
          </a:xfrm>
          <a:prstGeom prst="rect">
            <a:avLst/>
          </a:prstGeom>
        </p:spPr>
      </p:pic>
      <p:sp>
        <p:nvSpPr>
          <p:cNvPr id="3" name="PDF_TEXT_GROUP_56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Evaluation: Tests That Decide the Claims</a:t>
            </a:r>
          </a:p>
        </p:txBody>
      </p:sp>
      <p:sp>
        <p:nvSpPr>
          <p:cNvPr id="4" name="PDF_TEXT_GROUP_566"/>
          <p:cNvSpPr txBox="1"/>
          <p:nvPr/>
        </p:nvSpPr>
        <p:spPr>
          <a:xfrm>
            <a:off x="1107736" y="123511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567"/>
          <p:cNvSpPr txBox="1"/>
          <p:nvPr/>
        </p:nvSpPr>
        <p:spPr>
          <a:xfrm>
            <a:off x="2646188" y="1235117"/>
            <a:ext cx="216786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Controlled test</a:t>
            </a:r>
          </a:p>
        </p:txBody>
      </p:sp>
      <p:sp>
        <p:nvSpPr>
          <p:cNvPr id="6" name="PDF_TEXT_GROUP_568"/>
          <p:cNvSpPr txBox="1"/>
          <p:nvPr/>
        </p:nvSpPr>
        <p:spPr>
          <a:xfrm>
            <a:off x="8280676" y="1235117"/>
            <a:ext cx="3534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Decision / measurement</a:t>
            </a:r>
          </a:p>
        </p:txBody>
      </p:sp>
      <p:sp>
        <p:nvSpPr>
          <p:cNvPr id="7" name="PDF_TEXT_GROUP_569"/>
          <p:cNvSpPr txBox="1"/>
          <p:nvPr/>
        </p:nvSpPr>
        <p:spPr>
          <a:xfrm>
            <a:off x="1107736" y="180347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570"/>
          <p:cNvSpPr txBox="1"/>
          <p:nvPr/>
        </p:nvSpPr>
        <p:spPr>
          <a:xfrm>
            <a:off x="2646187" y="1803476"/>
            <a:ext cx="494149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User, four candidates; identical</a:t>
            </a:r>
            <a:r>
              <a:rPr sz="2371" b="0" i="0">
                <a:solidFill>
                  <a:srgbClr val="000000"/>
                </a:solidFill>
                <a:latin typeface="Latin Modern Sans"/>
              </a:rPr>
              <a:t> discovery encryption</a:t>
            </a:r>
          </a:p>
        </p:txBody>
      </p:sp>
      <p:sp>
        <p:nvSpPr>
          <p:cNvPr id="9" name="PDF_TEXT_GROUP_571"/>
          <p:cNvSpPr txBox="1"/>
          <p:nvPr/>
        </p:nvSpPr>
        <p:spPr>
          <a:xfrm>
            <a:off x="8280720" y="1803476"/>
            <a:ext cx="529105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Reject unauthorized starts; compare</a:t>
            </a:r>
            <a:r>
              <a:rPr sz="2371" b="0" i="0">
                <a:solidFill>
                  <a:srgbClr val="000000"/>
                </a:solidFill>
                <a:latin typeface="Latin Modern Sans"/>
              </a:rPr>
              <a:t> grant/withdrawal and invocation costs</a:t>
            </a:r>
          </a:p>
        </p:txBody>
      </p:sp>
      <p:sp>
        <p:nvSpPr>
          <p:cNvPr id="10" name="PDF_TEXT_GROUP_572"/>
          <p:cNvSpPr txBox="1"/>
          <p:nvPr/>
        </p:nvSpPr>
        <p:spPr>
          <a:xfrm>
            <a:off x="1107736" y="2758164"/>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1" name="PDF_TEXT_GROUP_573"/>
          <p:cNvSpPr txBox="1"/>
          <p:nvPr/>
        </p:nvSpPr>
        <p:spPr>
          <a:xfrm>
            <a:off x="2646188" y="2758164"/>
            <a:ext cx="53273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Wrong role/edge within one request;</a:t>
            </a:r>
          </a:p>
        </p:txBody>
      </p:sp>
      <p:sp>
        <p:nvSpPr>
          <p:cNvPr id="12" name="PDF_TEXT_GROUP_574"/>
          <p:cNvSpPr txBox="1"/>
          <p:nvPr/>
        </p:nvSpPr>
        <p:spPr>
          <a:xfrm>
            <a:off x="8280720" y="2758164"/>
            <a:ext cx="496798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Reject invalid dependencies before</a:t>
            </a:r>
          </a:p>
        </p:txBody>
      </p:sp>
      <p:sp>
        <p:nvSpPr>
          <p:cNvPr id="13" name="PDF_TEXT_GROUP_575"/>
          <p:cNvSpPr txBox="1"/>
          <p:nvPr/>
        </p:nvSpPr>
        <p:spPr>
          <a:xfrm>
            <a:off x="2646187" y="3144492"/>
            <a:ext cx="524205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direct/cache delivery; individual-check</a:t>
            </a:r>
            <a:r>
              <a:rPr sz="2371" b="0" i="0">
                <a:solidFill>
                  <a:srgbClr val="000000"/>
                </a:solidFill>
                <a:latin typeface="Latin Modern Sans"/>
              </a:rPr>
              <a:t> ablations</a:t>
            </a:r>
          </a:p>
        </p:txBody>
      </p:sp>
      <p:sp>
        <p:nvSpPr>
          <p:cNvPr id="14" name="PDF_TEXT_GROUP_576"/>
          <p:cNvSpPr txBox="1"/>
          <p:nvPr/>
        </p:nvSpPr>
        <p:spPr>
          <a:xfrm>
            <a:off x="8280720" y="3144492"/>
            <a:ext cx="54352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dependent work; valid tasks complete</a:t>
            </a:r>
          </a:p>
        </p:txBody>
      </p:sp>
      <p:sp>
        <p:nvSpPr>
          <p:cNvPr id="15" name="PDF_TEXT_GROUP_577"/>
          <p:cNvSpPr txBox="1"/>
          <p:nvPr/>
        </p:nvSpPr>
        <p:spPr>
          <a:xfrm>
            <a:off x="1107736" y="4099211"/>
            <a:ext cx="110732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RQ2/3</a:t>
            </a:r>
          </a:p>
        </p:txBody>
      </p:sp>
      <p:sp>
        <p:nvSpPr>
          <p:cNvPr id="16" name="PDF_TEXT_GROUP_578"/>
          <p:cNvSpPr txBox="1"/>
          <p:nvPr/>
        </p:nvSpPr>
        <p:spPr>
          <a:xfrm>
            <a:off x="2646188" y="4099211"/>
            <a:ext cx="409262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Cancel/replace one Provider</a:t>
            </a:r>
          </a:p>
        </p:txBody>
      </p:sp>
      <p:sp>
        <p:nvSpPr>
          <p:cNvPr id="17" name="PDF_TEXT_GROUP_579"/>
          <p:cNvSpPr txBox="1"/>
          <p:nvPr/>
        </p:nvSpPr>
        <p:spPr>
          <a:xfrm>
            <a:off x="8280547" y="4099211"/>
            <a:ext cx="53767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Reject late old work after local update;</a:t>
            </a:r>
            <a:r>
              <a:rPr sz="2371" b="0" i="0">
                <a:solidFill>
                  <a:srgbClr val="000000"/>
                </a:solidFill>
                <a:latin typeface="Latin Modern Sans"/>
              </a:rPr>
              <a:t> measure recovery</a:t>
            </a:r>
          </a:p>
        </p:txBody>
      </p:sp>
      <p:sp>
        <p:nvSpPr>
          <p:cNvPr id="18" name="PDF_TEXT_GROUP_580"/>
          <p:cNvSpPr txBox="1"/>
          <p:nvPr/>
        </p:nvSpPr>
        <p:spPr>
          <a:xfrm>
            <a:off x="1107736" y="5053899"/>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19" name="PDF_TEXT_GROUP_581"/>
          <p:cNvSpPr txBox="1"/>
          <p:nvPr/>
        </p:nvSpPr>
        <p:spPr>
          <a:xfrm>
            <a:off x="2646187" y="5053899"/>
            <a:ext cx="499043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Fixed inputs; UAV relay and feasible</a:t>
            </a:r>
            <a:r>
              <a:rPr sz="2371" b="0" i="0">
                <a:solidFill>
                  <a:srgbClr val="000000"/>
                </a:solidFill>
                <a:latin typeface="Latin Modern Sans"/>
              </a:rPr>
              <a:t> unsplit DI controls</a:t>
            </a:r>
          </a:p>
        </p:txBody>
      </p:sp>
      <p:sp>
        <p:nvSpPr>
          <p:cNvPr id="20" name="PDF_TEXT_GROUP_582"/>
          <p:cNvSpPr txBox="1"/>
          <p:nvPr/>
        </p:nvSpPr>
        <p:spPr>
          <a:xfrm>
            <a:off x="8280720" y="5053899"/>
            <a:ext cx="520987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Compare correct outputs, completion,</a:t>
            </a:r>
            <a:r>
              <a:rPr sz="2371" b="0" i="0">
                <a:solidFill>
                  <a:srgbClr val="000000"/>
                </a:solidFill>
                <a:latin typeface="Latin Modern Sans"/>
              </a:rPr>
              <a:t> latency, bytes and memory</a:t>
            </a:r>
          </a:p>
        </p:txBody>
      </p:sp>
      <p:sp>
        <p:nvSpPr>
          <p:cNvPr id="21" name="PDF_TEXT_GROUP_583"/>
          <p:cNvSpPr txBox="1"/>
          <p:nvPr/>
        </p:nvSpPr>
        <p:spPr>
          <a:xfrm>
            <a:off x="1123808" y="6321591"/>
            <a:ext cx="121566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Retain signatures and request IDs in ablations. Define tolerances and useful-improvement</a:t>
            </a:r>
            <a:r>
              <a:rPr sz="2371" b="0" i="0">
                <a:solidFill>
                  <a:srgbClr val="000000"/>
                </a:solidFill>
                <a:latin typeface="Latin Modern Sans"/>
              </a:rPr>
              <a:t> criteria before runs.</a:t>
            </a:r>
          </a:p>
        </p:txBody>
      </p:sp>
      <p:sp>
        <p:nvSpPr>
          <p:cNvPr id="22" name="PDF_TEXT_GROUP_58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58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58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58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58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41/53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2"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58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Work and Scope Controls</a:t>
            </a:r>
          </a:p>
        </p:txBody>
      </p:sp>
      <p:sp>
        <p:nvSpPr>
          <p:cNvPr id="4" name="PDF_TEXT_GROUP_590"/>
          <p:cNvSpPr txBox="1"/>
          <p:nvPr/>
        </p:nvSpPr>
        <p:spPr>
          <a:xfrm>
            <a:off x="1107736" y="1291345"/>
            <a:ext cx="2129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Minimum case</a:t>
            </a:r>
          </a:p>
        </p:txBody>
      </p:sp>
      <p:sp>
        <p:nvSpPr>
          <p:cNvPr id="5" name="PDF_TEXT_GROUP_591"/>
          <p:cNvSpPr txBox="1"/>
          <p:nvPr/>
        </p:nvSpPr>
        <p:spPr>
          <a:xfrm>
            <a:off x="4439287" y="1291345"/>
            <a:ext cx="26074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592"/>
          <p:cNvSpPr txBox="1"/>
          <p:nvPr/>
        </p:nvSpPr>
        <p:spPr>
          <a:xfrm>
            <a:off x="1107736" y="1859705"/>
            <a:ext cx="79480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a:t>
            </a:r>
          </a:p>
        </p:txBody>
      </p:sp>
      <p:sp>
        <p:nvSpPr>
          <p:cNvPr id="7" name="PDF_TEXT_GROUP_593"/>
          <p:cNvSpPr txBox="1"/>
          <p:nvPr/>
        </p:nvSpPr>
        <p:spPr>
          <a:xfrm>
            <a:off x="4439239" y="1859705"/>
            <a:ext cx="825373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Two capture roles and one analyzer; fixed images/algorithm;</a:t>
            </a:r>
            <a:r>
              <a:rPr sz="2371" b="0" i="0">
                <a:solidFill>
                  <a:srgbClr val="000000"/>
                </a:solidFill>
                <a:latin typeface="Latin Modern Sans"/>
              </a:rPr>
              <a:t> compare direct exchange with User relay</a:t>
            </a:r>
          </a:p>
        </p:txBody>
      </p:sp>
      <p:sp>
        <p:nvSpPr>
          <p:cNvPr id="8" name="PDF_TEXT_GROUP_594"/>
          <p:cNvSpPr txBox="1"/>
          <p:nvPr/>
        </p:nvSpPr>
        <p:spPr>
          <a:xfrm>
            <a:off x="1107736" y="2814392"/>
            <a:ext cx="5022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a:t>
            </a:r>
          </a:p>
        </p:txBody>
      </p:sp>
      <p:sp>
        <p:nvSpPr>
          <p:cNvPr id="9" name="PDF_TEXT_GROUP_595"/>
          <p:cNvSpPr txBox="1"/>
          <p:nvPr/>
        </p:nvSpPr>
        <p:spPr>
          <a:xfrm>
            <a:off x="4439239" y="2814392"/>
            <a:ext cx="88705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two-Provider YOLO partition; declare crossing tensors; fix</a:t>
            </a:r>
            <a:r>
              <a:rPr sz="2371" b="0" i="0">
                <a:solidFill>
                  <a:srgbClr val="000000"/>
                </a:solidFill>
                <a:latin typeface="Latin Modern Sans"/>
              </a:rPr>
              <a:t> model/cut after compatibility checks</a:t>
            </a:r>
          </a:p>
        </p:txBody>
      </p:sp>
      <p:sp>
        <p:nvSpPr>
          <p:cNvPr id="10" name="PDF_TEXT_GROUP_596"/>
          <p:cNvSpPr txBox="1"/>
          <p:nvPr/>
        </p:nvSpPr>
        <p:spPr>
          <a:xfrm>
            <a:off x="1107736" y="3769079"/>
            <a:ext cx="182576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Both graphs</a:t>
            </a:r>
          </a:p>
        </p:txBody>
      </p:sp>
      <p:sp>
        <p:nvSpPr>
          <p:cNvPr id="11" name="PDF_TEXT_GROUP_597"/>
          <p:cNvSpPr txBox="1"/>
          <p:nvPr/>
        </p:nvSpPr>
        <p:spPr>
          <a:xfrm>
            <a:off x="4439158" y="3769079"/>
            <a:ext cx="626721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Valid completion, wrong-input rejection, one</a:t>
            </a:r>
            <a:r>
              <a:rPr sz="2371" b="0" i="0">
                <a:solidFill>
                  <a:srgbClr val="000000"/>
                </a:solidFill>
                <a:latin typeface="Latin Modern Sans"/>
              </a:rPr>
              <a:t> cancellation/replacement case, matched costs</a:t>
            </a:r>
          </a:p>
        </p:txBody>
      </p:sp>
      <p:sp>
        <p:nvSpPr>
          <p:cNvPr id="12" name="PDF_TEXT_GROUP_598"/>
          <p:cNvSpPr txBox="1"/>
          <p:nvPr/>
        </p:nvSpPr>
        <p:spPr>
          <a:xfrm>
            <a:off x="1107736" y="4723767"/>
            <a:ext cx="159632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Extensions</a:t>
            </a:r>
          </a:p>
        </p:txBody>
      </p:sp>
      <p:sp>
        <p:nvSpPr>
          <p:cNvPr id="13" name="PDF_TEXT_GROUP_599"/>
          <p:cNvSpPr txBox="1"/>
          <p:nvPr/>
        </p:nvSpPr>
        <p:spPr>
          <a:xfrm>
            <a:off x="4439239" y="4723767"/>
            <a:ext cx="878405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More models, LLM streaming, larger deployments and real-flight</a:t>
            </a:r>
            <a:r>
              <a:rPr sz="2371" b="0" i="0">
                <a:solidFill>
                  <a:srgbClr val="000000"/>
                </a:solidFill>
                <a:latin typeface="Latin Modern Sans"/>
              </a:rPr>
              <a:t> trials</a:t>
            </a:r>
          </a:p>
        </p:txBody>
      </p:sp>
      <p:sp>
        <p:nvSpPr>
          <p:cNvPr id="14" name="PDF_TEXT_GROUP_600"/>
          <p:cNvSpPr txBox="1"/>
          <p:nvPr/>
        </p:nvSpPr>
        <p:spPr>
          <a:xfrm>
            <a:off x="1123808" y="5991492"/>
            <a:ext cx="1228481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These are planned cases. If either core graph cannot be validated, reconsider its claim and</a:t>
            </a:r>
            <a:r>
              <a:rPr sz="2371" b="0" i="0">
                <a:solidFill>
                  <a:srgbClr val="000000"/>
                </a:solidFill>
                <a:latin typeface="Latin Modern Sans"/>
              </a:rPr>
              <a:t> schedule with the committee; optional features cannot replace missing core evidence.</a:t>
            </a:r>
          </a:p>
        </p:txBody>
      </p:sp>
      <p:sp>
        <p:nvSpPr>
          <p:cNvPr id="15" name="PDF_TEXT_GROUP_60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60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60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60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60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42/53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3" descr="background-043.png"/>
          <p:cNvPicPr>
            <a:picLocks noChangeAspect="1"/>
          </p:cNvPicPr>
          <p:nvPr/>
        </p:nvPicPr>
        <p:blipFill>
          <a:blip r:embed="rId2"/>
          <a:stretch>
            <a:fillRect/>
          </a:stretch>
        </p:blipFill>
        <p:spPr>
          <a:xfrm>
            <a:off x="0" y="0"/>
            <a:ext cx="14630400" cy="8229600"/>
          </a:xfrm>
          <a:prstGeom prst="rect">
            <a:avLst/>
          </a:prstGeom>
        </p:spPr>
      </p:pic>
      <p:sp>
        <p:nvSpPr>
          <p:cNvPr id="3" name="PDF_TEXT_GROUP_60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607"/>
          <p:cNvSpPr txBox="1"/>
          <p:nvPr/>
        </p:nvSpPr>
        <p:spPr>
          <a:xfrm>
            <a:off x="1107736" y="1242581"/>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608"/>
          <p:cNvSpPr txBox="1"/>
          <p:nvPr/>
        </p:nvSpPr>
        <p:spPr>
          <a:xfrm>
            <a:off x="4695540" y="1242581"/>
            <a:ext cx="2904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deliverable</a:t>
            </a:r>
          </a:p>
        </p:txBody>
      </p:sp>
      <p:sp>
        <p:nvSpPr>
          <p:cNvPr id="6" name="PDF_TEXT_GROUP_609"/>
          <p:cNvSpPr txBox="1"/>
          <p:nvPr/>
        </p:nvSpPr>
        <p:spPr>
          <a:xfrm>
            <a:off x="1107736" y="1810941"/>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610"/>
          <p:cNvSpPr txBox="1"/>
          <p:nvPr/>
        </p:nvSpPr>
        <p:spPr>
          <a:xfrm>
            <a:off x="4695454" y="1810941"/>
            <a:ext cx="854517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611"/>
          <p:cNvSpPr txBox="1"/>
          <p:nvPr/>
        </p:nvSpPr>
        <p:spPr>
          <a:xfrm>
            <a:off x="1107736" y="2765661"/>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612"/>
          <p:cNvSpPr txBox="1"/>
          <p:nvPr/>
        </p:nvSpPr>
        <p:spPr>
          <a:xfrm>
            <a:off x="4695454" y="2765661"/>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613"/>
          <p:cNvSpPr txBox="1"/>
          <p:nvPr/>
        </p:nvSpPr>
        <p:spPr>
          <a:xfrm>
            <a:off x="1107736" y="3720348"/>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614"/>
          <p:cNvSpPr txBox="1"/>
          <p:nvPr/>
        </p:nvSpPr>
        <p:spPr>
          <a:xfrm>
            <a:off x="4695283" y="3720348"/>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615"/>
          <p:cNvSpPr txBox="1"/>
          <p:nvPr/>
        </p:nvSpPr>
        <p:spPr>
          <a:xfrm>
            <a:off x="1107736" y="4288708"/>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616"/>
          <p:cNvSpPr txBox="1"/>
          <p:nvPr/>
        </p:nvSpPr>
        <p:spPr>
          <a:xfrm>
            <a:off x="4695412" y="4288708"/>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617"/>
          <p:cNvSpPr txBox="1"/>
          <p:nvPr/>
        </p:nvSpPr>
        <p:spPr>
          <a:xfrm>
            <a:off x="1107736" y="5243395"/>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618"/>
          <p:cNvSpPr txBox="1"/>
          <p:nvPr/>
        </p:nvSpPr>
        <p:spPr>
          <a:xfrm>
            <a:off x="4695379" y="5243395"/>
            <a:ext cx="8274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Final dissertation defense, subject to committee approval</a:t>
            </a:r>
          </a:p>
        </p:txBody>
      </p:sp>
      <p:sp>
        <p:nvSpPr>
          <p:cNvPr id="16" name="PDF_TEXT_GROUP_619"/>
          <p:cNvSpPr txBox="1"/>
          <p:nvPr/>
        </p:nvSpPr>
        <p:spPr>
          <a:xfrm>
            <a:off x="1123808" y="6138299"/>
            <a:ext cx="1222577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draft: two weeks before defense. Spring 2027 application/candidacy: February</a:t>
            </a:r>
            <a:r>
              <a:rPr sz="2371" b="0" i="0">
                <a:solidFill>
                  <a:srgbClr val="000000"/>
                </a:solidFill>
                <a:latin typeface="Latin Modern Sans"/>
              </a:rPr>
              <a:t> 5; final ProQuest: March 26. Recheck before filing. [29,30]</a:t>
            </a:r>
          </a:p>
        </p:txBody>
      </p:sp>
      <p:sp>
        <p:nvSpPr>
          <p:cNvPr id="17" name="PDF_TEXT_GROUP_62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62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62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62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62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43/53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4" descr="background-044.png"/>
          <p:cNvPicPr>
            <a:picLocks noChangeAspect="1"/>
          </p:cNvPicPr>
          <p:nvPr/>
        </p:nvPicPr>
        <p:blipFill>
          <a:blip r:embed="rId2"/>
          <a:stretch>
            <a:fillRect/>
          </a:stretch>
        </p:blipFill>
        <p:spPr>
          <a:xfrm>
            <a:off x="0" y="0"/>
            <a:ext cx="14630400" cy="8229600"/>
          </a:xfrm>
          <a:prstGeom prst="rect">
            <a:avLst/>
          </a:prstGeom>
        </p:spPr>
      </p:pic>
      <p:sp>
        <p:nvSpPr>
          <p:cNvPr id="3" name="PDF_TEXT_GROUP_62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Expected Research Outcomes</a:t>
            </a:r>
          </a:p>
        </p:txBody>
      </p:sp>
      <p:sp>
        <p:nvSpPr>
          <p:cNvPr id="4" name="PDF_TEXT_GROUP_626"/>
          <p:cNvSpPr txBox="1"/>
          <p:nvPr/>
        </p:nvSpPr>
        <p:spPr>
          <a:xfrm>
            <a:off x="1618972" y="1777984"/>
            <a:ext cx="1171375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tradeoff regions across permission overlap, membership changes</a:t>
            </a:r>
            <a:r>
              <a:rPr sz="2710" b="0" i="0">
                <a:solidFill>
                  <a:srgbClr val="000000"/>
                </a:solidFill>
                <a:latin typeface="Latin Modern Sans"/>
              </a:rPr>
              <a:t> and withdrawals, using complete alternatives with equal protection.</a:t>
            </a:r>
          </a:p>
        </p:txBody>
      </p:sp>
      <p:sp>
        <p:nvSpPr>
          <p:cNvPr id="5" name="PDF_TEXT_GROUP_627"/>
          <p:cNvSpPr txBox="1"/>
          <p:nvPr/>
        </p:nvSpPr>
        <p:spPr>
          <a:xfrm>
            <a:off x="1618972" y="2750251"/>
            <a:ext cx="1213581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which assignment and dependency rules can be shared across UAV</a:t>
            </a:r>
            <a:r>
              <a:rPr sz="2710" b="0" i="0">
                <a:solidFill>
                  <a:srgbClr val="000000"/>
                </a:solidFill>
                <a:latin typeface="Latin Modern Sans"/>
              </a:rPr>
              <a:t> and DI, what they reject, and their recovery limits.</a:t>
            </a:r>
          </a:p>
        </p:txBody>
      </p:sp>
      <p:sp>
        <p:nvSpPr>
          <p:cNvPr id="6" name="PDF_TEXT_GROUP_628"/>
          <p:cNvSpPr txBox="1"/>
          <p:nvPr/>
        </p:nvSpPr>
        <p:spPr>
          <a:xfrm>
            <a:off x="1618972" y="3722550"/>
            <a:ext cx="109120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r>
              <a:rPr sz="2710" b="0" i="0">
                <a:solidFill>
                  <a:srgbClr val="000000"/>
                </a:solidFill>
                <a:latin typeface="Latin Modern Sans"/>
              </a:rPr>
              <a:t> including which checks belong in Core or the application.</a:t>
            </a:r>
          </a:p>
        </p:txBody>
      </p:sp>
      <p:sp>
        <p:nvSpPr>
          <p:cNvPr id="7" name="PDF_TEXT_GROUP_629"/>
          <p:cNvSpPr txBox="1"/>
          <p:nvPr/>
        </p:nvSpPr>
        <p:spPr>
          <a:xfrm>
            <a:off x="1618972" y="4694817"/>
            <a:ext cx="115727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Reproducible configurations and evidence linking each conclusion to its tested</a:t>
            </a:r>
            <a:r>
              <a:rPr sz="2710" b="0" i="0">
                <a:solidFill>
                  <a:srgbClr val="000000"/>
                </a:solidFill>
                <a:latin typeface="Latin Modern Sans"/>
              </a:rPr>
              <a:t> scope.</a:t>
            </a:r>
          </a:p>
        </p:txBody>
      </p:sp>
      <p:sp>
        <p:nvSpPr>
          <p:cNvPr id="8" name="PDF_TEXT_GROUP_630"/>
          <p:cNvSpPr txBox="1"/>
          <p:nvPr/>
        </p:nvSpPr>
        <p:spPr>
          <a:xfrm>
            <a:off x="1143656" y="6013664"/>
            <a:ext cx="1233902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intended outcome is a tested service protocol and an evidence-backed account</a:t>
            </a:r>
            <a:r>
              <a:rPr sz="2710" b="0" i="0">
                <a:solidFill>
                  <a:srgbClr val="000000"/>
                </a:solidFill>
                <a:latin typeface="Latin Modern Sans"/>
              </a:rPr>
              <a:t> of when its mechanisms are worth their cost.</a:t>
            </a:r>
          </a:p>
        </p:txBody>
      </p:sp>
      <p:sp>
        <p:nvSpPr>
          <p:cNvPr id="9" name="PDF_TEXT_GROUP_63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63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63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63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63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44/53</a:t>
            </a:r>
          </a:p>
        </p:txBody>
      </p:sp>
      <p:sp>
        <p:nvSpPr>
          <p:cNvPr id="14" name="PDF_BULLET_SPAN_917"/>
          <p:cNvSpPr/>
          <p:nvPr/>
        </p:nvSpPr>
        <p:spPr>
          <a:xfrm rot="5400000">
            <a:off x="1207424" y="186377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921"/>
          <p:cNvSpPr/>
          <p:nvPr/>
        </p:nvSpPr>
        <p:spPr>
          <a:xfrm rot="5400000">
            <a:off x="1207424" y="283604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925"/>
          <p:cNvSpPr/>
          <p:nvPr/>
        </p:nvSpPr>
        <p:spPr>
          <a:xfrm rot="5400000">
            <a:off x="1207424" y="380834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929"/>
          <p:cNvSpPr/>
          <p:nvPr/>
        </p:nvSpPr>
        <p:spPr>
          <a:xfrm rot="5400000">
            <a:off x="1207424" y="478060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5" descr="background-045.png"/>
          <p:cNvPicPr>
            <a:picLocks noChangeAspect="1"/>
          </p:cNvPicPr>
          <p:nvPr/>
        </p:nvPicPr>
        <p:blipFill>
          <a:blip r:embed="rId2"/>
          <a:stretch>
            <a:fillRect/>
          </a:stretch>
        </p:blipFill>
        <p:spPr>
          <a:xfrm>
            <a:off x="0" y="0"/>
            <a:ext cx="14630400" cy="8229600"/>
          </a:xfrm>
          <a:prstGeom prst="rect">
            <a:avLst/>
          </a:prstGeom>
        </p:spPr>
      </p:pic>
      <p:sp>
        <p:nvSpPr>
          <p:cNvPr id="3" name="PDF_TEXT_GROUP_63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637"/>
          <p:cNvSpPr txBox="1"/>
          <p:nvPr/>
        </p:nvSpPr>
        <p:spPr>
          <a:xfrm>
            <a:off x="1169087" y="2129411"/>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638"/>
          <p:cNvSpPr txBox="1"/>
          <p:nvPr/>
        </p:nvSpPr>
        <p:spPr>
          <a:xfrm>
            <a:off x="1169087" y="2663840"/>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639"/>
          <p:cNvSpPr txBox="1"/>
          <p:nvPr/>
        </p:nvSpPr>
        <p:spPr>
          <a:xfrm>
            <a:off x="1169087" y="3198268"/>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640"/>
          <p:cNvSpPr txBox="1"/>
          <p:nvPr/>
        </p:nvSpPr>
        <p:spPr>
          <a:xfrm>
            <a:off x="1169087" y="4170535"/>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641"/>
          <p:cNvSpPr txBox="1"/>
          <p:nvPr/>
        </p:nvSpPr>
        <p:spPr>
          <a:xfrm>
            <a:off x="1143656" y="5417998"/>
            <a:ext cx="115701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Committee feedback sought: research significance, bounded scope, evaluation</a:t>
            </a:r>
            <a:r>
              <a:rPr sz="2710" b="0" i="0">
                <a:solidFill>
                  <a:srgbClr val="000000"/>
                </a:solidFill>
                <a:latin typeface="Latin Modern Sans"/>
              </a:rPr>
              <a:t> criteria, and a feasible completion plan.</a:t>
            </a:r>
          </a:p>
        </p:txBody>
      </p:sp>
      <p:sp>
        <p:nvSpPr>
          <p:cNvPr id="9" name="PDF_TEXT_GROUP_64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64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64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64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64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45/53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6" descr="background-046.png"/>
          <p:cNvPicPr>
            <a:picLocks noChangeAspect="1"/>
          </p:cNvPicPr>
          <p:nvPr/>
        </p:nvPicPr>
        <p:blipFill>
          <a:blip r:embed="rId2"/>
          <a:stretch>
            <a:fillRect/>
          </a:stretch>
        </p:blipFill>
        <p:spPr>
          <a:xfrm>
            <a:off x="0" y="0"/>
            <a:ext cx="14630400" cy="8229600"/>
          </a:xfrm>
          <a:prstGeom prst="rect">
            <a:avLst/>
          </a:prstGeom>
        </p:spPr>
      </p:pic>
      <p:sp>
        <p:nvSpPr>
          <p:cNvPr id="3" name="PDF_TEXT_GROUP_64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Aggregate Service Permissions</a:t>
            </a:r>
          </a:p>
        </p:txBody>
      </p:sp>
      <p:sp>
        <p:nvSpPr>
          <p:cNvPr id="4" name="PDF_TEXT_GROUP_648"/>
          <p:cNvSpPr txBox="1"/>
          <p:nvPr/>
        </p:nvSpPr>
        <p:spPr>
          <a:xfrm>
            <a:off x="1618972" y="2029557"/>
            <a:ext cx="1212264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Within one Controller domain, combine several service permissions in one entity’s</a:t>
            </a:r>
            <a:r>
              <a:rPr sz="2710" b="0" i="0">
                <a:solidFill>
                  <a:srgbClr val="000000"/>
                </a:solidFill>
                <a:latin typeface="Latin Modern Sans"/>
              </a:rPr>
              <a:t> DKEY; retain identity-signing credentials. [19,28]</a:t>
            </a:r>
          </a:p>
        </p:txBody>
      </p:sp>
      <p:sp>
        <p:nvSpPr>
          <p:cNvPr id="5" name="PDF_TEXT_GROUP_649"/>
          <p:cNvSpPr txBox="1"/>
          <p:nvPr/>
        </p:nvSpPr>
        <p:spPr>
          <a:xfrm>
            <a:off x="1618972" y="3001824"/>
            <a:ext cx="118569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DNMP represents command authority through role keys and schema rules. One</a:t>
            </a:r>
            <a:r>
              <a:rPr sz="2710" b="0" i="0">
                <a:solidFill>
                  <a:srgbClr val="000000"/>
                </a:solidFill>
                <a:latin typeface="Latin Modern Sans"/>
              </a:rPr>
              <a:t> role can permit several commands. [12]</a:t>
            </a:r>
          </a:p>
        </p:txBody>
      </p:sp>
      <p:sp>
        <p:nvSpPr>
          <p:cNvPr id="6" name="PDF_TEXT_GROUP_650"/>
          <p:cNvSpPr txBox="1"/>
          <p:nvPr/>
        </p:nvSpPr>
        <p:spPr>
          <a:xfrm>
            <a:off x="1618972" y="3974091"/>
            <a:ext cx="1150384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Where equivalent permissions require distinct role credentials, NDNSF avoids</a:t>
            </a:r>
            <a:r>
              <a:rPr sz="2710" b="0" i="0">
                <a:solidFill>
                  <a:srgbClr val="000000"/>
                </a:solidFill>
                <a:latin typeface="Latin Modern Sans"/>
              </a:rPr>
              <a:t> maintaining those extra signing credentials.</a:t>
            </a:r>
          </a:p>
        </p:txBody>
      </p:sp>
      <p:sp>
        <p:nvSpPr>
          <p:cNvPr id="7" name="PDF_TEXT_GROUP_651"/>
          <p:cNvSpPr txBox="1"/>
          <p:nvPr/>
        </p:nvSpPr>
        <p:spPr>
          <a:xfrm>
            <a:off x="1143656" y="5567779"/>
            <a:ext cx="1231219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Fewer independently managed credentials does not imply fixed DKEY size or lower</a:t>
            </a:r>
            <a:r>
              <a:rPr sz="2710" b="0" i="0">
                <a:solidFill>
                  <a:srgbClr val="000000"/>
                </a:solidFill>
                <a:latin typeface="Latin Modern Sans"/>
              </a:rPr>
              <a:t> total cost. Policy size, key distribution and updates still matter.</a:t>
            </a:r>
          </a:p>
        </p:txBody>
      </p:sp>
      <p:sp>
        <p:nvSpPr>
          <p:cNvPr id="8" name="PDF_TEXT_GROUP_65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65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65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65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65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46/53</a:t>
            </a:r>
          </a:p>
        </p:txBody>
      </p:sp>
      <p:sp>
        <p:nvSpPr>
          <p:cNvPr id="13" name="PDF_BULLET_SPAN_957"/>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960"/>
          <p:cNvSpPr/>
          <p:nvPr/>
        </p:nvSpPr>
        <p:spPr>
          <a:xfrm rot="5400000">
            <a:off x="1207424" y="3087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963"/>
          <p:cNvSpPr/>
          <p:nvPr/>
        </p:nvSpPr>
        <p:spPr>
          <a:xfrm rot="5400000">
            <a:off x="1207424" y="4059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7" descr="background-047.png"/>
          <p:cNvPicPr>
            <a:picLocks noChangeAspect="1"/>
          </p:cNvPicPr>
          <p:nvPr/>
        </p:nvPicPr>
        <p:blipFill>
          <a:blip r:embed="rId2"/>
          <a:stretch>
            <a:fillRect/>
          </a:stretch>
        </p:blipFill>
        <p:spPr>
          <a:xfrm>
            <a:off x="0" y="0"/>
            <a:ext cx="14630400" cy="8229600"/>
          </a:xfrm>
          <a:prstGeom prst="rect">
            <a:avLst/>
          </a:prstGeom>
        </p:spPr>
      </p:pic>
      <p:sp>
        <p:nvSpPr>
          <p:cNvPr id="3" name="PDF_TEXT_GROUP_65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When Another Authorization Design May Be Better</a:t>
            </a:r>
          </a:p>
        </p:txBody>
      </p:sp>
      <p:sp>
        <p:nvSpPr>
          <p:cNvPr id="4" name="PDF_TEXT_GROUP_658"/>
          <p:cNvSpPr txBox="1"/>
          <p:nvPr/>
        </p:nvSpPr>
        <p:spPr>
          <a:xfrm>
            <a:off x="1618972" y="1807940"/>
            <a:ext cx="11614223"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659"/>
          <p:cNvSpPr txBox="1"/>
          <p:nvPr/>
        </p:nvSpPr>
        <p:spPr>
          <a:xfrm>
            <a:off x="1618972" y="278023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660"/>
          <p:cNvSpPr txBox="1"/>
          <p:nvPr/>
        </p:nvSpPr>
        <p:spPr>
          <a:xfrm>
            <a:off x="1618972" y="3314668"/>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661"/>
          <p:cNvSpPr txBox="1"/>
          <p:nvPr/>
        </p:nvSpPr>
        <p:spPr>
          <a:xfrm>
            <a:off x="1618972" y="4286934"/>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662"/>
          <p:cNvSpPr txBox="1"/>
          <p:nvPr/>
        </p:nvSpPr>
        <p:spPr>
          <a:xfrm>
            <a:off x="1143656" y="5900173"/>
            <a:ext cx="1170977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Compare complete combinations of authorization and encryption. ABE-backed</a:t>
            </a:r>
            <a:r>
              <a:rPr sz="2710" b="0" i="0">
                <a:solidFill>
                  <a:srgbClr val="000000"/>
                </a:solidFill>
                <a:latin typeface="Latin Modern Sans"/>
              </a:rPr>
              <a:t> authorization is one design choice, not a universally superior solution.</a:t>
            </a:r>
          </a:p>
        </p:txBody>
      </p:sp>
      <p:sp>
        <p:nvSpPr>
          <p:cNvPr id="9" name="PDF_TEXT_GROUP_66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66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66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66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66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47/53</a:t>
            </a:r>
          </a:p>
        </p:txBody>
      </p:sp>
      <p:sp>
        <p:nvSpPr>
          <p:cNvPr id="14" name="PDF_BULLET_SPAN_974"/>
          <p:cNvSpPr/>
          <p:nvPr/>
        </p:nvSpPr>
        <p:spPr>
          <a:xfrm rot="5400000">
            <a:off x="1207424" y="18937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977"/>
          <p:cNvSpPr/>
          <p:nvPr/>
        </p:nvSpPr>
        <p:spPr>
          <a:xfrm rot="5400000">
            <a:off x="1207424" y="28660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979"/>
          <p:cNvSpPr/>
          <p:nvPr/>
        </p:nvSpPr>
        <p:spPr>
          <a:xfrm rot="5400000">
            <a:off x="1207424" y="34004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982"/>
          <p:cNvSpPr/>
          <p:nvPr/>
        </p:nvSpPr>
        <p:spPr>
          <a:xfrm rot="5400000">
            <a:off x="1207424" y="43727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8" descr="background-048.png"/>
          <p:cNvPicPr>
            <a:picLocks noChangeAspect="1"/>
          </p:cNvPicPr>
          <p:nvPr/>
        </p:nvPicPr>
        <p:blipFill>
          <a:blip r:embed="rId2"/>
          <a:stretch>
            <a:fillRect/>
          </a:stretch>
        </p:blipFill>
        <p:spPr>
          <a:xfrm>
            <a:off x="0" y="0"/>
            <a:ext cx="14630400" cy="8229600"/>
          </a:xfrm>
          <a:prstGeom prst="rect">
            <a:avLst/>
          </a:prstGeom>
        </p:spPr>
      </p:pic>
      <p:sp>
        <p:nvSpPr>
          <p:cNvPr id="3" name="PDF_TEXT_GROUP_66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Archived Small-Model Diagnostic</a:t>
            </a:r>
          </a:p>
        </p:txBody>
      </p:sp>
      <p:sp>
        <p:nvSpPr>
          <p:cNvPr id="4" name="PDF_TEXT_GROUP_669"/>
          <p:cNvSpPr txBox="1"/>
          <p:nvPr/>
        </p:nvSpPr>
        <p:spPr>
          <a:xfrm>
            <a:off x="914808" y="1757459"/>
            <a:ext cx="778972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Original proposal: ten successful runs per layout. [32]</a:t>
            </a:r>
          </a:p>
        </p:txBody>
      </p:sp>
      <p:sp>
        <p:nvSpPr>
          <p:cNvPr id="5" name="PDF_TEXT_GROUP_670"/>
          <p:cNvSpPr txBox="1"/>
          <p:nvPr/>
        </p:nvSpPr>
        <p:spPr>
          <a:xfrm>
            <a:off x="1107736" y="2636852"/>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671"/>
          <p:cNvSpPr txBox="1"/>
          <p:nvPr/>
        </p:nvSpPr>
        <p:spPr>
          <a:xfrm>
            <a:off x="10125828" y="2636852"/>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672"/>
          <p:cNvSpPr txBox="1"/>
          <p:nvPr/>
        </p:nvSpPr>
        <p:spPr>
          <a:xfrm>
            <a:off x="13041715" y="2636852"/>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673"/>
          <p:cNvSpPr txBox="1"/>
          <p:nvPr/>
        </p:nvSpPr>
        <p:spPr>
          <a:xfrm>
            <a:off x="1107736" y="3205212"/>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674"/>
          <p:cNvSpPr txBox="1"/>
          <p:nvPr/>
        </p:nvSpPr>
        <p:spPr>
          <a:xfrm>
            <a:off x="10707109" y="3205212"/>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675"/>
          <p:cNvSpPr txBox="1"/>
          <p:nvPr/>
        </p:nvSpPr>
        <p:spPr>
          <a:xfrm>
            <a:off x="12311023" y="3205212"/>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676"/>
          <p:cNvSpPr txBox="1"/>
          <p:nvPr/>
        </p:nvSpPr>
        <p:spPr>
          <a:xfrm>
            <a:off x="1107736" y="3773571"/>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677"/>
          <p:cNvSpPr txBox="1"/>
          <p:nvPr/>
        </p:nvSpPr>
        <p:spPr>
          <a:xfrm>
            <a:off x="10707109" y="3773571"/>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678"/>
          <p:cNvSpPr txBox="1"/>
          <p:nvPr/>
        </p:nvSpPr>
        <p:spPr>
          <a:xfrm>
            <a:off x="12311023" y="3773571"/>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679"/>
          <p:cNvSpPr txBox="1"/>
          <p:nvPr/>
        </p:nvSpPr>
        <p:spPr>
          <a:xfrm>
            <a:off x="1123808" y="4654936"/>
            <a:ext cx="1243476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motivates measuring preparation and transfer costs. Their causal contribution was not</a:t>
            </a:r>
            <a:r>
              <a:rPr sz="2371" b="0" i="0">
                <a:solidFill>
                  <a:srgbClr val="000000"/>
                </a:solidFill>
                <a:latin typeface="Latin Modern Sans"/>
              </a:rPr>
              <a:t> isolated; model/export identity and raw runs require verification.</a:t>
            </a:r>
          </a:p>
        </p:txBody>
      </p:sp>
      <p:sp>
        <p:nvSpPr>
          <p:cNvPr id="15" name="PDF_TEXT_GROUP_680"/>
          <p:cNvSpPr txBox="1"/>
          <p:nvPr/>
        </p:nvSpPr>
        <p:spPr>
          <a:xfrm>
            <a:off x="914808" y="6128695"/>
            <a:ext cx="137155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Historical record, not evidence for the newer DI design. Further archived observations and limits are retained in</a:t>
            </a:r>
          </a:p>
        </p:txBody>
      </p:sp>
      <p:sp>
        <p:nvSpPr>
          <p:cNvPr id="16" name="PDF_TEXT_GROUP_681"/>
          <p:cNvSpPr txBox="1"/>
          <p:nvPr/>
        </p:nvSpPr>
        <p:spPr>
          <a:xfrm>
            <a:off x="914808" y="6617721"/>
            <a:ext cx="33375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the proposal’s Appendix A.</a:t>
            </a:r>
          </a:p>
        </p:txBody>
      </p:sp>
      <p:sp>
        <p:nvSpPr>
          <p:cNvPr id="17" name="PDF_TEXT_GROUP_68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68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68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68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68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48/53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9" descr="background-049.png"/>
          <p:cNvPicPr>
            <a:picLocks noChangeAspect="1"/>
          </p:cNvPicPr>
          <p:nvPr/>
        </p:nvPicPr>
        <p:blipFill>
          <a:blip r:embed="rId2"/>
          <a:stretch>
            <a:fillRect/>
          </a:stretch>
        </p:blipFill>
        <p:spPr>
          <a:xfrm>
            <a:off x="0" y="0"/>
            <a:ext cx="14630400" cy="8229600"/>
          </a:xfrm>
          <a:prstGeom prst="rect">
            <a:avLst/>
          </a:prstGeom>
        </p:spPr>
      </p:pic>
      <p:sp>
        <p:nvSpPr>
          <p:cNvPr id="3" name="PDF_TEXT_GROUP_68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Provider-Transition Discovery Configurations</a:t>
            </a:r>
          </a:p>
        </p:txBody>
      </p:sp>
      <p:sp>
        <p:nvSpPr>
          <p:cNvPr id="4" name="PDF_TEXT_GROUP_688"/>
          <p:cNvSpPr txBox="1"/>
          <p:nvPr/>
        </p:nvSpPr>
        <p:spPr>
          <a:xfrm>
            <a:off x="1107736" y="2056375"/>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689"/>
          <p:cNvSpPr txBox="1"/>
          <p:nvPr/>
        </p:nvSpPr>
        <p:spPr>
          <a:xfrm>
            <a:off x="12096922" y="2056375"/>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690"/>
          <p:cNvSpPr txBox="1"/>
          <p:nvPr/>
        </p:nvSpPr>
        <p:spPr>
          <a:xfrm>
            <a:off x="1107736" y="2624734"/>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691"/>
          <p:cNvSpPr txBox="1"/>
          <p:nvPr/>
        </p:nvSpPr>
        <p:spPr>
          <a:xfrm>
            <a:off x="12189745" y="2624734"/>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692"/>
          <p:cNvSpPr txBox="1"/>
          <p:nvPr/>
        </p:nvSpPr>
        <p:spPr>
          <a:xfrm>
            <a:off x="1107736" y="3193094"/>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693"/>
          <p:cNvSpPr txBox="1"/>
          <p:nvPr/>
        </p:nvSpPr>
        <p:spPr>
          <a:xfrm>
            <a:off x="12511042" y="3193094"/>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694"/>
          <p:cNvSpPr txBox="1"/>
          <p:nvPr/>
        </p:nvSpPr>
        <p:spPr>
          <a:xfrm>
            <a:off x="1107736" y="3761453"/>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695"/>
          <p:cNvSpPr txBox="1"/>
          <p:nvPr/>
        </p:nvSpPr>
        <p:spPr>
          <a:xfrm>
            <a:off x="12189681" y="3761453"/>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696"/>
          <p:cNvSpPr txBox="1"/>
          <p:nvPr/>
        </p:nvSpPr>
        <p:spPr>
          <a:xfrm>
            <a:off x="1123808" y="4642817"/>
            <a:ext cx="1230152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depends on how candidates are configured in these runs. Resolver or discovery</a:t>
            </a:r>
            <a:r>
              <a:rPr sz="2371" b="0" i="0">
                <a:solidFill>
                  <a:srgbClr val="000000"/>
                </a:solidFill>
                <a:latin typeface="Latin Modern Sans"/>
              </a:rPr>
              <a:t> integration can update baseline candidate lists. [27,28]</a:t>
            </a:r>
          </a:p>
        </p:txBody>
      </p:sp>
      <p:sp>
        <p:nvSpPr>
          <p:cNvPr id="13" name="PDF_TEXT_GROUP_69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69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69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70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70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49/53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0" descr="background-050.png"/>
          <p:cNvPicPr>
            <a:picLocks noChangeAspect="1"/>
          </p:cNvPicPr>
          <p:nvPr/>
        </p:nvPicPr>
        <p:blipFill>
          <a:blip r:embed="rId2"/>
          <a:stretch>
            <a:fillRect/>
          </a:stretch>
        </p:blipFill>
        <p:spPr>
          <a:xfrm>
            <a:off x="0" y="0"/>
            <a:ext cx="14630400" cy="8229600"/>
          </a:xfrm>
          <a:prstGeom prst="rect">
            <a:avLst/>
          </a:prstGeom>
        </p:spPr>
      </p:pic>
      <p:sp>
        <p:nvSpPr>
          <p:cNvPr id="3" name="PDF_TEXT_GROUP_70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Invocation under Packet Loss</a:t>
            </a:r>
          </a:p>
        </p:txBody>
      </p:sp>
      <p:sp>
        <p:nvSpPr>
          <p:cNvPr id="4" name="PDF_TEXT_GROUP_703"/>
          <p:cNvSpPr txBox="1"/>
          <p:nvPr/>
        </p:nvSpPr>
        <p:spPr>
          <a:xfrm>
            <a:off x="1107736" y="1904138"/>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704"/>
          <p:cNvSpPr txBox="1"/>
          <p:nvPr/>
        </p:nvSpPr>
        <p:spPr>
          <a:xfrm>
            <a:off x="9804981" y="1904138"/>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705"/>
          <p:cNvSpPr txBox="1"/>
          <p:nvPr/>
        </p:nvSpPr>
        <p:spPr>
          <a:xfrm>
            <a:off x="1107736" y="2472497"/>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706"/>
          <p:cNvSpPr txBox="1"/>
          <p:nvPr/>
        </p:nvSpPr>
        <p:spPr>
          <a:xfrm>
            <a:off x="12189748" y="2472497"/>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707"/>
          <p:cNvSpPr txBox="1"/>
          <p:nvPr/>
        </p:nvSpPr>
        <p:spPr>
          <a:xfrm>
            <a:off x="1107736" y="3040857"/>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708"/>
          <p:cNvSpPr txBox="1"/>
          <p:nvPr/>
        </p:nvSpPr>
        <p:spPr>
          <a:xfrm>
            <a:off x="12189748" y="3040857"/>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709"/>
          <p:cNvSpPr txBox="1"/>
          <p:nvPr/>
        </p:nvSpPr>
        <p:spPr>
          <a:xfrm>
            <a:off x="1107736" y="3609216"/>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710"/>
          <p:cNvSpPr txBox="1"/>
          <p:nvPr/>
        </p:nvSpPr>
        <p:spPr>
          <a:xfrm>
            <a:off x="12189681" y="360921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711"/>
          <p:cNvSpPr txBox="1"/>
          <p:nvPr/>
        </p:nvSpPr>
        <p:spPr>
          <a:xfrm>
            <a:off x="1123808" y="4504121"/>
            <a:ext cx="121685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Archived NDNSF results from a separate campaign. The 10% value is the best recorded</a:t>
            </a:r>
            <a:r>
              <a:rPr sz="2371" b="0" i="0">
                <a:solidFill>
                  <a:srgbClr val="000000"/>
                </a:solidFill>
                <a:latin typeface="Latin Modern Sans"/>
              </a:rPr>
              <a:t> run, not an aggregate estimate; these values are not a matched baseline comparison. [28]</a:t>
            </a:r>
          </a:p>
        </p:txBody>
      </p:sp>
      <p:sp>
        <p:nvSpPr>
          <p:cNvPr id="13" name="PDF_TEXT_GROUP_712"/>
          <p:cNvSpPr txBox="1"/>
          <p:nvPr/>
        </p:nvSpPr>
        <p:spPr>
          <a:xfrm>
            <a:off x="914808" y="5977880"/>
            <a:ext cx="1367892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Per-link packet loss is not the probability of service failure: retrieval retries and the request deadline also affect</a:t>
            </a:r>
          </a:p>
        </p:txBody>
      </p:sp>
      <p:sp>
        <p:nvSpPr>
          <p:cNvPr id="14" name="PDF_TEXT_GROUP_713"/>
          <p:cNvSpPr txBox="1"/>
          <p:nvPr/>
        </p:nvSpPr>
        <p:spPr>
          <a:xfrm>
            <a:off x="914808" y="6466938"/>
            <a:ext cx="14625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completion.</a:t>
            </a:r>
          </a:p>
        </p:txBody>
      </p:sp>
      <p:sp>
        <p:nvSpPr>
          <p:cNvPr id="15" name="PDF_TEXT_GROUP_71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71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71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71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71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50/53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71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720"/>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721"/>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722"/>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723"/>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724"/>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725"/>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726"/>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727"/>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728"/>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729"/>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730"/>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73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73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73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73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73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51/53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2"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73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737"/>
          <p:cNvSpPr txBox="1"/>
          <p:nvPr/>
        </p:nvSpPr>
        <p:spPr>
          <a:xfrm>
            <a:off x="1122356" y="1854560"/>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738"/>
          <p:cNvSpPr txBox="1"/>
          <p:nvPr/>
        </p:nvSpPr>
        <p:spPr>
          <a:xfrm>
            <a:off x="1122356" y="2270327"/>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739"/>
          <p:cNvSpPr txBox="1"/>
          <p:nvPr/>
        </p:nvSpPr>
        <p:spPr>
          <a:xfrm>
            <a:off x="1122356" y="2686094"/>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740"/>
          <p:cNvSpPr txBox="1"/>
          <p:nvPr/>
        </p:nvSpPr>
        <p:spPr>
          <a:xfrm>
            <a:off x="985712" y="3101861"/>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741"/>
          <p:cNvSpPr txBox="1"/>
          <p:nvPr/>
        </p:nvSpPr>
        <p:spPr>
          <a:xfrm>
            <a:off x="1582632" y="3407692"/>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742"/>
          <p:cNvSpPr txBox="1"/>
          <p:nvPr/>
        </p:nvSpPr>
        <p:spPr>
          <a:xfrm>
            <a:off x="985712" y="3823459"/>
            <a:ext cx="133854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[33]</a:t>
            </a:r>
            <a:r>
              <a:rPr sz="1863" b="0" i="0">
                <a:solidFill>
                  <a:srgbClr val="000000"/>
                </a:solidFill>
                <a:latin typeface="Latin Modern Sans"/>
              </a:rPr>
              <a:t> M. Krol, S. Mastorakis, D. Oran and D. Kutscher, “Compute First Networking: Distributed Computing</a:t>
            </a:r>
          </a:p>
        </p:txBody>
      </p:sp>
      <p:sp>
        <p:nvSpPr>
          <p:cNvPr id="10" name="PDF_TEXT_GROUP_743"/>
          <p:cNvSpPr txBox="1"/>
          <p:nvPr/>
        </p:nvSpPr>
        <p:spPr>
          <a:xfrm>
            <a:off x="1582632" y="4129323"/>
            <a:ext cx="930761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Meets ICN,” ACM ICN, pp. 67–77, 2019. DOI: 10.1145/3357150.3357395.</a:t>
            </a:r>
          </a:p>
        </p:txBody>
      </p:sp>
      <p:sp>
        <p:nvSpPr>
          <p:cNvPr id="11" name="PDF_TEXT_GROUP_744"/>
          <p:cNvSpPr txBox="1"/>
          <p:nvPr/>
        </p:nvSpPr>
        <p:spPr>
          <a:xfrm>
            <a:off x="985712" y="4545090"/>
            <a:ext cx="127791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 Barrios, E. Alker and M. Kumar, “CaSCON: Cache-Assisted Service Composition Orchestration</a:t>
            </a:r>
          </a:p>
        </p:txBody>
      </p:sp>
      <p:sp>
        <p:nvSpPr>
          <p:cNvPr id="12" name="PDF_TEXT_GROUP_745"/>
          <p:cNvSpPr txBox="1"/>
          <p:nvPr/>
        </p:nvSpPr>
        <p:spPr>
          <a:xfrm>
            <a:off x="1582632" y="4850921"/>
            <a:ext cx="7747138" cy="657639"/>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Leveraging NDN,” IEEE SMARTCOMP, pp. 122–129, 2025. DOI:</a:t>
            </a:r>
            <a:r>
              <a:rPr sz="1863" b="0" i="0">
                <a:solidFill>
                  <a:srgbClr val="000000"/>
                </a:solidFill>
                <a:latin typeface="Latin Modern Sans"/>
              </a:rPr>
              <a:t> 10.1109/SMARTCOMP65954.2025.00061.</a:t>
            </a:r>
          </a:p>
        </p:txBody>
      </p:sp>
      <p:sp>
        <p:nvSpPr>
          <p:cNvPr id="13" name="PDF_TEXT_GROUP_746"/>
          <p:cNvSpPr txBox="1"/>
          <p:nvPr/>
        </p:nvSpPr>
        <p:spPr>
          <a:xfrm>
            <a:off x="985712" y="5572519"/>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4" name="PDF_TEXT_GROUP_747"/>
          <p:cNvSpPr txBox="1"/>
          <p:nvPr/>
        </p:nvSpPr>
        <p:spPr>
          <a:xfrm>
            <a:off x="985712" y="5988286"/>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5" name="PDF_TEXT_GROUP_748"/>
          <p:cNvSpPr txBox="1"/>
          <p:nvPr/>
        </p:nvSpPr>
        <p:spPr>
          <a:xfrm>
            <a:off x="1582632" y="6294149"/>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6" name="PDF_TEXT_GROUP_7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7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7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75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75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52/53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3"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7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755"/>
          <p:cNvSpPr txBox="1"/>
          <p:nvPr/>
        </p:nvSpPr>
        <p:spPr>
          <a:xfrm>
            <a:off x="985712" y="1693986"/>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756"/>
          <p:cNvSpPr txBox="1"/>
          <p:nvPr/>
        </p:nvSpPr>
        <p:spPr>
          <a:xfrm>
            <a:off x="985712" y="2109753"/>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757"/>
          <p:cNvSpPr txBox="1"/>
          <p:nvPr/>
        </p:nvSpPr>
        <p:spPr>
          <a:xfrm>
            <a:off x="985712" y="2525488"/>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758"/>
          <p:cNvSpPr txBox="1"/>
          <p:nvPr/>
        </p:nvSpPr>
        <p:spPr>
          <a:xfrm>
            <a:off x="985712" y="2941255"/>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759"/>
          <p:cNvSpPr txBox="1"/>
          <p:nvPr/>
        </p:nvSpPr>
        <p:spPr>
          <a:xfrm>
            <a:off x="985712" y="3357022"/>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760"/>
          <p:cNvSpPr txBox="1"/>
          <p:nvPr/>
        </p:nvSpPr>
        <p:spPr>
          <a:xfrm>
            <a:off x="1582632" y="3662885"/>
            <a:ext cx="494190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required validation.</a:t>
            </a:r>
          </a:p>
        </p:txBody>
      </p:sp>
      <p:sp>
        <p:nvSpPr>
          <p:cNvPr id="10" name="PDF_TEXT_GROUP_761"/>
          <p:cNvSpPr txBox="1"/>
          <p:nvPr/>
        </p:nvSpPr>
        <p:spPr>
          <a:xfrm>
            <a:off x="985712" y="4078652"/>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762"/>
          <p:cNvSpPr txBox="1"/>
          <p:nvPr/>
        </p:nvSpPr>
        <p:spPr>
          <a:xfrm>
            <a:off x="1582632" y="4384483"/>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763"/>
          <p:cNvSpPr txBox="1"/>
          <p:nvPr/>
        </p:nvSpPr>
        <p:spPr>
          <a:xfrm>
            <a:off x="985712" y="4800250"/>
            <a:ext cx="1094691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“Graduate School Calendar,” Spring 2027.</a:t>
            </a:r>
          </a:p>
        </p:txBody>
      </p:sp>
      <p:sp>
        <p:nvSpPr>
          <p:cNvPr id="13" name="PDF_TEXT_GROUP_764"/>
          <p:cNvSpPr txBox="1"/>
          <p:nvPr/>
        </p:nvSpPr>
        <p:spPr>
          <a:xfrm>
            <a:off x="1582632" y="5106114"/>
            <a:ext cx="103328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memphis.edu/gradschool/news-events/calendar.php (checked September 14, 2026).</a:t>
            </a:r>
          </a:p>
        </p:txBody>
      </p:sp>
      <p:sp>
        <p:nvSpPr>
          <p:cNvPr id="14" name="PDF_TEXT_GROUP_765"/>
          <p:cNvSpPr txBox="1"/>
          <p:nvPr/>
        </p:nvSpPr>
        <p:spPr>
          <a:xfrm>
            <a:off x="985712" y="5521881"/>
            <a:ext cx="1293287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[31]</a:t>
            </a:r>
            <a:r>
              <a:rPr sz="1863" b="0" i="0">
                <a:solidFill>
                  <a:srgbClr val="000000"/>
                </a:solidFill>
                <a:latin typeface="Latin Modern Sans"/>
              </a:rPr>
              <a:t> ONNX Runtime, “How to configure the past present share buffer,” GenAI documentation (accessed</a:t>
            </a:r>
          </a:p>
        </p:txBody>
      </p:sp>
      <p:sp>
        <p:nvSpPr>
          <p:cNvPr id="15" name="PDF_TEXT_GROUP_766"/>
          <p:cNvSpPr txBox="1"/>
          <p:nvPr/>
        </p:nvSpPr>
        <p:spPr>
          <a:xfrm>
            <a:off x="1582632" y="5827712"/>
            <a:ext cx="267342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11, 2026).</a:t>
            </a:r>
          </a:p>
        </p:txBody>
      </p:sp>
      <p:sp>
        <p:nvSpPr>
          <p:cNvPr id="16" name="PDF_TEXT_GROUP_767"/>
          <p:cNvSpPr txBox="1"/>
          <p:nvPr/>
        </p:nvSpPr>
        <p:spPr>
          <a:xfrm>
            <a:off x="985712" y="6243479"/>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[32]</a:t>
            </a:r>
            <a:r>
              <a:rPr sz="1863" b="0" i="0">
                <a:solidFill>
                  <a:srgbClr val="000000"/>
                </a:solidFill>
                <a:latin typeface="Latin Modern Sans"/>
              </a:rPr>
              <a:t> T. Ma, archived dissertation proposal, Section 5.6; Tianxing_Dissertation_Proposal_Origin.pdf, complete</a:t>
            </a:r>
          </a:p>
        </p:txBody>
      </p:sp>
      <p:sp>
        <p:nvSpPr>
          <p:cNvPr id="17" name="PDF_TEXT_GROUP_768"/>
          <p:cNvSpPr txBox="1"/>
          <p:nvPr/>
        </p:nvSpPr>
        <p:spPr>
          <a:xfrm>
            <a:off x="1582632" y="6549342"/>
            <a:ext cx="19984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59-page version.</a:t>
            </a:r>
          </a:p>
        </p:txBody>
      </p:sp>
      <p:sp>
        <p:nvSpPr>
          <p:cNvPr id="18" name="PDF_TEXT_GROUP_76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9" name="PDF_TEXT_GROUP_77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0" name="PDF_TEXT_GROUP_77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1" name="PDF_TEXT_GROUP_77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2" name="PDF_TEXT_GROUP_77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53/53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