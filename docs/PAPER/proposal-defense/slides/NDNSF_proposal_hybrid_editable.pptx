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_rels/notesSlide41.xml.rels><?xml version="1.0" encoding="UTF-8" standalone="yes"?>
<Relationships xmlns="http://schemas.openxmlformats.org/package/2006/relationships">
  <Relationship Id="rId1" Type="http://schemas.openxmlformats.org/officeDocument/2006/relationships/slide" Target="../slides/slide41.xml"/>
  <Relationship Id="rId2" Type="http://schemas.openxmlformats.org/officeDocument/2006/relationships/notesMaster" Target="../notesMasters/notesMaster1.xml"/>
</Relationships>

</file>

<file path=ppt/notesSlides/_rels/notesSlide42.xml.rels><?xml version="1.0" encoding="UTF-8" standalone="yes"?>
<Relationships xmlns="http://schemas.openxmlformats.org/package/2006/relationships">
  <Relationship Id="rId1" Type="http://schemas.openxmlformats.org/officeDocument/2006/relationships/slide" Target="../slides/slide42.xml"/>
  <Relationship Id="rId2" Type="http://schemas.openxmlformats.org/officeDocument/2006/relationships/notesMaster" Target="../notesMasters/notesMaster1.xml"/>
</Relationships>

</file>

<file path=ppt/notesSlides/_rels/notesSlide43.xml.rels><?xml version="1.0" encoding="UTF-8" standalone="yes"?>
<Relationships xmlns="http://schemas.openxmlformats.org/package/2006/relationships">
  <Relationship Id="rId1" Type="http://schemas.openxmlformats.org/officeDocument/2006/relationships/slide" Target="../slides/slide43.xml"/>
  <Relationship Id="rId2" Type="http://schemas.openxmlformats.org/officeDocument/2006/relationships/notesMaster" Target="../notesMasters/notesMaster1.xml"/>
</Relationships>

</file>

<file path=ppt/notesSlides/_rels/notesSlide44.xml.rels><?xml version="1.0" encoding="UTF-8" standalone="yes"?>
<Relationships xmlns="http://schemas.openxmlformats.org/package/2006/relationships">
  <Relationship Id="rId1" Type="http://schemas.openxmlformats.org/officeDocument/2006/relationships/slide" Target="../slides/slide44.xml"/>
  <Relationship Id="rId2" Type="http://schemas.openxmlformats.org/officeDocument/2006/relationships/notesMaster" Target="../notesMasters/notesMaster1.xml"/>
</Relationships>

</file>

<file path=ppt/notesSlides/_rels/notesSlide45.xml.rels><?xml version="1.0" encoding="UTF-8" standalone="yes"?>
<Relationships xmlns="http://schemas.openxmlformats.org/package/2006/relationships">
  <Relationship Id="rId1" Type="http://schemas.openxmlformats.org/officeDocument/2006/relationships/slide" Target="../slides/slide45.xml"/>
  <Relationship Id="rId2" Type="http://schemas.openxmlformats.org/officeDocument/2006/relationships/notesMaster" Target="../notesMasters/notesMaster1.xml"/>
</Relationships>

</file>

<file path=ppt/notesSlides/_rels/notesSlide46.xml.rels><?xml version="1.0" encoding="UTF-8" standalone="yes"?>
<Relationships xmlns="http://schemas.openxmlformats.org/package/2006/relationships">
  <Relationship Id="rId1" Type="http://schemas.openxmlformats.org/officeDocument/2006/relationships/slide" Target="../slides/slide46.xml"/>
  <Relationship Id="rId2" Type="http://schemas.openxmlformats.org/officeDocument/2006/relationships/notesMaster" Target="../notesMasters/notesMaster1.xml"/>
</Relationships>

</file>

<file path=ppt/notesSlides/_rels/notesSlide47.xml.rels><?xml version="1.0" encoding="UTF-8" standalone="yes"?>
<Relationships xmlns="http://schemas.openxmlformats.org/package/2006/relationships">
  <Relationship Id="rId1" Type="http://schemas.openxmlformats.org/officeDocument/2006/relationships/slide" Target="../slides/slide47.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required service. Reachability, capability and willingness may change. Eligible Providers return ACK Data. The User selects one Provider to execute. Candidate Providers A, B, C User selects B B executes the service Initial NDNSF: discover alternatives and select one Provider per invocation, not multiple collaborating roles. Arrows show the selection process.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Foundation: evaluate discovery and authorization The initial prototype selects one Provider. Discovery confidentiality, service permissions and management costs matter even without collaboration. Extension: coordinate complementary roles Some tasks need several Providers with different responsibilities. Separate calls do not define a shared role assignment or enforce dependencies between them. Evaluate the invocation foundation; develop and validate the collaboration extension. Existing invocation results do not establish collaboration correctness.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Validate signatures under application trust policies, expressible through a Trust Schema [16] Interest retrieval and caching [1,26] Enforce task identity, dependencies, and deadlines; caching is not persistent storage Dataset synchronization / SVS [2,3] Discover new names, then retrieve Data; define service-message state transitions NAC [4] / enhanced NAC-ABE [19] Use content encryption for read access; separately check service-invocation permissions and state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single-Provider invocation be extended to roles and named dependencies across Providers, whether Data comes from producers or caches? RQ3: When do these mechanisms improve completion, latency, or execution efficiency, and when do their costs outweigh the benefits? RQ1 evaluates the invocation foundation; RQ2 studies its collaboration extension; RQ3 measures both scopes separately.</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mechanisms; NSC checks signed calls using a Trust Schema DNMP [12] Trust Schema constrains roles and measurement commands CaSCON [15] Service-composition research; requires a feature-level comparison before claiming a new composition mechanism gRPC [17,27] Complete configurations can include discovery/resolver integration, not only fixed addresses Collaboration research: make runtime assignments constrain intermediate Data use. Discovery and authorization are evaluated separately.</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checks Design and implementation work; direct/cache and failure validation remains incomplete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 service and selects a Provider; the extension also assigns collaboration roles.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RequestNonce ACK Report positive or negative participation; positive ACK supplies selection information and ProviderChallenge Selection Assign selected execution; provide input/references and protected request-scoped keys; constructed using ProviderChallenge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Input and results use request-scoped symmetric keys. Selection delivers key material encrypted for the selected Provider; the requesting User retains the keys.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Keep discovery descriptors non-public before participating Providers are identified. 2. Authenticate participants, verify service permissions, and reject replayed invocation messages. 3. Grant and withdraw service permissions during operation. Additional benefit: aggregate service permissions in a decryption key (DKEY) while retaining identity-signing credentials. This is a management property, not another security guarantee.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ABE was introduced to keep discovery descriptors non-public. [19] NDNSF reuses the attribute authority to manage Provider and User service permissions. [28] RequestNonce and ProviderChallenge checks use these permissions during invocation. ABE discovery plus role-based invocation is also possible. NDNSF avoids adding role signing credentials solely for service membership; signature validation and request-state checks remain necessary. User DKEYs and challenge processing still add cost.</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Provider permission: recover RequestNonce from ABE-protected Request content and return it in ACK Data. The User compares it with RequestNonce stored for this request. 2. User permission: recover ProviderChallenge from ABE-protected ACK content and construct Selection Data. The Provider validates Selection using its stored ProviderChallenge. Also check current service permissions. These checks show access to protected values, not exclusive key possession. RequestNonce is not the Interest Nonce.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Identity authentication Validate Data signatures and certificate chains under trust rules. An accepted signing identity alone does not establish service permission. Replay protection Match messages to an active request and its state. Record whether ProviderChallenge has already been used to accept Selection for execution; duplicate Selection must not start another execution. Retain or safely invalidate request state, including across restart. Encryption or a challenge value alone does not prevent replay.</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Within one Controller domain, combine several service permissions in one entity’s DKEY; retain identity-signing credentials. [19,28] DNMP represents command authority through role keys and schema rules. One role can permit several commands. [12] Where equivalent permissions require distinct role credentials, NDNSF avoids maintaining those extra signing credentials. Fewer independently managed credentials does not imply fixed DKEY size or lower total cost. Policy size, key distribution and updates still matter.</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Check signatures, RequestNonce, ProviderChallenge, current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Both operations update Controller-signed permission status. [28] Ordinary grant: update the target’s complete policy; it retrieves a replacement DKEY. Public parameters stay unchanged. Withdrawal: rotate the Controller’s ABE master key and public parameters; remaining members obtain DKEYs for their remaining permissions. The master key stays with the Controller. Rotation is Controller-wide. Participants must retrieve and validate updates before applying them; disconnected nodes cannot do so immediately.</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Revised design: publish new public parameters as signed Named Data; Sync announces availability. 2. Participants retrieve and validate parameters and permission status, then refresh DKEYs as required. 3. Grants also require status discovery, even when public parameters do not change. Local status retrieval and rotation exist; dedicated Sync announcements still need end-to-end verification. Measure propagation, rejection delay and rekey traffic. Neither NDNSF nor a certificate-revocation alternative can recall disclosed keys or plaintext.</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The User closes the ACK window and freezes the eligible, validated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request, plan, execution identity and deadline.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Unmanned aerial vehicle (UAV) application workflows exercise several framework mechanisms. [28] Application function NDNSF validation scope Control, telemetry, mission status Provider/request association, permissions, operation lifecycle Live video and recordings Stream lifecycle, protected delivery, named-object retrieval Detection and multi-view tasks Service provision/consumption, role assignments, dependencies Coverage is broader than one collaboration case. Each claim still needs evidence from the actual NDNSF path; flight safety and image-analysis accuracy need separate validation.</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ground-area views from nearby UAVs, followed by analysis. 1. Sensing UAVs sign encrypted ViewImage Data under their authorized namespaces. 2. The compute Provider retrieves images over assigned edges and publishes Annotation Data. 3. Its encrypted result gives the requester original image names and permitted image keys. 4. The requester retrieves the original images and displays the annotations. Original image Data remains under its producer’s name. GPS alone does not establish camera visibility.</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Application function NDNSF validation scope Single-Provider inference Discovery, permissions, input and result delivery Model preparation and reuse Readiness, artifact references, named-object retrieval Incremental output and conversa- tion Request state, cancellation, output lifecycle Multi-Provider inference Assignments, dependencies, recovery The application also tests the invocation foundation, without requiring a model split. Interfaces and focused tests exist; complete model/device/recovery qualification remains open. [28]</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With KV caching, the runtime reuses prior key/value (K/V) tensors and supplies next-step inputs; resident weights do not replace this state. [31] An in-process test does not establish correct execution across processes or devices. Freeze one supported model/partition first; tensor/hybrid and LLM streaming need their own evidence if claimed. Earlier small-model measurements do not validate the newer distributed inference and recovery paths. [28]</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Name the application function and the production NDNSF API path it uses. 2. Specify the input, expected result, failure condition, and tested configuration. 3. Record evidence separately: implementation, focused test, multi-process test, measured outcome. UAV and DI cover discovery, authorization, data delivery, lifecycle, and collaboration. Local calls do not prove remote behavior. Representative workflows cover claimed mechanisms; optional application features need not become separate dissertation gates.</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No overall NDNSF advantage is established. The next slide uses a separate holdout campaign (seeds 72--81), not a subset of these runs.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Mean paired seed-p95 differences; each p95 uses that system’s successful requests. Different failures limit the comparison; no general advantage is inferred.</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Retained historical diagnostic; raw-run/model provenance remains to be rechecked. Not evidence for the newer distributed design.</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ABE-backed versus DNMP-inspired rules plus encryption; unauthorized call, replay, grant and withdrawal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authorization is preferable to DNMP-inspired role rules plus encryption, accounting for confidentiality, management and withdrawal costs. RQ2 answer: exactly which task-assignment mistakes are rejected and which recovery behavior is supported. RQ3 answer: measured benefits, negative results and deployment limits. Reproducible configurations and evidence linking each conclusion to its tested scope. The outcome is a tested service protocol and an evidence-backed account of when its mechanisms are worth their cost.</a:t>
            </a:r>
            <a:endParaRPr lang="en-US" sz="120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evaluate runtime discovery and authorized invocation; extend the foundation to role-aware collaboration.</a:t>
            </a:r>
            <a:endParaRPr lang="en-US" sz="120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Per-link packet loss is not the probability of service failure: retrieval retries and the request deadline also affect completion.</a:t>
            </a:r>
            <a:endParaRPr lang="en-US" sz="12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 [31] ONNX Runtime, “How to configure the past present share buffer,” GenAI documentation (accessed September 11,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7.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8.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9.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0.png" /><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1.png" /><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2.png" /><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3.png" /><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4.png" /><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7.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Service Discovery: Several Candidates, One Executor</a:t>
            </a:r>
          </a:p>
        </p:txBody>
      </p:sp>
      <p:sp>
        <p:nvSpPr>
          <p:cNvPr id="4" name="PDF_TEXT_GROUP_7"/>
          <p:cNvSpPr txBox="1"/>
          <p:nvPr/>
        </p:nvSpPr>
        <p:spPr>
          <a:xfrm>
            <a:off x="1618972" y="1537074"/>
            <a:ext cx="43738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required</a:t>
            </a:r>
            <a:r>
              <a:rPr sz="2710" b="0" i="0">
                <a:solidFill>
                  <a:srgbClr val="000000"/>
                </a:solidFill>
                <a:latin typeface="Latin Modern Sans"/>
              </a:rPr>
              <a:t> service.</a:t>
            </a:r>
          </a:p>
        </p:txBody>
      </p:sp>
      <p:sp>
        <p:nvSpPr>
          <p:cNvPr id="5" name="PDF_TEXT_GROUP_8"/>
          <p:cNvSpPr txBox="1"/>
          <p:nvPr/>
        </p:nvSpPr>
        <p:spPr>
          <a:xfrm>
            <a:off x="7730488" y="1579855"/>
            <a:ext cx="2826971"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Candidate Providers</a:t>
            </a:r>
            <a:br/>
            <a:r>
              <a:rPr sz="2371" b="0" i="0">
                <a:solidFill>
                  <a:srgbClr val="000000"/>
                </a:solidFill>
                <a:latin typeface="Latin Modern Sans"/>
              </a:rPr>
              <a:t>A, B, C</a:t>
            </a:r>
          </a:p>
        </p:txBody>
      </p:sp>
      <p:sp>
        <p:nvSpPr>
          <p:cNvPr id="6" name="PDF_TEXT_GROUP_9"/>
          <p:cNvSpPr txBox="1"/>
          <p:nvPr/>
        </p:nvSpPr>
        <p:spPr>
          <a:xfrm>
            <a:off x="1618972" y="2509341"/>
            <a:ext cx="4129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Reachability, capability and</a:t>
            </a:r>
            <a:r>
              <a:rPr sz="2710" b="0" i="0">
                <a:solidFill>
                  <a:srgbClr val="000000"/>
                </a:solidFill>
                <a:latin typeface="Latin Modern Sans"/>
              </a:rPr>
              <a:t> willingness may change.</a:t>
            </a:r>
          </a:p>
        </p:txBody>
      </p:sp>
      <p:sp>
        <p:nvSpPr>
          <p:cNvPr id="7" name="PDF_TEXT_GROUP_10"/>
          <p:cNvSpPr txBox="1"/>
          <p:nvPr/>
        </p:nvSpPr>
        <p:spPr>
          <a:xfrm>
            <a:off x="8197068" y="3454847"/>
            <a:ext cx="20744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selects B</a:t>
            </a:r>
          </a:p>
        </p:txBody>
      </p:sp>
      <p:sp>
        <p:nvSpPr>
          <p:cNvPr id="8" name="PDF_TEXT_GROUP_11"/>
          <p:cNvSpPr txBox="1"/>
          <p:nvPr/>
        </p:nvSpPr>
        <p:spPr>
          <a:xfrm>
            <a:off x="1618972" y="3481608"/>
            <a:ext cx="448493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Eligible Providers return ACK</a:t>
            </a:r>
            <a:r>
              <a:rPr sz="2710" b="0" i="0">
                <a:solidFill>
                  <a:srgbClr val="000000"/>
                </a:solidFill>
                <a:latin typeface="Latin Modern Sans"/>
              </a:rPr>
              <a:t> Data.</a:t>
            </a:r>
          </a:p>
        </p:txBody>
      </p:sp>
      <p:sp>
        <p:nvSpPr>
          <p:cNvPr id="9" name="PDF_TEXT_GROUP_12"/>
          <p:cNvSpPr txBox="1"/>
          <p:nvPr/>
        </p:nvSpPr>
        <p:spPr>
          <a:xfrm>
            <a:off x="1618972" y="4453907"/>
            <a:ext cx="494100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selects one Provider to</a:t>
            </a:r>
            <a:r>
              <a:rPr sz="2710" b="0" i="0">
                <a:solidFill>
                  <a:srgbClr val="000000"/>
                </a:solidFill>
                <a:latin typeface="Latin Modern Sans"/>
              </a:rPr>
              <a:t> execute.</a:t>
            </a:r>
          </a:p>
        </p:txBody>
      </p:sp>
      <p:sp>
        <p:nvSpPr>
          <p:cNvPr id="10" name="PDF_TEXT_GROUP_13"/>
          <p:cNvSpPr txBox="1"/>
          <p:nvPr/>
        </p:nvSpPr>
        <p:spPr>
          <a:xfrm>
            <a:off x="7657400" y="5116558"/>
            <a:ext cx="32112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 executes the service</a:t>
            </a:r>
          </a:p>
        </p:txBody>
      </p:sp>
      <p:sp>
        <p:nvSpPr>
          <p:cNvPr id="11" name="PDF_TEXT_GROUP_14"/>
          <p:cNvSpPr txBox="1"/>
          <p:nvPr/>
        </p:nvSpPr>
        <p:spPr>
          <a:xfrm>
            <a:off x="1143656" y="6438706"/>
            <a:ext cx="1187236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Initial NDNSF: discover alternatives and select one Provider per invocation, not</a:t>
            </a:r>
            <a:r>
              <a:rPr sz="2710" b="0" i="0">
                <a:solidFill>
                  <a:srgbClr val="000000"/>
                </a:solidFill>
                <a:latin typeface="Latin Modern Sans"/>
              </a:rPr>
              <a:t> multiple collaborating roles. Arrows show the selection process.</a:t>
            </a:r>
          </a:p>
        </p:txBody>
      </p:sp>
      <p:sp>
        <p:nvSpPr>
          <p:cNvPr id="12" name="PDF_TEXT_GROUP_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6" name="PDF_TEXT_GROUP_1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2/47</a:t>
            </a:r>
          </a:p>
        </p:txBody>
      </p:sp>
      <p:sp>
        <p:nvSpPr>
          <p:cNvPr id="17" name="PDF_BULLET_SPAN_11"/>
          <p:cNvSpPr/>
          <p:nvPr/>
        </p:nvSpPr>
        <p:spPr>
          <a:xfrm rot="5400000">
            <a:off x="1207424" y="16228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4"/>
          <p:cNvSpPr/>
          <p:nvPr/>
        </p:nvSpPr>
        <p:spPr>
          <a:xfrm rot="5400000">
            <a:off x="1207424" y="259513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7"/>
          <p:cNvSpPr/>
          <p:nvPr/>
        </p:nvSpPr>
        <p:spPr>
          <a:xfrm rot="5400000">
            <a:off x="1207424" y="356739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20"/>
          <p:cNvSpPr/>
          <p:nvPr/>
        </p:nvSpPr>
        <p:spPr>
          <a:xfrm rot="5400000">
            <a:off x="1207424" y="453969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From Invocation to Collaboration: Two Research Scopes</a:t>
            </a:r>
          </a:p>
        </p:txBody>
      </p:sp>
      <p:sp>
        <p:nvSpPr>
          <p:cNvPr id="4" name="PDF_TEXT_GROUP_21"/>
          <p:cNvSpPr txBox="1"/>
          <p:nvPr/>
        </p:nvSpPr>
        <p:spPr>
          <a:xfrm>
            <a:off x="914808" y="1818119"/>
            <a:ext cx="837158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Foundation: evaluate discovery and authorization</a:t>
            </a:r>
          </a:p>
        </p:txBody>
      </p:sp>
      <p:sp>
        <p:nvSpPr>
          <p:cNvPr id="5" name="PDF_TEXT_GROUP_22"/>
          <p:cNvSpPr txBox="1"/>
          <p:nvPr/>
        </p:nvSpPr>
        <p:spPr>
          <a:xfrm>
            <a:off x="914808" y="2386769"/>
            <a:ext cx="12935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initial prototype selects one Provider. Discovery confidentiality, service permissions</a:t>
            </a:r>
            <a:r>
              <a:rPr sz="2710" b="0" i="0">
                <a:solidFill>
                  <a:srgbClr val="000000"/>
                </a:solidFill>
                <a:latin typeface="Latin Modern Sans"/>
              </a:rPr>
              <a:t> and management costs matter even without collaboration.</a:t>
            </a:r>
          </a:p>
        </p:txBody>
      </p:sp>
      <p:sp>
        <p:nvSpPr>
          <p:cNvPr id="6" name="PDF_TEXT_GROUP_23"/>
          <p:cNvSpPr txBox="1"/>
          <p:nvPr/>
        </p:nvSpPr>
        <p:spPr>
          <a:xfrm>
            <a:off x="914808" y="3714794"/>
            <a:ext cx="730759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Extension: coordinate complementary roles</a:t>
            </a:r>
          </a:p>
        </p:txBody>
      </p:sp>
      <p:sp>
        <p:nvSpPr>
          <p:cNvPr id="7" name="PDF_TEXT_GROUP_24"/>
          <p:cNvSpPr txBox="1"/>
          <p:nvPr/>
        </p:nvSpPr>
        <p:spPr>
          <a:xfrm>
            <a:off x="914808" y="4283412"/>
            <a:ext cx="1282688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tasks need several Providers with different responsibilities. Separate calls do not</a:t>
            </a:r>
            <a:r>
              <a:rPr sz="2710" b="0" i="0">
                <a:solidFill>
                  <a:srgbClr val="000000"/>
                </a:solidFill>
                <a:latin typeface="Latin Modern Sans"/>
              </a:rPr>
              <a:t> define a shared role assignment or enforce dependencies between them.</a:t>
            </a:r>
          </a:p>
        </p:txBody>
      </p:sp>
      <p:sp>
        <p:nvSpPr>
          <p:cNvPr id="8" name="PDF_TEXT_GROUP_25"/>
          <p:cNvSpPr txBox="1"/>
          <p:nvPr/>
        </p:nvSpPr>
        <p:spPr>
          <a:xfrm>
            <a:off x="1143656" y="5994598"/>
            <a:ext cx="1186848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Evaluate the invocation foundation; develop and validate the collaboration</a:t>
            </a:r>
            <a:r>
              <a:rPr sz="2710" b="0" i="0">
                <a:solidFill>
                  <a:srgbClr val="000000"/>
                </a:solidFill>
                <a:latin typeface="Latin Modern Sans"/>
              </a:rPr>
              <a:t> extension. Existing invocation results do not establish collaboration correctness.</a:t>
            </a:r>
          </a:p>
        </p:txBody>
      </p:sp>
      <p:sp>
        <p:nvSpPr>
          <p:cNvPr id="9" name="PDF_TEXT_GROUP_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2"/>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3"/>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4"/>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5"/>
          <p:cNvSpPr txBox="1"/>
          <p:nvPr/>
        </p:nvSpPr>
        <p:spPr>
          <a:xfrm>
            <a:off x="6488446" y="1926823"/>
            <a:ext cx="70010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Validate signatures under application trust policies,</a:t>
            </a:r>
            <a:r>
              <a:rPr sz="2371" b="0" i="0">
                <a:solidFill>
                  <a:srgbClr val="000000"/>
                </a:solidFill>
                <a:latin typeface="Latin Modern Sans"/>
              </a:rPr>
              <a:t> expressible through a Trust Schema [16]</a:t>
            </a:r>
          </a:p>
        </p:txBody>
      </p:sp>
      <p:sp>
        <p:nvSpPr>
          <p:cNvPr id="8" name="PDF_TEXT_GROUP_36"/>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7"/>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8"/>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9"/>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0"/>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1"/>
          <p:cNvSpPr txBox="1"/>
          <p:nvPr/>
        </p:nvSpPr>
        <p:spPr>
          <a:xfrm>
            <a:off x="6488446" y="4790918"/>
            <a:ext cx="68435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content encryption for read access; separately</a:t>
            </a:r>
            <a:r>
              <a:rPr sz="2371" b="0" i="0">
                <a:solidFill>
                  <a:srgbClr val="000000"/>
                </a:solidFill>
                <a:latin typeface="Latin Modern Sans"/>
              </a:rPr>
              <a:t> check service-invocation permissions and state</a:t>
            </a:r>
          </a:p>
        </p:txBody>
      </p:sp>
      <p:sp>
        <p:nvSpPr>
          <p:cNvPr id="14" name="PDF_TEXT_GROUP_42"/>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3"/>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0"/>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51"/>
          <p:cNvSpPr txBox="1"/>
          <p:nvPr/>
        </p:nvSpPr>
        <p:spPr>
          <a:xfrm>
            <a:off x="1618972" y="3264547"/>
            <a:ext cx="117462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single-Provider invocation be extended to roles and named</a:t>
            </a:r>
            <a:r>
              <a:rPr sz="2710" b="0" i="0">
                <a:solidFill>
                  <a:srgbClr val="000000"/>
                </a:solidFill>
                <a:latin typeface="Latin Modern Sans"/>
              </a:rPr>
              <a:t> dependencies across Providers, whether Data comes from producers or caches?</a:t>
            </a:r>
          </a:p>
        </p:txBody>
      </p:sp>
      <p:sp>
        <p:nvSpPr>
          <p:cNvPr id="6" name="PDF_TEXT_GROUP_52"/>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3"/>
          <p:cNvSpPr txBox="1"/>
          <p:nvPr/>
        </p:nvSpPr>
        <p:spPr>
          <a:xfrm>
            <a:off x="1143656" y="5830501"/>
            <a:ext cx="121842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RQ1 evaluates the invocation foundation; RQ2 studies its collaboration extension;</a:t>
            </a:r>
            <a:r>
              <a:rPr sz="2710" b="0" i="0">
                <a:solidFill>
                  <a:srgbClr val="000000"/>
                </a:solidFill>
                <a:latin typeface="Latin Modern Sans"/>
              </a:rPr>
              <a:t> RQ3 measures both scopes separately.</a:t>
            </a:r>
          </a:p>
        </p:txBody>
      </p:sp>
      <p:sp>
        <p:nvSpPr>
          <p:cNvPr id="8" name="PDF_TEXT_GROUP_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5/47</a:t>
            </a:r>
          </a:p>
        </p:txBody>
      </p:sp>
      <p:sp>
        <p:nvSpPr>
          <p:cNvPr id="13" name="PDF_BULLET_SPAN_71"/>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76"/>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0"/>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0"/>
          <p:cNvSpPr txBox="1"/>
          <p:nvPr/>
        </p:nvSpPr>
        <p:spPr>
          <a:xfrm>
            <a:off x="1107736" y="1255152"/>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1"/>
          <p:cNvSpPr txBox="1"/>
          <p:nvPr/>
        </p:nvSpPr>
        <p:spPr>
          <a:xfrm>
            <a:off x="4951568" y="1255152"/>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2"/>
          <p:cNvSpPr txBox="1"/>
          <p:nvPr/>
        </p:nvSpPr>
        <p:spPr>
          <a:xfrm>
            <a:off x="1107736" y="1823512"/>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3"/>
          <p:cNvSpPr txBox="1"/>
          <p:nvPr/>
        </p:nvSpPr>
        <p:spPr>
          <a:xfrm>
            <a:off x="4951408" y="1823512"/>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4"/>
          <p:cNvSpPr txBox="1"/>
          <p:nvPr/>
        </p:nvSpPr>
        <p:spPr>
          <a:xfrm>
            <a:off x="1107736" y="2391871"/>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5"/>
          <p:cNvSpPr txBox="1"/>
          <p:nvPr/>
        </p:nvSpPr>
        <p:spPr>
          <a:xfrm>
            <a:off x="4951472" y="2391871"/>
            <a:ext cx="852425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mechanisms; NSC checks signed calls using a Trust</a:t>
            </a:r>
            <a:r>
              <a:rPr sz="2371" b="0" i="0">
                <a:solidFill>
                  <a:srgbClr val="000000"/>
                </a:solidFill>
                <a:latin typeface="Latin Modern Sans"/>
              </a:rPr>
              <a:t> Schema</a:t>
            </a:r>
          </a:p>
        </p:txBody>
      </p:sp>
      <p:sp>
        <p:nvSpPr>
          <p:cNvPr id="10" name="PDF_TEXT_GROUP_66"/>
          <p:cNvSpPr txBox="1"/>
          <p:nvPr/>
        </p:nvSpPr>
        <p:spPr>
          <a:xfrm>
            <a:off x="1107736" y="3346591"/>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7"/>
          <p:cNvSpPr txBox="1"/>
          <p:nvPr/>
        </p:nvSpPr>
        <p:spPr>
          <a:xfrm>
            <a:off x="4951601" y="3346591"/>
            <a:ext cx="867318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constrains roles and measurement commands</a:t>
            </a:r>
          </a:p>
        </p:txBody>
      </p:sp>
      <p:sp>
        <p:nvSpPr>
          <p:cNvPr id="12" name="PDF_TEXT_GROUP_68"/>
          <p:cNvSpPr txBox="1"/>
          <p:nvPr/>
        </p:nvSpPr>
        <p:spPr>
          <a:xfrm>
            <a:off x="1107736" y="3914950"/>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69"/>
          <p:cNvSpPr txBox="1"/>
          <p:nvPr/>
        </p:nvSpPr>
        <p:spPr>
          <a:xfrm>
            <a:off x="4951536" y="3914950"/>
            <a:ext cx="79908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0"/>
          <p:cNvSpPr txBox="1"/>
          <p:nvPr/>
        </p:nvSpPr>
        <p:spPr>
          <a:xfrm>
            <a:off x="1107736" y="4869638"/>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1"/>
          <p:cNvSpPr txBox="1"/>
          <p:nvPr/>
        </p:nvSpPr>
        <p:spPr>
          <a:xfrm>
            <a:off x="4951601" y="4869638"/>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2"/>
          <p:cNvSpPr txBox="1"/>
          <p:nvPr/>
        </p:nvSpPr>
        <p:spPr>
          <a:xfrm>
            <a:off x="1123808" y="6137330"/>
            <a:ext cx="113837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research: make runtime assignments constrain intermediate Data use.</a:t>
            </a:r>
            <a:r>
              <a:rPr sz="2371" b="0" i="0">
                <a:solidFill>
                  <a:srgbClr val="000000"/>
                </a:solidFill>
                <a:latin typeface="Latin Modern Sans"/>
              </a:rPr>
              <a:t> Discovery and authorization are evaluated separately.</a:t>
            </a:r>
          </a:p>
        </p:txBody>
      </p:sp>
      <p:sp>
        <p:nvSpPr>
          <p:cNvPr id="17" name="PDF_TEXT_GROUP_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79"/>
          <p:cNvSpPr txBox="1"/>
          <p:nvPr/>
        </p:nvSpPr>
        <p:spPr>
          <a:xfrm>
            <a:off x="1107736" y="1356977"/>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0"/>
          <p:cNvSpPr txBox="1"/>
          <p:nvPr/>
        </p:nvSpPr>
        <p:spPr>
          <a:xfrm>
            <a:off x="6360351" y="1356977"/>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1"/>
          <p:cNvSpPr txBox="1"/>
          <p:nvPr/>
        </p:nvSpPr>
        <p:spPr>
          <a:xfrm>
            <a:off x="1107736" y="1925337"/>
            <a:ext cx="49948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2"/>
          <p:cNvSpPr txBox="1"/>
          <p:nvPr/>
        </p:nvSpPr>
        <p:spPr>
          <a:xfrm>
            <a:off x="6360480" y="1925337"/>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3"/>
          <p:cNvSpPr txBox="1"/>
          <p:nvPr/>
        </p:nvSpPr>
        <p:spPr>
          <a:xfrm>
            <a:off x="1107736" y="3266384"/>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checks</a:t>
            </a:r>
          </a:p>
        </p:txBody>
      </p:sp>
      <p:sp>
        <p:nvSpPr>
          <p:cNvPr id="9" name="PDF_TEXT_GROUP_84"/>
          <p:cNvSpPr txBox="1"/>
          <p:nvPr/>
        </p:nvSpPr>
        <p:spPr>
          <a:xfrm>
            <a:off x="6360480" y="3266384"/>
            <a:ext cx="69958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direct/cache and</a:t>
            </a:r>
            <a:r>
              <a:rPr sz="2371" b="0" i="0">
                <a:solidFill>
                  <a:srgbClr val="000000"/>
                </a:solidFill>
                <a:latin typeface="Latin Modern Sans"/>
              </a:rPr>
              <a:t> failure validation remains incomplete</a:t>
            </a:r>
          </a:p>
        </p:txBody>
      </p:sp>
      <p:sp>
        <p:nvSpPr>
          <p:cNvPr id="10" name="PDF_TEXT_GROUP_85"/>
          <p:cNvSpPr txBox="1"/>
          <p:nvPr/>
        </p:nvSpPr>
        <p:spPr>
          <a:xfrm>
            <a:off x="1107736" y="4221072"/>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6"/>
          <p:cNvSpPr txBox="1"/>
          <p:nvPr/>
        </p:nvSpPr>
        <p:spPr>
          <a:xfrm>
            <a:off x="6360351" y="4221072"/>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7"/>
          <p:cNvSpPr txBox="1"/>
          <p:nvPr/>
        </p:nvSpPr>
        <p:spPr>
          <a:xfrm>
            <a:off x="1123808" y="5875092"/>
            <a:ext cx="1251698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4"/>
          <p:cNvSpPr txBox="1"/>
          <p:nvPr/>
        </p:nvSpPr>
        <p:spPr>
          <a:xfrm>
            <a:off x="1618972" y="1843196"/>
            <a:ext cx="109281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 service and selects a Provider; the extension also assigns</a:t>
            </a:r>
            <a:r>
              <a:rPr sz="2710" b="0" i="0">
                <a:solidFill>
                  <a:srgbClr val="000000"/>
                </a:solidFill>
                <a:latin typeface="Latin Modern Sans"/>
              </a:rPr>
              <a:t> collaboration roles.</a:t>
            </a:r>
          </a:p>
        </p:txBody>
      </p:sp>
      <p:sp>
        <p:nvSpPr>
          <p:cNvPr id="5" name="PDF_TEXT_GROUP_95"/>
          <p:cNvSpPr txBox="1"/>
          <p:nvPr/>
        </p:nvSpPr>
        <p:spPr>
          <a:xfrm>
            <a:off x="1618972" y="2815463"/>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6"/>
          <p:cNvSpPr txBox="1"/>
          <p:nvPr/>
        </p:nvSpPr>
        <p:spPr>
          <a:xfrm>
            <a:off x="1618972" y="3349891"/>
            <a:ext cx="109315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7"/>
          <p:cNvSpPr txBox="1"/>
          <p:nvPr/>
        </p:nvSpPr>
        <p:spPr>
          <a:xfrm>
            <a:off x="1618972" y="4322190"/>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8"/>
          <p:cNvSpPr txBox="1"/>
          <p:nvPr/>
        </p:nvSpPr>
        <p:spPr>
          <a:xfrm>
            <a:off x="1143656" y="584730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8/47</a:t>
            </a:r>
          </a:p>
        </p:txBody>
      </p:sp>
      <p:sp>
        <p:nvSpPr>
          <p:cNvPr id="14" name="PDF_BULLET_SPAN_138"/>
          <p:cNvSpPr/>
          <p:nvPr/>
        </p:nvSpPr>
        <p:spPr>
          <a:xfrm rot="5400000">
            <a:off x="1207424" y="19289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1"/>
          <p:cNvSpPr/>
          <p:nvPr/>
        </p:nvSpPr>
        <p:spPr>
          <a:xfrm rot="5400000">
            <a:off x="1207424" y="290125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3"/>
          <p:cNvSpPr/>
          <p:nvPr/>
        </p:nvSpPr>
        <p:spPr>
          <a:xfrm rot="5400000">
            <a:off x="1207424" y="34356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46"/>
          <p:cNvSpPr/>
          <p:nvPr/>
        </p:nvSpPr>
        <p:spPr>
          <a:xfrm rot="5400000">
            <a:off x="1207424" y="44079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Single-Provider Invocation: Four Named Data Types</a:t>
            </a:r>
          </a:p>
        </p:txBody>
      </p:sp>
      <p:sp>
        <p:nvSpPr>
          <p:cNvPr id="4" name="PDF_TEXT_GROUP_105"/>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6"/>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7"/>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8"/>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RequestNonce</a:t>
            </a:r>
          </a:p>
        </p:txBody>
      </p:sp>
      <p:sp>
        <p:nvSpPr>
          <p:cNvPr id="8" name="PDF_TEXT_GROUP_109"/>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0"/>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ProviderChallenge</a:t>
            </a:r>
          </a:p>
        </p:txBody>
      </p:sp>
      <p:sp>
        <p:nvSpPr>
          <p:cNvPr id="10" name="PDF_TEXT_GROUP_111"/>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2"/>
          <p:cNvSpPr txBox="1"/>
          <p:nvPr/>
        </p:nvSpPr>
        <p:spPr>
          <a:xfrm>
            <a:off x="3414531" y="3769079"/>
            <a:ext cx="891892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and protected</a:t>
            </a:r>
            <a:r>
              <a:rPr sz="2371" b="0" i="0">
                <a:solidFill>
                  <a:srgbClr val="000000"/>
                </a:solidFill>
                <a:latin typeface="Latin Modern Sans"/>
              </a:rPr>
              <a:t> request-scoped keys; constructed using ProviderChallenge</a:t>
            </a:r>
          </a:p>
        </p:txBody>
      </p:sp>
      <p:sp>
        <p:nvSpPr>
          <p:cNvPr id="12" name="PDF_TEXT_GROUP_113"/>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4"/>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15"/>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22"/>
          <p:cNvSpPr txBox="1"/>
          <p:nvPr/>
        </p:nvSpPr>
        <p:spPr>
          <a:xfrm>
            <a:off x="914808" y="1770067"/>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3"/>
          <p:cNvSpPr txBox="1"/>
          <p:nvPr/>
        </p:nvSpPr>
        <p:spPr>
          <a:xfrm>
            <a:off x="7574782" y="1770067"/>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4"/>
          <p:cNvSpPr txBox="1"/>
          <p:nvPr/>
        </p:nvSpPr>
        <p:spPr>
          <a:xfrm>
            <a:off x="914808" y="2338684"/>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5"/>
          <p:cNvSpPr txBox="1"/>
          <p:nvPr/>
        </p:nvSpPr>
        <p:spPr>
          <a:xfrm>
            <a:off x="7574782" y="2338684"/>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6"/>
          <p:cNvSpPr txBox="1"/>
          <p:nvPr/>
        </p:nvSpPr>
        <p:spPr>
          <a:xfrm>
            <a:off x="914808" y="2776523"/>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7"/>
          <p:cNvSpPr txBox="1"/>
          <p:nvPr/>
        </p:nvSpPr>
        <p:spPr>
          <a:xfrm>
            <a:off x="7574782" y="2776523"/>
            <a:ext cx="6020132" cy="26812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 Input and</a:t>
            </a:r>
            <a:r>
              <a:rPr sz="2710" b="0" i="0">
                <a:solidFill>
                  <a:srgbClr val="000000"/>
                </a:solidFill>
                <a:latin typeface="Latin Modern Sans"/>
              </a:rPr>
              <a:t> results use request-scoped symmetric</a:t>
            </a:r>
            <a:r>
              <a:rPr sz="2710" b="0" i="0">
                <a:solidFill>
                  <a:srgbClr val="000000"/>
                </a:solidFill>
                <a:latin typeface="Latin Modern Sans"/>
              </a:rPr>
              <a:t> keys. Selection delivers key material</a:t>
            </a:r>
            <a:r>
              <a:rPr sz="2710" b="0" i="0">
                <a:solidFill>
                  <a:srgbClr val="000000"/>
                </a:solidFill>
                <a:latin typeface="Latin Modern Sans"/>
              </a:rPr>
              <a:t> encrypted for the selected Provider; the</a:t>
            </a:r>
            <a:r>
              <a:rPr sz="2710" b="0" i="0">
                <a:solidFill>
                  <a:srgbClr val="000000"/>
                </a:solidFill>
                <a:latin typeface="Latin Modern Sans"/>
              </a:rPr>
              <a:t> requesting User retains the keys.</a:t>
            </a:r>
          </a:p>
        </p:txBody>
      </p:sp>
      <p:sp>
        <p:nvSpPr>
          <p:cNvPr id="10" name="PDF_TEXT_GROUP_128"/>
          <p:cNvSpPr txBox="1"/>
          <p:nvPr/>
        </p:nvSpPr>
        <p:spPr>
          <a:xfrm>
            <a:off x="1143656" y="6234118"/>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2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Security Requirements; One Additional Benefit</a:t>
            </a:r>
          </a:p>
        </p:txBody>
      </p:sp>
      <p:sp>
        <p:nvSpPr>
          <p:cNvPr id="4" name="PDF_TEXT_GROUP_135"/>
          <p:cNvSpPr txBox="1"/>
          <p:nvPr/>
        </p:nvSpPr>
        <p:spPr>
          <a:xfrm>
            <a:off x="1169087" y="2198760"/>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Keep discovery descriptors non-public before participating Providers are identified.</a:t>
            </a:r>
          </a:p>
        </p:txBody>
      </p:sp>
      <p:sp>
        <p:nvSpPr>
          <p:cNvPr id="5" name="PDF_TEXT_GROUP_136"/>
          <p:cNvSpPr txBox="1"/>
          <p:nvPr/>
        </p:nvSpPr>
        <p:spPr>
          <a:xfrm>
            <a:off x="1169087" y="2733188"/>
            <a:ext cx="11158505"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Authenticate participants, verify service permissions, and reject replayed</a:t>
            </a:r>
            <a:r>
              <a:rPr sz="2710" b="0" i="0">
                <a:solidFill>
                  <a:srgbClr val="000000"/>
                </a:solidFill>
                <a:latin typeface="Latin Modern Sans"/>
              </a:rPr>
              <a:t> invocation messages.</a:t>
            </a:r>
          </a:p>
        </p:txBody>
      </p:sp>
      <p:sp>
        <p:nvSpPr>
          <p:cNvPr id="6" name="PDF_TEXT_GROUP_137"/>
          <p:cNvSpPr txBox="1"/>
          <p:nvPr/>
        </p:nvSpPr>
        <p:spPr>
          <a:xfrm>
            <a:off x="1169087" y="3705455"/>
            <a:ext cx="962616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 and withdraw service permissions during operation.</a:t>
            </a:r>
          </a:p>
        </p:txBody>
      </p:sp>
      <p:sp>
        <p:nvSpPr>
          <p:cNvPr id="7" name="PDF_TEXT_GROUP_138"/>
          <p:cNvSpPr txBox="1"/>
          <p:nvPr/>
        </p:nvSpPr>
        <p:spPr>
          <a:xfrm>
            <a:off x="1143656" y="4876137"/>
            <a:ext cx="12423171"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Additional benefit: aggregate service permissions in a decryption key (DKEY) while</a:t>
            </a:r>
            <a:r>
              <a:rPr sz="2710" b="0" i="0">
                <a:solidFill>
                  <a:srgbClr val="000000"/>
                </a:solidFill>
                <a:latin typeface="Latin Modern Sans"/>
              </a:rPr>
              <a:t> retaining identity-signing credentials. This is a management property, not another</a:t>
            </a:r>
            <a:r>
              <a:rPr sz="2710" b="0" i="0">
                <a:solidFill>
                  <a:srgbClr val="000000"/>
                </a:solidFill>
                <a:latin typeface="Latin Modern Sans"/>
              </a:rPr>
              <a:t> security guarantee.</a:t>
            </a:r>
          </a:p>
        </p:txBody>
      </p:sp>
      <p:sp>
        <p:nvSpPr>
          <p:cNvPr id="8" name="PDF_TEXT_GROUP_1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45"/>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46"/>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47"/>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48"/>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12/47</a:t>
            </a:r>
          </a:p>
        </p:txBody>
      </p:sp>
      <p:sp>
        <p:nvSpPr>
          <p:cNvPr id="13" name="PDF_BULLET_SPAN_215"/>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17"/>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20"/>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55"/>
          <p:cNvSpPr txBox="1"/>
          <p:nvPr/>
        </p:nvSpPr>
        <p:spPr>
          <a:xfrm>
            <a:off x="1618972" y="1909248"/>
            <a:ext cx="1057461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was introduced to keep discovery descriptors non-public. [19]</a:t>
            </a:r>
          </a:p>
        </p:txBody>
      </p:sp>
      <p:sp>
        <p:nvSpPr>
          <p:cNvPr id="5" name="PDF_TEXT_GROUP_156"/>
          <p:cNvSpPr txBox="1"/>
          <p:nvPr/>
        </p:nvSpPr>
        <p:spPr>
          <a:xfrm>
            <a:off x="1618972" y="2443676"/>
            <a:ext cx="112068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reuses the attribute authority to manage Provider and User service</a:t>
            </a:r>
            <a:r>
              <a:rPr sz="2710" b="0" i="0">
                <a:solidFill>
                  <a:srgbClr val="000000"/>
                </a:solidFill>
                <a:latin typeface="Latin Modern Sans"/>
              </a:rPr>
              <a:t> permissions. [28]</a:t>
            </a:r>
          </a:p>
        </p:txBody>
      </p:sp>
      <p:sp>
        <p:nvSpPr>
          <p:cNvPr id="6" name="PDF_TEXT_GROUP_157"/>
          <p:cNvSpPr txBox="1"/>
          <p:nvPr/>
        </p:nvSpPr>
        <p:spPr>
          <a:xfrm>
            <a:off x="1618972" y="3415943"/>
            <a:ext cx="1100447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RequestNonce and ProviderChallenge checks use these permissions during</a:t>
            </a:r>
            <a:r>
              <a:rPr sz="2710" b="0" i="0">
                <a:solidFill>
                  <a:srgbClr val="000000"/>
                </a:solidFill>
                <a:latin typeface="Latin Modern Sans"/>
              </a:rPr>
              <a:t> invocation.</a:t>
            </a:r>
          </a:p>
        </p:txBody>
      </p:sp>
      <p:sp>
        <p:nvSpPr>
          <p:cNvPr id="7" name="PDF_TEXT_GROUP_158"/>
          <p:cNvSpPr txBox="1"/>
          <p:nvPr/>
        </p:nvSpPr>
        <p:spPr>
          <a:xfrm>
            <a:off x="1143656" y="4941091"/>
            <a:ext cx="12096909" cy="180556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discovery plus role-based invocation is also possible. NDNSF avoids adding</a:t>
            </a:r>
            <a:r>
              <a:rPr sz="2710" b="0" i="0">
                <a:solidFill>
                  <a:srgbClr val="000000"/>
                </a:solidFill>
                <a:latin typeface="Latin Modern Sans"/>
              </a:rPr>
              <a:t> role signing credentials solely for service membership; signature validation and</a:t>
            </a:r>
            <a:r>
              <a:rPr sz="2710" b="0" i="0">
                <a:solidFill>
                  <a:srgbClr val="000000"/>
                </a:solidFill>
                <a:latin typeface="Latin Modern Sans"/>
              </a:rPr>
              <a:t> request-state checks remain necessary. User DKEYs and challenge processing still</a:t>
            </a:r>
            <a:r>
              <a:rPr sz="2710" b="0" i="0">
                <a:solidFill>
                  <a:srgbClr val="000000"/>
                </a:solidFill>
                <a:latin typeface="Latin Modern Sans"/>
              </a:rPr>
              <a:t> add cost.</a:t>
            </a:r>
          </a:p>
        </p:txBody>
      </p:sp>
      <p:sp>
        <p:nvSpPr>
          <p:cNvPr id="8" name="PDF_TEXT_GROUP_15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6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6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6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6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13/47</a:t>
            </a:r>
          </a:p>
        </p:txBody>
      </p:sp>
      <p:sp>
        <p:nvSpPr>
          <p:cNvPr id="13" name="PDF_BULLET_SPAN_231"/>
          <p:cNvSpPr/>
          <p:nvPr/>
        </p:nvSpPr>
        <p:spPr>
          <a:xfrm rot="5400000">
            <a:off x="1207424" y="19950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33"/>
          <p:cNvSpPr/>
          <p:nvPr/>
        </p:nvSpPr>
        <p:spPr>
          <a:xfrm rot="5400000">
            <a:off x="1207424" y="252946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36"/>
          <p:cNvSpPr/>
          <p:nvPr/>
        </p:nvSpPr>
        <p:spPr>
          <a:xfrm rot="5400000">
            <a:off x="1207424" y="350173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6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165"/>
          <p:cNvSpPr txBox="1"/>
          <p:nvPr/>
        </p:nvSpPr>
        <p:spPr>
          <a:xfrm>
            <a:off x="1169087" y="2068206"/>
            <a:ext cx="12569632" cy="1367730"/>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Provider permission: recover RequestNonce from ABE-protected Request content</a:t>
            </a:r>
            <a:r>
              <a:rPr sz="2710" b="0" i="0">
                <a:solidFill>
                  <a:srgbClr val="000000"/>
                </a:solidFill>
                <a:latin typeface="Latin Modern Sans"/>
              </a:rPr>
              <a:t> and return it in ACK Data. The User compares it with RequestNonce stored for</a:t>
            </a:r>
            <a:r>
              <a:rPr sz="2710" b="0" i="0">
                <a:solidFill>
                  <a:srgbClr val="000000"/>
                </a:solidFill>
                <a:latin typeface="Latin Modern Sans"/>
              </a:rPr>
              <a:t> this request.</a:t>
            </a:r>
          </a:p>
        </p:txBody>
      </p:sp>
      <p:sp>
        <p:nvSpPr>
          <p:cNvPr id="5" name="PDF_TEXT_GROUP_166"/>
          <p:cNvSpPr txBox="1"/>
          <p:nvPr/>
        </p:nvSpPr>
        <p:spPr>
          <a:xfrm>
            <a:off x="1169087" y="3478312"/>
            <a:ext cx="12681343" cy="1367730"/>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User permission: recover ProviderChallenge from ABE-protected ACK content and</a:t>
            </a:r>
            <a:r>
              <a:rPr sz="2710" b="0" i="0">
                <a:solidFill>
                  <a:srgbClr val="000000"/>
                </a:solidFill>
                <a:latin typeface="Latin Modern Sans"/>
              </a:rPr>
              <a:t> construct Selection Data. The Provider validates Selection using its stored</a:t>
            </a:r>
            <a:r>
              <a:rPr sz="2710" b="0" i="0">
                <a:solidFill>
                  <a:srgbClr val="000000"/>
                </a:solidFill>
                <a:latin typeface="Latin Modern Sans"/>
              </a:rPr>
              <a:t> ProviderChallenge.</a:t>
            </a:r>
          </a:p>
        </p:txBody>
      </p:sp>
      <p:sp>
        <p:nvSpPr>
          <p:cNvPr id="6" name="PDF_TEXT_GROUP_167"/>
          <p:cNvSpPr txBox="1"/>
          <p:nvPr/>
        </p:nvSpPr>
        <p:spPr>
          <a:xfrm>
            <a:off x="1143656" y="5509838"/>
            <a:ext cx="117239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Also check current service permissions. These checks show access to protected</a:t>
            </a:r>
            <a:r>
              <a:rPr sz="2710" b="0" i="0">
                <a:solidFill>
                  <a:srgbClr val="000000"/>
                </a:solidFill>
                <a:latin typeface="Latin Modern Sans"/>
              </a:rPr>
              <a:t> values, not exclusive key possession. RequestNonce is not the Interest Nonce.</a:t>
            </a:r>
          </a:p>
        </p:txBody>
      </p:sp>
      <p:sp>
        <p:nvSpPr>
          <p:cNvPr id="7" name="PDF_TEXT_GROUP_16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8" name="PDF_TEXT_GROUP_16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9" name="PDF_TEXT_GROUP_17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0" name="PDF_TEXT_GROUP_17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1" name="PDF_TEXT_GROUP_17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7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Identity and Replay Checks Have Different Jobs</a:t>
            </a:r>
          </a:p>
        </p:txBody>
      </p:sp>
      <p:sp>
        <p:nvSpPr>
          <p:cNvPr id="4" name="PDF_TEXT_GROUP_174"/>
          <p:cNvSpPr txBox="1"/>
          <p:nvPr/>
        </p:nvSpPr>
        <p:spPr>
          <a:xfrm>
            <a:off x="914808" y="1780343"/>
            <a:ext cx="3841268"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Identity authentication</a:t>
            </a:r>
          </a:p>
        </p:txBody>
      </p:sp>
      <p:sp>
        <p:nvSpPr>
          <p:cNvPr id="5" name="PDF_TEXT_GROUP_175"/>
          <p:cNvSpPr txBox="1"/>
          <p:nvPr/>
        </p:nvSpPr>
        <p:spPr>
          <a:xfrm>
            <a:off x="914808" y="2348961"/>
            <a:ext cx="1273690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Validate Data signatures and certificate chains under trust rules. An accepted signing</a:t>
            </a:r>
            <a:r>
              <a:rPr sz="2710" b="0" i="0">
                <a:solidFill>
                  <a:srgbClr val="000000"/>
                </a:solidFill>
                <a:latin typeface="Latin Modern Sans"/>
              </a:rPr>
              <a:t> identity alone does not establish service permission.</a:t>
            </a:r>
          </a:p>
        </p:txBody>
      </p:sp>
      <p:sp>
        <p:nvSpPr>
          <p:cNvPr id="6" name="PDF_TEXT_GROUP_176"/>
          <p:cNvSpPr txBox="1"/>
          <p:nvPr/>
        </p:nvSpPr>
        <p:spPr>
          <a:xfrm>
            <a:off x="914808" y="3676986"/>
            <a:ext cx="296312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Replay protection</a:t>
            </a:r>
          </a:p>
        </p:txBody>
      </p:sp>
      <p:sp>
        <p:nvSpPr>
          <p:cNvPr id="7" name="PDF_TEXT_GROUP_177"/>
          <p:cNvSpPr txBox="1"/>
          <p:nvPr/>
        </p:nvSpPr>
        <p:spPr>
          <a:xfrm>
            <a:off x="914808" y="4245603"/>
            <a:ext cx="12819495"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messages to an active request and its state. Record whether ProviderChallenge</a:t>
            </a:r>
            <a:r>
              <a:rPr sz="2710" b="0" i="0">
                <a:solidFill>
                  <a:srgbClr val="000000"/>
                </a:solidFill>
                <a:latin typeface="Latin Modern Sans"/>
              </a:rPr>
              <a:t> has already been used to accept Selection for execution; duplicate Selection must not</a:t>
            </a:r>
            <a:r>
              <a:rPr sz="2710" b="0" i="0">
                <a:solidFill>
                  <a:srgbClr val="000000"/>
                </a:solidFill>
                <a:latin typeface="Latin Modern Sans"/>
              </a:rPr>
              <a:t> start another execution.</a:t>
            </a:r>
          </a:p>
        </p:txBody>
      </p:sp>
      <p:sp>
        <p:nvSpPr>
          <p:cNvPr id="8" name="PDF_TEXT_GROUP_178"/>
          <p:cNvSpPr txBox="1"/>
          <p:nvPr/>
        </p:nvSpPr>
        <p:spPr>
          <a:xfrm>
            <a:off x="1143656" y="6051279"/>
            <a:ext cx="1206363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Retain or safely invalidate request state, including across restart. Encryption or a</a:t>
            </a:r>
            <a:r>
              <a:rPr sz="2710" b="0" i="0">
                <a:solidFill>
                  <a:srgbClr val="000000"/>
                </a:solidFill>
                <a:latin typeface="Latin Modern Sans"/>
              </a:rPr>
              <a:t> challenge value alone does not prevent replay.</a:t>
            </a:r>
          </a:p>
        </p:txBody>
      </p:sp>
      <p:sp>
        <p:nvSpPr>
          <p:cNvPr id="9" name="PDF_TEXT_GROUP_17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8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8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8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8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8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Additional Benefit: Aggregate Service Permissions</a:t>
            </a:r>
          </a:p>
        </p:txBody>
      </p:sp>
      <p:sp>
        <p:nvSpPr>
          <p:cNvPr id="4" name="PDF_TEXT_GROUP_185"/>
          <p:cNvSpPr txBox="1"/>
          <p:nvPr/>
        </p:nvSpPr>
        <p:spPr>
          <a:xfrm>
            <a:off x="1618972" y="2029557"/>
            <a:ext cx="1212264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Within one Controller domain, combine several service permissions in one entity’s</a:t>
            </a:r>
            <a:r>
              <a:rPr sz="2710" b="0" i="0">
                <a:solidFill>
                  <a:srgbClr val="000000"/>
                </a:solidFill>
                <a:latin typeface="Latin Modern Sans"/>
              </a:rPr>
              <a:t> DKEY; retain identity-signing credentials. [19,28]</a:t>
            </a:r>
          </a:p>
        </p:txBody>
      </p:sp>
      <p:sp>
        <p:nvSpPr>
          <p:cNvPr id="5" name="PDF_TEXT_GROUP_186"/>
          <p:cNvSpPr txBox="1"/>
          <p:nvPr/>
        </p:nvSpPr>
        <p:spPr>
          <a:xfrm>
            <a:off x="1618972" y="3001824"/>
            <a:ext cx="118569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DNMP represents command authority through role keys and schema rules. One</a:t>
            </a:r>
            <a:r>
              <a:rPr sz="2710" b="0" i="0">
                <a:solidFill>
                  <a:srgbClr val="000000"/>
                </a:solidFill>
                <a:latin typeface="Latin Modern Sans"/>
              </a:rPr>
              <a:t> role can permit several commands. [12]</a:t>
            </a:r>
          </a:p>
        </p:txBody>
      </p:sp>
      <p:sp>
        <p:nvSpPr>
          <p:cNvPr id="6" name="PDF_TEXT_GROUP_187"/>
          <p:cNvSpPr txBox="1"/>
          <p:nvPr/>
        </p:nvSpPr>
        <p:spPr>
          <a:xfrm>
            <a:off x="1618972" y="3974091"/>
            <a:ext cx="1150384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Where equivalent permissions require distinct role credentials, NDNSF avoids</a:t>
            </a:r>
            <a:r>
              <a:rPr sz="2710" b="0" i="0">
                <a:solidFill>
                  <a:srgbClr val="000000"/>
                </a:solidFill>
                <a:latin typeface="Latin Modern Sans"/>
              </a:rPr>
              <a:t> maintaining those extra signing credentials.</a:t>
            </a:r>
          </a:p>
        </p:txBody>
      </p:sp>
      <p:sp>
        <p:nvSpPr>
          <p:cNvPr id="7" name="PDF_TEXT_GROUP_188"/>
          <p:cNvSpPr txBox="1"/>
          <p:nvPr/>
        </p:nvSpPr>
        <p:spPr>
          <a:xfrm>
            <a:off x="1143656" y="5567779"/>
            <a:ext cx="1231219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Fewer independently managed credentials does not imply fixed DKEY size or lower</a:t>
            </a:r>
            <a:r>
              <a:rPr sz="2710" b="0" i="0">
                <a:solidFill>
                  <a:srgbClr val="000000"/>
                </a:solidFill>
                <a:latin typeface="Latin Modern Sans"/>
              </a:rPr>
              <a:t> total cost. Policy size, key distribution and updates still matter.</a:t>
            </a:r>
          </a:p>
        </p:txBody>
      </p:sp>
      <p:sp>
        <p:nvSpPr>
          <p:cNvPr id="8" name="PDF_TEXT_GROUP_18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9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9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9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9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16/47</a:t>
            </a:r>
          </a:p>
        </p:txBody>
      </p:sp>
      <p:sp>
        <p:nvSpPr>
          <p:cNvPr id="13" name="PDF_BULLET_SPAN_280"/>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83"/>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6"/>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19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195"/>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196"/>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197"/>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198"/>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199"/>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2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206"/>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207"/>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208"/>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209"/>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210"/>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211"/>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212"/>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213"/>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214"/>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215"/>
          <p:cNvSpPr txBox="1"/>
          <p:nvPr/>
        </p:nvSpPr>
        <p:spPr>
          <a:xfrm>
            <a:off x="4951637" y="3186404"/>
            <a:ext cx="4089686" cy="160150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signatures,</a:t>
            </a:r>
            <a:r>
              <a:rPr sz="2371" b="0" i="0">
                <a:solidFill>
                  <a:srgbClr val="000000"/>
                </a:solidFill>
                <a:latin typeface="Latin Modern Sans"/>
              </a:rPr>
              <a:t> RequestNonce,</a:t>
            </a:r>
            <a:r>
              <a:rPr sz="2371" b="0" i="0">
                <a:solidFill>
                  <a:srgbClr val="000000"/>
                </a:solidFill>
                <a:latin typeface="Latin Modern Sans"/>
              </a:rPr>
              <a:t> ProviderChallenge, current</a:t>
            </a:r>
            <a:r>
              <a:rPr sz="2371" b="0" i="0">
                <a:solidFill>
                  <a:srgbClr val="000000"/>
                </a:solidFill>
                <a:latin typeface="Latin Modern Sans"/>
              </a:rPr>
              <a:t> permissions and request state</a:t>
            </a:r>
          </a:p>
        </p:txBody>
      </p:sp>
      <p:sp>
        <p:nvSpPr>
          <p:cNvPr id="14" name="PDF_TEXT_GROUP_216"/>
          <p:cNvSpPr txBox="1"/>
          <p:nvPr/>
        </p:nvSpPr>
        <p:spPr>
          <a:xfrm>
            <a:off x="9433445" y="3186404"/>
            <a:ext cx="422385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r>
              <a:rPr sz="2371" b="0" i="0">
                <a:solidFill>
                  <a:srgbClr val="000000"/>
                </a:solidFill>
                <a:latin typeface="Latin Modern Sans"/>
              </a:rPr>
              <a:t> content with service-level ABE</a:t>
            </a:r>
          </a:p>
        </p:txBody>
      </p:sp>
      <p:sp>
        <p:nvSpPr>
          <p:cNvPr id="15" name="PDF_TEXT_GROUP_217"/>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6" name="PDF_TEXT_GROUP_21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21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22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22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22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2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224"/>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225"/>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226"/>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227"/>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28"/>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2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3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3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19/47</a:t>
            </a:r>
          </a:p>
        </p:txBody>
      </p:sp>
      <p:sp>
        <p:nvSpPr>
          <p:cNvPr id="14" name="PDF_BULLET_SPAN_341"/>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44"/>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46"/>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49"/>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3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Runtime Permission Grants and Withdrawals</a:t>
            </a:r>
          </a:p>
        </p:txBody>
      </p:sp>
      <p:sp>
        <p:nvSpPr>
          <p:cNvPr id="4" name="PDF_TEXT_GROUP_235"/>
          <p:cNvSpPr txBox="1"/>
          <p:nvPr/>
        </p:nvSpPr>
        <p:spPr>
          <a:xfrm>
            <a:off x="1618972" y="2029557"/>
            <a:ext cx="1030963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operations update Controller-signed permission status. [28]</a:t>
            </a:r>
          </a:p>
        </p:txBody>
      </p:sp>
      <p:sp>
        <p:nvSpPr>
          <p:cNvPr id="5" name="PDF_TEXT_GROUP_236"/>
          <p:cNvSpPr txBox="1"/>
          <p:nvPr/>
        </p:nvSpPr>
        <p:spPr>
          <a:xfrm>
            <a:off x="1618972" y="2563986"/>
            <a:ext cx="1169558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Ordinary grant: update the target’s complete policy; it retrieves a replacement</a:t>
            </a:r>
            <a:r>
              <a:rPr sz="2710" b="0" i="0">
                <a:solidFill>
                  <a:srgbClr val="000000"/>
                </a:solidFill>
                <a:latin typeface="Latin Modern Sans"/>
              </a:rPr>
              <a:t> DKEY. Public parameters stay unchanged.</a:t>
            </a:r>
          </a:p>
        </p:txBody>
      </p:sp>
      <p:sp>
        <p:nvSpPr>
          <p:cNvPr id="6" name="PDF_TEXT_GROUP_237"/>
          <p:cNvSpPr txBox="1"/>
          <p:nvPr/>
        </p:nvSpPr>
        <p:spPr>
          <a:xfrm>
            <a:off x="1618972" y="3536253"/>
            <a:ext cx="1127373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Withdrawal: rotate the Controller’s ABE master key and public parameters;</a:t>
            </a:r>
            <a:r>
              <a:rPr sz="2710" b="0" i="0">
                <a:solidFill>
                  <a:srgbClr val="000000"/>
                </a:solidFill>
                <a:latin typeface="Latin Modern Sans"/>
              </a:rPr>
              <a:t> remaining members obtain DKEYs for their remaining permissions.</a:t>
            </a:r>
          </a:p>
        </p:txBody>
      </p:sp>
      <p:sp>
        <p:nvSpPr>
          <p:cNvPr id="7" name="PDF_TEXT_GROUP_238"/>
          <p:cNvSpPr txBox="1"/>
          <p:nvPr/>
        </p:nvSpPr>
        <p:spPr>
          <a:xfrm>
            <a:off x="1143656" y="5129941"/>
            <a:ext cx="12353074"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master key stays with the Controller. Rotation is Controller-wide. Participants</a:t>
            </a:r>
            <a:r>
              <a:rPr sz="2710" b="0" i="0">
                <a:solidFill>
                  <a:srgbClr val="000000"/>
                </a:solidFill>
                <a:latin typeface="Latin Modern Sans"/>
              </a:rPr>
              <a:t> must retrieve and validate updates before applying them; disconnected nodes</a:t>
            </a:r>
            <a:r>
              <a:rPr sz="2710" b="0" i="0">
                <a:solidFill>
                  <a:srgbClr val="000000"/>
                </a:solidFill>
                <a:latin typeface="Latin Modern Sans"/>
              </a:rPr>
              <a:t> cannot do so immediately.</a:t>
            </a:r>
          </a:p>
        </p:txBody>
      </p:sp>
      <p:sp>
        <p:nvSpPr>
          <p:cNvPr id="8" name="PDF_TEXT_GROUP_2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20/47</a:t>
            </a:r>
          </a:p>
        </p:txBody>
      </p:sp>
      <p:sp>
        <p:nvSpPr>
          <p:cNvPr id="13" name="PDF_BULLET_SPAN_360"/>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62"/>
          <p:cNvSpPr/>
          <p:nvPr/>
        </p:nvSpPr>
        <p:spPr>
          <a:xfrm rot="5400000">
            <a:off x="1207424" y="264977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65"/>
          <p:cNvSpPr/>
          <p:nvPr/>
        </p:nvSpPr>
        <p:spPr>
          <a:xfrm rot="5400000">
            <a:off x="1207424" y="36220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Discovering Updates Does Not Make Revocation Instantaneous</a:t>
            </a:r>
          </a:p>
        </p:txBody>
      </p:sp>
      <p:sp>
        <p:nvSpPr>
          <p:cNvPr id="4" name="PDF_TEXT_GROUP_245"/>
          <p:cNvSpPr txBox="1"/>
          <p:nvPr/>
        </p:nvSpPr>
        <p:spPr>
          <a:xfrm>
            <a:off x="1169087" y="1891054"/>
            <a:ext cx="1176332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Revised design: publish new public parameters as signed Named Data; Sync</a:t>
            </a:r>
            <a:r>
              <a:rPr sz="2710" b="0" i="0">
                <a:solidFill>
                  <a:srgbClr val="000000"/>
                </a:solidFill>
                <a:latin typeface="Latin Modern Sans"/>
              </a:rPr>
              <a:t> announces availability.</a:t>
            </a:r>
          </a:p>
        </p:txBody>
      </p:sp>
      <p:sp>
        <p:nvSpPr>
          <p:cNvPr id="5" name="PDF_TEXT_GROUP_246"/>
          <p:cNvSpPr txBox="1"/>
          <p:nvPr/>
        </p:nvSpPr>
        <p:spPr>
          <a:xfrm>
            <a:off x="1169087" y="2863321"/>
            <a:ext cx="12408384"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Participants retrieve and validate parameters and permission status, then refresh</a:t>
            </a:r>
            <a:r>
              <a:rPr sz="2710" b="0" i="0">
                <a:solidFill>
                  <a:srgbClr val="000000"/>
                </a:solidFill>
                <a:latin typeface="Latin Modern Sans"/>
              </a:rPr>
              <a:t> DKEYs as required.</a:t>
            </a:r>
          </a:p>
        </p:txBody>
      </p:sp>
      <p:sp>
        <p:nvSpPr>
          <p:cNvPr id="6" name="PDF_TEXT_GROUP_247"/>
          <p:cNvSpPr txBox="1"/>
          <p:nvPr/>
        </p:nvSpPr>
        <p:spPr>
          <a:xfrm>
            <a:off x="1169087" y="3835621"/>
            <a:ext cx="1340337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Grants also require status discovery, even when public parameters do not change.</a:t>
            </a:r>
          </a:p>
        </p:txBody>
      </p:sp>
      <p:sp>
        <p:nvSpPr>
          <p:cNvPr id="7" name="PDF_TEXT_GROUP_248"/>
          <p:cNvSpPr txBox="1"/>
          <p:nvPr/>
        </p:nvSpPr>
        <p:spPr>
          <a:xfrm>
            <a:off x="1143656" y="4899824"/>
            <a:ext cx="12253791" cy="18056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Local status retrieval and rotation exist; dedicated Sync announcements still need</a:t>
            </a:r>
            <a:r>
              <a:rPr sz="2710" b="0" i="0">
                <a:solidFill>
                  <a:srgbClr val="000000"/>
                </a:solidFill>
                <a:latin typeface="Latin Modern Sans"/>
              </a:rPr>
              <a:t> end-to-end verification. Measure propagation, rejection delay and rekey traffic.</a:t>
            </a:r>
            <a:r>
              <a:rPr sz="2710" b="0" i="0">
                <a:solidFill>
                  <a:srgbClr val="000000"/>
                </a:solidFill>
                <a:latin typeface="Latin Modern Sans"/>
              </a:rPr>
              <a:t> Neither NDNSF nor a certificate-revocation alternative can recall disclosed keys or</a:t>
            </a:r>
            <a:r>
              <a:rPr sz="2710" b="0" i="0">
                <a:solidFill>
                  <a:srgbClr val="000000"/>
                </a:solidFill>
                <a:latin typeface="Latin Modern Sans"/>
              </a:rPr>
              <a:t> plaintext.</a:t>
            </a:r>
          </a:p>
        </p:txBody>
      </p:sp>
      <p:sp>
        <p:nvSpPr>
          <p:cNvPr id="8" name="PDF_TEXT_GROUP_2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55"/>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56"/>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57"/>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58"/>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59"/>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22/47</a:t>
            </a:r>
          </a:p>
        </p:txBody>
      </p:sp>
      <p:sp>
        <p:nvSpPr>
          <p:cNvPr id="14" name="PDF_BULLET_SPAN_395"/>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97"/>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00"/>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03"/>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Extension: From Positive ACKs to a Role Plan</a:t>
            </a:r>
          </a:p>
        </p:txBody>
      </p:sp>
      <p:sp>
        <p:nvSpPr>
          <p:cNvPr id="4" name="PDF_TEXT_GROUP_266"/>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67"/>
          <p:cNvSpPr txBox="1"/>
          <p:nvPr/>
        </p:nvSpPr>
        <p:spPr>
          <a:xfrm>
            <a:off x="1169087" y="2788059"/>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the ACK window and freezes the eligible, validated positive ACKs.</a:t>
            </a:r>
          </a:p>
        </p:txBody>
      </p:sp>
      <p:sp>
        <p:nvSpPr>
          <p:cNvPr id="6" name="PDF_TEXT_GROUP_268"/>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269"/>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270"/>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7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7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7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7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7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77"/>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78"/>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79"/>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280"/>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81"/>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282"/>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83"/>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84"/>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85"/>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8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8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8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8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9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29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92"/>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93"/>
          <p:cNvSpPr txBox="1"/>
          <p:nvPr/>
        </p:nvSpPr>
        <p:spPr>
          <a:xfrm>
            <a:off x="1169087" y="2486720"/>
            <a:ext cx="993168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request, plan, execution identity and deadline.</a:t>
            </a:r>
          </a:p>
        </p:txBody>
      </p:sp>
      <p:sp>
        <p:nvSpPr>
          <p:cNvPr id="6" name="PDF_TEXT_GROUP_294"/>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95"/>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296"/>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97"/>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9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9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0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0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30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0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Collaboration Recovery Needs Explicit State</a:t>
            </a:r>
          </a:p>
        </p:txBody>
      </p:sp>
      <p:sp>
        <p:nvSpPr>
          <p:cNvPr id="4" name="PDF_TEXT_GROUP_304"/>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305"/>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306"/>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307"/>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308"/>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309"/>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310"/>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311"/>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312"/>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313"/>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314"/>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315"/>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316"/>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3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NDNSF-UAV: Application-Level Validation</a:t>
            </a:r>
          </a:p>
        </p:txBody>
      </p:sp>
      <p:sp>
        <p:nvSpPr>
          <p:cNvPr id="4" name="PDF_TEXT_GROUP_323"/>
          <p:cNvSpPr txBox="1"/>
          <p:nvPr/>
        </p:nvSpPr>
        <p:spPr>
          <a:xfrm>
            <a:off x="914808" y="1285787"/>
            <a:ext cx="127759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Unmanned aerial vehicle (UAV) application workflows exercise several framework mechanisms.</a:t>
            </a:r>
            <a:r>
              <a:rPr sz="2371" b="0" i="0">
                <a:solidFill>
                  <a:srgbClr val="000000"/>
                </a:solidFill>
                <a:latin typeface="Latin Modern Sans"/>
              </a:rPr>
              <a:t> [28]</a:t>
            </a:r>
          </a:p>
        </p:txBody>
      </p:sp>
      <p:sp>
        <p:nvSpPr>
          <p:cNvPr id="5" name="PDF_TEXT_GROUP_324"/>
          <p:cNvSpPr txBox="1"/>
          <p:nvPr/>
        </p:nvSpPr>
        <p:spPr>
          <a:xfrm>
            <a:off x="1107736" y="2185086"/>
            <a:ext cx="2935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function</a:t>
            </a:r>
          </a:p>
        </p:txBody>
      </p:sp>
      <p:sp>
        <p:nvSpPr>
          <p:cNvPr id="6" name="PDF_TEXT_GROUP_325"/>
          <p:cNvSpPr txBox="1"/>
          <p:nvPr/>
        </p:nvSpPr>
        <p:spPr>
          <a:xfrm>
            <a:off x="6232064" y="2185086"/>
            <a:ext cx="35700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validation scope</a:t>
            </a:r>
          </a:p>
        </p:txBody>
      </p:sp>
      <p:sp>
        <p:nvSpPr>
          <p:cNvPr id="7" name="PDF_TEXT_GROUP_326"/>
          <p:cNvSpPr txBox="1"/>
          <p:nvPr/>
        </p:nvSpPr>
        <p:spPr>
          <a:xfrm>
            <a:off x="1107736" y="2753446"/>
            <a:ext cx="4862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Control, telemetry, mission status</a:t>
            </a:r>
          </a:p>
        </p:txBody>
      </p:sp>
      <p:sp>
        <p:nvSpPr>
          <p:cNvPr id="8" name="PDF_TEXT_GROUP_327"/>
          <p:cNvSpPr txBox="1"/>
          <p:nvPr/>
        </p:nvSpPr>
        <p:spPr>
          <a:xfrm>
            <a:off x="6232224" y="2753446"/>
            <a:ext cx="71372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Provider/request association, permissions, operation</a:t>
            </a:r>
            <a:r>
              <a:rPr sz="2371" b="0" i="0">
                <a:solidFill>
                  <a:srgbClr val="000000"/>
                </a:solidFill>
                <a:latin typeface="Latin Modern Sans"/>
              </a:rPr>
              <a:t> lifecycle</a:t>
            </a:r>
          </a:p>
        </p:txBody>
      </p:sp>
      <p:sp>
        <p:nvSpPr>
          <p:cNvPr id="9" name="PDF_TEXT_GROUP_328"/>
          <p:cNvSpPr txBox="1"/>
          <p:nvPr/>
        </p:nvSpPr>
        <p:spPr>
          <a:xfrm>
            <a:off x="1107736" y="3708165"/>
            <a:ext cx="36673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Live video and recordings</a:t>
            </a:r>
          </a:p>
        </p:txBody>
      </p:sp>
      <p:sp>
        <p:nvSpPr>
          <p:cNvPr id="10" name="PDF_TEXT_GROUP_329"/>
          <p:cNvSpPr txBox="1"/>
          <p:nvPr/>
        </p:nvSpPr>
        <p:spPr>
          <a:xfrm>
            <a:off x="6232256" y="3708165"/>
            <a:ext cx="678783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Stream lifecycle, protected delivery, named-object</a:t>
            </a:r>
            <a:r>
              <a:rPr sz="2371" b="0" i="0">
                <a:solidFill>
                  <a:srgbClr val="000000"/>
                </a:solidFill>
                <a:latin typeface="Latin Modern Sans"/>
              </a:rPr>
              <a:t> retrieval</a:t>
            </a:r>
          </a:p>
        </p:txBody>
      </p:sp>
      <p:sp>
        <p:nvSpPr>
          <p:cNvPr id="11" name="PDF_TEXT_GROUP_330"/>
          <p:cNvSpPr txBox="1"/>
          <p:nvPr/>
        </p:nvSpPr>
        <p:spPr>
          <a:xfrm>
            <a:off x="1107736" y="4662853"/>
            <a:ext cx="44987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Detection and multi-view tasks</a:t>
            </a:r>
          </a:p>
        </p:txBody>
      </p:sp>
      <p:sp>
        <p:nvSpPr>
          <p:cNvPr id="12" name="PDF_TEXT_GROUP_331"/>
          <p:cNvSpPr txBox="1"/>
          <p:nvPr/>
        </p:nvSpPr>
        <p:spPr>
          <a:xfrm>
            <a:off x="6232031" y="4662853"/>
            <a:ext cx="67103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 provision/consumption, role assignments,</a:t>
            </a:r>
            <a:r>
              <a:rPr sz="2371" b="0" i="0">
                <a:solidFill>
                  <a:srgbClr val="000000"/>
                </a:solidFill>
                <a:latin typeface="Latin Modern Sans"/>
              </a:rPr>
              <a:t> dependencies</a:t>
            </a:r>
          </a:p>
        </p:txBody>
      </p:sp>
      <p:sp>
        <p:nvSpPr>
          <p:cNvPr id="13" name="PDF_TEXT_GROUP_332"/>
          <p:cNvSpPr txBox="1"/>
          <p:nvPr/>
        </p:nvSpPr>
        <p:spPr>
          <a:xfrm>
            <a:off x="1123808" y="5930545"/>
            <a:ext cx="1218304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Coverage is broader than one collaboration case. Each claim still needs evidence from the</a:t>
            </a:r>
            <a:r>
              <a:rPr sz="2371" b="0" i="0">
                <a:solidFill>
                  <a:srgbClr val="000000"/>
                </a:solidFill>
                <a:latin typeface="Latin Modern Sans"/>
              </a:rPr>
              <a:t> actual NDNSF path; flight safety and image-analysis accuracy need separate validation.</a:t>
            </a:r>
          </a:p>
        </p:txBody>
      </p:sp>
      <p:sp>
        <p:nvSpPr>
          <p:cNvPr id="14" name="PDF_TEXT_GROUP_3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3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3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3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3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Collaboration Example: Capture, Analyze and Return</a:t>
            </a:r>
          </a:p>
        </p:txBody>
      </p:sp>
      <p:sp>
        <p:nvSpPr>
          <p:cNvPr id="4" name="PDF_TEXT_GROUP_339"/>
          <p:cNvSpPr txBox="1"/>
          <p:nvPr/>
        </p:nvSpPr>
        <p:spPr>
          <a:xfrm>
            <a:off x="914808" y="1880903"/>
            <a:ext cx="116407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ground-area views from nearby UAVs, followed by analysis.</a:t>
            </a:r>
          </a:p>
        </p:txBody>
      </p:sp>
      <p:sp>
        <p:nvSpPr>
          <p:cNvPr id="5" name="PDF_TEXT_GROUP_340"/>
          <p:cNvSpPr txBox="1"/>
          <p:nvPr/>
        </p:nvSpPr>
        <p:spPr>
          <a:xfrm>
            <a:off x="1192840" y="2460411"/>
            <a:ext cx="1240887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Sensing UAVs sign encrypted ViewImage Data under their authorized namespaces.</a:t>
            </a:r>
          </a:p>
        </p:txBody>
      </p:sp>
      <p:sp>
        <p:nvSpPr>
          <p:cNvPr id="6" name="PDF_TEXT_GROUP_341"/>
          <p:cNvSpPr txBox="1"/>
          <p:nvPr/>
        </p:nvSpPr>
        <p:spPr>
          <a:xfrm>
            <a:off x="1192840" y="3039920"/>
            <a:ext cx="12053925"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compute Provider retrieves images over assigned edges and publishes Annotation</a:t>
            </a:r>
            <a:r>
              <a:rPr sz="2371" b="0" i="0">
                <a:solidFill>
                  <a:srgbClr val="000000"/>
                </a:solidFill>
                <a:latin typeface="Latin Modern Sans"/>
              </a:rPr>
              <a:t> Data.</a:t>
            </a:r>
          </a:p>
        </p:txBody>
      </p:sp>
      <p:sp>
        <p:nvSpPr>
          <p:cNvPr id="7" name="PDF_TEXT_GROUP_342"/>
          <p:cNvSpPr txBox="1"/>
          <p:nvPr/>
        </p:nvSpPr>
        <p:spPr>
          <a:xfrm>
            <a:off x="1192840" y="4005756"/>
            <a:ext cx="13187362"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Its encrypted result gives the requester original image names and permitted image keys.</a:t>
            </a:r>
          </a:p>
        </p:txBody>
      </p:sp>
      <p:sp>
        <p:nvSpPr>
          <p:cNvPr id="8" name="PDF_TEXT_GROUP_343"/>
          <p:cNvSpPr txBox="1"/>
          <p:nvPr/>
        </p:nvSpPr>
        <p:spPr>
          <a:xfrm>
            <a:off x="1192840" y="4585264"/>
            <a:ext cx="10964200"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4.</a:t>
            </a:r>
            <a:r>
              <a:rPr sz="2371" b="0" i="0">
                <a:solidFill>
                  <a:srgbClr val="000000"/>
                </a:solidFill>
                <a:latin typeface="Latin Modern Sans"/>
              </a:rPr>
              <a:t> The requester retrieves the original images and displays the annotations.</a:t>
            </a:r>
          </a:p>
        </p:txBody>
      </p:sp>
      <p:sp>
        <p:nvSpPr>
          <p:cNvPr id="9" name="PDF_TEXT_GROUP_344"/>
          <p:cNvSpPr txBox="1"/>
          <p:nvPr/>
        </p:nvSpPr>
        <p:spPr>
          <a:xfrm>
            <a:off x="1123808" y="5699007"/>
            <a:ext cx="117276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Original image Data remains under its producer’s name. GPS alone does not establish</a:t>
            </a:r>
            <a:r>
              <a:rPr sz="2371" b="0" i="0">
                <a:solidFill>
                  <a:srgbClr val="000000"/>
                </a:solidFill>
                <a:latin typeface="Latin Modern Sans"/>
              </a:rPr>
              <a:t> camera visibility.</a:t>
            </a:r>
          </a:p>
        </p:txBody>
      </p:sp>
      <p:sp>
        <p:nvSpPr>
          <p:cNvPr id="10" name="PDF_TEXT_GROUP_3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34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Multi-View Workflow Must Demonstrate</a:t>
            </a:r>
          </a:p>
        </p:txBody>
      </p:sp>
      <p:sp>
        <p:nvSpPr>
          <p:cNvPr id="4" name="PDF_TEXT_GROUP_351"/>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352"/>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353"/>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354"/>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55"/>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5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5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5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5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6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29/47</a:t>
            </a:r>
          </a:p>
        </p:txBody>
      </p:sp>
      <p:sp>
        <p:nvSpPr>
          <p:cNvPr id="14" name="PDF_BULLET_SPAN_535"/>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37"/>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40"/>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43"/>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6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NDNSF-DI: Application-Level Validation</a:t>
            </a:r>
          </a:p>
        </p:txBody>
      </p:sp>
      <p:sp>
        <p:nvSpPr>
          <p:cNvPr id="4" name="PDF_TEXT_GROUP_362"/>
          <p:cNvSpPr txBox="1"/>
          <p:nvPr/>
        </p:nvSpPr>
        <p:spPr>
          <a:xfrm>
            <a:off x="1107736" y="1220030"/>
            <a:ext cx="321400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Application function</a:t>
            </a:r>
          </a:p>
        </p:txBody>
      </p:sp>
      <p:sp>
        <p:nvSpPr>
          <p:cNvPr id="5" name="PDF_TEXT_GROUP_363"/>
          <p:cNvSpPr txBox="1"/>
          <p:nvPr/>
        </p:nvSpPr>
        <p:spPr>
          <a:xfrm>
            <a:off x="6360496" y="1220030"/>
            <a:ext cx="390918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validation scope</a:t>
            </a:r>
          </a:p>
        </p:txBody>
      </p:sp>
      <p:sp>
        <p:nvSpPr>
          <p:cNvPr id="6" name="PDF_TEXT_GROUP_364"/>
          <p:cNvSpPr txBox="1"/>
          <p:nvPr/>
        </p:nvSpPr>
        <p:spPr>
          <a:xfrm>
            <a:off x="1107736" y="1839900"/>
            <a:ext cx="393230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Single-Provider inference</a:t>
            </a:r>
          </a:p>
        </p:txBody>
      </p:sp>
      <p:sp>
        <p:nvSpPr>
          <p:cNvPr id="7" name="PDF_TEXT_GROUP_365"/>
          <p:cNvSpPr txBox="1"/>
          <p:nvPr/>
        </p:nvSpPr>
        <p:spPr>
          <a:xfrm>
            <a:off x="6360531" y="1839900"/>
            <a:ext cx="76059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Discovery, permissions, input and result delivery</a:t>
            </a:r>
          </a:p>
        </p:txBody>
      </p:sp>
      <p:sp>
        <p:nvSpPr>
          <p:cNvPr id="8" name="PDF_TEXT_GROUP_366"/>
          <p:cNvSpPr txBox="1"/>
          <p:nvPr/>
        </p:nvSpPr>
        <p:spPr>
          <a:xfrm>
            <a:off x="1107736" y="2459769"/>
            <a:ext cx="4536460"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preparation and reuse</a:t>
            </a:r>
          </a:p>
        </p:txBody>
      </p:sp>
      <p:sp>
        <p:nvSpPr>
          <p:cNvPr id="9" name="PDF_TEXT_GROUP_367"/>
          <p:cNvSpPr txBox="1"/>
          <p:nvPr/>
        </p:nvSpPr>
        <p:spPr>
          <a:xfrm>
            <a:off x="6360480" y="2459769"/>
            <a:ext cx="658025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Readiness, artifact references, named-object</a:t>
            </a:r>
            <a:r>
              <a:rPr sz="2710" b="0" i="0">
                <a:solidFill>
                  <a:srgbClr val="000000"/>
                </a:solidFill>
                <a:latin typeface="Latin Modern Sans"/>
              </a:rPr>
              <a:t> retrieval</a:t>
            </a:r>
          </a:p>
        </p:txBody>
      </p:sp>
      <p:sp>
        <p:nvSpPr>
          <p:cNvPr id="10" name="PDF_TEXT_GROUP_368"/>
          <p:cNvSpPr txBox="1"/>
          <p:nvPr/>
        </p:nvSpPr>
        <p:spPr>
          <a:xfrm>
            <a:off x="1107736" y="3517510"/>
            <a:ext cx="49950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Incremental output and conversa-</a:t>
            </a:r>
            <a:r>
              <a:rPr sz="2710" b="0" i="0">
                <a:solidFill>
                  <a:srgbClr val="000000"/>
                </a:solidFill>
                <a:latin typeface="Latin Modern Sans"/>
              </a:rPr>
              <a:t>tion</a:t>
            </a:r>
          </a:p>
        </p:txBody>
      </p:sp>
      <p:sp>
        <p:nvSpPr>
          <p:cNvPr id="11" name="PDF_TEXT_GROUP_369"/>
          <p:cNvSpPr txBox="1"/>
          <p:nvPr/>
        </p:nvSpPr>
        <p:spPr>
          <a:xfrm>
            <a:off x="6360480" y="3517510"/>
            <a:ext cx="690923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 state, cancellation, output lifecycle</a:t>
            </a:r>
          </a:p>
        </p:txBody>
      </p:sp>
      <p:sp>
        <p:nvSpPr>
          <p:cNvPr id="12" name="PDF_TEXT_GROUP_370"/>
          <p:cNvSpPr txBox="1"/>
          <p:nvPr/>
        </p:nvSpPr>
        <p:spPr>
          <a:xfrm>
            <a:off x="1107736" y="4575218"/>
            <a:ext cx="383196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Multi-Provider inference</a:t>
            </a:r>
          </a:p>
        </p:txBody>
      </p:sp>
      <p:sp>
        <p:nvSpPr>
          <p:cNvPr id="13" name="PDF_TEXT_GROUP_371"/>
          <p:cNvSpPr txBox="1"/>
          <p:nvPr/>
        </p:nvSpPr>
        <p:spPr>
          <a:xfrm>
            <a:off x="6360566" y="4575218"/>
            <a:ext cx="581978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Assignments, dependencies, recovery</a:t>
            </a:r>
          </a:p>
        </p:txBody>
      </p:sp>
      <p:sp>
        <p:nvSpPr>
          <p:cNvPr id="14" name="PDF_TEXT_GROUP_372"/>
          <p:cNvSpPr txBox="1"/>
          <p:nvPr/>
        </p:nvSpPr>
        <p:spPr>
          <a:xfrm>
            <a:off x="1143656" y="5513166"/>
            <a:ext cx="11823387"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application also tests the invocation foundation, without requiring a model</a:t>
            </a:r>
            <a:r>
              <a:rPr sz="2710" b="0" i="0">
                <a:solidFill>
                  <a:srgbClr val="000000"/>
                </a:solidFill>
                <a:latin typeface="Latin Modern Sans"/>
              </a:rPr>
              <a:t> split. Interfaces and focused tests exist; complete model/device/recovery</a:t>
            </a:r>
            <a:r>
              <a:rPr sz="2710" b="0" i="0">
                <a:solidFill>
                  <a:srgbClr val="000000"/>
                </a:solidFill>
                <a:latin typeface="Latin Modern Sans"/>
              </a:rPr>
              <a:t> qualification remains open. [28]</a:t>
            </a:r>
          </a:p>
        </p:txBody>
      </p:sp>
      <p:sp>
        <p:nvSpPr>
          <p:cNvPr id="15" name="PDF_TEXT_GROUP_3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3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3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3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37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3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Collaboration Example: Named Computation Dependencies</a:t>
            </a:r>
          </a:p>
        </p:txBody>
      </p:sp>
      <p:sp>
        <p:nvSpPr>
          <p:cNvPr id="4" name="PDF_TEXT_GROUP_379"/>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380"/>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381"/>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382"/>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383"/>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384"/>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385"/>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386"/>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387"/>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3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9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31/47</a:t>
            </a:r>
          </a:p>
        </p:txBody>
      </p:sp>
      <p:sp>
        <p:nvSpPr>
          <p:cNvPr id="18" name="PDF_BULLET_SPAN_583"/>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586"/>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589"/>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3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94"/>
          <p:cNvSpPr txBox="1"/>
          <p:nvPr/>
        </p:nvSpPr>
        <p:spPr>
          <a:xfrm>
            <a:off x="1618972" y="1835375"/>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95"/>
          <p:cNvSpPr txBox="1"/>
          <p:nvPr/>
        </p:nvSpPr>
        <p:spPr>
          <a:xfrm>
            <a:off x="1618972" y="2807642"/>
            <a:ext cx="12008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key/value (K/V) tensors and supplies</a:t>
            </a:r>
            <a:r>
              <a:rPr sz="2710" b="0" i="0">
                <a:solidFill>
                  <a:srgbClr val="000000"/>
                </a:solidFill>
                <a:latin typeface="Latin Modern Sans"/>
              </a:rPr>
              <a:t> next-step inputs; resident weights do not replace this state. [31]</a:t>
            </a:r>
          </a:p>
        </p:txBody>
      </p:sp>
      <p:sp>
        <p:nvSpPr>
          <p:cNvPr id="6" name="PDF_TEXT_GROUP_396"/>
          <p:cNvSpPr txBox="1"/>
          <p:nvPr/>
        </p:nvSpPr>
        <p:spPr>
          <a:xfrm>
            <a:off x="1618972" y="377990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397"/>
          <p:cNvSpPr txBox="1"/>
          <p:nvPr/>
        </p:nvSpPr>
        <p:spPr>
          <a:xfrm>
            <a:off x="1618972" y="4314338"/>
            <a:ext cx="115503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98"/>
          <p:cNvSpPr txBox="1"/>
          <p:nvPr/>
        </p:nvSpPr>
        <p:spPr>
          <a:xfrm>
            <a:off x="1143656" y="5839485"/>
            <a:ext cx="121083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validate the newer distributed inference</a:t>
            </a:r>
            <a:r>
              <a:rPr sz="2710" b="0" i="0">
                <a:solidFill>
                  <a:srgbClr val="000000"/>
                </a:solidFill>
                <a:latin typeface="Latin Modern Sans"/>
              </a:rPr>
              <a:t> and recovery paths. [28]</a:t>
            </a:r>
          </a:p>
        </p:txBody>
      </p:sp>
      <p:sp>
        <p:nvSpPr>
          <p:cNvPr id="9" name="PDF_TEXT_GROUP_3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32/47</a:t>
            </a:r>
          </a:p>
        </p:txBody>
      </p:sp>
      <p:sp>
        <p:nvSpPr>
          <p:cNvPr id="14" name="PDF_BULLET_SPAN_599"/>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02"/>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05"/>
          <p:cNvSpPr/>
          <p:nvPr/>
        </p:nvSpPr>
        <p:spPr>
          <a:xfrm rot="5400000">
            <a:off x="1207424" y="38657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07"/>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Map Application Functions to Framework Evidence</a:t>
            </a:r>
          </a:p>
        </p:txBody>
      </p:sp>
      <p:sp>
        <p:nvSpPr>
          <p:cNvPr id="4" name="PDF_TEXT_GROUP_405"/>
          <p:cNvSpPr txBox="1"/>
          <p:nvPr/>
        </p:nvSpPr>
        <p:spPr>
          <a:xfrm>
            <a:off x="1169087" y="2056961"/>
            <a:ext cx="12640583"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Name the application function and the production NDNSF API path it uses.</a:t>
            </a:r>
          </a:p>
        </p:txBody>
      </p:sp>
      <p:sp>
        <p:nvSpPr>
          <p:cNvPr id="5" name="PDF_TEXT_GROUP_406"/>
          <p:cNvSpPr txBox="1"/>
          <p:nvPr/>
        </p:nvSpPr>
        <p:spPr>
          <a:xfrm>
            <a:off x="1169087" y="2591389"/>
            <a:ext cx="1280670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Specify the input, expected result, failure condition, and tested configuration.</a:t>
            </a:r>
          </a:p>
        </p:txBody>
      </p:sp>
      <p:sp>
        <p:nvSpPr>
          <p:cNvPr id="6" name="PDF_TEXT_GROUP_407"/>
          <p:cNvSpPr txBox="1"/>
          <p:nvPr/>
        </p:nvSpPr>
        <p:spPr>
          <a:xfrm>
            <a:off x="1169087" y="3125818"/>
            <a:ext cx="11928726"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Record evidence separately: implementation, focused test, multi-process test,</a:t>
            </a:r>
            <a:r>
              <a:rPr sz="2710" b="0" i="0">
                <a:solidFill>
                  <a:srgbClr val="000000"/>
                </a:solidFill>
                <a:latin typeface="Latin Modern Sans"/>
              </a:rPr>
              <a:t> measured outcome.</a:t>
            </a:r>
          </a:p>
        </p:txBody>
      </p:sp>
      <p:sp>
        <p:nvSpPr>
          <p:cNvPr id="7" name="PDF_TEXT_GROUP_408"/>
          <p:cNvSpPr txBox="1"/>
          <p:nvPr/>
        </p:nvSpPr>
        <p:spPr>
          <a:xfrm>
            <a:off x="1143656" y="4650965"/>
            <a:ext cx="12339801" cy="18056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 cover discovery, authorization, data delivery, lifecycle, and</a:t>
            </a:r>
            <a:r>
              <a:rPr sz="2710" b="0" i="0">
                <a:solidFill>
                  <a:srgbClr val="000000"/>
                </a:solidFill>
                <a:latin typeface="Latin Modern Sans"/>
              </a:rPr>
              <a:t> collaboration. Local calls do not prove remote behavior. Representative workflows</a:t>
            </a:r>
            <a:r>
              <a:rPr sz="2710" b="0" i="0">
                <a:solidFill>
                  <a:srgbClr val="000000"/>
                </a:solidFill>
                <a:latin typeface="Latin Modern Sans"/>
              </a:rPr>
              <a:t> cover claimed mechanisms; optional application features need not become separate</a:t>
            </a:r>
            <a:r>
              <a:rPr sz="2710" b="0" i="0">
                <a:solidFill>
                  <a:srgbClr val="000000"/>
                </a:solidFill>
                <a:latin typeface="Latin Modern Sans"/>
              </a:rPr>
              <a:t> dissertation gates.</a:t>
            </a:r>
          </a:p>
        </p:txBody>
      </p:sp>
      <p:sp>
        <p:nvSpPr>
          <p:cNvPr id="8" name="PDF_TEXT_GROUP_40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41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41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41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41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1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415"/>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416"/>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417"/>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418"/>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419"/>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42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2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2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2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2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34/47</a:t>
            </a:r>
          </a:p>
        </p:txBody>
      </p:sp>
      <p:sp>
        <p:nvSpPr>
          <p:cNvPr id="14" name="PDF_BULLET_SPAN_635"/>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38"/>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41"/>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44"/>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2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Completion under Different Coverage Conditions</a:t>
            </a:r>
          </a:p>
        </p:txBody>
      </p:sp>
      <p:sp>
        <p:nvSpPr>
          <p:cNvPr id="4" name="PDF_TEXT_GROUP_426"/>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427"/>
          <p:cNvSpPr txBox="1"/>
          <p:nvPr/>
        </p:nvSpPr>
        <p:spPr>
          <a:xfrm>
            <a:off x="1107736" y="222654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428"/>
          <p:cNvSpPr txBox="1"/>
          <p:nvPr/>
        </p:nvSpPr>
        <p:spPr>
          <a:xfrm>
            <a:off x="9386102" y="222654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429"/>
          <p:cNvSpPr txBox="1"/>
          <p:nvPr/>
        </p:nvSpPr>
        <p:spPr>
          <a:xfrm>
            <a:off x="11203250" y="222654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430"/>
          <p:cNvSpPr txBox="1"/>
          <p:nvPr/>
        </p:nvSpPr>
        <p:spPr>
          <a:xfrm>
            <a:off x="12917479" y="222654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431"/>
          <p:cNvSpPr txBox="1"/>
          <p:nvPr/>
        </p:nvSpPr>
        <p:spPr>
          <a:xfrm>
            <a:off x="1107736" y="2794906"/>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432"/>
          <p:cNvSpPr txBox="1"/>
          <p:nvPr/>
        </p:nvSpPr>
        <p:spPr>
          <a:xfrm>
            <a:off x="9435295"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433"/>
          <p:cNvSpPr txBox="1"/>
          <p:nvPr/>
        </p:nvSpPr>
        <p:spPr>
          <a:xfrm>
            <a:off x="10982171"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434"/>
          <p:cNvSpPr txBox="1"/>
          <p:nvPr/>
        </p:nvSpPr>
        <p:spPr>
          <a:xfrm>
            <a:off x="12529048"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435"/>
          <p:cNvSpPr txBox="1"/>
          <p:nvPr/>
        </p:nvSpPr>
        <p:spPr>
          <a:xfrm>
            <a:off x="1107736" y="336326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436"/>
          <p:cNvSpPr txBox="1"/>
          <p:nvPr/>
        </p:nvSpPr>
        <p:spPr>
          <a:xfrm>
            <a:off x="9435295"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437"/>
          <p:cNvSpPr txBox="1"/>
          <p:nvPr/>
        </p:nvSpPr>
        <p:spPr>
          <a:xfrm>
            <a:off x="10982171"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438"/>
          <p:cNvSpPr txBox="1"/>
          <p:nvPr/>
        </p:nvSpPr>
        <p:spPr>
          <a:xfrm>
            <a:off x="12529048"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439"/>
          <p:cNvSpPr txBox="1"/>
          <p:nvPr/>
        </p:nvSpPr>
        <p:spPr>
          <a:xfrm>
            <a:off x="1107736" y="393162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440"/>
          <p:cNvSpPr txBox="1"/>
          <p:nvPr/>
        </p:nvSpPr>
        <p:spPr>
          <a:xfrm>
            <a:off x="9274534"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441"/>
          <p:cNvSpPr txBox="1"/>
          <p:nvPr/>
        </p:nvSpPr>
        <p:spPr>
          <a:xfrm>
            <a:off x="10821410"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442"/>
          <p:cNvSpPr txBox="1"/>
          <p:nvPr/>
        </p:nvSpPr>
        <p:spPr>
          <a:xfrm>
            <a:off x="12368286"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443"/>
          <p:cNvSpPr txBox="1"/>
          <p:nvPr/>
        </p:nvSpPr>
        <p:spPr>
          <a:xfrm>
            <a:off x="1123808" y="5179411"/>
            <a:ext cx="113764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overall NDNSF advantage is established. The next slide uses a separate holdout</a:t>
            </a:r>
            <a:r>
              <a:rPr sz="2371" b="0" i="0">
                <a:solidFill>
                  <a:srgbClr val="000000"/>
                </a:solidFill>
                <a:latin typeface="Latin Modern Sans"/>
              </a:rPr>
              <a:t> campaign (seeds 72–81), not a subset of these runs.</a:t>
            </a:r>
          </a:p>
        </p:txBody>
      </p:sp>
      <p:sp>
        <p:nvSpPr>
          <p:cNvPr id="22" name="PDF_TEXT_GROUP_4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4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4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4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44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450"/>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451"/>
          <p:cNvSpPr txBox="1"/>
          <p:nvPr/>
        </p:nvSpPr>
        <p:spPr>
          <a:xfrm>
            <a:off x="1107736" y="232113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452"/>
          <p:cNvSpPr txBox="1"/>
          <p:nvPr/>
        </p:nvSpPr>
        <p:spPr>
          <a:xfrm>
            <a:off x="7937869" y="232113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453"/>
          <p:cNvSpPr txBox="1"/>
          <p:nvPr/>
        </p:nvSpPr>
        <p:spPr>
          <a:xfrm>
            <a:off x="12538050" y="232113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454"/>
          <p:cNvSpPr txBox="1"/>
          <p:nvPr/>
        </p:nvSpPr>
        <p:spPr>
          <a:xfrm>
            <a:off x="9330171" y="2871464"/>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456"/>
          <p:cNvSpPr txBox="1"/>
          <p:nvPr/>
        </p:nvSpPr>
        <p:spPr>
          <a:xfrm>
            <a:off x="1107736" y="288949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455"/>
          <p:cNvSpPr txBox="1"/>
          <p:nvPr/>
        </p:nvSpPr>
        <p:spPr>
          <a:xfrm>
            <a:off x="11255736" y="2871464"/>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457"/>
          <p:cNvSpPr txBox="1"/>
          <p:nvPr/>
        </p:nvSpPr>
        <p:spPr>
          <a:xfrm>
            <a:off x="9169388" y="343982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459"/>
          <p:cNvSpPr txBox="1"/>
          <p:nvPr/>
        </p:nvSpPr>
        <p:spPr>
          <a:xfrm>
            <a:off x="1107736" y="3457852"/>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458"/>
          <p:cNvSpPr txBox="1"/>
          <p:nvPr/>
        </p:nvSpPr>
        <p:spPr>
          <a:xfrm>
            <a:off x="10934201" y="343982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460"/>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461"/>
          <p:cNvSpPr txBox="1"/>
          <p:nvPr/>
        </p:nvSpPr>
        <p:spPr>
          <a:xfrm>
            <a:off x="1123808" y="5238612"/>
            <a:ext cx="125174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paired seed-p95 differences; each p95 uses that system’s successful requests. Different</a:t>
            </a:r>
            <a:r>
              <a:rPr sz="2371" b="0" i="0">
                <a:solidFill>
                  <a:srgbClr val="000000"/>
                </a:solidFill>
                <a:latin typeface="Latin Modern Sans"/>
              </a:rPr>
              <a:t> failures limit the comparison; no general advantage is inferred.</a:t>
            </a:r>
          </a:p>
        </p:txBody>
      </p:sp>
      <p:sp>
        <p:nvSpPr>
          <p:cNvPr id="16" name="PDF_TEXT_GROUP_46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6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6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6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46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468"/>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469"/>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470"/>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471"/>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472"/>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473"/>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474"/>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475"/>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476"/>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477"/>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478"/>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479"/>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480"/>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4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38.png"/>
          <p:cNvPicPr>
            <a:picLocks noChangeAspect="1"/>
          </p:cNvPicPr>
          <p:nvPr/>
        </p:nvPicPr>
        <p:blipFill>
          <a:blip r:embed="rId2"/>
          <a:stretch>
            <a:fillRect/>
          </a:stretch>
        </p:blipFill>
        <p:spPr>
          <a:xfrm>
            <a:off x="0" y="0"/>
            <a:ext cx="14630400" cy="8229600"/>
          </a:xfrm>
          <a:prstGeom prst="rect">
            <a:avLst/>
          </a:prstGeom>
        </p:spPr>
      </p:pic>
      <p:sp>
        <p:nvSpPr>
          <p:cNvPr id="3" name="PDF_TEXT_GROUP_4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487"/>
          <p:cNvSpPr txBox="1"/>
          <p:nvPr/>
        </p:nvSpPr>
        <p:spPr>
          <a:xfrm>
            <a:off x="914808" y="1710893"/>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488"/>
          <p:cNvSpPr txBox="1"/>
          <p:nvPr/>
        </p:nvSpPr>
        <p:spPr>
          <a:xfrm>
            <a:off x="1107736" y="2223864"/>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489"/>
          <p:cNvSpPr txBox="1"/>
          <p:nvPr/>
        </p:nvSpPr>
        <p:spPr>
          <a:xfrm>
            <a:off x="10125828" y="2223864"/>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490"/>
          <p:cNvSpPr txBox="1"/>
          <p:nvPr/>
        </p:nvSpPr>
        <p:spPr>
          <a:xfrm>
            <a:off x="13041715" y="2223864"/>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491"/>
          <p:cNvSpPr txBox="1"/>
          <p:nvPr/>
        </p:nvSpPr>
        <p:spPr>
          <a:xfrm>
            <a:off x="1107736" y="2792224"/>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492"/>
          <p:cNvSpPr txBox="1"/>
          <p:nvPr/>
        </p:nvSpPr>
        <p:spPr>
          <a:xfrm>
            <a:off x="10707109"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493"/>
          <p:cNvSpPr txBox="1"/>
          <p:nvPr/>
        </p:nvSpPr>
        <p:spPr>
          <a:xfrm>
            <a:off x="12311023"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494"/>
          <p:cNvSpPr txBox="1"/>
          <p:nvPr/>
        </p:nvSpPr>
        <p:spPr>
          <a:xfrm>
            <a:off x="1107736" y="3360583"/>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495"/>
          <p:cNvSpPr txBox="1"/>
          <p:nvPr/>
        </p:nvSpPr>
        <p:spPr>
          <a:xfrm>
            <a:off x="10707109" y="3360583"/>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496"/>
          <p:cNvSpPr txBox="1"/>
          <p:nvPr/>
        </p:nvSpPr>
        <p:spPr>
          <a:xfrm>
            <a:off x="12311023" y="3360583"/>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497"/>
          <p:cNvSpPr txBox="1"/>
          <p:nvPr/>
        </p:nvSpPr>
        <p:spPr>
          <a:xfrm>
            <a:off x="1123808" y="4621909"/>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498"/>
          <p:cNvSpPr txBox="1"/>
          <p:nvPr/>
        </p:nvSpPr>
        <p:spPr>
          <a:xfrm>
            <a:off x="914808" y="6077766"/>
            <a:ext cx="13699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Retained historical diagnostic; raw-run/model provenance remains to be rechecked. Not evidence for the newer</a:t>
            </a:r>
          </a:p>
        </p:txBody>
      </p:sp>
      <p:sp>
        <p:nvSpPr>
          <p:cNvPr id="16" name="PDF_TEXT_GROUP_499"/>
          <p:cNvSpPr txBox="1"/>
          <p:nvPr/>
        </p:nvSpPr>
        <p:spPr>
          <a:xfrm>
            <a:off x="914808" y="6566824"/>
            <a:ext cx="22562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 design.</a:t>
            </a:r>
          </a:p>
        </p:txBody>
      </p:sp>
      <p:sp>
        <p:nvSpPr>
          <p:cNvPr id="17" name="PDF_TEXT_GROUP_5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39.png"/>
          <p:cNvPicPr>
            <a:picLocks noChangeAspect="1"/>
          </p:cNvPicPr>
          <p:nvPr/>
        </p:nvPicPr>
        <p:blipFill>
          <a:blip r:embed="rId2"/>
          <a:stretch>
            <a:fillRect/>
          </a:stretch>
        </p:blipFill>
        <p:spPr>
          <a:xfrm>
            <a:off x="0" y="0"/>
            <a:ext cx="14630400" cy="8229600"/>
          </a:xfrm>
          <a:prstGeom prst="rect">
            <a:avLst/>
          </a:prstGeom>
        </p:spPr>
      </p:pic>
      <p:sp>
        <p:nvSpPr>
          <p:cNvPr id="3" name="PDF_TEXT_GROUP_5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506"/>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507"/>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508"/>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509"/>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510"/>
          <p:cNvSpPr txBox="1"/>
          <p:nvPr/>
        </p:nvSpPr>
        <p:spPr>
          <a:xfrm>
            <a:off x="2646188" y="1969156"/>
            <a:ext cx="51393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ABE-backed versus DNMP-inspired</a:t>
            </a:r>
          </a:p>
        </p:txBody>
      </p:sp>
      <p:sp>
        <p:nvSpPr>
          <p:cNvPr id="9" name="PDF_TEXT_GROUP_511"/>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512"/>
          <p:cNvSpPr txBox="1"/>
          <p:nvPr/>
        </p:nvSpPr>
        <p:spPr>
          <a:xfrm>
            <a:off x="2646187" y="2355484"/>
            <a:ext cx="50549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rules plus encryption; unauthorized</a:t>
            </a:r>
          </a:p>
        </p:txBody>
      </p:sp>
      <p:sp>
        <p:nvSpPr>
          <p:cNvPr id="11" name="PDF_TEXT_GROUP_513"/>
          <p:cNvSpPr txBox="1"/>
          <p:nvPr/>
        </p:nvSpPr>
        <p:spPr>
          <a:xfrm>
            <a:off x="8280720" y="2355484"/>
            <a:ext cx="55535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p>
        </p:txBody>
      </p:sp>
      <p:sp>
        <p:nvSpPr>
          <p:cNvPr id="12" name="PDF_TEXT_GROUP_514"/>
          <p:cNvSpPr txBox="1"/>
          <p:nvPr/>
        </p:nvSpPr>
        <p:spPr>
          <a:xfrm>
            <a:off x="2646187" y="2741812"/>
            <a:ext cx="4813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 replay, grant and withdrawal</a:t>
            </a:r>
          </a:p>
        </p:txBody>
      </p:sp>
      <p:sp>
        <p:nvSpPr>
          <p:cNvPr id="13" name="PDF_TEXT_GROUP_515"/>
          <p:cNvSpPr txBox="1"/>
          <p:nvPr/>
        </p:nvSpPr>
        <p:spPr>
          <a:xfrm>
            <a:off x="8280720" y="2741812"/>
            <a:ext cx="320228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delay and rekey traffic</a:t>
            </a:r>
          </a:p>
        </p:txBody>
      </p:sp>
      <p:sp>
        <p:nvSpPr>
          <p:cNvPr id="14" name="PDF_TEXT_GROUP_516"/>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5" name="PDF_TEXT_GROUP_517"/>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6" name="PDF_TEXT_GROUP_518"/>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7" name="PDF_TEXT_GROUP_519"/>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8" name="PDF_TEXT_GROUP_520"/>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9" name="PDF_TEXT_GROUP_521"/>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20" name="PDF_TEXT_GROUP_522"/>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21" name="PDF_TEXT_GROUP_523"/>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2" name="PDF_TEXT_GROUP_524"/>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3" name="PDF_TEXT_GROUP_525"/>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4" name="PDF_TEXT_GROUP_526"/>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5" name="PDF_TEXT_GROUP_5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6" name="PDF_TEXT_GROUP_5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7" name="PDF_TEXT_GROUP_5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8" name="PDF_TEXT_GROUP_53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9" name="PDF_TEXT_GROUP_53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40.png"/>
          <p:cNvPicPr>
            <a:picLocks noChangeAspect="1"/>
          </p:cNvPicPr>
          <p:nvPr/>
        </p:nvPicPr>
        <p:blipFill>
          <a:blip r:embed="rId2"/>
          <a:stretch>
            <a:fillRect/>
          </a:stretch>
        </p:blipFill>
        <p:spPr>
          <a:xfrm>
            <a:off x="0" y="0"/>
            <a:ext cx="14630400" cy="8229600"/>
          </a:xfrm>
          <a:prstGeom prst="rect">
            <a:avLst/>
          </a:prstGeom>
        </p:spPr>
      </p:pic>
      <p:sp>
        <p:nvSpPr>
          <p:cNvPr id="3" name="PDF_TEXT_GROUP_5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533"/>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534"/>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535"/>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536"/>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537"/>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538"/>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539"/>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540"/>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541"/>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542"/>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543"/>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544"/>
          <p:cNvSpPr txBox="1"/>
          <p:nvPr/>
        </p:nvSpPr>
        <p:spPr>
          <a:xfrm>
            <a:off x="4695379" y="5243395"/>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545"/>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54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4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4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4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5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1" descr="background-041.png"/>
          <p:cNvPicPr>
            <a:picLocks noChangeAspect="1"/>
          </p:cNvPicPr>
          <p:nvPr/>
        </p:nvPicPr>
        <p:blipFill>
          <a:blip r:embed="rId2"/>
          <a:stretch>
            <a:fillRect/>
          </a:stretch>
        </p:blipFill>
        <p:spPr>
          <a:xfrm>
            <a:off x="0" y="0"/>
            <a:ext cx="14630400" cy="8229600"/>
          </a:xfrm>
          <a:prstGeom prst="rect">
            <a:avLst/>
          </a:prstGeom>
        </p:spPr>
      </p:pic>
      <p:sp>
        <p:nvSpPr>
          <p:cNvPr id="3" name="PDF_TEXT_GROUP_55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552"/>
          <p:cNvSpPr txBox="1"/>
          <p:nvPr/>
        </p:nvSpPr>
        <p:spPr>
          <a:xfrm>
            <a:off x="1618972" y="1777984"/>
            <a:ext cx="117543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authorization is preferable to DNMP-inspired</a:t>
            </a:r>
            <a:r>
              <a:rPr sz="2710" b="0" i="0">
                <a:solidFill>
                  <a:srgbClr val="000000"/>
                </a:solidFill>
                <a:latin typeface="Latin Modern Sans"/>
              </a:rPr>
              <a:t> role rules plus encryption, accounting for confidentiality, management and</a:t>
            </a:r>
            <a:r>
              <a:rPr sz="2710" b="0" i="0">
                <a:solidFill>
                  <a:srgbClr val="000000"/>
                </a:solidFill>
                <a:latin typeface="Latin Modern Sans"/>
              </a:rPr>
              <a:t> withdrawal costs.</a:t>
            </a:r>
          </a:p>
        </p:txBody>
      </p:sp>
      <p:sp>
        <p:nvSpPr>
          <p:cNvPr id="5" name="PDF_TEXT_GROUP_553"/>
          <p:cNvSpPr txBox="1"/>
          <p:nvPr/>
        </p:nvSpPr>
        <p:spPr>
          <a:xfrm>
            <a:off x="1618972" y="3188121"/>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554"/>
          <p:cNvSpPr txBox="1"/>
          <p:nvPr/>
        </p:nvSpPr>
        <p:spPr>
          <a:xfrm>
            <a:off x="1618972" y="4160388"/>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555"/>
          <p:cNvSpPr txBox="1"/>
          <p:nvPr/>
        </p:nvSpPr>
        <p:spPr>
          <a:xfrm>
            <a:off x="1618972" y="4694817"/>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556"/>
          <p:cNvSpPr txBox="1"/>
          <p:nvPr/>
        </p:nvSpPr>
        <p:spPr>
          <a:xfrm>
            <a:off x="1143656" y="6013664"/>
            <a:ext cx="122488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outcome is a tested service protocol and an evidence-backed account of when</a:t>
            </a:r>
            <a:r>
              <a:rPr sz="2710" b="0" i="0">
                <a:solidFill>
                  <a:srgbClr val="000000"/>
                </a:solidFill>
                <a:latin typeface="Latin Modern Sans"/>
              </a:rPr>
              <a:t> its mechanisms are worth their cost.</a:t>
            </a:r>
          </a:p>
        </p:txBody>
      </p:sp>
      <p:sp>
        <p:nvSpPr>
          <p:cNvPr id="9" name="PDF_TEXT_GROUP_55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55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55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56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56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41/47</a:t>
            </a:r>
          </a:p>
        </p:txBody>
      </p:sp>
      <p:sp>
        <p:nvSpPr>
          <p:cNvPr id="14" name="PDF_BULLET_SPAN_809"/>
          <p:cNvSpPr/>
          <p:nvPr/>
        </p:nvSpPr>
        <p:spPr>
          <a:xfrm rot="5400000">
            <a:off x="1207424" y="186377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14"/>
          <p:cNvSpPr/>
          <p:nvPr/>
        </p:nvSpPr>
        <p:spPr>
          <a:xfrm rot="5400000">
            <a:off x="1207424" y="327391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818"/>
          <p:cNvSpPr/>
          <p:nvPr/>
        </p:nvSpPr>
        <p:spPr>
          <a:xfrm rot="5400000">
            <a:off x="1207424" y="424617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821"/>
          <p:cNvSpPr/>
          <p:nvPr/>
        </p:nvSpPr>
        <p:spPr>
          <a:xfrm rot="5400000">
            <a:off x="1207424" y="478060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2" descr="background-042.png"/>
          <p:cNvPicPr>
            <a:picLocks noChangeAspect="1"/>
          </p:cNvPicPr>
          <p:nvPr/>
        </p:nvPicPr>
        <p:blipFill>
          <a:blip r:embed="rId2"/>
          <a:stretch>
            <a:fillRect/>
          </a:stretch>
        </p:blipFill>
        <p:spPr>
          <a:xfrm>
            <a:off x="0" y="0"/>
            <a:ext cx="14630400" cy="8229600"/>
          </a:xfrm>
          <a:prstGeom prst="rect">
            <a:avLst/>
          </a:prstGeom>
        </p:spPr>
      </p:pic>
      <p:sp>
        <p:nvSpPr>
          <p:cNvPr id="3" name="PDF_TEXT_GROUP_56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563"/>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564"/>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565"/>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566"/>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567"/>
          <p:cNvSpPr txBox="1"/>
          <p:nvPr/>
        </p:nvSpPr>
        <p:spPr>
          <a:xfrm>
            <a:off x="1143656" y="5445401"/>
            <a:ext cx="110807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evaluate runtime discovery and authorized invocation; extend the</a:t>
            </a:r>
            <a:r>
              <a:rPr sz="2710" b="0" i="0">
                <a:solidFill>
                  <a:srgbClr val="000000"/>
                </a:solidFill>
                <a:latin typeface="Latin Modern Sans"/>
              </a:rPr>
              <a:t> foundation to role-aware collaboration.</a:t>
            </a:r>
          </a:p>
        </p:txBody>
      </p:sp>
      <p:sp>
        <p:nvSpPr>
          <p:cNvPr id="9" name="PDF_TEXT_GROUP_56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56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57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57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57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42/47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3" descr="background-043.png"/>
          <p:cNvPicPr>
            <a:picLocks noChangeAspect="1"/>
          </p:cNvPicPr>
          <p:nvPr/>
        </p:nvPicPr>
        <p:blipFill>
          <a:blip r:embed="rId2"/>
          <a:stretch>
            <a:fillRect/>
          </a:stretch>
        </p:blipFill>
        <p:spPr>
          <a:xfrm>
            <a:off x="0" y="0"/>
            <a:ext cx="14630400" cy="8229600"/>
          </a:xfrm>
          <a:prstGeom prst="rect">
            <a:avLst/>
          </a:prstGeom>
        </p:spPr>
      </p:pic>
      <p:sp>
        <p:nvSpPr>
          <p:cNvPr id="3" name="PDF_TEXT_GROUP_57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574"/>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575"/>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576"/>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577"/>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578"/>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579"/>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580"/>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581"/>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582"/>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58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58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58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58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58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43/47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4" descr="background-044.png"/>
          <p:cNvPicPr>
            <a:picLocks noChangeAspect="1"/>
          </p:cNvPicPr>
          <p:nvPr/>
        </p:nvPicPr>
        <p:blipFill>
          <a:blip r:embed="rId2"/>
          <a:stretch>
            <a:fillRect/>
          </a:stretch>
        </p:blipFill>
        <p:spPr>
          <a:xfrm>
            <a:off x="0" y="0"/>
            <a:ext cx="14630400" cy="8229600"/>
          </a:xfrm>
          <a:prstGeom prst="rect">
            <a:avLst/>
          </a:prstGeom>
        </p:spPr>
      </p:pic>
      <p:sp>
        <p:nvSpPr>
          <p:cNvPr id="3" name="PDF_TEXT_GROUP_58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589"/>
          <p:cNvSpPr txBox="1"/>
          <p:nvPr/>
        </p:nvSpPr>
        <p:spPr>
          <a:xfrm>
            <a:off x="1107736" y="1909567"/>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590"/>
          <p:cNvSpPr txBox="1"/>
          <p:nvPr/>
        </p:nvSpPr>
        <p:spPr>
          <a:xfrm>
            <a:off x="9804981" y="1909567"/>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591"/>
          <p:cNvSpPr txBox="1"/>
          <p:nvPr/>
        </p:nvSpPr>
        <p:spPr>
          <a:xfrm>
            <a:off x="1107736" y="247792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592"/>
          <p:cNvSpPr txBox="1"/>
          <p:nvPr/>
        </p:nvSpPr>
        <p:spPr>
          <a:xfrm>
            <a:off x="12189748" y="247792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593"/>
          <p:cNvSpPr txBox="1"/>
          <p:nvPr/>
        </p:nvSpPr>
        <p:spPr>
          <a:xfrm>
            <a:off x="1107736" y="304628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594"/>
          <p:cNvSpPr txBox="1"/>
          <p:nvPr/>
        </p:nvSpPr>
        <p:spPr>
          <a:xfrm>
            <a:off x="12189748" y="304628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595"/>
          <p:cNvSpPr txBox="1"/>
          <p:nvPr/>
        </p:nvSpPr>
        <p:spPr>
          <a:xfrm>
            <a:off x="1107736" y="3614645"/>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596"/>
          <p:cNvSpPr txBox="1"/>
          <p:nvPr/>
        </p:nvSpPr>
        <p:spPr>
          <a:xfrm>
            <a:off x="12189681" y="3614645"/>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597"/>
          <p:cNvSpPr txBox="1"/>
          <p:nvPr/>
        </p:nvSpPr>
        <p:spPr>
          <a:xfrm>
            <a:off x="1123808" y="4496010"/>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598"/>
          <p:cNvSpPr txBox="1"/>
          <p:nvPr/>
        </p:nvSpPr>
        <p:spPr>
          <a:xfrm>
            <a:off x="914808" y="5969769"/>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599"/>
          <p:cNvSpPr txBox="1"/>
          <p:nvPr/>
        </p:nvSpPr>
        <p:spPr>
          <a:xfrm>
            <a:off x="914808" y="6458795"/>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6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6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6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6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6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44/47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5"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606"/>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607"/>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608"/>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609"/>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610"/>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611"/>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612"/>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613"/>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614"/>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615"/>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616"/>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6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6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6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6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6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45/47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6"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623"/>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624"/>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625"/>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626"/>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627"/>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628"/>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629"/>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630"/>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631"/>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632"/>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6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6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6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6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6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46/47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7"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639"/>
          <p:cNvSpPr txBox="1"/>
          <p:nvPr/>
        </p:nvSpPr>
        <p:spPr>
          <a:xfrm>
            <a:off x="985712" y="1976905"/>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640"/>
          <p:cNvSpPr txBox="1"/>
          <p:nvPr/>
        </p:nvSpPr>
        <p:spPr>
          <a:xfrm>
            <a:off x="985712" y="2392672"/>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641"/>
          <p:cNvSpPr txBox="1"/>
          <p:nvPr/>
        </p:nvSpPr>
        <p:spPr>
          <a:xfrm>
            <a:off x="985712" y="280843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642"/>
          <p:cNvSpPr txBox="1"/>
          <p:nvPr/>
        </p:nvSpPr>
        <p:spPr>
          <a:xfrm>
            <a:off x="985712" y="3224174"/>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643"/>
          <p:cNvSpPr txBox="1"/>
          <p:nvPr/>
        </p:nvSpPr>
        <p:spPr>
          <a:xfrm>
            <a:off x="985712" y="3639941"/>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644"/>
          <p:cNvSpPr txBox="1"/>
          <p:nvPr/>
        </p:nvSpPr>
        <p:spPr>
          <a:xfrm>
            <a:off x="1582632" y="3945805"/>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645"/>
          <p:cNvSpPr txBox="1"/>
          <p:nvPr/>
        </p:nvSpPr>
        <p:spPr>
          <a:xfrm>
            <a:off x="985712" y="436157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646"/>
          <p:cNvSpPr txBox="1"/>
          <p:nvPr/>
        </p:nvSpPr>
        <p:spPr>
          <a:xfrm>
            <a:off x="1582632" y="466740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647"/>
          <p:cNvSpPr txBox="1"/>
          <p:nvPr/>
        </p:nvSpPr>
        <p:spPr>
          <a:xfrm>
            <a:off x="985712" y="5083170"/>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648"/>
          <p:cNvSpPr txBox="1"/>
          <p:nvPr/>
        </p:nvSpPr>
        <p:spPr>
          <a:xfrm>
            <a:off x="1582632" y="5389033"/>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649"/>
          <p:cNvSpPr txBox="1"/>
          <p:nvPr/>
        </p:nvSpPr>
        <p:spPr>
          <a:xfrm>
            <a:off x="985712" y="5804800"/>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650"/>
          <p:cNvSpPr txBox="1"/>
          <p:nvPr/>
        </p:nvSpPr>
        <p:spPr>
          <a:xfrm>
            <a:off x="1582632" y="6110631"/>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65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65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65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65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65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47/47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