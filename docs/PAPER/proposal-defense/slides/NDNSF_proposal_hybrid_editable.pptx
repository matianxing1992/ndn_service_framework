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Nearby UAVs offer suitable views. A compute Provider analyzes the images. The operator receives original images with annotations. UAV A view 1 UAV B view 2 Compute Provider Operator Who can participate now, and which Data may each selected Provider use?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Discover current willingness: reachability, sensors, load, and deadlines affect participation. 2. Authorize before execution: exposing a service does not grant everyone permission to use it. 3. Check task inputs: a valid image signature does not show that its producer was assigned to this task’s dependency. The contribution must explain the mechanism and its cost, not just demonstrate that two UAVs can exchange images.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and signing-key relationships under trust rules; check task permissions separately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Providers selected at runtime follow task roles and named dependencies, whether Data comes from producers or caches? RQ3: When do these mechanisms improve completion, latency, or execution efficiency, and when do their costs outweigh the benefits? UAV and distributed inference are validation workloads for the same questions; implementing two applications alone does not establish two research contributions.</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Candidate increment: connect runtime assignment to enforceable object-admission rules. This is not a claim to be the first NDN service framework.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admission Design and implementation work; complete direct/cache and failure acceptance gates remain open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and coordinates the invocation.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Assign selected execution; provide input/references, challenge response and protected request-scoped keys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Nodes may retrieve the same Request ciphertext; only holders of matching decryption keys can read its descriptor. The User encrypts by service attributes, without listing Provider identities. The Controller still authorizes entities and issues keys. [19] Different entities retain overlapping service permissions in individual policy keys, independently of identity-signing credentials. Dissemination and read access are separate. Combining permissions in one key does not require encrypting all services’ content under one shared condition.</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The User places a Requester Challenge in ABE-protected Request content. 2. The Provider returns it in ACK Data; the User checks the value against the active request. 3. The Provider encrypts its challenge in ACK content. The User answers in Selection; the Provider checks that response before execution. Both sides also validate signatures under trust rules and check service permissions and request state. Challenge responses show access to protected values; they do not grant permissions or prevent deliberate sharing.</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User/Provider check signatures, challenge responses, service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Controller publishes signed permission updates; participants apply them only after retrieval and validation. Request-scoped keys protect input/results. Selection delivers keys to selected Providers; the requesting User retains access. Status checks reject withdrawn permissions; key rotation restricts future encrypted exchanges. Current ABE rotation is Controller-wide. [28] Lifecycle requirement, not a third advantage: measure policy/key size, challenge cost, propagation and rekeying. No immediate disconnected revocation or recall of old plaintext/keys.</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Close the ACK collection window and validate eligible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Match the current request, plan and execution identity.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Each sensing UAV signs ViewImage Data containing encrypted image content and publishes it in its own authorized namespace. 2. The compute Provider retrieves images over assigned edges and publishes Annotation Data. 3. The compute Provider includes original image names and permitted image keys in its encrypted result for the requester. 4. The requester retrieves the original images and displays the annotations. No need to republish the same images as if the compute Provider produced them. GPS alone does not establish camera visibility or accurate triangulation.</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Autoregressive decoding requires retained K/V and next-step inputs; resident weights do not remove that state dependency. An in-process test does not establish correct execution across processes or devices. Freeze one supported model/partition first; tensor/hybrid and LLM streaming need their own evidence if claimed. Earlier small-model measurements do not qualify all current V3/native features. [28]</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These overall controls do not establish NDNSF superiority. The next slide examines the separately registered switching subset, not all requests.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four Providers/system; 100 m, 2 m/s; 1,312 matched requests requiring a Provider switch. [28] Comparison Seed-p95 difference 95% CI NDNSF minus gRPC-SEQ-4 -597 ms [-992, -200] ms NDNSF minus NSC-4 -2618 ms [-2916, -2315] ms This is a conditional latency result, not general completion-rate superiority. Preserve the registered subset definition, overall coverage controls, and failed requests.</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This campaign does not validate the newer canonical-layer, tensor/hybrid or multi-accelerator design.</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Completion gate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CS guidance: advisor-approved complete draft to committee two weeks before defense. Spring 2027 final ProQuest deadline: March 26, 2027; recheck before filing. [29,30]</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ABE-encrypted discovery and ABE-backed service authorization justify their management and revocation costs. RQ2 answer: exactly which task-assignment mistakes are rejected and which recovery behavior is supported. RQ3 answer: measured benefits, negative results and deployment limits. Distinguish the candidate’s research from shared implementations and reused NDN/AI libraries. This proposal defines those obligations. It does not label the remaining collaboration evidence as finished.</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runtime service discovery and authorization, connected to explicit named-data execution rules.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1 -(1 -ell)4 assumes four independent equal-loss packet traversals; it is not service failure probability after retries.</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0.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Start with a Task: Several Views, One Result</a:t>
            </a:r>
          </a:p>
        </p:txBody>
      </p:sp>
      <p:sp>
        <p:nvSpPr>
          <p:cNvPr id="4" name="PDF_TEXT_GROUP_7"/>
          <p:cNvSpPr txBox="1"/>
          <p:nvPr/>
        </p:nvSpPr>
        <p:spPr>
          <a:xfrm>
            <a:off x="1618972" y="1900555"/>
            <a:ext cx="547765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operator selects a ground area.</a:t>
            </a:r>
          </a:p>
        </p:txBody>
      </p:sp>
      <p:sp>
        <p:nvSpPr>
          <p:cNvPr id="5" name="PDF_TEXT_GROUP_8"/>
          <p:cNvSpPr txBox="1"/>
          <p:nvPr/>
        </p:nvSpPr>
        <p:spPr>
          <a:xfrm>
            <a:off x="8035833" y="1963469"/>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a:t>
            </a:r>
            <a:r>
              <a:rPr sz="2371" b="0" i="0">
                <a:solidFill>
                  <a:srgbClr val="000000"/>
                </a:solidFill>
                <a:latin typeface="Latin Modern Sans"/>
              </a:rPr>
              <a:t> view 1</a:t>
            </a:r>
          </a:p>
        </p:txBody>
      </p:sp>
      <p:sp>
        <p:nvSpPr>
          <p:cNvPr id="6" name="PDF_TEXT_GROUP_9"/>
          <p:cNvSpPr txBox="1"/>
          <p:nvPr/>
        </p:nvSpPr>
        <p:spPr>
          <a:xfrm>
            <a:off x="1618972" y="2434984"/>
            <a:ext cx="53365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Nearby UAVs offer suitable views.</a:t>
            </a:r>
          </a:p>
        </p:txBody>
      </p:sp>
      <p:sp>
        <p:nvSpPr>
          <p:cNvPr id="7" name="PDF_TEXT_GROUP_10"/>
          <p:cNvSpPr txBox="1"/>
          <p:nvPr/>
        </p:nvSpPr>
        <p:spPr>
          <a:xfrm>
            <a:off x="11346617" y="2787894"/>
            <a:ext cx="134089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Compute</a:t>
            </a:r>
            <a:r>
              <a:rPr sz="2371" b="0" i="0">
                <a:solidFill>
                  <a:srgbClr val="000000"/>
                </a:solidFill>
                <a:latin typeface="Latin Modern Sans"/>
              </a:rPr>
              <a:t> Provider</a:t>
            </a:r>
          </a:p>
        </p:txBody>
      </p:sp>
      <p:sp>
        <p:nvSpPr>
          <p:cNvPr id="8" name="PDF_TEXT_GROUP_11"/>
          <p:cNvSpPr txBox="1"/>
          <p:nvPr/>
        </p:nvSpPr>
        <p:spPr>
          <a:xfrm>
            <a:off x="1618972" y="2969412"/>
            <a:ext cx="499487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compute Provider analyzes the</a:t>
            </a:r>
            <a:r>
              <a:rPr sz="2710" b="0" i="0">
                <a:solidFill>
                  <a:srgbClr val="000000"/>
                </a:solidFill>
                <a:latin typeface="Latin Modern Sans"/>
              </a:rPr>
              <a:t> images.</a:t>
            </a:r>
          </a:p>
        </p:txBody>
      </p:sp>
      <p:sp>
        <p:nvSpPr>
          <p:cNvPr id="9" name="PDF_TEXT_GROUP_12"/>
          <p:cNvSpPr txBox="1"/>
          <p:nvPr/>
        </p:nvSpPr>
        <p:spPr>
          <a:xfrm>
            <a:off x="8035833" y="3625180"/>
            <a:ext cx="11162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B</a:t>
            </a:r>
          </a:p>
        </p:txBody>
      </p:sp>
      <p:sp>
        <p:nvSpPr>
          <p:cNvPr id="10" name="PDF_TEXT_GROUP_13"/>
          <p:cNvSpPr txBox="1"/>
          <p:nvPr/>
        </p:nvSpPr>
        <p:spPr>
          <a:xfrm>
            <a:off x="1618972" y="3941679"/>
            <a:ext cx="447905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operator receives original</a:t>
            </a:r>
            <a:r>
              <a:rPr sz="2710" b="0" i="0">
                <a:solidFill>
                  <a:srgbClr val="000000"/>
                </a:solidFill>
                <a:latin typeface="Latin Modern Sans"/>
              </a:rPr>
              <a:t> images with annotations.</a:t>
            </a:r>
          </a:p>
        </p:txBody>
      </p:sp>
      <p:sp>
        <p:nvSpPr>
          <p:cNvPr id="11" name="PDF_TEXT_GROUP_14"/>
          <p:cNvSpPr txBox="1"/>
          <p:nvPr/>
        </p:nvSpPr>
        <p:spPr>
          <a:xfrm>
            <a:off x="8075819" y="4011508"/>
            <a:ext cx="10362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view 2</a:t>
            </a:r>
          </a:p>
        </p:txBody>
      </p:sp>
      <p:sp>
        <p:nvSpPr>
          <p:cNvPr id="12" name="PDF_TEXT_GROUP_15"/>
          <p:cNvSpPr txBox="1"/>
          <p:nvPr/>
        </p:nvSpPr>
        <p:spPr>
          <a:xfrm>
            <a:off x="11354685" y="4977861"/>
            <a:ext cx="13775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a:t>
            </a:r>
          </a:p>
        </p:txBody>
      </p:sp>
      <p:sp>
        <p:nvSpPr>
          <p:cNvPr id="13" name="PDF_TEXT_GROUP_16"/>
          <p:cNvSpPr txBox="1"/>
          <p:nvPr/>
        </p:nvSpPr>
        <p:spPr>
          <a:xfrm>
            <a:off x="1143656" y="6331322"/>
            <a:ext cx="119954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Who can participate now, and which Data may each selected Provider use?</a:t>
            </a:r>
          </a:p>
        </p:txBody>
      </p:sp>
      <p:sp>
        <p:nvSpPr>
          <p:cNvPr id="14" name="PDF_TEXT_GROUP_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2/40</a:t>
            </a:r>
          </a:p>
        </p:txBody>
      </p:sp>
      <p:sp>
        <p:nvSpPr>
          <p:cNvPr id="19" name="PDF_BULLET_SPAN_11"/>
          <p:cNvSpPr/>
          <p:nvPr/>
        </p:nvSpPr>
        <p:spPr>
          <a:xfrm rot="5400000">
            <a:off x="1207424" y="198634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3"/>
          <p:cNvSpPr/>
          <p:nvPr/>
        </p:nvSpPr>
        <p:spPr>
          <a:xfrm rot="5400000">
            <a:off x="1207424" y="25207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5"/>
          <p:cNvSpPr/>
          <p:nvPr/>
        </p:nvSpPr>
        <p:spPr>
          <a:xfrm rot="5400000">
            <a:off x="1207424" y="305520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8"/>
          <p:cNvSpPr/>
          <p:nvPr/>
        </p:nvSpPr>
        <p:spPr>
          <a:xfrm rot="5400000">
            <a:off x="1207424" y="40274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The Task Creates Three Requirements</a:t>
            </a:r>
          </a:p>
        </p:txBody>
      </p:sp>
      <p:sp>
        <p:nvSpPr>
          <p:cNvPr id="4" name="PDF_TEXT_GROUP_23"/>
          <p:cNvSpPr txBox="1"/>
          <p:nvPr/>
        </p:nvSpPr>
        <p:spPr>
          <a:xfrm>
            <a:off x="1169087" y="1992912"/>
            <a:ext cx="1214795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Discover current willingness:</a:t>
            </a:r>
            <a:r>
              <a:rPr sz="2710" b="0" i="0">
                <a:solidFill>
                  <a:srgbClr val="000000"/>
                </a:solidFill>
                <a:latin typeface="Latin Modern Sans"/>
              </a:rPr>
              <a:t> reachability, sensors, load, and deadlines affect</a:t>
            </a:r>
            <a:r>
              <a:rPr sz="2710" b="0" i="0">
                <a:solidFill>
                  <a:srgbClr val="000000"/>
                </a:solidFill>
                <a:latin typeface="Latin Modern Sans"/>
              </a:rPr>
              <a:t> participation.</a:t>
            </a:r>
          </a:p>
        </p:txBody>
      </p:sp>
      <p:sp>
        <p:nvSpPr>
          <p:cNvPr id="5" name="PDF_TEXT_GROUP_24"/>
          <p:cNvSpPr txBox="1"/>
          <p:nvPr/>
        </p:nvSpPr>
        <p:spPr>
          <a:xfrm>
            <a:off x="1169087" y="2965179"/>
            <a:ext cx="11455166" cy="929924"/>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Authorize before execution:</a:t>
            </a:r>
            <a:r>
              <a:rPr sz="2710" b="0" i="0">
                <a:solidFill>
                  <a:srgbClr val="000000"/>
                </a:solidFill>
                <a:latin typeface="Latin Modern Sans"/>
              </a:rPr>
              <a:t> exposing a service does not grant everyone</a:t>
            </a:r>
            <a:r>
              <a:rPr sz="2710" b="0" i="0">
                <a:solidFill>
                  <a:srgbClr val="000000"/>
                </a:solidFill>
                <a:latin typeface="Latin Modern Sans"/>
              </a:rPr>
              <a:t> permission to use it.</a:t>
            </a:r>
          </a:p>
        </p:txBody>
      </p:sp>
      <p:sp>
        <p:nvSpPr>
          <p:cNvPr id="6" name="PDF_TEXT_GROUP_25"/>
          <p:cNvSpPr txBox="1"/>
          <p:nvPr/>
        </p:nvSpPr>
        <p:spPr>
          <a:xfrm>
            <a:off x="1169087" y="3937478"/>
            <a:ext cx="12571134"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Check task inputs:</a:t>
            </a:r>
            <a:r>
              <a:rPr sz="2710" b="0" i="0">
                <a:solidFill>
                  <a:srgbClr val="000000"/>
                </a:solidFill>
                <a:latin typeface="Latin Modern Sans"/>
              </a:rPr>
              <a:t> a valid image signature does not show that its producer was</a:t>
            </a:r>
            <a:r>
              <a:rPr sz="2710" b="0" i="0">
                <a:solidFill>
                  <a:srgbClr val="000000"/>
                </a:solidFill>
                <a:latin typeface="Latin Modern Sans"/>
              </a:rPr>
              <a:t> assigned to this task’s dependency.</a:t>
            </a:r>
          </a:p>
        </p:txBody>
      </p:sp>
      <p:sp>
        <p:nvSpPr>
          <p:cNvPr id="7" name="PDF_TEXT_GROUP_26"/>
          <p:cNvSpPr txBox="1"/>
          <p:nvPr/>
        </p:nvSpPr>
        <p:spPr>
          <a:xfrm>
            <a:off x="1143656" y="5622747"/>
            <a:ext cx="120151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contribution must explain the mechanism and its cost, not just demonstrate</a:t>
            </a:r>
            <a:r>
              <a:rPr sz="2710" b="0" i="0">
                <a:solidFill>
                  <a:srgbClr val="000000"/>
                </a:solidFill>
                <a:latin typeface="Latin Modern Sans"/>
              </a:rPr>
              <a:t> that two UAVs can exchange images.</a:t>
            </a:r>
          </a:p>
        </p:txBody>
      </p:sp>
      <p:sp>
        <p:nvSpPr>
          <p:cNvPr id="8" name="PDF_TEXT_GROUP_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3"/>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4"/>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5"/>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6"/>
          <p:cNvSpPr txBox="1"/>
          <p:nvPr/>
        </p:nvSpPr>
        <p:spPr>
          <a:xfrm>
            <a:off x="6488446" y="1926823"/>
            <a:ext cx="70245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and signing-key relationships</a:t>
            </a:r>
            <a:r>
              <a:rPr sz="2371" b="0" i="0">
                <a:solidFill>
                  <a:srgbClr val="000000"/>
                </a:solidFill>
                <a:latin typeface="Latin Modern Sans"/>
              </a:rPr>
              <a:t> under trust rules; check task permissions separately</a:t>
            </a:r>
          </a:p>
        </p:txBody>
      </p:sp>
      <p:sp>
        <p:nvSpPr>
          <p:cNvPr id="8" name="PDF_TEXT_GROUP_37"/>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8"/>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9"/>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40"/>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1"/>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2"/>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3"/>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4"/>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1"/>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2"/>
          <p:cNvSpPr txBox="1"/>
          <p:nvPr/>
        </p:nvSpPr>
        <p:spPr>
          <a:xfrm>
            <a:off x="1618972" y="3264547"/>
            <a:ext cx="110292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Providers selected at runtime follow task roles and named</a:t>
            </a:r>
            <a:r>
              <a:rPr sz="2710" b="0" i="0">
                <a:solidFill>
                  <a:srgbClr val="000000"/>
                </a:solidFill>
                <a:latin typeface="Latin Modern Sans"/>
              </a:rPr>
              <a:t> dependencies, whether Data comes from producers or caches?</a:t>
            </a:r>
          </a:p>
        </p:txBody>
      </p:sp>
      <p:sp>
        <p:nvSpPr>
          <p:cNvPr id="6" name="PDF_TEXT_GROUP_53"/>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4"/>
          <p:cNvSpPr txBox="1"/>
          <p:nvPr/>
        </p:nvSpPr>
        <p:spPr>
          <a:xfrm>
            <a:off x="1143656" y="5830501"/>
            <a:ext cx="1230167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distributed inference are validation workloads for the same questions;</a:t>
            </a:r>
            <a:r>
              <a:rPr sz="2710" b="0" i="0">
                <a:solidFill>
                  <a:srgbClr val="000000"/>
                </a:solidFill>
                <a:latin typeface="Latin Modern Sans"/>
              </a:rPr>
              <a:t> implementing two applications alone does not establish two research contributions.</a:t>
            </a:r>
          </a:p>
        </p:txBody>
      </p:sp>
      <p:sp>
        <p:nvSpPr>
          <p:cNvPr id="8" name="PDF_TEXT_GROUP_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5/40</a:t>
            </a:r>
          </a:p>
        </p:txBody>
      </p:sp>
      <p:sp>
        <p:nvSpPr>
          <p:cNvPr id="13" name="PDF_BULLET_SPAN_77"/>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82"/>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6"/>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1"/>
          <p:cNvSpPr txBox="1"/>
          <p:nvPr/>
        </p:nvSpPr>
        <p:spPr>
          <a:xfrm>
            <a:off x="1107736" y="1280196"/>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2"/>
          <p:cNvSpPr txBox="1"/>
          <p:nvPr/>
        </p:nvSpPr>
        <p:spPr>
          <a:xfrm>
            <a:off x="4951568" y="1280196"/>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3"/>
          <p:cNvSpPr txBox="1"/>
          <p:nvPr/>
        </p:nvSpPr>
        <p:spPr>
          <a:xfrm>
            <a:off x="1107736" y="1848556"/>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4"/>
          <p:cNvSpPr txBox="1"/>
          <p:nvPr/>
        </p:nvSpPr>
        <p:spPr>
          <a:xfrm>
            <a:off x="4951408" y="1848556"/>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5"/>
          <p:cNvSpPr txBox="1"/>
          <p:nvPr/>
        </p:nvSpPr>
        <p:spPr>
          <a:xfrm>
            <a:off x="1107736" y="2416915"/>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6"/>
          <p:cNvSpPr txBox="1"/>
          <p:nvPr/>
        </p:nvSpPr>
        <p:spPr>
          <a:xfrm>
            <a:off x="4951472" y="2416915"/>
            <a:ext cx="86500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7"/>
          <p:cNvSpPr txBox="1"/>
          <p:nvPr/>
        </p:nvSpPr>
        <p:spPr>
          <a:xfrm>
            <a:off x="1107736" y="3371603"/>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8"/>
          <p:cNvSpPr txBox="1"/>
          <p:nvPr/>
        </p:nvSpPr>
        <p:spPr>
          <a:xfrm>
            <a:off x="4951601" y="3371603"/>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9"/>
          <p:cNvSpPr txBox="1"/>
          <p:nvPr/>
        </p:nvSpPr>
        <p:spPr>
          <a:xfrm>
            <a:off x="1107736" y="3939962"/>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70"/>
          <p:cNvSpPr txBox="1"/>
          <p:nvPr/>
        </p:nvSpPr>
        <p:spPr>
          <a:xfrm>
            <a:off x="4951536" y="3939962"/>
            <a:ext cx="799088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1"/>
          <p:cNvSpPr txBox="1"/>
          <p:nvPr/>
        </p:nvSpPr>
        <p:spPr>
          <a:xfrm>
            <a:off x="1107736" y="4894682"/>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2"/>
          <p:cNvSpPr txBox="1"/>
          <p:nvPr/>
        </p:nvSpPr>
        <p:spPr>
          <a:xfrm>
            <a:off x="4951601" y="4894682"/>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3"/>
          <p:cNvSpPr txBox="1"/>
          <p:nvPr/>
        </p:nvSpPr>
        <p:spPr>
          <a:xfrm>
            <a:off x="1123808" y="6162374"/>
            <a:ext cx="1203919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 increment: connect runtime assignment to enforceable object-admission rules.</a:t>
            </a:r>
            <a:r>
              <a:rPr sz="2371" b="0" i="0">
                <a:solidFill>
                  <a:srgbClr val="000000"/>
                </a:solidFill>
                <a:latin typeface="Latin Modern Sans"/>
              </a:rPr>
              <a:t> This is not a claim to be the first NDN service framework.</a:t>
            </a:r>
          </a:p>
        </p:txBody>
      </p:sp>
      <p:sp>
        <p:nvSpPr>
          <p:cNvPr id="17" name="PDF_TEXT_GROUP_7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80"/>
          <p:cNvSpPr txBox="1"/>
          <p:nvPr/>
        </p:nvSpPr>
        <p:spPr>
          <a:xfrm>
            <a:off x="1107736" y="1202446"/>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1"/>
          <p:cNvSpPr txBox="1"/>
          <p:nvPr/>
        </p:nvSpPr>
        <p:spPr>
          <a:xfrm>
            <a:off x="6360351" y="1202446"/>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2"/>
          <p:cNvSpPr txBox="1"/>
          <p:nvPr/>
        </p:nvSpPr>
        <p:spPr>
          <a:xfrm>
            <a:off x="1107736" y="1770805"/>
            <a:ext cx="49948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3"/>
          <p:cNvSpPr txBox="1"/>
          <p:nvPr/>
        </p:nvSpPr>
        <p:spPr>
          <a:xfrm>
            <a:off x="6360480" y="1770805"/>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4"/>
          <p:cNvSpPr txBox="1"/>
          <p:nvPr/>
        </p:nvSpPr>
        <p:spPr>
          <a:xfrm>
            <a:off x="1107736" y="3111853"/>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admission</a:t>
            </a:r>
          </a:p>
        </p:txBody>
      </p:sp>
      <p:sp>
        <p:nvSpPr>
          <p:cNvPr id="9" name="PDF_TEXT_GROUP_85"/>
          <p:cNvSpPr txBox="1"/>
          <p:nvPr/>
        </p:nvSpPr>
        <p:spPr>
          <a:xfrm>
            <a:off x="6360480" y="3111853"/>
            <a:ext cx="671530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complete</a:t>
            </a:r>
            <a:r>
              <a:rPr sz="2371" b="0" i="0">
                <a:solidFill>
                  <a:srgbClr val="000000"/>
                </a:solidFill>
                <a:latin typeface="Latin Modern Sans"/>
              </a:rPr>
              <a:t> direct/cache and failure acceptance gates remain</a:t>
            </a:r>
            <a:r>
              <a:rPr sz="2371" b="0" i="0">
                <a:solidFill>
                  <a:srgbClr val="000000"/>
                </a:solidFill>
                <a:latin typeface="Latin Modern Sans"/>
              </a:rPr>
              <a:t> open</a:t>
            </a:r>
          </a:p>
        </p:txBody>
      </p:sp>
      <p:sp>
        <p:nvSpPr>
          <p:cNvPr id="10" name="PDF_TEXT_GROUP_86"/>
          <p:cNvSpPr txBox="1"/>
          <p:nvPr/>
        </p:nvSpPr>
        <p:spPr>
          <a:xfrm>
            <a:off x="1107736" y="4452869"/>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7"/>
          <p:cNvSpPr txBox="1"/>
          <p:nvPr/>
        </p:nvSpPr>
        <p:spPr>
          <a:xfrm>
            <a:off x="6360351" y="4452869"/>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8"/>
          <p:cNvSpPr txBox="1"/>
          <p:nvPr/>
        </p:nvSpPr>
        <p:spPr>
          <a:xfrm>
            <a:off x="1123808" y="6106921"/>
            <a:ext cx="1251698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5"/>
          <p:cNvSpPr txBox="1"/>
          <p:nvPr/>
        </p:nvSpPr>
        <p:spPr>
          <a:xfrm>
            <a:off x="1618972" y="2018344"/>
            <a:ext cx="738867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and coordinates the invocation.</a:t>
            </a:r>
          </a:p>
        </p:txBody>
      </p:sp>
      <p:sp>
        <p:nvSpPr>
          <p:cNvPr id="5" name="PDF_TEXT_GROUP_96"/>
          <p:cNvSpPr txBox="1"/>
          <p:nvPr/>
        </p:nvSpPr>
        <p:spPr>
          <a:xfrm>
            <a:off x="1618972" y="2552772"/>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7"/>
          <p:cNvSpPr txBox="1"/>
          <p:nvPr/>
        </p:nvSpPr>
        <p:spPr>
          <a:xfrm>
            <a:off x="1618972" y="3087201"/>
            <a:ext cx="109315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8"/>
          <p:cNvSpPr txBox="1"/>
          <p:nvPr/>
        </p:nvSpPr>
        <p:spPr>
          <a:xfrm>
            <a:off x="1618972" y="4059468"/>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9"/>
          <p:cNvSpPr txBox="1"/>
          <p:nvPr/>
        </p:nvSpPr>
        <p:spPr>
          <a:xfrm>
            <a:off x="1143656" y="558461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4"/>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8/40</a:t>
            </a:r>
          </a:p>
        </p:txBody>
      </p:sp>
      <p:sp>
        <p:nvSpPr>
          <p:cNvPr id="14" name="PDF_BULLET_SPAN_145"/>
          <p:cNvSpPr/>
          <p:nvPr/>
        </p:nvSpPr>
        <p:spPr>
          <a:xfrm rot="5400000">
            <a:off x="1207424" y="21041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7"/>
          <p:cNvSpPr/>
          <p:nvPr/>
        </p:nvSpPr>
        <p:spPr>
          <a:xfrm rot="5400000">
            <a:off x="1207424" y="26385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9"/>
          <p:cNvSpPr/>
          <p:nvPr/>
        </p:nvSpPr>
        <p:spPr>
          <a:xfrm rot="5400000">
            <a:off x="1207424" y="3172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2"/>
          <p:cNvSpPr/>
          <p:nvPr/>
        </p:nvSpPr>
        <p:spPr>
          <a:xfrm rot="5400000">
            <a:off x="1207424" y="4145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One Invocation, Four Named Data Types</a:t>
            </a:r>
          </a:p>
        </p:txBody>
      </p:sp>
      <p:sp>
        <p:nvSpPr>
          <p:cNvPr id="4" name="PDF_TEXT_GROUP_106"/>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7"/>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8"/>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9"/>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10"/>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1"/>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2"/>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3"/>
          <p:cNvSpPr txBox="1"/>
          <p:nvPr/>
        </p:nvSpPr>
        <p:spPr>
          <a:xfrm>
            <a:off x="3414531" y="3769079"/>
            <a:ext cx="102345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challenge response and</a:t>
            </a:r>
            <a:r>
              <a:rPr sz="2371" b="0" i="0">
                <a:solidFill>
                  <a:srgbClr val="000000"/>
                </a:solidFill>
                <a:latin typeface="Latin Modern Sans"/>
              </a:rPr>
              <a:t> protected request-scoped keys</a:t>
            </a:r>
          </a:p>
        </p:txBody>
      </p:sp>
      <p:sp>
        <p:nvSpPr>
          <p:cNvPr id="12" name="PDF_TEXT_GROUP_114"/>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5"/>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6"/>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Descriptor Before Selection; Input After Selection</a:t>
            </a:r>
          </a:p>
        </p:txBody>
      </p:sp>
      <p:sp>
        <p:nvSpPr>
          <p:cNvPr id="4" name="PDF_TEXT_GROUP_123"/>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4"/>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5"/>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6"/>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7"/>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8"/>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9"/>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3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6"/>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7"/>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8"/>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39"/>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11/40</a:t>
            </a:r>
          </a:p>
        </p:txBody>
      </p:sp>
      <p:sp>
        <p:nvSpPr>
          <p:cNvPr id="13" name="PDF_BULLET_SPAN_201"/>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03"/>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6"/>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Separate Dissemination from Access</a:t>
            </a:r>
          </a:p>
        </p:txBody>
      </p:sp>
      <p:sp>
        <p:nvSpPr>
          <p:cNvPr id="4" name="PDF_TEXT_GROUP_146"/>
          <p:cNvSpPr txBox="1"/>
          <p:nvPr/>
        </p:nvSpPr>
        <p:spPr>
          <a:xfrm>
            <a:off x="1618972" y="2029557"/>
            <a:ext cx="110994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Nodes may retrieve the same Request ciphertext; only holders of matching</a:t>
            </a:r>
            <a:r>
              <a:rPr sz="2710" b="0" i="0">
                <a:solidFill>
                  <a:srgbClr val="000000"/>
                </a:solidFill>
                <a:latin typeface="Latin Modern Sans"/>
              </a:rPr>
              <a:t> decryption keys can read its descriptor.</a:t>
            </a:r>
          </a:p>
        </p:txBody>
      </p:sp>
      <p:sp>
        <p:nvSpPr>
          <p:cNvPr id="5" name="PDF_TEXT_GROUP_147"/>
          <p:cNvSpPr txBox="1"/>
          <p:nvPr/>
        </p:nvSpPr>
        <p:spPr>
          <a:xfrm>
            <a:off x="1618972" y="3001824"/>
            <a:ext cx="118192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by service attributes, without listing Provider identities. The</a:t>
            </a:r>
            <a:r>
              <a:rPr sz="2710" b="0" i="0">
                <a:solidFill>
                  <a:srgbClr val="000000"/>
                </a:solidFill>
                <a:latin typeface="Latin Modern Sans"/>
              </a:rPr>
              <a:t> Controller still authorizes entities and issues keys. [19]</a:t>
            </a:r>
          </a:p>
        </p:txBody>
      </p:sp>
      <p:sp>
        <p:nvSpPr>
          <p:cNvPr id="6" name="PDF_TEXT_GROUP_148"/>
          <p:cNvSpPr txBox="1"/>
          <p:nvPr/>
        </p:nvSpPr>
        <p:spPr>
          <a:xfrm>
            <a:off x="1618972" y="3974091"/>
            <a:ext cx="1191650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Different entities retain overlapping service permissions in individual policy keys,</a:t>
            </a:r>
            <a:r>
              <a:rPr sz="2710" b="0" i="0">
                <a:solidFill>
                  <a:srgbClr val="000000"/>
                </a:solidFill>
                <a:latin typeface="Latin Modern Sans"/>
              </a:rPr>
              <a:t> independently of identity-signing credentials.</a:t>
            </a:r>
          </a:p>
        </p:txBody>
      </p:sp>
      <p:sp>
        <p:nvSpPr>
          <p:cNvPr id="7" name="PDF_TEXT_GROUP_149"/>
          <p:cNvSpPr txBox="1"/>
          <p:nvPr/>
        </p:nvSpPr>
        <p:spPr>
          <a:xfrm>
            <a:off x="1143656" y="5567779"/>
            <a:ext cx="124779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Dissemination and read access are separate. Combining permissions in one key does</a:t>
            </a:r>
            <a:r>
              <a:rPr sz="2710" b="0" i="0">
                <a:solidFill>
                  <a:srgbClr val="000000"/>
                </a:solidFill>
                <a:latin typeface="Latin Modern Sans"/>
              </a:rPr>
              <a:t> not require encrypting all services’ content under one shared condition.</a:t>
            </a:r>
          </a:p>
        </p:txBody>
      </p:sp>
      <p:sp>
        <p:nvSpPr>
          <p:cNvPr id="8" name="PDF_TEXT_GROUP_1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12/40</a:t>
            </a:r>
          </a:p>
        </p:txBody>
      </p:sp>
      <p:sp>
        <p:nvSpPr>
          <p:cNvPr id="13" name="PDF_BULLET_SPAN_217"/>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20"/>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23"/>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56"/>
          <p:cNvSpPr txBox="1"/>
          <p:nvPr/>
        </p:nvSpPr>
        <p:spPr>
          <a:xfrm>
            <a:off x="1169087" y="2029557"/>
            <a:ext cx="1237286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The User places a Requester Challenge in ABE-protected Request content.</a:t>
            </a:r>
          </a:p>
        </p:txBody>
      </p:sp>
      <p:sp>
        <p:nvSpPr>
          <p:cNvPr id="5" name="PDF_TEXT_GROUP_157"/>
          <p:cNvSpPr txBox="1"/>
          <p:nvPr/>
        </p:nvSpPr>
        <p:spPr>
          <a:xfrm>
            <a:off x="1169087" y="2563986"/>
            <a:ext cx="1268137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Provider returns it in ACK Data; the User checks the value against the active</a:t>
            </a:r>
            <a:r>
              <a:rPr sz="2710" b="0" i="0">
                <a:solidFill>
                  <a:srgbClr val="000000"/>
                </a:solidFill>
                <a:latin typeface="Latin Modern Sans"/>
              </a:rPr>
              <a:t> request.</a:t>
            </a:r>
          </a:p>
        </p:txBody>
      </p:sp>
      <p:sp>
        <p:nvSpPr>
          <p:cNvPr id="6" name="PDF_TEXT_GROUP_158"/>
          <p:cNvSpPr txBox="1"/>
          <p:nvPr/>
        </p:nvSpPr>
        <p:spPr>
          <a:xfrm>
            <a:off x="1169087" y="3536253"/>
            <a:ext cx="11418050"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Provider encrypts its challenge in ACK content. The User answers in</a:t>
            </a:r>
            <a:r>
              <a:rPr sz="2710" b="0" i="0">
                <a:solidFill>
                  <a:srgbClr val="000000"/>
                </a:solidFill>
                <a:latin typeface="Latin Modern Sans"/>
              </a:rPr>
              <a:t> Selection; the Provider checks that response before execution.</a:t>
            </a:r>
          </a:p>
        </p:txBody>
      </p:sp>
      <p:sp>
        <p:nvSpPr>
          <p:cNvPr id="7" name="PDF_TEXT_GROUP_159"/>
          <p:cNvSpPr txBox="1"/>
          <p:nvPr/>
        </p:nvSpPr>
        <p:spPr>
          <a:xfrm>
            <a:off x="1143656" y="5129941"/>
            <a:ext cx="12477812"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sides also validate signatures under trust rules and check service permissions</a:t>
            </a:r>
            <a:r>
              <a:rPr sz="2710" b="0" i="0">
                <a:solidFill>
                  <a:srgbClr val="000000"/>
                </a:solidFill>
                <a:latin typeface="Latin Modern Sans"/>
              </a:rPr>
              <a:t> and request state. Challenge responses show access to protected values; they do not</a:t>
            </a:r>
            <a:r>
              <a:rPr sz="2710" b="0" i="0">
                <a:solidFill>
                  <a:srgbClr val="000000"/>
                </a:solidFill>
                <a:latin typeface="Latin Modern Sans"/>
              </a:rPr>
              <a:t> grant permissions or prevent deliberate sharing.</a:t>
            </a:r>
          </a:p>
        </p:txBody>
      </p:sp>
      <p:sp>
        <p:nvSpPr>
          <p:cNvPr id="8" name="PDF_TEXT_GROUP_1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166"/>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167"/>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168"/>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169"/>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170"/>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17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7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7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7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7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7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177"/>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78"/>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79"/>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80"/>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181"/>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182"/>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183"/>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184"/>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185"/>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86"/>
          <p:cNvSpPr txBox="1"/>
          <p:nvPr/>
        </p:nvSpPr>
        <p:spPr>
          <a:xfrm>
            <a:off x="4951665" y="3186404"/>
            <a:ext cx="2955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User/Provider check</a:t>
            </a:r>
          </a:p>
        </p:txBody>
      </p:sp>
      <p:sp>
        <p:nvSpPr>
          <p:cNvPr id="14" name="PDF_TEXT_GROUP_187"/>
          <p:cNvSpPr txBox="1"/>
          <p:nvPr/>
        </p:nvSpPr>
        <p:spPr>
          <a:xfrm>
            <a:off x="9433445" y="3186404"/>
            <a:ext cx="34914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p>
        </p:txBody>
      </p:sp>
      <p:sp>
        <p:nvSpPr>
          <p:cNvPr id="15" name="PDF_TEXT_GROUP_188"/>
          <p:cNvSpPr txBox="1"/>
          <p:nvPr/>
        </p:nvSpPr>
        <p:spPr>
          <a:xfrm>
            <a:off x="4951637" y="3572732"/>
            <a:ext cx="411939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challenge</a:t>
            </a:r>
            <a:r>
              <a:rPr sz="2371" b="0" i="0">
                <a:solidFill>
                  <a:srgbClr val="000000"/>
                </a:solidFill>
                <a:latin typeface="Latin Modern Sans"/>
              </a:rPr>
              <a:t> responses, service permissions</a:t>
            </a:r>
            <a:r>
              <a:rPr sz="2371" b="0" i="0">
                <a:solidFill>
                  <a:srgbClr val="000000"/>
                </a:solidFill>
                <a:latin typeface="Latin Modern Sans"/>
              </a:rPr>
              <a:t> and request state</a:t>
            </a:r>
          </a:p>
        </p:txBody>
      </p:sp>
      <p:sp>
        <p:nvSpPr>
          <p:cNvPr id="16" name="PDF_TEXT_GROUP_189"/>
          <p:cNvSpPr txBox="1"/>
          <p:nvPr/>
        </p:nvSpPr>
        <p:spPr>
          <a:xfrm>
            <a:off x="9433445" y="3572732"/>
            <a:ext cx="4423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with service-level ABE</a:t>
            </a:r>
          </a:p>
        </p:txBody>
      </p:sp>
      <p:sp>
        <p:nvSpPr>
          <p:cNvPr id="17" name="PDF_TEXT_GROUP_190"/>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8" name="PDF_TEXT_GROUP_1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1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1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1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1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97"/>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98"/>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99"/>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200"/>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01"/>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16/40</a:t>
            </a:r>
          </a:p>
        </p:txBody>
      </p:sp>
      <p:sp>
        <p:nvSpPr>
          <p:cNvPr id="14" name="PDF_BULLET_SPAN_295"/>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98"/>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00"/>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03"/>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208"/>
          <p:cNvSpPr txBox="1"/>
          <p:nvPr/>
        </p:nvSpPr>
        <p:spPr>
          <a:xfrm>
            <a:off x="1618972" y="1832822"/>
            <a:ext cx="1207388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Controller publishes signed permission updates; participants apply them only</a:t>
            </a:r>
            <a:r>
              <a:rPr sz="2710" b="0" i="0">
                <a:solidFill>
                  <a:srgbClr val="000000"/>
                </a:solidFill>
                <a:latin typeface="Latin Modern Sans"/>
              </a:rPr>
              <a:t> after retrieval and validation.</a:t>
            </a:r>
          </a:p>
        </p:txBody>
      </p:sp>
      <p:sp>
        <p:nvSpPr>
          <p:cNvPr id="5" name="PDF_TEXT_GROUP_209"/>
          <p:cNvSpPr txBox="1"/>
          <p:nvPr/>
        </p:nvSpPr>
        <p:spPr>
          <a:xfrm>
            <a:off x="1618972" y="2805089"/>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210"/>
          <p:cNvSpPr txBox="1"/>
          <p:nvPr/>
        </p:nvSpPr>
        <p:spPr>
          <a:xfrm>
            <a:off x="1618972" y="3777356"/>
            <a:ext cx="1223154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checks reject withdrawn permissions; key rotation restricts future encrypted</a:t>
            </a:r>
            <a:r>
              <a:rPr sz="2710" b="0" i="0">
                <a:solidFill>
                  <a:srgbClr val="000000"/>
                </a:solidFill>
                <a:latin typeface="Latin Modern Sans"/>
              </a:rPr>
              <a:t> exchanges. Current ABE rotation is Controller-wide. [28]</a:t>
            </a:r>
          </a:p>
        </p:txBody>
      </p:sp>
      <p:sp>
        <p:nvSpPr>
          <p:cNvPr id="7" name="PDF_TEXT_GROUP_211"/>
          <p:cNvSpPr txBox="1"/>
          <p:nvPr/>
        </p:nvSpPr>
        <p:spPr>
          <a:xfrm>
            <a:off x="1143656" y="5405460"/>
            <a:ext cx="12278260"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Lifecycle requirement, not a third advantage: measure policy/key size, challenge</a:t>
            </a:r>
            <a:r>
              <a:rPr sz="2710" b="0" i="0">
                <a:solidFill>
                  <a:srgbClr val="000000"/>
                </a:solidFill>
                <a:latin typeface="Latin Modern Sans"/>
              </a:rPr>
              <a:t> cost, propagation and rekeying. No immediate disconnected revocation or recall of</a:t>
            </a:r>
            <a:r>
              <a:rPr sz="2710" b="0" i="0">
                <a:solidFill>
                  <a:srgbClr val="000000"/>
                </a:solidFill>
                <a:latin typeface="Latin Modern Sans"/>
              </a:rPr>
              <a:t> old plaintext/keys.</a:t>
            </a:r>
          </a:p>
        </p:txBody>
      </p:sp>
      <p:sp>
        <p:nvSpPr>
          <p:cNvPr id="8" name="PDF_TEXT_GROUP_21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1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1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1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1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17/40</a:t>
            </a:r>
          </a:p>
        </p:txBody>
      </p:sp>
      <p:sp>
        <p:nvSpPr>
          <p:cNvPr id="13" name="PDF_BULLET_SPAN_314"/>
          <p:cNvSpPr/>
          <p:nvPr/>
        </p:nvSpPr>
        <p:spPr>
          <a:xfrm rot="5400000">
            <a:off x="1207424" y="19186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17"/>
          <p:cNvSpPr/>
          <p:nvPr/>
        </p:nvSpPr>
        <p:spPr>
          <a:xfrm rot="5400000">
            <a:off x="1207424" y="28908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20"/>
          <p:cNvSpPr/>
          <p:nvPr/>
        </p:nvSpPr>
        <p:spPr>
          <a:xfrm rot="5400000">
            <a:off x="1207424" y="38631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18"/>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19"/>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20"/>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21"/>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22"/>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18/40</a:t>
            </a:r>
          </a:p>
        </p:txBody>
      </p:sp>
      <p:sp>
        <p:nvSpPr>
          <p:cNvPr id="14" name="PDF_BULLET_SPAN_332"/>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34"/>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37"/>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40"/>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Generate the Plan from Eligible Positive ACKs</a:t>
            </a:r>
          </a:p>
        </p:txBody>
      </p:sp>
      <p:sp>
        <p:nvSpPr>
          <p:cNvPr id="4" name="PDF_TEXT_GROUP_229"/>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30"/>
          <p:cNvSpPr txBox="1"/>
          <p:nvPr/>
        </p:nvSpPr>
        <p:spPr>
          <a:xfrm>
            <a:off x="1169087" y="2788059"/>
            <a:ext cx="1149052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Close the ACK collection window and validate eligible positive ACKs.</a:t>
            </a:r>
          </a:p>
        </p:txBody>
      </p:sp>
      <p:sp>
        <p:nvSpPr>
          <p:cNvPr id="6" name="PDF_TEXT_GROUP_231"/>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32"/>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33"/>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3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3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40"/>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41"/>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42"/>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43"/>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44"/>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45"/>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46"/>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47"/>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48"/>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55"/>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56"/>
          <p:cNvSpPr txBox="1"/>
          <p:nvPr/>
        </p:nvSpPr>
        <p:spPr>
          <a:xfrm>
            <a:off x="1169087" y="2486720"/>
            <a:ext cx="926387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Match the current request, plan and execution identity.</a:t>
            </a:r>
          </a:p>
        </p:txBody>
      </p:sp>
      <p:sp>
        <p:nvSpPr>
          <p:cNvPr id="6" name="PDF_TEXT_GROUP_257"/>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58"/>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59"/>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60"/>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6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6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6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6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6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6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Failure Handling Needs Explicit State</a:t>
            </a:r>
          </a:p>
        </p:txBody>
      </p:sp>
      <p:sp>
        <p:nvSpPr>
          <p:cNvPr id="4" name="PDF_TEXT_GROUP_267"/>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68"/>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69"/>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70"/>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71"/>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72"/>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73"/>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74"/>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75"/>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76"/>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277"/>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78"/>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79"/>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Flow: Capture, Analyze and Return</a:t>
            </a:r>
          </a:p>
        </p:txBody>
      </p:sp>
      <p:sp>
        <p:nvSpPr>
          <p:cNvPr id="4" name="PDF_TEXT_GROUP_286"/>
          <p:cNvSpPr txBox="1"/>
          <p:nvPr/>
        </p:nvSpPr>
        <p:spPr>
          <a:xfrm>
            <a:off x="1169087" y="1815792"/>
            <a:ext cx="1266814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Each sensing UAV signs ViewImage Data containing encrypted image content and</a:t>
            </a:r>
            <a:r>
              <a:rPr sz="2710" b="0" i="0">
                <a:solidFill>
                  <a:srgbClr val="000000"/>
                </a:solidFill>
                <a:latin typeface="Latin Modern Sans"/>
              </a:rPr>
              <a:t> publishes it in its own authorized namespace.</a:t>
            </a:r>
          </a:p>
        </p:txBody>
      </p:sp>
      <p:sp>
        <p:nvSpPr>
          <p:cNvPr id="5" name="PDF_TEXT_GROUP_287"/>
          <p:cNvSpPr txBox="1"/>
          <p:nvPr/>
        </p:nvSpPr>
        <p:spPr>
          <a:xfrm>
            <a:off x="1169087" y="2788059"/>
            <a:ext cx="1141273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compute Provider retrieves images over assigned edges and publishes</a:t>
            </a:r>
            <a:r>
              <a:rPr sz="2710" b="0" i="0">
                <a:solidFill>
                  <a:srgbClr val="000000"/>
                </a:solidFill>
                <a:latin typeface="Latin Modern Sans"/>
              </a:rPr>
              <a:t> Annotation Data.</a:t>
            </a:r>
          </a:p>
        </p:txBody>
      </p:sp>
      <p:sp>
        <p:nvSpPr>
          <p:cNvPr id="6" name="PDF_TEXT_GROUP_288"/>
          <p:cNvSpPr txBox="1"/>
          <p:nvPr/>
        </p:nvSpPr>
        <p:spPr>
          <a:xfrm>
            <a:off x="1169087" y="3760326"/>
            <a:ext cx="1265377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compute Provider includes original image names and permitted image keys in</a:t>
            </a:r>
            <a:r>
              <a:rPr sz="2710" b="0" i="0">
                <a:solidFill>
                  <a:srgbClr val="000000"/>
                </a:solidFill>
                <a:latin typeface="Latin Modern Sans"/>
              </a:rPr>
              <a:t> its encrypted result for the requester.</a:t>
            </a:r>
          </a:p>
        </p:txBody>
      </p:sp>
      <p:sp>
        <p:nvSpPr>
          <p:cNvPr id="7" name="PDF_TEXT_GROUP_289"/>
          <p:cNvSpPr txBox="1"/>
          <p:nvPr/>
        </p:nvSpPr>
        <p:spPr>
          <a:xfrm>
            <a:off x="1169087" y="4732593"/>
            <a:ext cx="1198798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The requester retrieves the original images and displays the annotations.</a:t>
            </a:r>
          </a:p>
        </p:txBody>
      </p:sp>
      <p:sp>
        <p:nvSpPr>
          <p:cNvPr id="8" name="PDF_TEXT_GROUP_290"/>
          <p:cNvSpPr txBox="1"/>
          <p:nvPr/>
        </p:nvSpPr>
        <p:spPr>
          <a:xfrm>
            <a:off x="1143656" y="5888443"/>
            <a:ext cx="122002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need to republish the same images as if the compute Provider produced them.</a:t>
            </a:r>
            <a:r>
              <a:rPr sz="2710" b="0" i="0">
                <a:solidFill>
                  <a:srgbClr val="000000"/>
                </a:solidFill>
                <a:latin typeface="Latin Modern Sans"/>
              </a:rPr>
              <a:t> GPS alone does not establish camera visibility or accurate triangulation.</a:t>
            </a:r>
          </a:p>
        </p:txBody>
      </p:sp>
      <p:sp>
        <p:nvSpPr>
          <p:cNvPr id="9" name="PDF_TEXT_GROUP_2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97"/>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98"/>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99"/>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00"/>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01"/>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24/40</a:t>
            </a:r>
          </a:p>
        </p:txBody>
      </p:sp>
      <p:sp>
        <p:nvSpPr>
          <p:cNvPr id="14" name="PDF_BULLET_SPAN_452"/>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54"/>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57"/>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60"/>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DI Flow: Compute Follows Named Dependencies</a:t>
            </a:r>
          </a:p>
        </p:txBody>
      </p:sp>
      <p:sp>
        <p:nvSpPr>
          <p:cNvPr id="4" name="PDF_TEXT_GROUP_308"/>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309"/>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310"/>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11"/>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12"/>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13"/>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14"/>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15"/>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16"/>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25/40</a:t>
            </a:r>
          </a:p>
        </p:txBody>
      </p:sp>
      <p:sp>
        <p:nvSpPr>
          <p:cNvPr id="18" name="PDF_BULLET_SPAN_479"/>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82"/>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85"/>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23"/>
          <p:cNvSpPr txBox="1"/>
          <p:nvPr/>
        </p:nvSpPr>
        <p:spPr>
          <a:xfrm>
            <a:off x="1618972" y="2004578"/>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24"/>
          <p:cNvSpPr txBox="1"/>
          <p:nvPr/>
        </p:nvSpPr>
        <p:spPr>
          <a:xfrm>
            <a:off x="1618972" y="2976845"/>
            <a:ext cx="114549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Autoregressive decoding requires retained K/V and next-step inputs; resident</a:t>
            </a:r>
            <a:r>
              <a:rPr sz="2710" b="0" i="0">
                <a:solidFill>
                  <a:srgbClr val="000000"/>
                </a:solidFill>
                <a:latin typeface="Latin Modern Sans"/>
              </a:rPr>
              <a:t> weights do not remove that state dependency.</a:t>
            </a:r>
          </a:p>
        </p:txBody>
      </p:sp>
      <p:sp>
        <p:nvSpPr>
          <p:cNvPr id="6" name="PDF_TEXT_GROUP_325"/>
          <p:cNvSpPr txBox="1"/>
          <p:nvPr/>
        </p:nvSpPr>
        <p:spPr>
          <a:xfrm>
            <a:off x="1618972" y="3949112"/>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26"/>
          <p:cNvSpPr txBox="1"/>
          <p:nvPr/>
        </p:nvSpPr>
        <p:spPr>
          <a:xfrm>
            <a:off x="1618972" y="4483540"/>
            <a:ext cx="11550358"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27"/>
          <p:cNvSpPr txBox="1"/>
          <p:nvPr/>
        </p:nvSpPr>
        <p:spPr>
          <a:xfrm>
            <a:off x="1143656" y="6023520"/>
            <a:ext cx="1333774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qualify all current V3/native features. [28]</a:t>
            </a:r>
          </a:p>
        </p:txBody>
      </p:sp>
      <p:sp>
        <p:nvSpPr>
          <p:cNvPr id="9" name="PDF_TEXT_GROUP_32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3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3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3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26/40</a:t>
            </a:r>
          </a:p>
        </p:txBody>
      </p:sp>
      <p:sp>
        <p:nvSpPr>
          <p:cNvPr id="14" name="PDF_BULLET_SPAN_495"/>
          <p:cNvSpPr/>
          <p:nvPr/>
        </p:nvSpPr>
        <p:spPr>
          <a:xfrm rot="5400000">
            <a:off x="1207424" y="2090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98"/>
          <p:cNvSpPr/>
          <p:nvPr/>
        </p:nvSpPr>
        <p:spPr>
          <a:xfrm rot="5400000">
            <a:off x="1207424" y="30626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01"/>
          <p:cNvSpPr/>
          <p:nvPr/>
        </p:nvSpPr>
        <p:spPr>
          <a:xfrm rot="5400000">
            <a:off x="1207424" y="403490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03"/>
          <p:cNvSpPr/>
          <p:nvPr/>
        </p:nvSpPr>
        <p:spPr>
          <a:xfrm rot="5400000">
            <a:off x="1207424" y="45693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3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34"/>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35"/>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36"/>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37"/>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38"/>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27/40</a:t>
            </a:r>
          </a:p>
        </p:txBody>
      </p:sp>
      <p:sp>
        <p:nvSpPr>
          <p:cNvPr id="14" name="PDF_BULLET_SPAN_513"/>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16"/>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19"/>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22"/>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Overall Completion Depends on Coverage</a:t>
            </a:r>
          </a:p>
        </p:txBody>
      </p:sp>
      <p:sp>
        <p:nvSpPr>
          <p:cNvPr id="4" name="PDF_TEXT_GROUP_345"/>
          <p:cNvSpPr txBox="1"/>
          <p:nvPr/>
        </p:nvSpPr>
        <p:spPr>
          <a:xfrm>
            <a:off x="914808" y="1720717"/>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46"/>
          <p:cNvSpPr txBox="1"/>
          <p:nvPr/>
        </p:nvSpPr>
        <p:spPr>
          <a:xfrm>
            <a:off x="1107736" y="2233688"/>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47"/>
          <p:cNvSpPr txBox="1"/>
          <p:nvPr/>
        </p:nvSpPr>
        <p:spPr>
          <a:xfrm>
            <a:off x="9386102" y="2233688"/>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48"/>
          <p:cNvSpPr txBox="1"/>
          <p:nvPr/>
        </p:nvSpPr>
        <p:spPr>
          <a:xfrm>
            <a:off x="11203250" y="2233688"/>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49"/>
          <p:cNvSpPr txBox="1"/>
          <p:nvPr/>
        </p:nvSpPr>
        <p:spPr>
          <a:xfrm>
            <a:off x="12917479" y="2233688"/>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50"/>
          <p:cNvSpPr txBox="1"/>
          <p:nvPr/>
        </p:nvSpPr>
        <p:spPr>
          <a:xfrm>
            <a:off x="1107736" y="2802048"/>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51"/>
          <p:cNvSpPr txBox="1"/>
          <p:nvPr/>
        </p:nvSpPr>
        <p:spPr>
          <a:xfrm>
            <a:off x="9435295"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52"/>
          <p:cNvSpPr txBox="1"/>
          <p:nvPr/>
        </p:nvSpPr>
        <p:spPr>
          <a:xfrm>
            <a:off x="10982171"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53"/>
          <p:cNvSpPr txBox="1"/>
          <p:nvPr/>
        </p:nvSpPr>
        <p:spPr>
          <a:xfrm>
            <a:off x="12529048"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54"/>
          <p:cNvSpPr txBox="1"/>
          <p:nvPr/>
        </p:nvSpPr>
        <p:spPr>
          <a:xfrm>
            <a:off x="1107736" y="3370407"/>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55"/>
          <p:cNvSpPr txBox="1"/>
          <p:nvPr/>
        </p:nvSpPr>
        <p:spPr>
          <a:xfrm>
            <a:off x="9435295"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56"/>
          <p:cNvSpPr txBox="1"/>
          <p:nvPr/>
        </p:nvSpPr>
        <p:spPr>
          <a:xfrm>
            <a:off x="10982171"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57"/>
          <p:cNvSpPr txBox="1"/>
          <p:nvPr/>
        </p:nvSpPr>
        <p:spPr>
          <a:xfrm>
            <a:off x="12529048"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58"/>
          <p:cNvSpPr txBox="1"/>
          <p:nvPr/>
        </p:nvSpPr>
        <p:spPr>
          <a:xfrm>
            <a:off x="1107736" y="3938766"/>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59"/>
          <p:cNvSpPr txBox="1"/>
          <p:nvPr/>
        </p:nvSpPr>
        <p:spPr>
          <a:xfrm>
            <a:off x="9274534"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60"/>
          <p:cNvSpPr txBox="1"/>
          <p:nvPr/>
        </p:nvSpPr>
        <p:spPr>
          <a:xfrm>
            <a:off x="10821410"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61"/>
          <p:cNvSpPr txBox="1"/>
          <p:nvPr/>
        </p:nvSpPr>
        <p:spPr>
          <a:xfrm>
            <a:off x="12368286"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62"/>
          <p:cNvSpPr txBox="1"/>
          <p:nvPr/>
        </p:nvSpPr>
        <p:spPr>
          <a:xfrm>
            <a:off x="1123808" y="5186553"/>
            <a:ext cx="11908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overall controls do not establish NDNSF superiority. The next slide examines the</a:t>
            </a:r>
            <a:r>
              <a:rPr sz="2371" b="0" i="0">
                <a:solidFill>
                  <a:srgbClr val="000000"/>
                </a:solidFill>
                <a:latin typeface="Latin Modern Sans"/>
              </a:rPr>
              <a:t> separately registered switching subset, not all requests.</a:t>
            </a:r>
          </a:p>
        </p:txBody>
      </p:sp>
      <p:sp>
        <p:nvSpPr>
          <p:cNvPr id="22" name="PDF_TEXT_GROUP_3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69"/>
          <p:cNvSpPr txBox="1"/>
          <p:nvPr/>
        </p:nvSpPr>
        <p:spPr>
          <a:xfrm>
            <a:off x="914808" y="1793523"/>
            <a:ext cx="1278072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four Providers/system; 100 m, 2 m/s; 1,312 matched requests requiring a Provider</a:t>
            </a:r>
            <a:r>
              <a:rPr sz="2371" b="0" i="0">
                <a:solidFill>
                  <a:srgbClr val="000000"/>
                </a:solidFill>
                <a:latin typeface="Latin Modern Sans"/>
              </a:rPr>
              <a:t> switch. [28]</a:t>
            </a:r>
          </a:p>
        </p:txBody>
      </p:sp>
      <p:sp>
        <p:nvSpPr>
          <p:cNvPr id="5" name="PDF_TEXT_GROUP_370"/>
          <p:cNvSpPr txBox="1"/>
          <p:nvPr/>
        </p:nvSpPr>
        <p:spPr>
          <a:xfrm>
            <a:off x="1107736" y="2692855"/>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71"/>
          <p:cNvSpPr txBox="1"/>
          <p:nvPr/>
        </p:nvSpPr>
        <p:spPr>
          <a:xfrm>
            <a:off x="7937869" y="2692855"/>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72"/>
          <p:cNvSpPr txBox="1"/>
          <p:nvPr/>
        </p:nvSpPr>
        <p:spPr>
          <a:xfrm>
            <a:off x="12538050" y="2692855"/>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73"/>
          <p:cNvSpPr txBox="1"/>
          <p:nvPr/>
        </p:nvSpPr>
        <p:spPr>
          <a:xfrm>
            <a:off x="9330171" y="3243185"/>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75"/>
          <p:cNvSpPr txBox="1"/>
          <p:nvPr/>
        </p:nvSpPr>
        <p:spPr>
          <a:xfrm>
            <a:off x="1107736" y="3261214"/>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74"/>
          <p:cNvSpPr txBox="1"/>
          <p:nvPr/>
        </p:nvSpPr>
        <p:spPr>
          <a:xfrm>
            <a:off x="11255736" y="3243185"/>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76"/>
          <p:cNvSpPr txBox="1"/>
          <p:nvPr/>
        </p:nvSpPr>
        <p:spPr>
          <a:xfrm>
            <a:off x="9169388" y="3811545"/>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78"/>
          <p:cNvSpPr txBox="1"/>
          <p:nvPr/>
        </p:nvSpPr>
        <p:spPr>
          <a:xfrm>
            <a:off x="1107736" y="3829573"/>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77"/>
          <p:cNvSpPr txBox="1"/>
          <p:nvPr/>
        </p:nvSpPr>
        <p:spPr>
          <a:xfrm>
            <a:off x="10934201" y="3811545"/>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79"/>
          <p:cNvSpPr txBox="1"/>
          <p:nvPr/>
        </p:nvSpPr>
        <p:spPr>
          <a:xfrm>
            <a:off x="1123808" y="5077327"/>
            <a:ext cx="1201071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 a conditional latency result, not general completion-rate superiority. Preserve the</a:t>
            </a:r>
            <a:r>
              <a:rPr sz="2371" b="0" i="0">
                <a:solidFill>
                  <a:srgbClr val="000000"/>
                </a:solidFill>
                <a:latin typeface="Latin Modern Sans"/>
              </a:rPr>
              <a:t> registered subset definition, overall coverage controls, and failed requests.</a:t>
            </a:r>
          </a:p>
        </p:txBody>
      </p:sp>
      <p:sp>
        <p:nvSpPr>
          <p:cNvPr id="15" name="PDF_TEXT_GROUP_3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3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3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3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3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386"/>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87"/>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88"/>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89"/>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90"/>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91"/>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92"/>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93"/>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94"/>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95"/>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96"/>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97"/>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98"/>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3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405"/>
          <p:cNvSpPr txBox="1"/>
          <p:nvPr/>
        </p:nvSpPr>
        <p:spPr>
          <a:xfrm>
            <a:off x="914808" y="1827519"/>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406"/>
          <p:cNvSpPr txBox="1"/>
          <p:nvPr/>
        </p:nvSpPr>
        <p:spPr>
          <a:xfrm>
            <a:off x="1107736" y="2340490"/>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407"/>
          <p:cNvSpPr txBox="1"/>
          <p:nvPr/>
        </p:nvSpPr>
        <p:spPr>
          <a:xfrm>
            <a:off x="10125828" y="2340490"/>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408"/>
          <p:cNvSpPr txBox="1"/>
          <p:nvPr/>
        </p:nvSpPr>
        <p:spPr>
          <a:xfrm>
            <a:off x="13041715" y="2340490"/>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409"/>
          <p:cNvSpPr txBox="1"/>
          <p:nvPr/>
        </p:nvSpPr>
        <p:spPr>
          <a:xfrm>
            <a:off x="1107736" y="2908849"/>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410"/>
          <p:cNvSpPr txBox="1"/>
          <p:nvPr/>
        </p:nvSpPr>
        <p:spPr>
          <a:xfrm>
            <a:off x="10707109"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11"/>
          <p:cNvSpPr txBox="1"/>
          <p:nvPr/>
        </p:nvSpPr>
        <p:spPr>
          <a:xfrm>
            <a:off x="12311023"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12"/>
          <p:cNvSpPr txBox="1"/>
          <p:nvPr/>
        </p:nvSpPr>
        <p:spPr>
          <a:xfrm>
            <a:off x="1107736" y="3477209"/>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13"/>
          <p:cNvSpPr txBox="1"/>
          <p:nvPr/>
        </p:nvSpPr>
        <p:spPr>
          <a:xfrm>
            <a:off x="10707109" y="347720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14"/>
          <p:cNvSpPr txBox="1"/>
          <p:nvPr/>
        </p:nvSpPr>
        <p:spPr>
          <a:xfrm>
            <a:off x="12311023" y="3477209"/>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15"/>
          <p:cNvSpPr txBox="1"/>
          <p:nvPr/>
        </p:nvSpPr>
        <p:spPr>
          <a:xfrm>
            <a:off x="1123808" y="4738535"/>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16"/>
          <p:cNvSpPr txBox="1"/>
          <p:nvPr/>
        </p:nvSpPr>
        <p:spPr>
          <a:xfrm>
            <a:off x="914808" y="6194392"/>
            <a:ext cx="124795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This campaign does not validate the newer canonical-layer, tensor/hybrid or multi-accelerator design.</a:t>
            </a:r>
          </a:p>
        </p:txBody>
      </p:sp>
      <p:sp>
        <p:nvSpPr>
          <p:cNvPr id="16" name="PDF_TEXT_GROUP_4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23"/>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24"/>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25"/>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26"/>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27"/>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28"/>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29"/>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30"/>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31"/>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32"/>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33"/>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34"/>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35"/>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36"/>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37"/>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38"/>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39"/>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40"/>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41"/>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4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4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4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4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4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4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48"/>
          <p:cNvSpPr txBox="1"/>
          <p:nvPr/>
        </p:nvSpPr>
        <p:spPr>
          <a:xfrm>
            <a:off x="1107736" y="1248010"/>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49"/>
          <p:cNvSpPr txBox="1"/>
          <p:nvPr/>
        </p:nvSpPr>
        <p:spPr>
          <a:xfrm>
            <a:off x="4695540" y="1248010"/>
            <a:ext cx="23893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gate</a:t>
            </a:r>
          </a:p>
        </p:txBody>
      </p:sp>
      <p:sp>
        <p:nvSpPr>
          <p:cNvPr id="6" name="PDF_TEXT_GROUP_450"/>
          <p:cNvSpPr txBox="1"/>
          <p:nvPr/>
        </p:nvSpPr>
        <p:spPr>
          <a:xfrm>
            <a:off x="1107736" y="1816370"/>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51"/>
          <p:cNvSpPr txBox="1"/>
          <p:nvPr/>
        </p:nvSpPr>
        <p:spPr>
          <a:xfrm>
            <a:off x="4695454" y="1816370"/>
            <a:ext cx="85451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52"/>
          <p:cNvSpPr txBox="1"/>
          <p:nvPr/>
        </p:nvSpPr>
        <p:spPr>
          <a:xfrm>
            <a:off x="1107736" y="2771057"/>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53"/>
          <p:cNvSpPr txBox="1"/>
          <p:nvPr/>
        </p:nvSpPr>
        <p:spPr>
          <a:xfrm>
            <a:off x="4695454" y="2771057"/>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54"/>
          <p:cNvSpPr txBox="1"/>
          <p:nvPr/>
        </p:nvSpPr>
        <p:spPr>
          <a:xfrm>
            <a:off x="1107736" y="3725745"/>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55"/>
          <p:cNvSpPr txBox="1"/>
          <p:nvPr/>
        </p:nvSpPr>
        <p:spPr>
          <a:xfrm>
            <a:off x="4695283" y="3725745"/>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56"/>
          <p:cNvSpPr txBox="1"/>
          <p:nvPr/>
        </p:nvSpPr>
        <p:spPr>
          <a:xfrm>
            <a:off x="1107736" y="4294104"/>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57"/>
          <p:cNvSpPr txBox="1"/>
          <p:nvPr/>
        </p:nvSpPr>
        <p:spPr>
          <a:xfrm>
            <a:off x="4695412" y="4294104"/>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58"/>
          <p:cNvSpPr txBox="1"/>
          <p:nvPr/>
        </p:nvSpPr>
        <p:spPr>
          <a:xfrm>
            <a:off x="1107736" y="5248824"/>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59"/>
          <p:cNvSpPr txBox="1"/>
          <p:nvPr/>
        </p:nvSpPr>
        <p:spPr>
          <a:xfrm>
            <a:off x="4695379" y="5248824"/>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60"/>
          <p:cNvSpPr txBox="1"/>
          <p:nvPr/>
        </p:nvSpPr>
        <p:spPr>
          <a:xfrm>
            <a:off x="1123808" y="6130188"/>
            <a:ext cx="118114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CS guidance: advisor-approved complete draft to committee two weeks before defense.</a:t>
            </a:r>
            <a:r>
              <a:rPr sz="2371" b="0" i="0">
                <a:solidFill>
                  <a:srgbClr val="000000"/>
                </a:solidFill>
                <a:latin typeface="Latin Modern Sans"/>
              </a:rPr>
              <a:t> Spring 2027 final ProQuest deadline: March 26, 2027; recheck before filing. [29,30]</a:t>
            </a:r>
          </a:p>
        </p:txBody>
      </p:sp>
      <p:sp>
        <p:nvSpPr>
          <p:cNvPr id="17" name="PDF_TEXT_GROUP_46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6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6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6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6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6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a Final Defense Must Be Able to Claim</a:t>
            </a:r>
          </a:p>
        </p:txBody>
      </p:sp>
      <p:sp>
        <p:nvSpPr>
          <p:cNvPr id="4" name="PDF_TEXT_GROUP_467"/>
          <p:cNvSpPr txBox="1"/>
          <p:nvPr/>
        </p:nvSpPr>
        <p:spPr>
          <a:xfrm>
            <a:off x="1618972" y="1945279"/>
            <a:ext cx="1054900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ABE-encrypted discovery and ABE-backed service</a:t>
            </a:r>
            <a:r>
              <a:rPr sz="2710" b="0" i="0">
                <a:solidFill>
                  <a:srgbClr val="000000"/>
                </a:solidFill>
                <a:latin typeface="Latin Modern Sans"/>
              </a:rPr>
              <a:t> authorization justify their management and revocation costs.</a:t>
            </a:r>
          </a:p>
        </p:txBody>
      </p:sp>
      <p:sp>
        <p:nvSpPr>
          <p:cNvPr id="5" name="PDF_TEXT_GROUP_468"/>
          <p:cNvSpPr txBox="1"/>
          <p:nvPr/>
        </p:nvSpPr>
        <p:spPr>
          <a:xfrm>
            <a:off x="1618972" y="291757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69"/>
          <p:cNvSpPr txBox="1"/>
          <p:nvPr/>
        </p:nvSpPr>
        <p:spPr>
          <a:xfrm>
            <a:off x="1618972" y="3889845"/>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70"/>
          <p:cNvSpPr txBox="1"/>
          <p:nvPr/>
        </p:nvSpPr>
        <p:spPr>
          <a:xfrm>
            <a:off x="1618972" y="4424274"/>
            <a:ext cx="11473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Distinguish the candidate’s research from shared implementations and reused</a:t>
            </a:r>
            <a:r>
              <a:rPr sz="2710" b="0" i="0">
                <a:solidFill>
                  <a:srgbClr val="000000"/>
                </a:solidFill>
                <a:latin typeface="Latin Modern Sans"/>
              </a:rPr>
              <a:t> NDN/AI libraries.</a:t>
            </a:r>
          </a:p>
        </p:txBody>
      </p:sp>
      <p:sp>
        <p:nvSpPr>
          <p:cNvPr id="8" name="PDF_TEXT_GROUP_471"/>
          <p:cNvSpPr txBox="1"/>
          <p:nvPr/>
        </p:nvSpPr>
        <p:spPr>
          <a:xfrm>
            <a:off x="1143656" y="5762737"/>
            <a:ext cx="106100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proposal defines those obligations. It does not label the remaining</a:t>
            </a:r>
            <a:r>
              <a:rPr sz="2710" b="0" i="0">
                <a:solidFill>
                  <a:srgbClr val="000000"/>
                </a:solidFill>
                <a:latin typeface="Latin Modern Sans"/>
              </a:rPr>
              <a:t> collaboration evidence as finished.</a:t>
            </a:r>
          </a:p>
        </p:txBody>
      </p:sp>
      <p:sp>
        <p:nvSpPr>
          <p:cNvPr id="9" name="PDF_TEXT_GROUP_47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7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34/40</a:t>
            </a:r>
          </a:p>
        </p:txBody>
      </p:sp>
      <p:sp>
        <p:nvSpPr>
          <p:cNvPr id="14" name="PDF_BULLET_SPAN_686"/>
          <p:cNvSpPr/>
          <p:nvPr/>
        </p:nvSpPr>
        <p:spPr>
          <a:xfrm rot="5400000">
            <a:off x="1207424" y="20310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90"/>
          <p:cNvSpPr/>
          <p:nvPr/>
        </p:nvSpPr>
        <p:spPr>
          <a:xfrm rot="5400000">
            <a:off x="1207424" y="3003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94"/>
          <p:cNvSpPr/>
          <p:nvPr/>
        </p:nvSpPr>
        <p:spPr>
          <a:xfrm rot="5400000">
            <a:off x="1207424" y="39756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7"/>
          <p:cNvSpPr/>
          <p:nvPr/>
        </p:nvSpPr>
        <p:spPr>
          <a:xfrm rot="5400000">
            <a:off x="1207424" y="45100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7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78"/>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79"/>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80"/>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81"/>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82"/>
          <p:cNvSpPr txBox="1"/>
          <p:nvPr/>
        </p:nvSpPr>
        <p:spPr>
          <a:xfrm>
            <a:off x="1143656" y="5445401"/>
            <a:ext cx="1111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runtime service discovery and authorization, connected to explicit</a:t>
            </a:r>
            <a:r>
              <a:rPr sz="2710" b="0" i="0">
                <a:solidFill>
                  <a:srgbClr val="000000"/>
                </a:solidFill>
                <a:latin typeface="Latin Modern Sans"/>
              </a:rPr>
              <a:t> named-data execution rules.</a:t>
            </a:r>
          </a:p>
        </p:txBody>
      </p:sp>
      <p:sp>
        <p:nvSpPr>
          <p:cNvPr id="9" name="PDF_TEXT_GROUP_48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8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8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8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8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8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89"/>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90"/>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91"/>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92"/>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93"/>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94"/>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95"/>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96"/>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97"/>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49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9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0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0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50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50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504"/>
          <p:cNvSpPr txBox="1"/>
          <p:nvPr/>
        </p:nvSpPr>
        <p:spPr>
          <a:xfrm>
            <a:off x="1107736" y="1929602"/>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505"/>
          <p:cNvSpPr txBox="1"/>
          <p:nvPr/>
        </p:nvSpPr>
        <p:spPr>
          <a:xfrm>
            <a:off x="9804981" y="1929602"/>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506"/>
          <p:cNvSpPr txBox="1"/>
          <p:nvPr/>
        </p:nvSpPr>
        <p:spPr>
          <a:xfrm>
            <a:off x="1107736" y="2497962"/>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507"/>
          <p:cNvSpPr txBox="1"/>
          <p:nvPr/>
        </p:nvSpPr>
        <p:spPr>
          <a:xfrm>
            <a:off x="12189748" y="2497962"/>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508"/>
          <p:cNvSpPr txBox="1"/>
          <p:nvPr/>
        </p:nvSpPr>
        <p:spPr>
          <a:xfrm>
            <a:off x="1107736" y="3066321"/>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509"/>
          <p:cNvSpPr txBox="1"/>
          <p:nvPr/>
        </p:nvSpPr>
        <p:spPr>
          <a:xfrm>
            <a:off x="12189748" y="306632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510"/>
          <p:cNvSpPr txBox="1"/>
          <p:nvPr/>
        </p:nvSpPr>
        <p:spPr>
          <a:xfrm>
            <a:off x="1107736" y="3634681"/>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11"/>
          <p:cNvSpPr txBox="1"/>
          <p:nvPr/>
        </p:nvSpPr>
        <p:spPr>
          <a:xfrm>
            <a:off x="12189681" y="363468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12"/>
          <p:cNvSpPr txBox="1"/>
          <p:nvPr/>
        </p:nvSpPr>
        <p:spPr>
          <a:xfrm>
            <a:off x="1123808" y="4516045"/>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13"/>
          <p:cNvSpPr txBox="1"/>
          <p:nvPr/>
        </p:nvSpPr>
        <p:spPr>
          <a:xfrm>
            <a:off x="2180392" y="5944553"/>
            <a:ext cx="227618" cy="22220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Roman"/>
              </a:rPr>
              <a:t>4</a:t>
            </a:r>
          </a:p>
        </p:txBody>
      </p:sp>
      <p:sp>
        <p:nvSpPr>
          <p:cNvPr id="14" name="PDF_TEXT_GROUP_514"/>
          <p:cNvSpPr txBox="1"/>
          <p:nvPr/>
        </p:nvSpPr>
        <p:spPr>
          <a:xfrm>
            <a:off x="914808" y="5975381"/>
            <a:ext cx="13195280"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Roman"/>
              </a:rPr>
              <a:t>1</a:t>
            </a:r>
            <a:r>
              <a:rPr sz="1863" b="0" i="0">
                <a:solidFill>
                  <a:srgbClr val="000000"/>
                </a:solidFill>
                <a:latin typeface="Cambria Math"/>
              </a:rPr>
              <a:t> −</a:t>
            </a:r>
            <a:r>
              <a:rPr sz="1863" b="0" i="0">
                <a:solidFill>
                  <a:srgbClr val="000000"/>
                </a:solidFill>
                <a:latin typeface="Latin Modern Roman"/>
              </a:rPr>
              <a:t> (1</a:t>
            </a:r>
            <a:r>
              <a:rPr sz="1863" b="0" i="0">
                <a:solidFill>
                  <a:srgbClr val="000000"/>
                </a:solidFill>
                <a:latin typeface="Cambria Math"/>
              </a:rPr>
              <a:t> −</a:t>
            </a:r>
            <a:r>
              <a:rPr sz="1863" b="0" i="1">
                <a:solidFill>
                  <a:srgbClr val="000000"/>
                </a:solidFill>
                <a:latin typeface="Cambria Math"/>
              </a:rPr>
              <a:t> `</a:t>
            </a:r>
            <a:r>
              <a:rPr sz="1863" b="0" i="0">
                <a:solidFill>
                  <a:srgbClr val="000000"/>
                </a:solidFill>
                <a:latin typeface="Latin Modern Roman"/>
              </a:rPr>
              <a:t>)</a:t>
            </a:r>
            <a:r>
              <a:rPr sz="1863" b="0" i="0">
                <a:solidFill>
                  <a:srgbClr val="000000"/>
                </a:solidFill>
                <a:latin typeface="Latin Modern Sans"/>
              </a:rPr>
              <a:t> assumes four independent equal-loss packet traversals; it is not service failure probability after</a:t>
            </a:r>
          </a:p>
        </p:txBody>
      </p:sp>
      <p:sp>
        <p:nvSpPr>
          <p:cNvPr id="15" name="PDF_TEXT_GROUP_515"/>
          <p:cNvSpPr txBox="1"/>
          <p:nvPr/>
        </p:nvSpPr>
        <p:spPr>
          <a:xfrm>
            <a:off x="914808" y="6478830"/>
            <a:ext cx="91617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retries.</a:t>
            </a:r>
          </a:p>
        </p:txBody>
      </p:sp>
      <p:sp>
        <p:nvSpPr>
          <p:cNvPr id="16" name="PDF_TEXT_GROUP_5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22"/>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23"/>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24"/>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25"/>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26"/>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27"/>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28"/>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29"/>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30"/>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31"/>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32"/>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39"/>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40"/>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41"/>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42"/>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43"/>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44"/>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45"/>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46"/>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47"/>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48"/>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55"/>
          <p:cNvSpPr txBox="1"/>
          <p:nvPr/>
        </p:nvSpPr>
        <p:spPr>
          <a:xfrm>
            <a:off x="985712" y="2265544"/>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56"/>
          <p:cNvSpPr txBox="1"/>
          <p:nvPr/>
        </p:nvSpPr>
        <p:spPr>
          <a:xfrm>
            <a:off x="985712" y="2681311"/>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57"/>
          <p:cNvSpPr txBox="1"/>
          <p:nvPr/>
        </p:nvSpPr>
        <p:spPr>
          <a:xfrm>
            <a:off x="985712" y="309707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58"/>
          <p:cNvSpPr txBox="1"/>
          <p:nvPr/>
        </p:nvSpPr>
        <p:spPr>
          <a:xfrm>
            <a:off x="985712" y="3512846"/>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59"/>
          <p:cNvSpPr txBox="1"/>
          <p:nvPr/>
        </p:nvSpPr>
        <p:spPr>
          <a:xfrm>
            <a:off x="985712" y="3928613"/>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60"/>
          <p:cNvSpPr txBox="1"/>
          <p:nvPr/>
        </p:nvSpPr>
        <p:spPr>
          <a:xfrm>
            <a:off x="1582632" y="4234444"/>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61"/>
          <p:cNvSpPr txBox="1"/>
          <p:nvPr/>
        </p:nvSpPr>
        <p:spPr>
          <a:xfrm>
            <a:off x="985712" y="4650211"/>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62"/>
          <p:cNvSpPr txBox="1"/>
          <p:nvPr/>
        </p:nvSpPr>
        <p:spPr>
          <a:xfrm>
            <a:off x="1582632" y="4956074"/>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63"/>
          <p:cNvSpPr txBox="1"/>
          <p:nvPr/>
        </p:nvSpPr>
        <p:spPr>
          <a:xfrm>
            <a:off x="985712" y="5371809"/>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64"/>
          <p:cNvSpPr txBox="1"/>
          <p:nvPr/>
        </p:nvSpPr>
        <p:spPr>
          <a:xfrm>
            <a:off x="1582632" y="5677672"/>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6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6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