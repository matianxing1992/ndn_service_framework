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 Id="rId60" Type="http://schemas.openxmlformats.org/officeDocument/2006/relationships/slide" Target="slides/slide54.xml" /><Relationship Id="rId61" Type="http://schemas.openxmlformats.org/officeDocument/2006/relationships/slide" Target="slides/slide55.xml" /><Relationship Id="rId62" Type="http://schemas.openxmlformats.org/officeDocument/2006/relationships/slide" Target="slides/slide56.xml" /><Relationship Id="rId63" Type="http://schemas.openxmlformats.org/officeDocument/2006/relationships/slide" Target="slides/slide57.xml" /><Relationship Id="rId64" Type="http://schemas.openxmlformats.org/officeDocument/2006/relationships/slide" Target="slides/slide58.xml" /><Relationship Id="rId65" Type="http://schemas.openxmlformats.org/officeDocument/2006/relationships/slide" Target="slides/slide59.xml" /><Relationship Id="rId66" Type="http://schemas.openxmlformats.org/officeDocument/2006/relationships/slide" Target="slides/slide60.xml" /><Relationship Id="rId67" Type="http://schemas.openxmlformats.org/officeDocument/2006/relationships/slide" Target="slides/slide61.xml" /><Relationship Id="rId68" Type="http://schemas.openxmlformats.org/officeDocument/2006/relationships/slide" Target="slides/slide62.xml" /><Relationship Id="rId69" Type="http://schemas.openxmlformats.org/officeDocument/2006/relationships/slide" Target="slides/slide63.xml" /><Relationship Id="rId70" Type="http://schemas.openxmlformats.org/officeDocument/2006/relationships/slide" Target="slides/slide64.xml" /><Relationship Id="rId71"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_rels/notesSlide41.xml.rels><?xml version="1.0" encoding="UTF-8" standalone="yes"?>
<Relationships xmlns="http://schemas.openxmlformats.org/package/2006/relationships">
  <Relationship Id="rId1" Type="http://schemas.openxmlformats.org/officeDocument/2006/relationships/slide" Target="../slides/slide41.xml"/>
  <Relationship Id="rId2" Type="http://schemas.openxmlformats.org/officeDocument/2006/relationships/notesMaster" Target="../notesMasters/notesMaster1.xml"/>
</Relationships>

</file>

<file path=ppt/notesSlides/_rels/notesSlide42.xml.rels><?xml version="1.0" encoding="UTF-8" standalone="yes"?>
<Relationships xmlns="http://schemas.openxmlformats.org/package/2006/relationships">
  <Relationship Id="rId1" Type="http://schemas.openxmlformats.org/officeDocument/2006/relationships/slide" Target="../slides/slide42.xml"/>
  <Relationship Id="rId2" Type="http://schemas.openxmlformats.org/officeDocument/2006/relationships/notesMaster" Target="../notesMasters/notesMaster1.xml"/>
</Relationships>

</file>

<file path=ppt/notesSlides/_rels/notesSlide43.xml.rels><?xml version="1.0" encoding="UTF-8" standalone="yes"?>
<Relationships xmlns="http://schemas.openxmlformats.org/package/2006/relationships">
  <Relationship Id="rId1" Type="http://schemas.openxmlformats.org/officeDocument/2006/relationships/slide" Target="../slides/slide43.xml"/>
  <Relationship Id="rId2" Type="http://schemas.openxmlformats.org/officeDocument/2006/relationships/notesMaster" Target="../notesMasters/notesMaster1.xml"/>
</Relationships>

</file>

<file path=ppt/notesSlides/_rels/notesSlide44.xml.rels><?xml version="1.0" encoding="UTF-8" standalone="yes"?>
<Relationships xmlns="http://schemas.openxmlformats.org/package/2006/relationships">
  <Relationship Id="rId1" Type="http://schemas.openxmlformats.org/officeDocument/2006/relationships/slide" Target="../slides/slide44.xml"/>
  <Relationship Id="rId2" Type="http://schemas.openxmlformats.org/officeDocument/2006/relationships/notesMaster" Target="../notesMasters/notesMaster1.xml"/>
</Relationships>

</file>

<file path=ppt/notesSlides/_rels/notesSlide45.xml.rels><?xml version="1.0" encoding="UTF-8" standalone="yes"?>
<Relationships xmlns="http://schemas.openxmlformats.org/package/2006/relationships">
  <Relationship Id="rId1" Type="http://schemas.openxmlformats.org/officeDocument/2006/relationships/slide" Target="../slides/slide45.xml"/>
  <Relationship Id="rId2" Type="http://schemas.openxmlformats.org/officeDocument/2006/relationships/notesMaster" Target="../notesMasters/notesMaster1.xml"/>
</Relationships>

</file>

<file path=ppt/notesSlides/_rels/notesSlide46.xml.rels><?xml version="1.0" encoding="UTF-8" standalone="yes"?>
<Relationships xmlns="http://schemas.openxmlformats.org/package/2006/relationships">
  <Relationship Id="rId1" Type="http://schemas.openxmlformats.org/officeDocument/2006/relationships/slide" Target="../slides/slide46.xml"/>
  <Relationship Id="rId2" Type="http://schemas.openxmlformats.org/officeDocument/2006/relationships/notesMaster" Target="../notesMasters/notesMaster1.xml"/>
</Relationships>

</file>

<file path=ppt/notesSlides/_rels/notesSlide47.xml.rels><?xml version="1.0" encoding="UTF-8" standalone="yes"?>
<Relationships xmlns="http://schemas.openxmlformats.org/package/2006/relationships">
  <Relationship Id="rId1" Type="http://schemas.openxmlformats.org/officeDocument/2006/relationships/slide" Target="../slides/slide47.xml"/>
  <Relationship Id="rId2" Type="http://schemas.openxmlformats.org/officeDocument/2006/relationships/notesMaster" Target="../notesMasters/notesMaster1.xml"/>
</Relationships>

</file>

<file path=ppt/notesSlides/_rels/notesSlide48.xml.rels><?xml version="1.0" encoding="UTF-8" standalone="yes"?>
<Relationships xmlns="http://schemas.openxmlformats.org/package/2006/relationships">
  <Relationship Id="rId1" Type="http://schemas.openxmlformats.org/officeDocument/2006/relationships/slide" Target="../slides/slide48.xml"/>
  <Relationship Id="rId2" Type="http://schemas.openxmlformats.org/officeDocument/2006/relationships/notesMaster" Target="../notesMasters/notesMaster1.xml"/>
</Relationships>

</file>

<file path=ppt/notesSlides/_rels/notesSlide49.xml.rels><?xml version="1.0" encoding="UTF-8" standalone="yes"?>
<Relationships xmlns="http://schemas.openxmlformats.org/package/2006/relationships">
  <Relationship Id="rId1" Type="http://schemas.openxmlformats.org/officeDocument/2006/relationships/slide" Target="../slides/slide49.xml"/>
  <Relationship Id="rId2" Type="http://schemas.openxmlformats.org/officeDocument/2006/relationships/notesMaster" Target="../notesMasters/notesMaster1.xml"/>
</Relationships>

</file>

<file path=ppt/notesSlides/_rels/notesSlide50.xml.rels><?xml version="1.0" encoding="UTF-8" standalone="yes"?>
<Relationships xmlns="http://schemas.openxmlformats.org/package/2006/relationships">
  <Relationship Id="rId1" Type="http://schemas.openxmlformats.org/officeDocument/2006/relationships/slide" Target="../slides/slide50.xml"/>
  <Relationship Id="rId2" Type="http://schemas.openxmlformats.org/officeDocument/2006/relationships/notesMaster" Target="../notesMasters/notesMaster1.xml"/>
</Relationships>

</file>

<file path=ppt/notesSlides/_rels/notesSlide51.xml.rels><?xml version="1.0" encoding="UTF-8" standalone="yes"?>
<Relationships xmlns="http://schemas.openxmlformats.org/package/2006/relationships">
  <Relationship Id="rId1" Type="http://schemas.openxmlformats.org/officeDocument/2006/relationships/slide" Target="../slides/slide51.xml"/>
  <Relationship Id="rId2" Type="http://schemas.openxmlformats.org/officeDocument/2006/relationships/notesMaster" Target="../notesMasters/notesMaster1.xml"/>
</Relationships>

</file>

<file path=ppt/notesSlides/_rels/notesSlide52.xml.rels><?xml version="1.0" encoding="UTF-8" standalone="yes"?>
<Relationships xmlns="http://schemas.openxmlformats.org/package/2006/relationships">
  <Relationship Id="rId1" Type="http://schemas.openxmlformats.org/officeDocument/2006/relationships/slide" Target="../slides/slide52.xml"/>
  <Relationship Id="rId2" Type="http://schemas.openxmlformats.org/officeDocument/2006/relationships/notesMaster" Target="../notesMasters/notesMaster1.xml"/>
</Relationships>

</file>

<file path=ppt/notesSlides/_rels/notesSlide53.xml.rels><?xml version="1.0" encoding="UTF-8" standalone="yes"?>
<Relationships xmlns="http://schemas.openxmlformats.org/package/2006/relationships">
  <Relationship Id="rId1" Type="http://schemas.openxmlformats.org/officeDocument/2006/relationships/slide" Target="../slides/slide53.xml"/>
  <Relationship Id="rId2" Type="http://schemas.openxmlformats.org/officeDocument/2006/relationships/notesMaster" Target="../notesMasters/notesMaster1.xml"/>
</Relationships>

</file>

<file path=ppt/notesSlides/_rels/notesSlide54.xml.rels><?xml version="1.0" encoding="UTF-8" standalone="yes"?>
<Relationships xmlns="http://schemas.openxmlformats.org/package/2006/relationships">
  <Relationship Id="rId1" Type="http://schemas.openxmlformats.org/officeDocument/2006/relationships/slide" Target="../slides/slide54.xml"/>
  <Relationship Id="rId2" Type="http://schemas.openxmlformats.org/officeDocument/2006/relationships/notesMaster" Target="../notesMasters/notesMaster1.xml"/>
</Relationships>

</file>

<file path=ppt/notesSlides/_rels/notesSlide55.xml.rels><?xml version="1.0" encoding="UTF-8" standalone="yes"?>
<Relationships xmlns="http://schemas.openxmlformats.org/package/2006/relationships">
  <Relationship Id="rId1" Type="http://schemas.openxmlformats.org/officeDocument/2006/relationships/slide" Target="../slides/slide55.xml"/>
  <Relationship Id="rId2" Type="http://schemas.openxmlformats.org/officeDocument/2006/relationships/notesMaster" Target="../notesMasters/notesMaster1.xml"/>
</Relationships>

</file>

<file path=ppt/notesSlides/_rels/notesSlide56.xml.rels><?xml version="1.0" encoding="UTF-8" standalone="yes"?>
<Relationships xmlns="http://schemas.openxmlformats.org/package/2006/relationships">
  <Relationship Id="rId1" Type="http://schemas.openxmlformats.org/officeDocument/2006/relationships/slide" Target="../slides/slide56.xml"/>
  <Relationship Id="rId2" Type="http://schemas.openxmlformats.org/officeDocument/2006/relationships/notesMaster" Target="../notesMasters/notesMaster1.xml"/>
</Relationships>

</file>

<file path=ppt/notesSlides/_rels/notesSlide57.xml.rels><?xml version="1.0" encoding="UTF-8" standalone="yes"?>
<Relationships xmlns="http://schemas.openxmlformats.org/package/2006/relationships">
  <Relationship Id="rId1" Type="http://schemas.openxmlformats.org/officeDocument/2006/relationships/slide" Target="../slides/slide57.xml"/>
  <Relationship Id="rId2" Type="http://schemas.openxmlformats.org/officeDocument/2006/relationships/notesMaster" Target="../notesMasters/notesMaster1.xml"/>
</Relationships>

</file>

<file path=ppt/notesSlides/_rels/notesSlide58.xml.rels><?xml version="1.0" encoding="UTF-8" standalone="yes"?>
<Relationships xmlns="http://schemas.openxmlformats.org/package/2006/relationships">
  <Relationship Id="rId1" Type="http://schemas.openxmlformats.org/officeDocument/2006/relationships/slide" Target="../slides/slide58.xml"/>
  <Relationship Id="rId2" Type="http://schemas.openxmlformats.org/officeDocument/2006/relationships/notesMaster" Target="../notesMasters/notesMaster1.xml"/>
</Relationships>

</file>

<file path=ppt/notesSlides/_rels/notesSlide59.xml.rels><?xml version="1.0" encoding="UTF-8" standalone="yes"?>
<Relationships xmlns="http://schemas.openxmlformats.org/package/2006/relationships">
  <Relationship Id="rId1" Type="http://schemas.openxmlformats.org/officeDocument/2006/relationships/slide" Target="../slides/slide59.xml"/>
  <Relationship Id="rId2" Type="http://schemas.openxmlformats.org/officeDocument/2006/relationships/notesMaster" Target="../notesMasters/notesMaster1.xml"/>
</Relationships>

</file>

<file path=ppt/notesSlides/_rels/notesSlide60.xml.rels><?xml version="1.0" encoding="UTF-8" standalone="yes"?>
<Relationships xmlns="http://schemas.openxmlformats.org/package/2006/relationships">
  <Relationship Id="rId1" Type="http://schemas.openxmlformats.org/officeDocument/2006/relationships/slide" Target="../slides/slide60.xml"/>
  <Relationship Id="rId2" Type="http://schemas.openxmlformats.org/officeDocument/2006/relationships/notesMaster" Target="../notesMasters/notesMaster1.xml"/>
</Relationships>

</file>

<file path=ppt/notesSlides/_rels/notesSlide61.xml.rels><?xml version="1.0" encoding="UTF-8" standalone="yes"?>
<Relationships xmlns="http://schemas.openxmlformats.org/package/2006/relationships">
  <Relationship Id="rId1" Type="http://schemas.openxmlformats.org/officeDocument/2006/relationships/slide" Target="../slides/slide61.xml"/>
  <Relationship Id="rId2" Type="http://schemas.openxmlformats.org/officeDocument/2006/relationships/notesMaster" Target="../notesMasters/notesMaster1.xml"/>
</Relationships>

</file>

<file path=ppt/notesSlides/_rels/notesSlide62.xml.rels><?xml version="1.0" encoding="UTF-8" standalone="yes"?>
<Relationships xmlns="http://schemas.openxmlformats.org/package/2006/relationships">
  <Relationship Id="rId1" Type="http://schemas.openxmlformats.org/officeDocument/2006/relationships/slide" Target="../slides/slide62.xml"/>
  <Relationship Id="rId2" Type="http://schemas.openxmlformats.org/officeDocument/2006/relationships/notesMaster" Target="../notesMasters/notesMaster1.xml"/>
</Relationships>

</file>

<file path=ppt/notesSlides/_rels/notesSlide63.xml.rels><?xml version="1.0" encoding="UTF-8" standalone="yes"?>
<Relationships xmlns="http://schemas.openxmlformats.org/package/2006/relationships">
  <Relationship Id="rId1" Type="http://schemas.openxmlformats.org/officeDocument/2006/relationships/slide" Target="../slides/slide63.xml"/>
  <Relationship Id="rId2" Type="http://schemas.openxmlformats.org/officeDocument/2006/relationships/notesMaster" Target="../notesMasters/notesMaster1.xml"/>
</Relationships>

</file>

<file path=ppt/notesSlides/_rels/notesSlide64.xml.rels><?xml version="1.0" encoding="UTF-8" standalone="yes"?>
<Relationships xmlns="http://schemas.openxmlformats.org/package/2006/relationships">
  <Relationship Id="rId1" Type="http://schemas.openxmlformats.org/officeDocument/2006/relationships/slide" Target="../slides/slide64.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Good morning. My name is Tianxing Ma, and today I will present my dissertation proposal, NDNSF: A Data-Centric Service Framework for Secure, Collaborative, and Dynamic Networked Applications. The main contribution is the NDNSF framework itself. During the talk, I will use two application examples: a UAV network application and distributed inference. But I want to be clear from the start. These are not two separate dissertation products. I use them as test cases. They help me find requirements, put pressure on the design, and improve the framework.</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 want to start with the sentence at the top of the slide. A service framework is a set of application-layer protocols and libraries that turns distributed functions into reusable services. In this talk, reusable means the framework defines how applications discover, authorize, invoke, and compose services. It also hides provider location and implementation details behind service interfaces and policies. Then it manages practical application concerns: provider readiness, selection, retries, security, and data transfer. These are the same concerns we see in UAV control, edge AI inference, storage, sensing, robotics, and many other applications.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IP-based service frameworks are useful, so I am not saying they are broken. The slide lists common issues in how the semantics are organized. First, invocation is usually endpoint-oriented: a service call resolves to a reachable host, process, broker, or endpoint abstraction. Second, security is often channel or session centered: TLS protects the communication channel, but stored or cached objects need separate object-level protection. Third, identity, trust, network reachability, and service discovery are usually configured outside the service invocation itself. They are handled by certificates, DNS, registries, load balancers, proxies, or application policy. The bottom bullet is the main point: there is a mismatch between IP's host-centric model and service-oriented applications' data-centric needs. Applications care about named services, authorized data, provider choice, and large data objects, but they often have to bridge hosts, services, trust, and data by hand. NDNSF studies whether NDN names and secured Data can make these pieces part of one data-centric service framework.</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roadmap has five parts. First is Named Data Networking, or NDN: background and motivation; Reference 1 is the NDN architecture paper. Second is the research gap: what service-layer semantics are missing. Third is the framework: the NDN Service Framework, or NDNSF, including the core design and completed foundation. Fourth is workloads: the UAV network application and distributed inference as validation cases. Fifth is the plan: evaluation matrix, remaining work, risks, and timeline. The blue box gives the central claim: NDNSF is the dissertation contribution; the applications validate and refine the framework.</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directly connects the IP-centered problems to the NDN mechanisms that help address them. Endpoint-bound calls become retrieval of named Data from any valid producer or cache. Channel security becomes a verifiable signature attached to each Data packet. Mobility and failover can use another path or producer without changing the requested name. Caching and repository storage are part of the named-data model instead of separate application distribution mechanisms. These properties do not by themselves create a service framework. NDNSF supplies the missing authorization, readiness, invocation, and provider-coordination semantics above NDN.</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At the packet level, the slide shows the two basic pieces. An Interest Packet has a Name and optional fields. A Data Packet has a Name, MetaInfo, Content, and Signature. The blue box summarizes the point: Interests name desired Data; Data packets carry names, content, metadata, and signatures. NDNSF builds directly on this. It does not replace the packet model. It defines service requests, ACKs, selections, responses, permissions, and large-object references as named and signed Data objects.</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uses UAV telemetry to make the packet model concrete. On the left, the ground station sends an Interest for `/UAV/Drone1/telemetry/status`, and UAV 1 returns Data with position, battery, and health, signed by Drone1. On the right, the same pattern works for a video segment, such as `/UAV/Drone2/video/frame/&lt;segment&gt;`. The takeaway at the bottom is the phrase I want to keep: applications name desired data, and any valid producer, cache, or repository can return signed Data with a matching name.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slide says security is attached to Data, not to the channel that carried it. A consumer can verify Data after retrieval. Verification still works through caches, repositories, and alternate paths. That is the NDN security base that NDNSF uses. The third bullet also matters: access-control policy is a higher-layer question. So Data validation tells us the packet is authentic and unchanged, but NDNSF still needs service-layer checks for who may invoke a service, which provider was selected, and whether this message is fresh.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is pull-based, so applications need to learn when new Data exists. Alice, Bob, and Ted each publish Data under their own namespace and maintain a local state vector. When they exchange state vectors, Alice can see that Bob has sequence 131 while she only knows 130, and Ted can see that Alice has sequence 113 while he only knows 112. They then fetch the missing named Data by Interest. After those fetches, all participants converge on the same shared dataset without a central broker. References 2 and 3 are the NDN Sync and SVS sources.</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introduces NAC as background. NAC means Name-based Access Control. The basic idea is that content is encrypted when it is produced, so the Data stays protected even if it is cached, stored in a repository, or forwarded through another path. NAC uses NDN names to express the policy granularity and to name the keys, so encryptors and decryptors can retrieve the needed keys by name. NAC-ABE extends this idea with attribute-based encryption. The UAV example on the right shows why this matters. A UAV can produce encrypted telemetry or video Data, such as a video segment under `/UAV/Drone1/video/seg/42`. That Data can be stored in a cache or repository. A ground station can retrieve the Data by name, but it can decrypt only if it has matching attributes, such as the UAV video namespace and the ground-station role. So the network can move and cache the Data normally, while NAC-ABE controls who can read 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provides powerful building blocks, including named retrieval, signed Data, caching, access control, computation, and earlier invocation mechanisms. The broader research gap is a secure NDN service framework spanning the service lifecycle: service interfaces, one-to-many Provider discovery and selection, authorization, replay protection, reliability, and large-data delivery. NDNSF v0.1 implements the core framework functions. The post-v0.1 dissertation work proposes multi-role execution, where Providers are assigned to roles and the Data flowing between those roles is verified.</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separates four bodies of related work. Computation and composition systems name functions, place computation, or describe dependency graphs. Invocation systems provide named remote-call semantics. NAC, NAC-ABE, Trust Schema, and related work protect content or constrain valid signers. Application-specific systems address aggregation, measurement, or edge security. The gap shown at the bottom is intentionally a targeted collaboration gap, not the complete NDNSF scope. NDNSF v0.1 already covers secure invocation, runtime Provider discovery and selection, authorization, replay protection, and reliable Data delivery. The proposed extension adds multi-role dependency enforcement: after ACK collection, it derives role/dependency rules and admits an intermediate Named Data object only when its name, signer, producer role, dependency edge, and request context match, including when the object comes from an NDN cache.</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contribution covers the functions introduced in the service-framework definition. The C++ and Python APIs both support generic Request, ACK, Selection, Response, and Targeted invocation without service-specific stubs; trusted same-process local invocation is currently a C++ API. NDNSF also supplies a one-to-many service model, name-based authorization and invocation tokens, and reliable delivery for messages, large objects, and streams. These are implemented foundation capabilities. The proposed extension adds multi-role collaboration: willing Providers are assigned to application roles, allowed Data flow is recorded, and each downstream Provider verifies that its input came from the Provider assigned to an authorized preceding role.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is about dissertation components. The top box says NDNSF is the dissertation contribution. The two lower boxes are validation workloads: the UAV requirements workload and the DI requirements workload. I use the UAV workload for mobility, command authorization, freshness, media objects, and missions. I use DI for model files, generated plans, dependency dataflow, and provider collaboration. The feedback arrow is important: these workloads do not just consume the framework; they feed requirements back into the framework design. So I am not claiming that the UAV application or the inference planner is the final product. They are there to test whether NDNSF provides the service mechanisms these systems need.</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asks which service-layer functions are required for secure invocation, dynamic multi-Provider selection, authorization, and reliable Data delivery over NDN. RQ2 asks how NDNSF can assign Providers to application roles and ensure that a downstream Provider accepts Data only from the Provider assigned to an authorized upstream role, including cached Data. RQ3 studies the reliability, security, and latency tradeoffs of publication, selection, Targeted invocation, and bounded response retry or Provider reselection. RQ4 applies the framework to UAV mobility and control. RQ5 applies it to reusing model files, assigning model parts to available devices at runtime, and running one model across multiple devices.</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table distinguishes completed mechanisms from remaining evidence and administrative milestones. The completed framework includes Targeted invocation, trusted C++ local calls, large-data support, and an execution-plan schema. August 2026 is reserved for Plan-to-Data enforcement over both direct and cached Data and for measuring its security and latency overhead. September 2026 covers UAV role and dependency validation, and October 2026 covers real-model distributed-inference and failure gates. In November and December 2026, I will freeze the evidence and figures, integrate the dissertation, and submit a complete draft to the chair. Committee review runs from January through March 2027, with the defense planned no later than mid-February and ProQuest submission targeted for March 5, ahead of the March 26 deadline.</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shows the three NDNSF entity roles. The Service Controller is the startup authority. At startup, the Service User and Service Providers obtain the permissions, keys, and certificates they need for authorized service participation. During invocation, the Service User coordinates directly with one or more Service Providers. The blue box says the main point: startup material comes from the controller, but Request, ACK, Selection, and Response happen directly among the runtime entities through named Data messages. That role split keeps the runtime distributed while still giving users and providers the security material they need.</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invocation workflow has four logical messages: Request, ACK, Selection, and Response. The left box explains the underlying Sync mechanism. First, the sender publishes a logical message as a signed, named Data object. Second, Sync announces the new Data name. Third, the receiver sends an Interest for that name and obtains the Data. The right box explains what the application sees through the SVS Pub/Sub API. A publish call stores the Data and announces its name; a subscription learns the name, fetches the Data, and invokes the callback. Thus, Pub/Sub hides the two-step announce-then-fetch delivery from NDNSF. Optional piggybacking can carry an already signed Data packet with Sync and avoid the separate Interest/Data exchange; it is an optimization, not a change to the logical message workflow. Provider readiness is reported in ACK, provider choice is expressed in Selection, and final execution produces the Response.</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These examples distinguish two policy directions. A Provider policy defines which named services an identity may offer. A User policy defines which Provider/service namespaces that User may invoke. The three User entries on the slide correspond to services actually offered by Drone 1 or Drone 3. Neither policy is written for one fixed host, socket, or channel, so the authorization remains name-based as Providers move or change.</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Providers need enough information to decide whether to participate before the User selects one. The discovery descriptor can contain an observation area, deadline, sensor requirement, or model requirement. ABE makes this content readable by Providers authorized for the service without listing their identities. It does not hide the descriptor from authorized but unselected Providers, and does not hide outer Data names or traffic patterns. In the request-scoped confidentiality path, application input and its key material are restricted to selected Providers through Selection. A Trust Schema alone does not encrypt content, but role authorization can be paired with ABE or group encryption.</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Requester Challenge is named UserToken in the implementation. A Provider demonstrates access to the service-protected Request by returning this challenge in ACK. ACK also contains a Provider Challenge protected for Users authorized to invoke the service; Selection returns the chosen Provider's challenge. Each side must still validate signatures, participant identities, the service, the active request, and one-time state. These checks demonstrate access to decryption capability for this exchange, not physical resources or correct task execution. Tokens alone do not establish all authorization or replay guarantees.</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DNMP uses role signing keys and a Trust Schema to constrain commands. A role may cover several permissions, so we do not assume one certificate per service in DNMP. Our per-service role-certificate alternative would issue an entity a signing credential for each authorized service role. NDNSF instead aggregates that entity's service permissions in an individually issued KP-ABE decryption key within one authority and parameter generation, while reusing its identity-signing credentials. This avoids the additional per-service signing credentials in that particular alternative. DKEY distribution, updates, size, and cryptographic processing remain costs; fewer objects do not prove lower total cost.</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NDNSF participants retrieve and validate Controller-signed authorization status; runtime checks then reject revoked invocations. ABE generation rotation and refreshed DKEYs protect later exchanges encrypted under the new generation. Current rotation is Controller-wide, so unaffected authorized members may also need DKEY updates. DNMP discusses rotating encryption keys to restrict future measurement-data access, but does not detail a comparable online command-authorization revocation protocol. For a fair certificate-based alternative, we propose revoking the relevant role credential and checking signed revocation status at execution nodes. That is a comparison design, not a claimed DNMP implementation. Both designs depend on update propagation and cannot erase keys or plaintext already disclosed. NDNSF has focused integration-test evidence, not a measured proof of cheaper or instantaneous network-wide revocation.</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protected-discovery design separates the discovery descriptor from the full application input. Request Data names the service and request, carries the descriptor used for the positive-ACK decision, and includes the Requester Challenge. In the request-scoped confidentiality path, Selection restricts the application input and key material to selected Providers. This is the revised protection scope, not a claim that every historical v0.1 Request path already separated the two. The named Data representation remains the same; signature, authorization, and active-request checks apply after retrieval.</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Selective ACK is about the status carried by the ACK, not about omitting the ACK. In the normal discovery path, every Provider returns a signed ACK. A positive ACK means the Provider is willing and currently capable; a negative ACK means it received the request but is not ready or cannot serve it now. ACK metadata can report load, wait time, location, model availability, or safety state. The User selects only among positive ACKs. Explicit overload suppression and the Targeted fast path are separate exceptions, not the normal Request--ACK--Selection workflow.</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key sentence on this slide is that provider selection is user-side, policy-driven, and performed after ACK collection. The User collects all ACKs during an ACK window, while only positive ACKs become selectable candidates; negative ACKs remain readiness evidence but are not selected. Built-in choices include first responding, random, and all selected. A custom policy can use latency, load, capability, location, or safety metadata. So the framework keeps ACK collection common, but lets the user-side policy decide how to choose among positive candidates.</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shows the two simple built-in provider selection choices. Both start from the same Request and ACK collection step. In first responding, the user selects the first ready provider that returns a valid ACK. This is useful when the goal is a simple low-latency choice. In random selection, the user picks randomly among valid ACK candidates. This can spread work across providers without writing a special policy. The key point is that even these simple choices are framework-level provider selection, not application glue code.</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shows the two more flexible provider selection choices. All responders means the user can select every ready provider that returned a valid ACK. That supports multi-provider execution, where more than one provider may work on the service. Custom selection means the application provides its own policy after ACK collection. The policy can use latency, load, capability, location, safety state, or other ACK metadata. So the framework keeps Request and ACK collection common, but lets the user-side policy choose one provider, several providers, or all ready providers.</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marks the exact historical boundary. The reproducible May 20 repository baseline is tag v0.1, commit be9421f, tree c9cc0c. It includes the generic dynamic C++ API shown on the right, multi-Provider ACK collection, selection strategies, the NDN-SVS patch, and the original experiments. It does not include Python bindings or role-based collaboration planning. Before introducing the extension, I will show exactly what the completed v0.1 evidence establishes.</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systems retain different semantics. A gRPC resolver can supply several backend addresses to one channel, and a load-balancing policy selects one ready backend for each RPC; this is not the same as sending one request to every Provider. The network-loss gRPC-1 baseline uses one configured endpoint. The later mobility gRPC-SEQ-4 baseline preregisters four Provider endpoints and retries them sequentially in application logic rather than using native gRPC load balancing. Retry is also separate from load balancing and normally requires an explicit retry policy beyond narrowly scoped transparent retries. NSC binds a named call to one executor, while NDNSF uses its Request--ACK--Selection--Response workflow to observe multiple responding Providers before selection. The network-loss numbers are a configuration-aligned contextual comparison, not one statistically matched campaign: NDNSF uses the submitted v0.1 measurements, while NSC and gRPC each use one new run per loss under the displayed topology, workload, five-second deadline, and zero application retries. Security is also not equivalent: the gRPC baseline is insecure, NSC skips signature verification, and the MiniNDN build uses a dummy keychain.</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restores the original NDNSF v0.1 network-loss measurements and places new single-run NSC and gRPC baselines beside them. The path is Memphis--CSU--UCLA, the offered load is ten requests per second, the service delay is five milliseconds, and the baseline deadline is five seconds with no application retry. NDNSF reports 599 of 600, 598 of 600, and 539 of 600 completions at one, three, and ten percent link loss; the paper describes the ten-percent value as the best measured result and attributes the resilience to SVS retry. In the new runs, NSC completes 541, 444, and 208 of 600 requests, or 90.17, 74.00, and 34.67 percent. gRPC completes 600, 600, and 541 of 600, or 100.00, 100.00, and 90.17 percent. These n-equals-one baselines provide configuration-aligned context only; there is no variance or significance claim, and the mixed batches are not a statistically matched campaign.</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historical topology places the User at Memphis and identical service Providers at UCLA, WUSTL, and UIUC. Every ten seconds, each Provider independently enters a ten-second rejection period with probability ten, twenty, or thirty percent. An unavailable NDNSF Provider suppresses its ACK, allowing FirstResponding to choose another valid runtime candidate. Under these evaluated v0.1 configurations, NDNSF stays above 96 percent success at the thirty-percent setting. NSC and gRPC each use one configured executor or endpoint and do not retry another target, so this result is motivation rather than the confirmatory four-target comparison on Slides 32 and 33.</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separates two matched analysis layers on the same one-AP, four-Provider topology. The all-request controls use 50, 100, and 150 meter radii to show how physical coverage limits unconditional success. The independent switching test uses the 100-meter condition. Each client records the actual request-publication time, and the analyzer reconstructs the coverage state at that instant. A request enters the conditional comparison only when the initial Provider is unavailable but another Provider is reachable. The 4.05-second request phase places publications between 100-millisecond gate updates. gRPC-SEQ-4 and NSC-4 try four preregistered targets sequentially, while NDNSF discovers ACK candidates at runtime and uses FirstResponding with bounded response reselection. All systems use byte-identical traces, five requests per second for 60 seconds, a one-second attempt or ACK timeout, a five-second global deadline, and disabled admission and proactive health routing.</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left panel is intentionally simple. As the AP radius grows from 50 to 100 to 150 meters, all three systems move from roughly 54--55 percent success to roughly 98 percent and then 100 percent. The main driver is which Providers are actually covered when a request is published, not a universal advantage for one system. The right panel focuses only on 1,312 matched requests where the initial Provider was unavailable but another Provider was reachable. NDNSF's tail latency is 597 milliseconds lower than gRPC and 2,618 milliseconds lower than NSC; the error bars show the 95-percent confidence ranges. Success is 99.92 percent for NDNSF, 98.86 percent for gRPC, and 98.78 percent for NSC, but no overall success-rate advantage is claimed because actual Provider coverage at publication time dominates success. The supported claim is therefore lower tail latency when switching is required, with comparable success, not universal mobility superiority.</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real-machine test uses an Odroid User with laptop and PC Providers. The laptop is unavailable during the first half, while the PC is unavailable during the middle half. Their unavailable windows overlap for one quarter of the run, so at least one Provider is available for only 75 percent of the total time. That 75 percent is a provider-time coverage ceiling, not a guaranteed request-success rate. NDNSF reaches 74.62 percent at 10 RPS and 73.73 percent at 30 RPS. The small gap is expected because failover is not instantaneous: requests already in flight may expire while the User collects ACKs, performs selection, handles a timeout, and retries with another Provider. SVS/Sync retransmission can recover lost named Data, but it cannot make an unavailable Provider answer; if recovery completes after the deadline, the request is still counted as failed. The experiment therefore shows that NDNSF follows changing Provider availability instead of binding the User to one endpoint.</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slide separates three evidence levels. The original v0.1 failure and availability demonstrations motivate runtime Provider discovery but use single-target NSC and gRPC configurations. The matched all-request controls use identical traces and four targets; they show that physical coverage dominates unconditional success and do not support a universal NDNSF advantage. The independent switching test then isolates requests for which the initial baseline target is unavailable while another Provider is reachable. It supports a narrower conclusion: NDNSF reduces tail latency relative to sequential retry over pre-registered targets when switching is actually required, with comparable success. Architectural endpoint discovery and the measured conditional latency result should remain distinct claims.</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completed results establish runtime discovery, service ACKs reporting willingness and status, Provider selection, request-level authorization, and resilience. They do not yet assign different Providers to different application roles, record which role may send Data to a downstream role, or verify that a received object came from the Provider assigned to an authorized preceding role. That verification must make the same decision whether the Data arrives directly or is retrieved from an NDN cache. UAV and distributed inference make these missing functions concrete.</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v0.1 results showed dynamic selection. UAV now asks whether that foundation can support mobile, command-sensitive, media-heavy, and role-dependent workflows. The ground station can invoke drone services, but the drones can also invoke one another. A drone may therefore act as both an NDNSF User and Provider during a mission. UAV-APP is a requirements workload, not a claim that this dissertation will build a complete UAV product.</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These five items define the UAV scope: mobility, command authorization, telemetry freshness, video and recording objects, and multi-drone missions. The dissertation does not claim a comprehensive UAV application; it develops the framework mechanisms needed to support this class of application. The next slide maps every requirement to a concrete mechanism and evaluation target.</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For generic one-to-many calls, Providers return service ACKs reporting willingness and runtime status, and NDNSF selects among responding Providers. Bounded response reselection is optional and is not the default behavior. Targeted invocation skips ACK and Selection only after the Provider and service have completed token bootstrap. Command authorization uses NAC-ABE, one-time tokens, and replay checks; telemetry uses freshness and lifecycle state; media uses immutable objects and segmented retrieval. For a multi-drone mission, NDNSF assigns Providers to roles and verifies that each downstream Provider accepts Data only from the Provider assigned to an authorized preceding role.</a:t>
            </a:r>
            <a:endParaRPr lang="en-US" sz="120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YOLO example introduces the two kinds of model split before the NDNSF-DI architecture. Following Figure 1, a horizontal cut means a layer-wise cut along the model's layer sequence: contiguous layer ranges become pipeline stages such as Backbone, Neck, and Detection Head, and each stage passes named intermediate activations to the next. A vertical cut means a tensor-wise cut within a layer or stage: each device computes a partial view or slice of the same computation, and partial outputs may require exchange or aggregation. The labels describe the model dimension being partitioned, not the geometric orientation of the line drawn in Figure 1. I use the word partition rather than rank because these are pieces of one computation, not an ordering. A hybrid layout may combine both kinds of split.</a:t>
            </a:r>
            <a:endParaRPr lang="en-US" sz="120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example collaboration plan makes the DI problem concrete. A YOLO request needs signed NDN Data objects containing reusable layer artifacts, ONNX Runtime plus an NDNSF-DI adapter that interprets and splits the model, Provider offers describing devices and resources, an input image, and a deadline. After collecting the offers, the planner may assign the Backbone role to P2's CPU, the Neck role to P3's GPU, and the Detection Head role to P4's GPU. A pipeline stage is one kind of DI role. The proposed plan states which Provider runs each role, on which device, with which model part, and which named intermediate Data may flow downstream.</a:t>
            </a:r>
            <a:endParaRPr lang="en-US" sz="120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title marks these as proposed NDNSF-DI mechanisms rather than completed V3 evidence. Distributed inference must run models that do not fit one device, use heterogeneous CPU and GPU Providers, reuse signed layer artifacts rather than copy a full model for every request, send intermediate tensors only along authorized role edges, and recover when a selected Provider becomes unavailable. NDNSF supplies the service messages and authenticated Provider choice; NDNSF-DI proposes the model interpretation, split, device assignment, and bounded replanning or Provider reselection.</a:t>
            </a:r>
            <a:endParaRPr lang="en-US" sz="120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Now that both UAV and YOLO examples have been introduced, this slide generalizes their common planning process in terms of roles. The application describes its roles, services, allowed Data flow, and constraints. One Request elicits signed ACKs from willing Providers; those ACKs report capabilities, load, and resources. An application planner assigns Providers to roles, and NDNSF checks that every required role has an eligible Provider. The UAV example assigns the Capture, Detection, and Mapping roles and records the allowed Data flow between them.</a:t>
            </a:r>
            <a:endParaRPr lang="en-US" sz="120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plan is useful only if it constrains execution. In this YOLO example, P2 is assigned the Backbone role and P4 the Detection Head role. Before P4 processes the feature tensor, it checks that the object belongs to the current request, that P2 signed it, that P2 is assigned to the authorized preceding Backbone role, and that the Data name is allowed. The same valid object is accepted from a cache; an unassigned P3, an undeclared name, or a replayed old tensor is rejected. This is the proposed Plan-to-Data mechanism.</a:t>
            </a:r>
            <a:endParaRPr lang="en-US" sz="120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title and diagram explicitly mark this as the proposed NDNSF-DI architecture, avoiding confusion with Targeted invocation. A model request collects signed Provider offers, the DI planner chooses the model split and placement, and each selected Provider receives instructions containing its role, model part, and device. Providers prepare only their assigned model parts from reusable signed layer artifacts in a Repo or cache. Intermediate tensors connect the assigned roles. An ACK reports availability but does not reserve a GPU, so every Provider rechecks the selected device immediately before loading.</a:t>
            </a:r>
            <a:endParaRPr lang="en-US" sz="120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Plan generation combines the model graph and reusable signed layer-artifact catalog with the immutable set of signed Provider offers. Each offer describes the Provider's available devices, capacity, and cached artifacts. The planner chooses the split, Providers, and devices, checks that the plan fits, and emits per-Provider role instructions. In the example, stage zero runs on P2's CPU while two partitions of stage one use P4's two GPUs.</a:t>
            </a:r>
            <a:endParaRPr lang="en-US" sz="120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Layer-wise pipeline partitioning assigns contiguous layer ranges and transfers intermediate tensors between stages. Tensor-wise partitioning divides selected layers or stages across devices but adds exchange and redistribution cost. The planner chooses a hybrid layout using model compatibility, reuse, per-device feasibility, topology, intermediate-data size, and network cost.</a:t>
            </a:r>
            <a:endParaRPr lang="en-US" sz="120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Planning begins only after the immutable ACK set closes. Decision evidence includes model and device fit, intermediate-data exchange, network topology, Provider offers, and reusable signed layer artifacts. Capacity is checked separately for every selected device; incompatible memory is never summed. A reuse-first strategy may prefer already cached signed artifacts only after all model, resource, and security requirements hold.</a:t>
            </a:r>
            <a:endParaRPr lang="en-US" sz="120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figure now makes the measured placement explicit. In the shared-backbone layout, the Backbone runs at UCLA, Head A at Arizona, Head B at WUSTL, and Merge at NEU. In the single-Provider control, all four roles run at UCLA. The same MiniNDN harness and small ONNX NativeTracer workload were used for both layouts, with ten successful real-ONNX runs per layout. Single-Provider execution was faster because fixed cross-Provider intermediate-data exchange dominated. This diagnostic does not validate the proposed V3 reuse, hybrid partitioning, multi-GPU placement, or final device recheck.</a:t>
            </a:r>
            <a:endParaRPr lang="en-US" sz="120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Slide 48 is earlier harness evidence; this slide is the V3 validation contract. The gates cover model-file identity and reuse, CPU and zero, one, or multiple accelerator offers, no ACK-time reservation, final resource recheck, pipeline and multi-device execution, direct/cache security equivalence, and integration-to-MiniNDN-to-sealed-container qualification. Until these gates close, the proposal does not describe V3 as validated.</a:t>
            </a:r>
            <a:endParaRPr lang="en-US" sz="120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Do not read this table as completed results. RQ1 uses source-backed gap analysis; RQ2 and RQ3 test the core plan, admission, reliability, security, and latency properties; RQ4 uses MiniNDN, PX4 SITL, and selected machines; RQ5 uses integration tests, MiniNDN, and sealed real-model/container qualification. Only the preliminary small-model campaign on Slide 47 is complete within the DI row.</a:t>
            </a:r>
            <a:endParaRPr lang="en-US" sz="1200"/>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dissertation thesis is that NDNSF can turn ACK-derived roles and named dependencies into enforceable policy for direct and cached Named Data. The v0.1 implementation and initial evidence exist; Plan-to-Data enforcement and its full validation remain proposed. Thank you. I am happy to take questions.</a:t>
            </a:r>
            <a:endParaRPr lang="en-US" sz="1200"/>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main risks are scope, latency, large-data overhead, and variable real-machine tests. UAV and DI remain validation workloads rather than full products. Protocol phases and Data transfer are measured separately. MiniNDN and SITL provide repeatable baselines, while real machines are used selectively. The revised scope also requires that Plan-to-Data claims remain proposed until enforcement and negative-test evidence are complete.</a:t>
            </a:r>
            <a:endParaRPr lang="en-US" sz="1200"/>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UAV validation covers the Targeted command lifecycle, typed state freshness, large signed media objects, and mission recovery. Multi-drone scenarios will additionally test role assignment and named dependency admission. The goal is to determine whether generic NDNSF mechanisms support mobile, command-sensitive collaboration, not to claim a complete flight application.</a:t>
            </a:r>
            <a:endParaRPr lang="en-US" sz="120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These results show that runtime metadata affects behavior rather than serving as descriptive text. Adaptive admission changes whether a request enters the pipeline under load. Positive and negative ACK status exposes Provider readiness before selection while still returning a signed ACK for the normal discovery path. In the newer design, validated ACK metadata also becomes the input to collaboration planning.</a:t>
            </a:r>
            <a:endParaRPr lang="en-US" sz="1200"/>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User-side admission bounds outstanding requests before they enter the Request--ACK--Selection--Response pipeline. A window is updated from observed latency, timeouts, and queue pressure, so requests may be admitted, queued, or rejected. This is overload control at the requester and should not be confused with the proposed Provider-local Data-admission rule for collaboration dependencies.</a:t>
            </a:r>
            <a:endParaRPr lang="en-US" sz="120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May 20 framework already treated Provider coordination as a framework concern: one Request could reach multiple authorized Providers, Providers returned service ACKs reporting willingness and runtime status, and the user selected one or more responders. That completed behavior is multi-Provider discovery and selection, not yet role-based collaboration. The newer design adds explicit roles and named dependency edges after ACK collection, and the proposed enforcement step turns those assignments into Provider-local Data-plane rules.</a:t>
            </a:r>
            <a:endParaRPr lang="en-US" sz="1200"/>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ABE for confidential discovery combined with role-certificate execution authorization is a valid alternative. The reason for retaining ABE-backed challenges is to reuse attribute-based service permission management rather than introduce an additional service-role signing-credential structure. This is not free: Provider DKEYs are needed for protected discovery, while User permission DKEYs and challenge processing are extra authorization costs. A fair comparison holds permissions, confidentiality, replay behavior, and revocation requirements constant, then counts credential issuance, updates, bytes, and processing. We do not claim that a Trust Schema cannot authorize execution or that ABE is universally cheaper.</a:t>
            </a:r>
            <a:endParaRPr lang="en-US" sz="1200"/>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gRPC and ROS 2 are useful systems with different runtime abstractions, as References 17 and 18 document. gRPC provides endpoint-oriented RPC together with name resolution, load balancing, and retry facilities. ROS 2 provides a distributed robotics graph. NDN instead makes named, signed, cacheable Data the network object. NDNSF studies the additional service semantics needed above that object model, including ACK-based discovery and, in the newer design, role-and-dependency collaboration. It is not presented as a universal replacement for either middleware.</a:t>
            </a:r>
            <a:endParaRPr lang="en-US" sz="1200"/>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lookup slide contains the foundational references for NDN, Sync, SVS, NAC, NAC-ABE, NFN, and NFaaS. Their numbers are placed at the first relevant mentions in the main presentation. I would use this slide only to answer a committee question.</a:t>
            </a:r>
            <a:endParaRPr lang="en-US" sz="1200"/>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lookup slide covers CFEC, RICE, NSC, MIA-NDN, DNMP, and SECaaS. These references support the comparison of placement, invocation, measurement, and application-specific service frameworks. The main talk uses the reference numbers beside the corresponding claims.</a:t>
            </a:r>
            <a:endParaRPr lang="en-US" sz="1200"/>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lookup slide covers Compute First Networking, CaSCON, Trust Schema, gRPC, ROS 2, enhanced NAC-ABE, access-controlled in-network processing, and data-centric service composition. These sources sharpen the novelty boundary: the proposed contribution is not named computation, caching, content authentication, or graph planning alone, but the compilation of an ACK-derived collaboration plan into Provider-local admission rules for direct or cached Named Data.</a:t>
            </a:r>
            <a:endParaRPr lang="en-US" sz="1200"/>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This lookup slide provides the tool and protocol references placed at the first mentions of Mini-NDN, PX4 SITL, NDN Repo, and ONNX. They document the emulation, flight simulation, repository protocol, and model representation used by the proposed validation workloads.</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image" Target="../media/image26.png" /><Relationship Id="rId4"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image" Target="../media/image28.png" /><Relationship Id="rId4" Type="http://schemas.openxmlformats.org/officeDocument/2006/relationships/image" Target="../media/image29.png" /><Relationship Id="rId5"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image" Target="../media/image31.png" /><Relationship Id="rId4" Type="http://schemas.openxmlformats.org/officeDocument/2006/relationships/image" Target="../media/image32.png" /><Relationship Id="rId5"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image" Target="../media/image36.png" /><Relationship Id="rId4" Type="http://schemas.openxmlformats.org/officeDocument/2006/relationships/image" Target="../media/image37.png" /><Relationship Id="rId5"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8.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9.png" /><Relationship Id="rId3" Type="http://schemas.openxmlformats.org/officeDocument/2006/relationships/image" Target="../media/image40.png" /><Relationship Id="rId4"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1.png" /><Relationship Id="rId3" Type="http://schemas.openxmlformats.org/officeDocument/2006/relationships/image" Target="../media/image42.png" /><Relationship Id="rId4"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3.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4.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5.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6.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7.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8.png" /><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9.png" /><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0.png" /><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1.png" /><Relationship Id="rId3"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2.png" /><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3.png" /><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4.png" /><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5.png" /><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6.png" /><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7.png" /><Relationship Id="rId3"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8.png" /><Relationship Id="rId3"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9.png" /><Relationship Id="rId3"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0.png" /><Relationship Id="rId3"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1.png" /><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2.png" /><Relationship Id="rId3"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3.png" /><Relationship Id="rId3"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4.png" /><Relationship Id="rId3"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5.png" /><Relationship Id="rId3"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6.png" /><Relationship Id="rId3"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64.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31775"/>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42568"/>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703208"/>
            <a:ext cx="3943493" cy="65760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424353"/>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200640"/>
            <a:ext cx="3449080" cy="929891"/>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is a service framework?</a:t>
            </a:r>
          </a:p>
        </p:txBody>
      </p:sp>
      <p:sp>
        <p:nvSpPr>
          <p:cNvPr id="4" name="PDF_TEXT_GROUP_7"/>
          <p:cNvSpPr txBox="1"/>
          <p:nvPr/>
        </p:nvSpPr>
        <p:spPr>
          <a:xfrm>
            <a:off x="914808" y="2000054"/>
            <a:ext cx="123011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A service framework is a set of application-layer protocols and libraries that</a:t>
            </a:r>
            <a:r>
              <a:rPr sz="2710" b="1" i="0">
                <a:solidFill>
                  <a:srgbClr val="000000"/>
                </a:solidFill>
                <a:latin typeface="Latin Modern Sans"/>
              </a:rPr>
              <a:t> turns distributed functions into reusable services.</a:t>
            </a:r>
          </a:p>
        </p:txBody>
      </p:sp>
      <p:sp>
        <p:nvSpPr>
          <p:cNvPr id="5" name="PDF_TEXT_GROUP_8"/>
          <p:cNvSpPr txBox="1"/>
          <p:nvPr/>
        </p:nvSpPr>
        <p:spPr>
          <a:xfrm>
            <a:off x="1618972" y="3201467"/>
            <a:ext cx="1224631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It defines how applications discover, authorize, invoke, and compose services.</a:t>
            </a:r>
          </a:p>
        </p:txBody>
      </p:sp>
      <p:sp>
        <p:nvSpPr>
          <p:cNvPr id="6" name="PDF_TEXT_GROUP_9"/>
          <p:cNvSpPr txBox="1"/>
          <p:nvPr/>
        </p:nvSpPr>
        <p:spPr>
          <a:xfrm>
            <a:off x="1618972" y="3735896"/>
            <a:ext cx="1222150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It hides provider location and implementation details behind service interfaces and</a:t>
            </a:r>
            <a:r>
              <a:rPr sz="2710" b="0" i="0">
                <a:solidFill>
                  <a:srgbClr val="000000"/>
                </a:solidFill>
                <a:latin typeface="Latin Modern Sans"/>
              </a:rPr>
              <a:t> policies.</a:t>
            </a:r>
          </a:p>
        </p:txBody>
      </p:sp>
      <p:sp>
        <p:nvSpPr>
          <p:cNvPr id="7" name="PDF_TEXT_GROUP_10"/>
          <p:cNvSpPr txBox="1"/>
          <p:nvPr/>
        </p:nvSpPr>
        <p:spPr>
          <a:xfrm>
            <a:off x="1618972" y="4708163"/>
            <a:ext cx="114410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It manages application concerns such as provider readiness, selection, retries,</a:t>
            </a:r>
            <a:r>
              <a:rPr sz="2710" b="0" i="0">
                <a:solidFill>
                  <a:srgbClr val="000000"/>
                </a:solidFill>
                <a:latin typeface="Latin Modern Sans"/>
              </a:rPr>
              <a:t> security, and data transfer.</a:t>
            </a:r>
          </a:p>
        </p:txBody>
      </p:sp>
      <p:sp>
        <p:nvSpPr>
          <p:cNvPr id="8" name="PDF_TEXT_GROUP_11"/>
          <p:cNvSpPr txBox="1"/>
          <p:nvPr/>
        </p:nvSpPr>
        <p:spPr>
          <a:xfrm>
            <a:off x="1618972" y="5680430"/>
            <a:ext cx="1223147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It is useful in UAV control, edge AI inference, storage, sensing, robotics, and many</a:t>
            </a:r>
            <a:r>
              <a:rPr sz="2710" b="0" i="0">
                <a:solidFill>
                  <a:srgbClr val="000000"/>
                </a:solidFill>
                <a:latin typeface="Latin Modern Sans"/>
              </a:rPr>
              <a:t> other applications.</a:t>
            </a:r>
          </a:p>
        </p:txBody>
      </p:sp>
      <p:sp>
        <p:nvSpPr>
          <p:cNvPr id="9" name="PDF_TEXT_GROUP_1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5"/>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3" name="PDF_TEXT_GROUP_16"/>
          <p:cNvSpPr txBox="1"/>
          <p:nvPr/>
        </p:nvSpPr>
        <p:spPr>
          <a:xfrm>
            <a:off x="11416903"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a:t>
            </a:r>
          </a:p>
        </p:txBody>
      </p:sp>
      <p:sp>
        <p:nvSpPr>
          <p:cNvPr id="14" name="PDF_BULLET_SPAN_13"/>
          <p:cNvSpPr/>
          <p:nvPr/>
        </p:nvSpPr>
        <p:spPr>
          <a:xfrm rot="5400000">
            <a:off x="1207424" y="32872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5"/>
          <p:cNvSpPr/>
          <p:nvPr/>
        </p:nvSpPr>
        <p:spPr>
          <a:xfrm rot="5400000">
            <a:off x="1207424" y="38216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8"/>
          <p:cNvSpPr/>
          <p:nvPr/>
        </p:nvSpPr>
        <p:spPr>
          <a:xfrm rot="5400000">
            <a:off x="1207424" y="479395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21"/>
          <p:cNvSpPr/>
          <p:nvPr/>
        </p:nvSpPr>
        <p:spPr>
          <a:xfrm rot="5400000">
            <a:off x="1207424" y="576622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1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Issues with IP-Based Service Frameworks</a:t>
            </a:r>
          </a:p>
        </p:txBody>
      </p:sp>
      <p:sp>
        <p:nvSpPr>
          <p:cNvPr id="4" name="PDF_TEXT_GROUP_18"/>
          <p:cNvSpPr txBox="1"/>
          <p:nvPr/>
        </p:nvSpPr>
        <p:spPr>
          <a:xfrm>
            <a:off x="1618972" y="1710053"/>
            <a:ext cx="113127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Endpoint-oriented invocation:</a:t>
            </a:r>
            <a:r>
              <a:rPr sz="2371" b="0" i="0">
                <a:solidFill>
                  <a:srgbClr val="000000"/>
                </a:solidFill>
                <a:latin typeface="Latin Modern Sans"/>
              </a:rPr>
              <a:t> service calls commonly resolve to reachable hosts,</a:t>
            </a:r>
            <a:r>
              <a:rPr sz="2371" b="0" i="0">
                <a:solidFill>
                  <a:srgbClr val="000000"/>
                </a:solidFill>
                <a:latin typeface="Latin Modern Sans"/>
              </a:rPr>
              <a:t> processes, brokers, or endpoint abstractions.</a:t>
            </a:r>
          </a:p>
        </p:txBody>
      </p:sp>
      <p:sp>
        <p:nvSpPr>
          <p:cNvPr id="5" name="PDF_TEXT_GROUP_19"/>
          <p:cNvSpPr txBox="1"/>
          <p:nvPr/>
        </p:nvSpPr>
        <p:spPr>
          <a:xfrm>
            <a:off x="1618972" y="2675889"/>
            <a:ext cx="1187236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Channel/session-centered security:</a:t>
            </a:r>
            <a:r>
              <a:rPr sz="2371" b="0" i="0">
                <a:solidFill>
                  <a:srgbClr val="000000"/>
                </a:solidFill>
                <a:latin typeface="Latin Modern Sans"/>
              </a:rPr>
              <a:t> TLS protects communication channels; stored or</a:t>
            </a:r>
            <a:r>
              <a:rPr sz="2371" b="0" i="0">
                <a:solidFill>
                  <a:srgbClr val="000000"/>
                </a:solidFill>
                <a:latin typeface="Latin Modern Sans"/>
              </a:rPr>
              <a:t> cached objects need separate object-level protection.</a:t>
            </a:r>
          </a:p>
        </p:txBody>
      </p:sp>
      <p:sp>
        <p:nvSpPr>
          <p:cNvPr id="6" name="PDF_TEXT_GROUP_20"/>
          <p:cNvSpPr txBox="1"/>
          <p:nvPr/>
        </p:nvSpPr>
        <p:spPr>
          <a:xfrm>
            <a:off x="1618972" y="3641725"/>
            <a:ext cx="120794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Service semantics outside invocation:</a:t>
            </a:r>
            <a:r>
              <a:rPr sz="2371" b="0" i="0">
                <a:solidFill>
                  <a:srgbClr val="000000"/>
                </a:solidFill>
                <a:latin typeface="Latin Modern Sans"/>
              </a:rPr>
              <a:t> identity, trust, network reachability, and service</a:t>
            </a:r>
            <a:r>
              <a:rPr sz="2371" b="0" i="0">
                <a:solidFill>
                  <a:srgbClr val="000000"/>
                </a:solidFill>
                <a:latin typeface="Latin Modern Sans"/>
              </a:rPr>
              <a:t> discovery are configured outside the service invocation.</a:t>
            </a:r>
          </a:p>
        </p:txBody>
      </p:sp>
      <p:sp>
        <p:nvSpPr>
          <p:cNvPr id="7" name="PDF_TEXT_GROUP_21"/>
          <p:cNvSpPr txBox="1"/>
          <p:nvPr/>
        </p:nvSpPr>
        <p:spPr>
          <a:xfrm>
            <a:off x="1618972" y="4607562"/>
            <a:ext cx="115500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Fundamental issue:</a:t>
            </a:r>
            <a:r>
              <a:rPr sz="2371" b="0" i="0">
                <a:solidFill>
                  <a:srgbClr val="000000"/>
                </a:solidFill>
                <a:latin typeface="Latin Modern Sans"/>
              </a:rPr>
              <a:t> mismatch between IP’s host-centric model and service-oriented</a:t>
            </a:r>
            <a:r>
              <a:rPr sz="2371" b="0" i="0">
                <a:solidFill>
                  <a:srgbClr val="000000"/>
                </a:solidFill>
                <a:latin typeface="Latin Modern Sans"/>
              </a:rPr>
              <a:t> applications’ data-centric needs.</a:t>
            </a:r>
          </a:p>
        </p:txBody>
      </p:sp>
      <p:sp>
        <p:nvSpPr>
          <p:cNvPr id="8" name="PDF_TEXT_GROUP_22"/>
          <p:cNvSpPr txBox="1"/>
          <p:nvPr/>
        </p:nvSpPr>
        <p:spPr>
          <a:xfrm>
            <a:off x="1123808" y="6245036"/>
            <a:ext cx="1246737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tools solve pieces of the problem; applications still bridge hosts, services, trust, and</a:t>
            </a:r>
            <a:r>
              <a:rPr sz="2371" b="0" i="0">
                <a:solidFill>
                  <a:srgbClr val="000000"/>
                </a:solidFill>
                <a:latin typeface="Latin Modern Sans"/>
              </a:rPr>
              <a:t> data by hand.</a:t>
            </a:r>
          </a:p>
        </p:txBody>
      </p:sp>
      <p:sp>
        <p:nvSpPr>
          <p:cNvPr id="9" name="PDF_TEXT_GROUP_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6"/>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3" name="PDF_TEXT_GROUP_27"/>
          <p:cNvSpPr txBox="1"/>
          <p:nvPr/>
        </p:nvSpPr>
        <p:spPr>
          <a:xfrm>
            <a:off x="11416903"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a:t>
            </a:r>
          </a:p>
        </p:txBody>
      </p:sp>
      <p:sp>
        <p:nvSpPr>
          <p:cNvPr id="14" name="PDF_BULLET_SPAN_30"/>
          <p:cNvSpPr/>
          <p:nvPr/>
        </p:nvSpPr>
        <p:spPr>
          <a:xfrm rot="5400000">
            <a:off x="1227851" y="1788400"/>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4"/>
          <p:cNvSpPr/>
          <p:nvPr/>
        </p:nvSpPr>
        <p:spPr>
          <a:xfrm rot="5400000">
            <a:off x="1227851" y="2754237"/>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8"/>
          <p:cNvSpPr/>
          <p:nvPr/>
        </p:nvSpPr>
        <p:spPr>
          <a:xfrm rot="5400000">
            <a:off x="1227851" y="3720073"/>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2"/>
          <p:cNvSpPr/>
          <p:nvPr/>
        </p:nvSpPr>
        <p:spPr>
          <a:xfrm rot="5400000">
            <a:off x="1227851" y="468590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Proposal Defense Roadmap</a:t>
            </a:r>
          </a:p>
        </p:txBody>
      </p:sp>
      <p:sp>
        <p:nvSpPr>
          <p:cNvPr id="4" name="PDF_TEXT_GROUP_29"/>
          <p:cNvSpPr txBox="1"/>
          <p:nvPr/>
        </p:nvSpPr>
        <p:spPr>
          <a:xfrm>
            <a:off x="1169087" y="1712965"/>
            <a:ext cx="11472561" cy="440633"/>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1.</a:t>
            </a:r>
            <a:r>
              <a:rPr sz="2710" b="1" i="0">
                <a:solidFill>
                  <a:srgbClr val="000000"/>
                </a:solidFill>
                <a:latin typeface="Latin Modern Sans"/>
              </a:rPr>
              <a:t> Named Data Networking (NDN)</a:t>
            </a:r>
            <a:r>
              <a:rPr sz="2710" b="0" i="0">
                <a:solidFill>
                  <a:srgbClr val="1A3E79"/>
                </a:solidFill>
                <a:latin typeface="Latin Modern Sans"/>
              </a:rPr>
              <a:t> [1]</a:t>
            </a:r>
            <a:r>
              <a:rPr sz="2710" b="0" i="0">
                <a:solidFill>
                  <a:srgbClr val="000000"/>
                </a:solidFill>
                <a:latin typeface="Latin Modern Sans"/>
              </a:rPr>
              <a:t>: background and motivation.</a:t>
            </a:r>
          </a:p>
        </p:txBody>
      </p:sp>
      <p:sp>
        <p:nvSpPr>
          <p:cNvPr id="5" name="PDF_TEXT_GROUP_30"/>
          <p:cNvSpPr txBox="1"/>
          <p:nvPr/>
        </p:nvSpPr>
        <p:spPr>
          <a:xfrm>
            <a:off x="1169087" y="2247394"/>
            <a:ext cx="9540527" cy="440633"/>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2.</a:t>
            </a:r>
            <a:r>
              <a:rPr sz="2710" b="1" i="0">
                <a:solidFill>
                  <a:srgbClr val="000000"/>
                </a:solidFill>
                <a:latin typeface="Latin Modern Sans"/>
              </a:rPr>
              <a:t> Research gap:</a:t>
            </a:r>
            <a:r>
              <a:rPr sz="2710" b="0" i="0">
                <a:solidFill>
                  <a:srgbClr val="000000"/>
                </a:solidFill>
                <a:latin typeface="Latin Modern Sans"/>
              </a:rPr>
              <a:t> what service-layer semantics are missing.</a:t>
            </a:r>
          </a:p>
        </p:txBody>
      </p:sp>
      <p:sp>
        <p:nvSpPr>
          <p:cNvPr id="6" name="PDF_TEXT_GROUP_31"/>
          <p:cNvSpPr txBox="1"/>
          <p:nvPr/>
        </p:nvSpPr>
        <p:spPr>
          <a:xfrm>
            <a:off x="1169087" y="2781822"/>
            <a:ext cx="11782498"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3.</a:t>
            </a:r>
            <a:r>
              <a:rPr sz="2710" b="1" i="0">
                <a:solidFill>
                  <a:srgbClr val="000000"/>
                </a:solidFill>
                <a:latin typeface="Latin Modern Sans"/>
              </a:rPr>
              <a:t> Framework:</a:t>
            </a:r>
            <a:r>
              <a:rPr sz="2710" b="0" i="0">
                <a:solidFill>
                  <a:srgbClr val="000000"/>
                </a:solidFill>
                <a:latin typeface="Latin Modern Sans"/>
              </a:rPr>
              <a:t> NDN Service Framework (NDNSF) core design and completed</a:t>
            </a:r>
            <a:r>
              <a:rPr sz="2710" b="0" i="0">
                <a:solidFill>
                  <a:srgbClr val="000000"/>
                </a:solidFill>
                <a:latin typeface="Latin Modern Sans"/>
              </a:rPr>
              <a:t> foundation.</a:t>
            </a:r>
          </a:p>
        </p:txBody>
      </p:sp>
      <p:sp>
        <p:nvSpPr>
          <p:cNvPr id="7" name="PDF_TEXT_GROUP_32"/>
          <p:cNvSpPr txBox="1"/>
          <p:nvPr/>
        </p:nvSpPr>
        <p:spPr>
          <a:xfrm>
            <a:off x="1169087" y="3754089"/>
            <a:ext cx="11867743"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4.</a:t>
            </a:r>
            <a:r>
              <a:rPr sz="2710" b="1" i="0">
                <a:solidFill>
                  <a:srgbClr val="000000"/>
                </a:solidFill>
                <a:latin typeface="Latin Modern Sans"/>
              </a:rPr>
              <a:t> Workloads:</a:t>
            </a:r>
            <a:r>
              <a:rPr sz="2710" b="0" i="0">
                <a:solidFill>
                  <a:srgbClr val="000000"/>
                </a:solidFill>
                <a:latin typeface="Latin Modern Sans"/>
              </a:rPr>
              <a:t> UAV network application and distributed inference as validation</a:t>
            </a:r>
            <a:r>
              <a:rPr sz="2710" b="0" i="0">
                <a:solidFill>
                  <a:srgbClr val="000000"/>
                </a:solidFill>
                <a:latin typeface="Latin Modern Sans"/>
              </a:rPr>
              <a:t> cases.</a:t>
            </a:r>
          </a:p>
        </p:txBody>
      </p:sp>
      <p:sp>
        <p:nvSpPr>
          <p:cNvPr id="8" name="PDF_TEXT_GROUP_33"/>
          <p:cNvSpPr txBox="1"/>
          <p:nvPr/>
        </p:nvSpPr>
        <p:spPr>
          <a:xfrm>
            <a:off x="1169087" y="4726356"/>
            <a:ext cx="10174344" cy="440633"/>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5.</a:t>
            </a:r>
            <a:r>
              <a:rPr sz="2710" b="1" i="0">
                <a:solidFill>
                  <a:srgbClr val="000000"/>
                </a:solidFill>
                <a:latin typeface="Latin Modern Sans"/>
              </a:rPr>
              <a:t> Plan:</a:t>
            </a:r>
            <a:r>
              <a:rPr sz="2710" b="0" i="0">
                <a:solidFill>
                  <a:srgbClr val="000000"/>
                </a:solidFill>
                <a:latin typeface="Latin Modern Sans"/>
              </a:rPr>
              <a:t> evaluation matrix, remaining work, risks, and timeline.</a:t>
            </a:r>
          </a:p>
        </p:txBody>
      </p:sp>
      <p:sp>
        <p:nvSpPr>
          <p:cNvPr id="9" name="PDF_TEXT_GROUP_34"/>
          <p:cNvSpPr txBox="1"/>
          <p:nvPr/>
        </p:nvSpPr>
        <p:spPr>
          <a:xfrm>
            <a:off x="1143656" y="6111223"/>
            <a:ext cx="1217549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central claim is that NDNSF is the dissertation contribution; the applications</a:t>
            </a:r>
            <a:r>
              <a:rPr sz="2710" b="0" i="0">
                <a:solidFill>
                  <a:srgbClr val="000000"/>
                </a:solidFill>
                <a:latin typeface="Latin Modern Sans"/>
              </a:rPr>
              <a:t> validate and refine the framework.</a:t>
            </a:r>
          </a:p>
        </p:txBody>
      </p:sp>
      <p:sp>
        <p:nvSpPr>
          <p:cNvPr id="10" name="PDF_TEXT_GROUP_3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39"/>
          <p:cNvSpPr txBox="1"/>
          <p:nvPr/>
        </p:nvSpPr>
        <p:spPr>
          <a:xfrm>
            <a:off x="11416903"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4/64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Why NDN Helps</a:t>
            </a:r>
          </a:p>
        </p:txBody>
      </p:sp>
      <p:sp>
        <p:nvSpPr>
          <p:cNvPr id="4" name="PDF_TEXT_GROUP_41"/>
          <p:cNvSpPr txBox="1"/>
          <p:nvPr/>
        </p:nvSpPr>
        <p:spPr>
          <a:xfrm>
            <a:off x="914808" y="1172171"/>
            <a:ext cx="1221735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NDN</a:t>
            </a:r>
            <a:r>
              <a:rPr sz="2710" b="1" i="0">
                <a:solidFill>
                  <a:srgbClr val="1A3E79"/>
                </a:solidFill>
                <a:latin typeface="Latin Modern Sans"/>
              </a:rPr>
              <a:t> [1]</a:t>
            </a:r>
            <a:r>
              <a:rPr sz="2710" b="1" i="0">
                <a:solidFill>
                  <a:srgbClr val="000000"/>
                </a:solidFill>
                <a:latin typeface="Latin Modern Sans"/>
              </a:rPr>
              <a:t> changes the narrow waist from host-addressed packets to named,</a:t>
            </a:r>
            <a:r>
              <a:rPr sz="2710" b="1" i="0">
                <a:solidFill>
                  <a:srgbClr val="000000"/>
                </a:solidFill>
                <a:latin typeface="Latin Modern Sans"/>
              </a:rPr>
              <a:t> secured data chunks.</a:t>
            </a:r>
          </a:p>
        </p:txBody>
      </p:sp>
      <p:sp>
        <p:nvSpPr>
          <p:cNvPr id="5" name="PDF_TEXT_GROUP_42"/>
          <p:cNvSpPr txBox="1"/>
          <p:nvPr/>
        </p:nvSpPr>
        <p:spPr>
          <a:xfrm>
            <a:off x="6999290" y="2392640"/>
            <a:ext cx="218317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IP-centered issue</a:t>
            </a:r>
          </a:p>
        </p:txBody>
      </p:sp>
      <p:sp>
        <p:nvSpPr>
          <p:cNvPr id="6" name="PDF_TEXT_GROUP_43"/>
          <p:cNvSpPr txBox="1"/>
          <p:nvPr/>
        </p:nvSpPr>
        <p:spPr>
          <a:xfrm>
            <a:off x="10359054" y="2392640"/>
            <a:ext cx="216883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NDN mechanism</a:t>
            </a:r>
          </a:p>
        </p:txBody>
      </p:sp>
      <p:sp>
        <p:nvSpPr>
          <p:cNvPr id="7" name="PDF_TEXT_GROUP_44"/>
          <p:cNvSpPr txBox="1"/>
          <p:nvPr/>
        </p:nvSpPr>
        <p:spPr>
          <a:xfrm>
            <a:off x="1389198" y="2879779"/>
            <a:ext cx="1039428"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Applications</a:t>
            </a:r>
          </a:p>
        </p:txBody>
      </p:sp>
      <p:sp>
        <p:nvSpPr>
          <p:cNvPr id="8" name="PDF_TEXT_GROUP_45"/>
          <p:cNvSpPr txBox="1"/>
          <p:nvPr/>
        </p:nvSpPr>
        <p:spPr>
          <a:xfrm>
            <a:off x="4914216" y="2879779"/>
            <a:ext cx="1039428"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Applications</a:t>
            </a:r>
          </a:p>
        </p:txBody>
      </p:sp>
      <p:sp>
        <p:nvSpPr>
          <p:cNvPr id="9" name="PDF_TEXT_GROUP_46"/>
          <p:cNvSpPr txBox="1"/>
          <p:nvPr/>
        </p:nvSpPr>
        <p:spPr>
          <a:xfrm>
            <a:off x="6999290" y="2880535"/>
            <a:ext cx="293544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Calls resolve to hosts or</a:t>
            </a:r>
          </a:p>
        </p:txBody>
      </p:sp>
      <p:sp>
        <p:nvSpPr>
          <p:cNvPr id="10" name="PDF_TEXT_GROUP_47"/>
          <p:cNvSpPr txBox="1"/>
          <p:nvPr/>
        </p:nvSpPr>
        <p:spPr>
          <a:xfrm>
            <a:off x="10358936" y="2880535"/>
            <a:ext cx="2863226"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Interests retrieve named</a:t>
            </a:r>
            <a:r>
              <a:rPr sz="1863" b="0" i="0">
                <a:solidFill>
                  <a:srgbClr val="000000"/>
                </a:solidFill>
                <a:latin typeface="Latin Modern Sans"/>
              </a:rPr>
              <a:t> Data from any valid</a:t>
            </a:r>
            <a:r>
              <a:rPr sz="1863" b="0" i="0">
                <a:solidFill>
                  <a:srgbClr val="000000"/>
                </a:solidFill>
                <a:latin typeface="Latin Modern Sans"/>
              </a:rPr>
              <a:t> producer or cache.</a:t>
            </a:r>
          </a:p>
        </p:txBody>
      </p:sp>
      <p:sp>
        <p:nvSpPr>
          <p:cNvPr id="11" name="PDF_TEXT_GROUP_48"/>
          <p:cNvSpPr txBox="1"/>
          <p:nvPr/>
        </p:nvSpPr>
        <p:spPr>
          <a:xfrm>
            <a:off x="6999290" y="3186365"/>
            <a:ext cx="12409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endpoints</a:t>
            </a:r>
          </a:p>
        </p:txBody>
      </p:sp>
      <p:sp>
        <p:nvSpPr>
          <p:cNvPr id="12" name="PDF_TEXT_GROUP_49"/>
          <p:cNvSpPr txBox="1"/>
          <p:nvPr/>
        </p:nvSpPr>
        <p:spPr>
          <a:xfrm>
            <a:off x="1486122" y="3263897"/>
            <a:ext cx="845450"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Transport</a:t>
            </a:r>
          </a:p>
        </p:txBody>
      </p:sp>
      <p:sp>
        <p:nvSpPr>
          <p:cNvPr id="13" name="PDF_TEXT_GROUP_50"/>
          <p:cNvSpPr txBox="1"/>
          <p:nvPr/>
        </p:nvSpPr>
        <p:spPr>
          <a:xfrm>
            <a:off x="4896752" y="3263897"/>
            <a:ext cx="1074263"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Data objects</a:t>
            </a:r>
          </a:p>
        </p:txBody>
      </p:sp>
      <p:sp>
        <p:nvSpPr>
          <p:cNvPr id="14" name="PDF_TEXT_GROUP_51"/>
          <p:cNvSpPr txBox="1"/>
          <p:nvPr/>
        </p:nvSpPr>
        <p:spPr>
          <a:xfrm>
            <a:off x="1415697" y="3694709"/>
            <a:ext cx="986411"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IP packets</a:t>
            </a:r>
          </a:p>
        </p:txBody>
      </p:sp>
      <p:sp>
        <p:nvSpPr>
          <p:cNvPr id="15" name="PDF_TEXT_GROUP_52"/>
          <p:cNvSpPr txBox="1"/>
          <p:nvPr/>
        </p:nvSpPr>
        <p:spPr>
          <a:xfrm>
            <a:off x="4843992" y="3712453"/>
            <a:ext cx="1179934"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Named Data</a:t>
            </a:r>
          </a:p>
        </p:txBody>
      </p:sp>
      <p:sp>
        <p:nvSpPr>
          <p:cNvPr id="16" name="PDF_TEXT_GROUP_53"/>
          <p:cNvSpPr txBox="1"/>
          <p:nvPr/>
        </p:nvSpPr>
        <p:spPr>
          <a:xfrm>
            <a:off x="6999290" y="3866471"/>
            <a:ext cx="2304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Security protects a</a:t>
            </a:r>
          </a:p>
        </p:txBody>
      </p:sp>
      <p:sp>
        <p:nvSpPr>
          <p:cNvPr id="17" name="PDF_TEXT_GROUP_54"/>
          <p:cNvSpPr txBox="1"/>
          <p:nvPr/>
        </p:nvSpPr>
        <p:spPr>
          <a:xfrm>
            <a:off x="10358936" y="3866471"/>
            <a:ext cx="3276216"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Every Data packet carries a</a:t>
            </a:r>
            <a:r>
              <a:rPr sz="1863" b="0" i="0">
                <a:solidFill>
                  <a:srgbClr val="000000"/>
                </a:solidFill>
                <a:latin typeface="Latin Modern Sans"/>
              </a:rPr>
              <a:t> verifiable signature.</a:t>
            </a:r>
          </a:p>
        </p:txBody>
      </p:sp>
      <p:sp>
        <p:nvSpPr>
          <p:cNvPr id="18" name="PDF_TEXT_GROUP_55"/>
          <p:cNvSpPr txBox="1"/>
          <p:nvPr/>
        </p:nvSpPr>
        <p:spPr>
          <a:xfrm>
            <a:off x="6999290" y="4172334"/>
            <a:ext cx="100473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channel</a:t>
            </a:r>
          </a:p>
        </p:txBody>
      </p:sp>
      <p:sp>
        <p:nvSpPr>
          <p:cNvPr id="19" name="PDF_TEXT_GROUP_56"/>
          <p:cNvSpPr txBox="1"/>
          <p:nvPr/>
        </p:nvSpPr>
        <p:spPr>
          <a:xfrm>
            <a:off x="1486872" y="4177434"/>
            <a:ext cx="844120"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Link layer</a:t>
            </a:r>
          </a:p>
        </p:txBody>
      </p:sp>
      <p:sp>
        <p:nvSpPr>
          <p:cNvPr id="20" name="PDF_TEXT_GROUP_57"/>
          <p:cNvSpPr txBox="1"/>
          <p:nvPr/>
        </p:nvSpPr>
        <p:spPr>
          <a:xfrm>
            <a:off x="4732037" y="4177434"/>
            <a:ext cx="1403773"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Name forwarding</a:t>
            </a:r>
          </a:p>
        </p:txBody>
      </p:sp>
      <p:sp>
        <p:nvSpPr>
          <p:cNvPr id="21" name="PDF_TEXT_GROUP_58"/>
          <p:cNvSpPr txBox="1"/>
          <p:nvPr/>
        </p:nvSpPr>
        <p:spPr>
          <a:xfrm>
            <a:off x="6999290" y="4546576"/>
            <a:ext cx="258214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Failover and mobility</a:t>
            </a:r>
          </a:p>
        </p:txBody>
      </p:sp>
      <p:sp>
        <p:nvSpPr>
          <p:cNvPr id="22" name="PDF_TEXT_GROUP_59"/>
          <p:cNvSpPr txBox="1"/>
          <p:nvPr/>
        </p:nvSpPr>
        <p:spPr>
          <a:xfrm>
            <a:off x="10358936" y="4546576"/>
            <a:ext cx="340822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Name-based forwarding can</a:t>
            </a:r>
          </a:p>
        </p:txBody>
      </p:sp>
      <p:sp>
        <p:nvSpPr>
          <p:cNvPr id="23" name="PDF_TEXT_GROUP_60"/>
          <p:cNvSpPr txBox="1"/>
          <p:nvPr/>
        </p:nvSpPr>
        <p:spPr>
          <a:xfrm>
            <a:off x="4660167" y="4591455"/>
            <a:ext cx="1552758"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Network / physical</a:t>
            </a:r>
          </a:p>
        </p:txBody>
      </p:sp>
      <p:sp>
        <p:nvSpPr>
          <p:cNvPr id="24" name="PDF_TEXT_GROUP_61"/>
          <p:cNvSpPr txBox="1"/>
          <p:nvPr/>
        </p:nvSpPr>
        <p:spPr>
          <a:xfrm>
            <a:off x="1288233" y="4592682"/>
            <a:ext cx="1241277"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Physical media</a:t>
            </a:r>
          </a:p>
        </p:txBody>
      </p:sp>
      <p:sp>
        <p:nvSpPr>
          <p:cNvPr id="25" name="PDF_TEXT_GROUP_62"/>
          <p:cNvSpPr txBox="1"/>
          <p:nvPr/>
        </p:nvSpPr>
        <p:spPr>
          <a:xfrm>
            <a:off x="6999290" y="4852439"/>
            <a:ext cx="253494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need endpoint repair</a:t>
            </a:r>
          </a:p>
        </p:txBody>
      </p:sp>
      <p:sp>
        <p:nvSpPr>
          <p:cNvPr id="26" name="PDF_TEXT_GROUP_63"/>
          <p:cNvSpPr txBox="1"/>
          <p:nvPr/>
        </p:nvSpPr>
        <p:spPr>
          <a:xfrm>
            <a:off x="10358936" y="4852439"/>
            <a:ext cx="2366923"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use another path or</a:t>
            </a:r>
            <a:r>
              <a:rPr sz="1863" b="0" i="0">
                <a:solidFill>
                  <a:srgbClr val="000000"/>
                </a:solidFill>
                <a:latin typeface="Latin Modern Sans"/>
              </a:rPr>
              <a:t> producer.</a:t>
            </a:r>
          </a:p>
        </p:txBody>
      </p:sp>
      <p:sp>
        <p:nvSpPr>
          <p:cNvPr id="27" name="PDF_TEXT_GROUP_64"/>
          <p:cNvSpPr txBox="1"/>
          <p:nvPr/>
        </p:nvSpPr>
        <p:spPr>
          <a:xfrm>
            <a:off x="6999290" y="5532545"/>
            <a:ext cx="27057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Objects need separate</a:t>
            </a:r>
          </a:p>
        </p:txBody>
      </p:sp>
      <p:sp>
        <p:nvSpPr>
          <p:cNvPr id="28" name="PDF_TEXT_GROUP_65"/>
          <p:cNvSpPr txBox="1"/>
          <p:nvPr/>
        </p:nvSpPr>
        <p:spPr>
          <a:xfrm>
            <a:off x="10358936" y="5532545"/>
            <a:ext cx="2483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Named Data can be</a:t>
            </a:r>
          </a:p>
        </p:txBody>
      </p:sp>
      <p:sp>
        <p:nvSpPr>
          <p:cNvPr id="29" name="PDF_TEXT_GROUP_66"/>
          <p:cNvSpPr txBox="1"/>
          <p:nvPr/>
        </p:nvSpPr>
        <p:spPr>
          <a:xfrm>
            <a:off x="6999290" y="5838376"/>
            <a:ext cx="308909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storage/distribution logic</a:t>
            </a:r>
          </a:p>
        </p:txBody>
      </p:sp>
      <p:sp>
        <p:nvSpPr>
          <p:cNvPr id="30" name="PDF_TEXT_GROUP_67"/>
          <p:cNvSpPr txBox="1"/>
          <p:nvPr/>
        </p:nvSpPr>
        <p:spPr>
          <a:xfrm>
            <a:off x="10358936" y="5838376"/>
            <a:ext cx="3261761"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cached, stored, and fetched</a:t>
            </a:r>
            <a:r>
              <a:rPr sz="1863" b="0" i="0">
                <a:solidFill>
                  <a:srgbClr val="000000"/>
                </a:solidFill>
                <a:latin typeface="Latin Modern Sans"/>
              </a:rPr>
              <a:t> unchanged.</a:t>
            </a:r>
          </a:p>
        </p:txBody>
      </p:sp>
      <p:sp>
        <p:nvSpPr>
          <p:cNvPr id="31" name="PDF_TEXT_GROUP_68"/>
          <p:cNvSpPr txBox="1"/>
          <p:nvPr/>
        </p:nvSpPr>
        <p:spPr>
          <a:xfrm>
            <a:off x="1143656" y="6976613"/>
            <a:ext cx="11608143"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 supplies named retrieval and data-centric security; NDNSF adds the missing service semantics:</a:t>
            </a:r>
            <a:r>
              <a:rPr sz="1863" b="0" i="0">
                <a:solidFill>
                  <a:srgbClr val="000000"/>
                </a:solidFill>
                <a:latin typeface="Latin Modern Sans"/>
              </a:rPr>
              <a:t> authorization, readiness, invocation, and provider coordination.</a:t>
            </a:r>
          </a:p>
        </p:txBody>
      </p:sp>
      <p:sp>
        <p:nvSpPr>
          <p:cNvPr id="32" name="PDF_TEXT_GROUP_6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33" name="PDF_TEXT_GROUP_7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34" name="PDF_TEXT_GROUP_7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35" name="PDF_TEXT_GROUP_72"/>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36" name="PDF_TEXT_GROUP_73"/>
          <p:cNvSpPr txBox="1"/>
          <p:nvPr/>
        </p:nvSpPr>
        <p:spPr>
          <a:xfrm>
            <a:off x="11416903"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5/64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7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 Packet Model</a:t>
            </a:r>
          </a:p>
        </p:txBody>
      </p:sp>
      <p:sp>
        <p:nvSpPr>
          <p:cNvPr id="4" name="PDF_TEXT_GROUP_75"/>
          <p:cNvSpPr txBox="1"/>
          <p:nvPr/>
        </p:nvSpPr>
        <p:spPr>
          <a:xfrm>
            <a:off x="2371802" y="1821113"/>
            <a:ext cx="3504967" cy="57833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3557" b="1" i="0">
                <a:solidFill>
                  <a:srgbClr val="000000"/>
                </a:solidFill>
                <a:latin typeface="Latin Modern Sans"/>
              </a:rPr>
              <a:t>Interest Packet</a:t>
            </a:r>
          </a:p>
        </p:txBody>
      </p:sp>
      <p:sp>
        <p:nvSpPr>
          <p:cNvPr id="5" name="PDF_TEXT_GROUP_76"/>
          <p:cNvSpPr txBox="1"/>
          <p:nvPr/>
        </p:nvSpPr>
        <p:spPr>
          <a:xfrm>
            <a:off x="9325169" y="1821113"/>
            <a:ext cx="2918168" cy="57833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3557" b="1" i="0">
                <a:solidFill>
                  <a:srgbClr val="000000"/>
                </a:solidFill>
                <a:latin typeface="Latin Modern Sans"/>
              </a:rPr>
              <a:t>Data Packet</a:t>
            </a:r>
          </a:p>
        </p:txBody>
      </p:sp>
      <p:sp>
        <p:nvSpPr>
          <p:cNvPr id="6" name="PDF_TEXT_GROUP_77"/>
          <p:cNvSpPr txBox="1"/>
          <p:nvPr/>
        </p:nvSpPr>
        <p:spPr>
          <a:xfrm>
            <a:off x="10128249" y="2699839"/>
            <a:ext cx="1260153"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1" i="0">
                <a:solidFill>
                  <a:srgbClr val="000000"/>
                </a:solidFill>
                <a:latin typeface="Latin Modern Sans"/>
              </a:rPr>
              <a:t>Name</a:t>
            </a:r>
          </a:p>
        </p:txBody>
      </p:sp>
      <p:sp>
        <p:nvSpPr>
          <p:cNvPr id="7" name="PDF_TEXT_GROUP_78"/>
          <p:cNvSpPr txBox="1"/>
          <p:nvPr/>
        </p:nvSpPr>
        <p:spPr>
          <a:xfrm>
            <a:off x="3468276" y="2763952"/>
            <a:ext cx="1260153"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1" i="0">
                <a:solidFill>
                  <a:srgbClr val="000000"/>
                </a:solidFill>
                <a:latin typeface="Latin Modern Sans"/>
              </a:rPr>
              <a:t>Name</a:t>
            </a:r>
          </a:p>
        </p:txBody>
      </p:sp>
      <p:sp>
        <p:nvSpPr>
          <p:cNvPr id="8" name="PDF_TEXT_GROUP_79"/>
          <p:cNvSpPr txBox="1"/>
          <p:nvPr/>
        </p:nvSpPr>
        <p:spPr>
          <a:xfrm>
            <a:off x="9941679" y="3377682"/>
            <a:ext cx="163325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000000"/>
                </a:solidFill>
                <a:latin typeface="Latin Modern Sans"/>
              </a:rPr>
              <a:t>MetaInfo</a:t>
            </a:r>
          </a:p>
        </p:txBody>
      </p:sp>
      <p:sp>
        <p:nvSpPr>
          <p:cNvPr id="9" name="PDF_TEXT_GROUP_80"/>
          <p:cNvSpPr txBox="1"/>
          <p:nvPr/>
        </p:nvSpPr>
        <p:spPr>
          <a:xfrm>
            <a:off x="2801129" y="3596585"/>
            <a:ext cx="2594545"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000000"/>
                </a:solidFill>
                <a:latin typeface="Latin Modern Sans"/>
              </a:rPr>
              <a:t>Optional Fields</a:t>
            </a:r>
          </a:p>
        </p:txBody>
      </p:sp>
      <p:sp>
        <p:nvSpPr>
          <p:cNvPr id="10" name="PDF_TEXT_GROUP_81"/>
          <p:cNvSpPr txBox="1"/>
          <p:nvPr/>
        </p:nvSpPr>
        <p:spPr>
          <a:xfrm>
            <a:off x="8724570" y="3882790"/>
            <a:ext cx="41557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ContentType, FreshnessPeriod, ...</a:t>
            </a:r>
          </a:p>
        </p:txBody>
      </p:sp>
      <p:sp>
        <p:nvSpPr>
          <p:cNvPr id="11" name="PDF_TEXT_GROUP_82"/>
          <p:cNvSpPr txBox="1"/>
          <p:nvPr/>
        </p:nvSpPr>
        <p:spPr>
          <a:xfrm>
            <a:off x="2348813" y="4046305"/>
            <a:ext cx="3279586" cy="12693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CanBePrefix, MustBeFresh,</a:t>
            </a:r>
            <a:br/>
            <a:r>
              <a:rPr sz="1863" b="0" i="0">
                <a:solidFill>
                  <a:srgbClr val="000000"/>
                </a:solidFill>
                <a:latin typeface="Latin Modern Sans"/>
              </a:rPr>
              <a:t>ForwardingHint, Nonce,</a:t>
            </a:r>
            <a:br/>
            <a:r>
              <a:rPr sz="1863" b="0" i="0">
                <a:solidFill>
                  <a:srgbClr val="000000"/>
                </a:solidFill>
                <a:latin typeface="Latin Modern Sans"/>
              </a:rPr>
              <a:t>InterestLifetime, HopLimit,</a:t>
            </a:r>
            <a:br/>
            <a:r>
              <a:rPr sz="1863" b="0" i="0">
                <a:solidFill>
                  <a:srgbClr val="000000"/>
                </a:solidFill>
                <a:latin typeface="Latin Modern Sans"/>
              </a:rPr>
              <a:t>Parameters, ...</a:t>
            </a:r>
          </a:p>
        </p:txBody>
      </p:sp>
      <p:sp>
        <p:nvSpPr>
          <p:cNvPr id="12" name="PDF_TEXT_GROUP_83"/>
          <p:cNvSpPr txBox="1"/>
          <p:nvPr/>
        </p:nvSpPr>
        <p:spPr>
          <a:xfrm>
            <a:off x="9840138" y="4550174"/>
            <a:ext cx="1616816" cy="95371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880" b="0" i="0">
                <a:solidFill>
                  <a:srgbClr val="000000"/>
                </a:solidFill>
                <a:latin typeface="Latin Modern Sans"/>
              </a:rPr>
              <a:t>Content</a:t>
            </a:r>
            <a:br/>
            <a:r>
              <a:rPr sz="2880" b="0" i="0">
                <a:solidFill>
                  <a:srgbClr val="000000"/>
                </a:solidFill>
                <a:latin typeface="Latin Modern Sans"/>
              </a:rPr>
              <a:t>Signature</a:t>
            </a:r>
          </a:p>
        </p:txBody>
      </p:sp>
      <p:sp>
        <p:nvSpPr>
          <p:cNvPr id="13" name="PDF_TEXT_GROUP_84"/>
          <p:cNvSpPr txBox="1"/>
          <p:nvPr/>
        </p:nvSpPr>
        <p:spPr>
          <a:xfrm>
            <a:off x="9421106" y="5328468"/>
            <a:ext cx="2454953" cy="48636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0" i="0">
                <a:solidFill>
                  <a:srgbClr val="000000"/>
                </a:solidFill>
                <a:latin typeface="Latin Modern Sans"/>
              </a:rPr>
              <a:t>signature type, key locator,</a:t>
            </a:r>
            <a:br/>
            <a:r>
              <a:rPr sz="1355" b="0" i="0">
                <a:solidFill>
                  <a:srgbClr val="000000"/>
                </a:solidFill>
                <a:latin typeface="Latin Modern Sans"/>
              </a:rPr>
              <a:t>signature bits, ...</a:t>
            </a:r>
          </a:p>
        </p:txBody>
      </p:sp>
      <p:sp>
        <p:nvSpPr>
          <p:cNvPr id="14" name="PDF_TEXT_GROUP_85"/>
          <p:cNvSpPr txBox="1"/>
          <p:nvPr/>
        </p:nvSpPr>
        <p:spPr>
          <a:xfrm>
            <a:off x="1143656" y="6438899"/>
            <a:ext cx="11539021"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 NDN</a:t>
            </a:r>
            <a:r>
              <a:rPr sz="2710" b="0" i="0">
                <a:solidFill>
                  <a:srgbClr val="1A3E79"/>
                </a:solidFill>
                <a:latin typeface="Latin Modern Sans"/>
              </a:rPr>
              <a:t> [1]</a:t>
            </a:r>
            <a:r>
              <a:rPr sz="2710" b="0" i="0">
                <a:solidFill>
                  <a:srgbClr val="000000"/>
                </a:solidFill>
                <a:latin typeface="Latin Modern Sans"/>
              </a:rPr>
              <a:t>, Interests name desired Data; Data packets carry names, content,</a:t>
            </a:r>
            <a:r>
              <a:rPr sz="2710" b="0" i="0">
                <a:solidFill>
                  <a:srgbClr val="000000"/>
                </a:solidFill>
                <a:latin typeface="Latin Modern Sans"/>
              </a:rPr>
              <a:t> metadata, and signatures.</a:t>
            </a:r>
          </a:p>
        </p:txBody>
      </p:sp>
      <p:sp>
        <p:nvSpPr>
          <p:cNvPr id="15" name="PDF_TEXT_GROUP_8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8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8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89"/>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9" name="PDF_TEXT_GROUP_90"/>
          <p:cNvSpPr txBox="1"/>
          <p:nvPr/>
        </p:nvSpPr>
        <p:spPr>
          <a:xfrm>
            <a:off x="11416903"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6/64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9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 Packet Example: UAV Telemetry and Video</a:t>
            </a:r>
          </a:p>
        </p:txBody>
      </p:sp>
      <p:sp>
        <p:nvSpPr>
          <p:cNvPr id="4" name="PDF_TEXT_GROUP_92"/>
          <p:cNvSpPr txBox="1"/>
          <p:nvPr/>
        </p:nvSpPr>
        <p:spPr>
          <a:xfrm>
            <a:off x="2700728" y="2567476"/>
            <a:ext cx="291947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Telemetry status</a:t>
            </a:r>
          </a:p>
        </p:txBody>
      </p:sp>
      <p:sp>
        <p:nvSpPr>
          <p:cNvPr id="5" name="PDF_TEXT_GROUP_93"/>
          <p:cNvSpPr txBox="1"/>
          <p:nvPr/>
        </p:nvSpPr>
        <p:spPr>
          <a:xfrm>
            <a:off x="9386810" y="2567476"/>
            <a:ext cx="26019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Video segment</a:t>
            </a:r>
          </a:p>
        </p:txBody>
      </p:sp>
      <p:sp>
        <p:nvSpPr>
          <p:cNvPr id="6" name="PDF_TEXT_GROUP_94"/>
          <p:cNvSpPr txBox="1"/>
          <p:nvPr/>
        </p:nvSpPr>
        <p:spPr>
          <a:xfrm>
            <a:off x="8800876" y="3104466"/>
            <a:ext cx="807664"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1" i="0">
                <a:solidFill>
                  <a:srgbClr val="000000"/>
                </a:solidFill>
                <a:latin typeface="Latin Modern Sans"/>
              </a:rPr>
              <a:t>Interest</a:t>
            </a:r>
          </a:p>
        </p:txBody>
      </p:sp>
      <p:sp>
        <p:nvSpPr>
          <p:cNvPr id="7" name="PDF_TEXT_GROUP_95"/>
          <p:cNvSpPr txBox="1"/>
          <p:nvPr/>
        </p:nvSpPr>
        <p:spPr>
          <a:xfrm>
            <a:off x="2269091" y="3104473"/>
            <a:ext cx="807664"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1" i="0">
                <a:solidFill>
                  <a:srgbClr val="000000"/>
                </a:solidFill>
                <a:latin typeface="Latin Modern Sans"/>
              </a:rPr>
              <a:t>Interest</a:t>
            </a:r>
          </a:p>
        </p:txBody>
      </p:sp>
      <p:sp>
        <p:nvSpPr>
          <p:cNvPr id="8" name="PDF_TEXT_GROUP_96"/>
          <p:cNvSpPr txBox="1"/>
          <p:nvPr/>
        </p:nvSpPr>
        <p:spPr>
          <a:xfrm>
            <a:off x="2269091" y="3356615"/>
            <a:ext cx="3159453" cy="247856"/>
          </a:xfrm>
          <a:prstGeom prst="rect">
            <a:avLst/>
          </a:prstGeom>
          <a:noFill/>
          <a:ln>
            <a:noFill/>
          </a:ln>
        </p:spPr>
        <p:txBody>
          <a:bodyPr wrap="none" anchor="t" lIns="0" rIns="0" tIns="0" bIns="0">
            <a:noAutofit/>
          </a:bodyPr>
          <a:lstStyle/>
          <a:p>
            <a:pPr algn="l">
              <a:lnSpc>
                <a:spcPct val="100000"/>
              </a:lnSpc>
              <a:spcBef>
                <a:spcPts val="0"/>
              </a:spcBef>
              <a:spcAft>
                <a:spcPts val="0"/>
              </a:spcAft>
            </a:pPr>
            <a:r>
              <a:rPr sz="1524" b="0" i="0">
                <a:solidFill>
                  <a:srgbClr val="000000"/>
                </a:solidFill>
                <a:latin typeface="Latin Modern Mono"/>
              </a:rPr>
              <a:t>/UAV/Drone1/telemetry/status</a:t>
            </a:r>
          </a:p>
        </p:txBody>
      </p:sp>
      <p:sp>
        <p:nvSpPr>
          <p:cNvPr id="9" name="PDF_TEXT_GROUP_97"/>
          <p:cNvSpPr txBox="1"/>
          <p:nvPr/>
        </p:nvSpPr>
        <p:spPr>
          <a:xfrm>
            <a:off x="8800876" y="3356633"/>
            <a:ext cx="3723467" cy="247856"/>
          </a:xfrm>
          <a:prstGeom prst="rect">
            <a:avLst/>
          </a:prstGeom>
          <a:noFill/>
          <a:ln>
            <a:noFill/>
          </a:ln>
        </p:spPr>
        <p:txBody>
          <a:bodyPr wrap="none" anchor="t" lIns="0" rIns="0" tIns="0" bIns="0">
            <a:noAutofit/>
          </a:bodyPr>
          <a:lstStyle/>
          <a:p>
            <a:pPr algn="l">
              <a:lnSpc>
                <a:spcPct val="100000"/>
              </a:lnSpc>
              <a:spcBef>
                <a:spcPts val="0"/>
              </a:spcBef>
              <a:spcAft>
                <a:spcPts val="0"/>
              </a:spcAft>
            </a:pPr>
            <a:r>
              <a:rPr sz="1524" b="0" i="0">
                <a:solidFill>
                  <a:srgbClr val="000000"/>
                </a:solidFill>
                <a:latin typeface="Latin Modern Mono"/>
              </a:rPr>
              <a:t>/UAV/Drone2/video/frame/&lt;segment&gt;</a:t>
            </a:r>
          </a:p>
        </p:txBody>
      </p:sp>
      <p:sp>
        <p:nvSpPr>
          <p:cNvPr id="10" name="PDF_TEXT_GROUP_98"/>
          <p:cNvSpPr txBox="1"/>
          <p:nvPr/>
        </p:nvSpPr>
        <p:spPr>
          <a:xfrm>
            <a:off x="2269091" y="3572156"/>
            <a:ext cx="2727719"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CanBePrefix + MustBeFresh</a:t>
            </a:r>
          </a:p>
        </p:txBody>
      </p:sp>
      <p:sp>
        <p:nvSpPr>
          <p:cNvPr id="11" name="PDF_TEXT_GROUP_99"/>
          <p:cNvSpPr txBox="1"/>
          <p:nvPr/>
        </p:nvSpPr>
        <p:spPr>
          <a:xfrm>
            <a:off x="7851977" y="3861742"/>
            <a:ext cx="755018"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Ground</a:t>
            </a:r>
          </a:p>
        </p:txBody>
      </p:sp>
      <p:sp>
        <p:nvSpPr>
          <p:cNvPr id="12" name="PDF_TEXT_GROUP_100"/>
          <p:cNvSpPr txBox="1"/>
          <p:nvPr/>
        </p:nvSpPr>
        <p:spPr>
          <a:xfrm>
            <a:off x="1320192" y="3967002"/>
            <a:ext cx="766851" cy="50940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Ground</a:t>
            </a:r>
            <a:r>
              <a:rPr sz="1524" b="0" i="0">
                <a:solidFill>
                  <a:srgbClr val="000000"/>
                </a:solidFill>
                <a:latin typeface="Latin Modern Sans"/>
              </a:rPr>
              <a:t> station</a:t>
            </a:r>
          </a:p>
        </p:txBody>
      </p:sp>
      <p:sp>
        <p:nvSpPr>
          <p:cNvPr id="13" name="PDF_TEXT_GROUP_101"/>
          <p:cNvSpPr txBox="1"/>
          <p:nvPr/>
        </p:nvSpPr>
        <p:spPr>
          <a:xfrm>
            <a:off x="12711086" y="3978657"/>
            <a:ext cx="689116"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UAV 2</a:t>
            </a:r>
          </a:p>
        </p:txBody>
      </p:sp>
      <p:sp>
        <p:nvSpPr>
          <p:cNvPr id="14" name="PDF_TEXT_GROUP_102"/>
          <p:cNvSpPr txBox="1"/>
          <p:nvPr/>
        </p:nvSpPr>
        <p:spPr>
          <a:xfrm>
            <a:off x="6179301" y="4083941"/>
            <a:ext cx="689116"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UAV 1</a:t>
            </a:r>
          </a:p>
        </p:txBody>
      </p:sp>
      <p:sp>
        <p:nvSpPr>
          <p:cNvPr id="15" name="PDF_TEXT_GROUP_103"/>
          <p:cNvSpPr txBox="1"/>
          <p:nvPr/>
        </p:nvSpPr>
        <p:spPr>
          <a:xfrm>
            <a:off x="7874579" y="4095571"/>
            <a:ext cx="709805"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station</a:t>
            </a:r>
          </a:p>
        </p:txBody>
      </p:sp>
      <p:sp>
        <p:nvSpPr>
          <p:cNvPr id="16" name="PDF_TEXT_GROUP_104"/>
          <p:cNvSpPr txBox="1"/>
          <p:nvPr/>
        </p:nvSpPr>
        <p:spPr>
          <a:xfrm>
            <a:off x="2269091" y="4519431"/>
            <a:ext cx="558415"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1" i="0">
                <a:solidFill>
                  <a:srgbClr val="000000"/>
                </a:solidFill>
                <a:latin typeface="Latin Modern Sans"/>
              </a:rPr>
              <a:t>Data</a:t>
            </a:r>
          </a:p>
        </p:txBody>
      </p:sp>
      <p:sp>
        <p:nvSpPr>
          <p:cNvPr id="17" name="PDF_TEXT_GROUP_105"/>
          <p:cNvSpPr txBox="1"/>
          <p:nvPr/>
        </p:nvSpPr>
        <p:spPr>
          <a:xfrm>
            <a:off x="8800876" y="4531085"/>
            <a:ext cx="558415"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1" i="0">
                <a:solidFill>
                  <a:srgbClr val="000000"/>
                </a:solidFill>
                <a:latin typeface="Latin Modern Sans"/>
              </a:rPr>
              <a:t>Data</a:t>
            </a:r>
          </a:p>
        </p:txBody>
      </p:sp>
      <p:sp>
        <p:nvSpPr>
          <p:cNvPr id="18" name="PDF_TEXT_GROUP_106"/>
          <p:cNvSpPr txBox="1"/>
          <p:nvPr/>
        </p:nvSpPr>
        <p:spPr>
          <a:xfrm>
            <a:off x="2269091" y="4771598"/>
            <a:ext cx="3836312" cy="247856"/>
          </a:xfrm>
          <a:prstGeom prst="rect">
            <a:avLst/>
          </a:prstGeom>
          <a:noFill/>
          <a:ln>
            <a:noFill/>
          </a:ln>
        </p:spPr>
        <p:txBody>
          <a:bodyPr wrap="none" anchor="t" lIns="0" rIns="0" tIns="0" bIns="0">
            <a:noAutofit/>
          </a:bodyPr>
          <a:lstStyle/>
          <a:p>
            <a:pPr algn="l">
              <a:lnSpc>
                <a:spcPct val="100000"/>
              </a:lnSpc>
              <a:spcBef>
                <a:spcPts val="0"/>
              </a:spcBef>
              <a:spcAft>
                <a:spcPts val="0"/>
              </a:spcAft>
            </a:pPr>
            <a:r>
              <a:rPr sz="1524" b="0" i="0">
                <a:solidFill>
                  <a:srgbClr val="000000"/>
                </a:solidFill>
                <a:latin typeface="Latin Modern Mono"/>
              </a:rPr>
              <a:t>/UAV/Drone1/telemetry/status/&lt;seq&gt;</a:t>
            </a:r>
          </a:p>
        </p:txBody>
      </p:sp>
      <p:sp>
        <p:nvSpPr>
          <p:cNvPr id="19" name="PDF_TEXT_GROUP_107"/>
          <p:cNvSpPr txBox="1"/>
          <p:nvPr/>
        </p:nvSpPr>
        <p:spPr>
          <a:xfrm>
            <a:off x="8800876" y="4783228"/>
            <a:ext cx="3723467" cy="247856"/>
          </a:xfrm>
          <a:prstGeom prst="rect">
            <a:avLst/>
          </a:prstGeom>
          <a:noFill/>
          <a:ln>
            <a:noFill/>
          </a:ln>
        </p:spPr>
        <p:txBody>
          <a:bodyPr wrap="none" anchor="t" lIns="0" rIns="0" tIns="0" bIns="0">
            <a:noAutofit/>
          </a:bodyPr>
          <a:lstStyle/>
          <a:p>
            <a:pPr algn="l">
              <a:lnSpc>
                <a:spcPct val="100000"/>
              </a:lnSpc>
              <a:spcBef>
                <a:spcPts val="0"/>
              </a:spcBef>
              <a:spcAft>
                <a:spcPts val="0"/>
              </a:spcAft>
            </a:pPr>
            <a:r>
              <a:rPr sz="1524" b="0" i="0">
                <a:solidFill>
                  <a:srgbClr val="000000"/>
                </a:solidFill>
                <a:latin typeface="Latin Modern Mono"/>
              </a:rPr>
              <a:t>/UAV/Drone2/video/frame/&lt;segment&gt;</a:t>
            </a:r>
          </a:p>
        </p:txBody>
      </p:sp>
      <p:sp>
        <p:nvSpPr>
          <p:cNvPr id="20" name="PDF_TEXT_GROUP_108"/>
          <p:cNvSpPr txBox="1"/>
          <p:nvPr/>
        </p:nvSpPr>
        <p:spPr>
          <a:xfrm>
            <a:off x="2269091" y="4987114"/>
            <a:ext cx="3083367" cy="50940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content: position, battery, health;</a:t>
            </a:r>
            <a:r>
              <a:rPr sz="1524" b="0" i="0">
                <a:solidFill>
                  <a:srgbClr val="000000"/>
                </a:solidFill>
                <a:latin typeface="Latin Modern Sans"/>
              </a:rPr>
              <a:t> signed by Drone1</a:t>
            </a:r>
          </a:p>
        </p:txBody>
      </p:sp>
      <p:sp>
        <p:nvSpPr>
          <p:cNvPr id="21" name="PDF_TEXT_GROUP_109"/>
          <p:cNvSpPr txBox="1"/>
          <p:nvPr/>
        </p:nvSpPr>
        <p:spPr>
          <a:xfrm>
            <a:off x="8800876" y="4998768"/>
            <a:ext cx="3779603"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content: video chunk; signed by Drone2</a:t>
            </a:r>
          </a:p>
        </p:txBody>
      </p:sp>
      <p:sp>
        <p:nvSpPr>
          <p:cNvPr id="22" name="PDF_TEXT_GROUP_110"/>
          <p:cNvSpPr txBox="1"/>
          <p:nvPr/>
        </p:nvSpPr>
        <p:spPr>
          <a:xfrm>
            <a:off x="914808" y="5669018"/>
            <a:ext cx="1289930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Takeaway:</a:t>
            </a:r>
            <a:r>
              <a:rPr sz="2371" b="0" i="0">
                <a:solidFill>
                  <a:srgbClr val="000000"/>
                </a:solidFill>
                <a:latin typeface="Latin Modern Sans"/>
              </a:rPr>
              <a:t> applications name desired data; any valid producer, cache, or repository can return</a:t>
            </a:r>
            <a:r>
              <a:rPr sz="2371" b="0" i="0">
                <a:solidFill>
                  <a:srgbClr val="000000"/>
                </a:solidFill>
                <a:latin typeface="Latin Modern Sans"/>
              </a:rPr>
              <a:t> signed Data with a matching name.</a:t>
            </a:r>
          </a:p>
        </p:txBody>
      </p:sp>
      <p:sp>
        <p:nvSpPr>
          <p:cNvPr id="23" name="PDF_TEXT_GROUP_11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11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11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114"/>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7" name="PDF_TEXT_GROUP_115"/>
          <p:cNvSpPr txBox="1"/>
          <p:nvPr/>
        </p:nvSpPr>
        <p:spPr>
          <a:xfrm>
            <a:off x="11416903"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7/64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11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 Data-Centric Security</a:t>
            </a:r>
          </a:p>
        </p:txBody>
      </p:sp>
      <p:sp>
        <p:nvSpPr>
          <p:cNvPr id="4" name="PDF_TEXT_GROUP_117"/>
          <p:cNvSpPr txBox="1"/>
          <p:nvPr/>
        </p:nvSpPr>
        <p:spPr>
          <a:xfrm>
            <a:off x="914808" y="1702334"/>
            <a:ext cx="1328009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In NDN</a:t>
            </a:r>
            <a:r>
              <a:rPr sz="2710" b="1" i="0">
                <a:solidFill>
                  <a:srgbClr val="1A3E79"/>
                </a:solidFill>
                <a:latin typeface="Latin Modern Sans"/>
              </a:rPr>
              <a:t> [1]</a:t>
            </a:r>
            <a:r>
              <a:rPr sz="2710" b="1" i="0">
                <a:solidFill>
                  <a:srgbClr val="000000"/>
                </a:solidFill>
                <a:latin typeface="Latin Modern Sans"/>
              </a:rPr>
              <a:t>, security is attached to Data, not to the channel that carried it.</a:t>
            </a:r>
          </a:p>
        </p:txBody>
      </p:sp>
      <p:sp>
        <p:nvSpPr>
          <p:cNvPr id="5" name="PDF_TEXT_GROUP_118"/>
          <p:cNvSpPr txBox="1"/>
          <p:nvPr/>
        </p:nvSpPr>
        <p:spPr>
          <a:xfrm>
            <a:off x="5925989" y="2838111"/>
            <a:ext cx="9612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a:t>
            </a:r>
          </a:p>
        </p:txBody>
      </p:sp>
      <p:sp>
        <p:nvSpPr>
          <p:cNvPr id="6" name="PDF_TEXT_GROUP_119"/>
          <p:cNvSpPr txBox="1"/>
          <p:nvPr/>
        </p:nvSpPr>
        <p:spPr>
          <a:xfrm>
            <a:off x="5779502" y="3525132"/>
            <a:ext cx="12542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Content</a:t>
            </a:r>
          </a:p>
        </p:txBody>
      </p:sp>
      <p:sp>
        <p:nvSpPr>
          <p:cNvPr id="7" name="PDF_TEXT_GROUP_120"/>
          <p:cNvSpPr txBox="1"/>
          <p:nvPr/>
        </p:nvSpPr>
        <p:spPr>
          <a:xfrm>
            <a:off x="9996016" y="3560123"/>
            <a:ext cx="1571423" cy="963470"/>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1A3E79"/>
                </a:solidFill>
                <a:latin typeface="Latin Modern Sans"/>
              </a:rPr>
              <a:t>verify Data</a:t>
            </a:r>
            <a:br/>
            <a:r>
              <a:rPr sz="1863" b="0" i="0">
                <a:solidFill>
                  <a:srgbClr val="1A3E79"/>
                </a:solidFill>
                <a:latin typeface="Latin Modern Sans"/>
              </a:rPr>
              <a:t>authenticity</a:t>
            </a:r>
            <a:br/>
            <a:r>
              <a:rPr sz="1863" b="0" i="0">
                <a:solidFill>
                  <a:srgbClr val="1A3E79"/>
                </a:solidFill>
                <a:latin typeface="Latin Modern Sans"/>
              </a:rPr>
              <a:t>and integrity</a:t>
            </a:r>
          </a:p>
        </p:txBody>
      </p:sp>
      <p:sp>
        <p:nvSpPr>
          <p:cNvPr id="8" name="PDF_TEXT_GROUP_121"/>
          <p:cNvSpPr txBox="1"/>
          <p:nvPr/>
        </p:nvSpPr>
        <p:spPr>
          <a:xfrm>
            <a:off x="5680392" y="4180872"/>
            <a:ext cx="14525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a:t>
            </a:r>
          </a:p>
        </p:txBody>
      </p:sp>
      <p:sp>
        <p:nvSpPr>
          <p:cNvPr id="9" name="PDF_TEXT_GROUP_122"/>
          <p:cNvSpPr txBox="1"/>
          <p:nvPr/>
        </p:nvSpPr>
        <p:spPr>
          <a:xfrm>
            <a:off x="1618972" y="5496039"/>
            <a:ext cx="681048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consumer can verify Data after retrieval.</a:t>
            </a:r>
          </a:p>
        </p:txBody>
      </p:sp>
      <p:sp>
        <p:nvSpPr>
          <p:cNvPr id="10" name="PDF_TEXT_GROUP_123"/>
          <p:cNvSpPr txBox="1"/>
          <p:nvPr/>
        </p:nvSpPr>
        <p:spPr>
          <a:xfrm>
            <a:off x="1618972" y="6030468"/>
            <a:ext cx="1146311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Verification still works through caches, repositories, and alternate paths.</a:t>
            </a:r>
          </a:p>
        </p:txBody>
      </p:sp>
      <p:sp>
        <p:nvSpPr>
          <p:cNvPr id="11" name="PDF_TEXT_GROUP_124"/>
          <p:cNvSpPr txBox="1"/>
          <p:nvPr/>
        </p:nvSpPr>
        <p:spPr>
          <a:xfrm>
            <a:off x="1618972" y="6564896"/>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Access-control policy is a higher-layer question, to be explained later with NDNSF.</a:t>
            </a:r>
          </a:p>
        </p:txBody>
      </p:sp>
      <p:sp>
        <p:nvSpPr>
          <p:cNvPr id="12" name="PDF_TEXT_GROUP_12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2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2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2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6" name="PDF_TEXT_GROUP_129"/>
          <p:cNvSpPr txBox="1"/>
          <p:nvPr/>
        </p:nvSpPr>
        <p:spPr>
          <a:xfrm>
            <a:off x="11416903"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8/64</a:t>
            </a:r>
          </a:p>
        </p:txBody>
      </p:sp>
      <p:sp>
        <p:nvSpPr>
          <p:cNvPr id="17" name="PDF_BULLET_SPAN_186"/>
          <p:cNvSpPr/>
          <p:nvPr/>
        </p:nvSpPr>
        <p:spPr>
          <a:xfrm rot="5400000">
            <a:off x="1207424" y="55818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88"/>
          <p:cNvSpPr/>
          <p:nvPr/>
        </p:nvSpPr>
        <p:spPr>
          <a:xfrm rot="5400000">
            <a:off x="1207424" y="611625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90"/>
          <p:cNvSpPr/>
          <p:nvPr/>
        </p:nvSpPr>
        <p:spPr>
          <a:xfrm rot="5400000">
            <a:off x="1207424" y="66506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3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 Sync and State Vector Sync</a:t>
            </a:r>
          </a:p>
        </p:txBody>
      </p:sp>
      <p:sp>
        <p:nvSpPr>
          <p:cNvPr id="4" name="PDF_TEXT_GROUP_131"/>
          <p:cNvSpPr txBox="1"/>
          <p:nvPr/>
        </p:nvSpPr>
        <p:spPr>
          <a:xfrm>
            <a:off x="914808" y="1159309"/>
            <a:ext cx="1241102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NDN Sync</a:t>
            </a:r>
            <a:r>
              <a:rPr sz="2710" b="1" i="0">
                <a:solidFill>
                  <a:srgbClr val="1A3E79"/>
                </a:solidFill>
                <a:latin typeface="Latin Modern Sans"/>
              </a:rPr>
              <a:t> [2]</a:t>
            </a:r>
            <a:r>
              <a:rPr sz="2710" b="1" i="0">
                <a:solidFill>
                  <a:srgbClr val="000000"/>
                </a:solidFill>
                <a:latin typeface="Latin Modern Sans"/>
              </a:rPr>
              <a:t> communicates dataset changes; State Vector Sync (SVS)</a:t>
            </a:r>
            <a:r>
              <a:rPr sz="2710" b="1" i="0">
                <a:solidFill>
                  <a:srgbClr val="1A3E79"/>
                </a:solidFill>
                <a:latin typeface="Latin Modern Sans"/>
              </a:rPr>
              <a:t> [3]</a:t>
            </a:r>
            <a:r>
              <a:rPr sz="2710" b="1" i="0">
                <a:solidFill>
                  <a:srgbClr val="000000"/>
                </a:solidFill>
                <a:latin typeface="Latin Modern Sans"/>
              </a:rPr>
              <a:t> synchronizes Alice, Bob, and Ted’s knowledge of that dataset.</a:t>
            </a:r>
          </a:p>
        </p:txBody>
      </p:sp>
      <p:sp>
        <p:nvSpPr>
          <p:cNvPr id="5" name="PDF_TEXT_GROUP_132"/>
          <p:cNvSpPr txBox="1"/>
          <p:nvPr/>
        </p:nvSpPr>
        <p:spPr>
          <a:xfrm>
            <a:off x="2882626" y="2371788"/>
            <a:ext cx="816451"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Alice</a:t>
            </a:r>
          </a:p>
        </p:txBody>
      </p:sp>
      <p:sp>
        <p:nvSpPr>
          <p:cNvPr id="6" name="PDF_TEXT_GROUP_133"/>
          <p:cNvSpPr txBox="1"/>
          <p:nvPr/>
        </p:nvSpPr>
        <p:spPr>
          <a:xfrm>
            <a:off x="6968144" y="2371788"/>
            <a:ext cx="700875" cy="35801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202" b="1" i="0">
                <a:solidFill>
                  <a:srgbClr val="000000"/>
                </a:solidFill>
                <a:latin typeface="Latin Modern Sans"/>
              </a:rPr>
              <a:t>Bob</a:t>
            </a:r>
          </a:p>
        </p:txBody>
      </p:sp>
      <p:sp>
        <p:nvSpPr>
          <p:cNvPr id="7" name="PDF_TEXT_GROUP_134"/>
          <p:cNvSpPr txBox="1"/>
          <p:nvPr/>
        </p:nvSpPr>
        <p:spPr>
          <a:xfrm>
            <a:off x="11182536" y="2371788"/>
            <a:ext cx="663043"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Ted</a:t>
            </a:r>
          </a:p>
        </p:txBody>
      </p:sp>
      <p:sp>
        <p:nvSpPr>
          <p:cNvPr id="8" name="PDF_TEXT_GROUP_135"/>
          <p:cNvSpPr txBox="1"/>
          <p:nvPr/>
        </p:nvSpPr>
        <p:spPr>
          <a:xfrm>
            <a:off x="1811260" y="2715423"/>
            <a:ext cx="3014865"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publishes</a:t>
            </a:r>
            <a:r>
              <a:rPr sz="2202" b="0" i="0">
                <a:solidFill>
                  <a:srgbClr val="000000"/>
                </a:solidFill>
                <a:latin typeface="Latin Modern Mono"/>
              </a:rPr>
              <a:t> /alice/113</a:t>
            </a:r>
          </a:p>
        </p:txBody>
      </p:sp>
      <p:sp>
        <p:nvSpPr>
          <p:cNvPr id="9" name="PDF_TEXT_GROUP_136"/>
          <p:cNvSpPr txBox="1"/>
          <p:nvPr/>
        </p:nvSpPr>
        <p:spPr>
          <a:xfrm>
            <a:off x="5977042" y="2715423"/>
            <a:ext cx="2683191" cy="35801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202" b="0" i="0">
                <a:solidFill>
                  <a:srgbClr val="000000"/>
                </a:solidFill>
                <a:latin typeface="Latin Modern Sans"/>
              </a:rPr>
              <a:t>publishes</a:t>
            </a:r>
            <a:r>
              <a:rPr sz="2202" b="0" i="0">
                <a:solidFill>
                  <a:srgbClr val="000000"/>
                </a:solidFill>
                <a:latin typeface="Latin Modern Mono"/>
              </a:rPr>
              <a:t> /bob/131</a:t>
            </a:r>
          </a:p>
        </p:txBody>
      </p:sp>
      <p:sp>
        <p:nvSpPr>
          <p:cNvPr id="10" name="PDF_TEXT_GROUP_137"/>
          <p:cNvSpPr txBox="1"/>
          <p:nvPr/>
        </p:nvSpPr>
        <p:spPr>
          <a:xfrm>
            <a:off x="10188009" y="2715423"/>
            <a:ext cx="2683230"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publishes</a:t>
            </a:r>
            <a:r>
              <a:rPr sz="2202" b="0" i="0">
                <a:solidFill>
                  <a:srgbClr val="000000"/>
                </a:solidFill>
                <a:latin typeface="Latin Modern Mono"/>
              </a:rPr>
              <a:t> /ted/114</a:t>
            </a:r>
          </a:p>
        </p:txBody>
      </p:sp>
      <p:sp>
        <p:nvSpPr>
          <p:cNvPr id="11" name="PDF_TEXT_GROUP_138"/>
          <p:cNvSpPr txBox="1"/>
          <p:nvPr/>
        </p:nvSpPr>
        <p:spPr>
          <a:xfrm>
            <a:off x="4126306" y="3447999"/>
            <a:ext cx="2067332" cy="55783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694" b="0" i="0">
                <a:solidFill>
                  <a:srgbClr val="1A3E79"/>
                </a:solidFill>
                <a:latin typeface="Latin Modern Sans"/>
              </a:rPr>
              <a:t>Sync Interest carries</a:t>
            </a:r>
            <a:br/>
            <a:r>
              <a:rPr sz="1694" b="0" i="0">
                <a:solidFill>
                  <a:srgbClr val="1A3E79"/>
                </a:solidFill>
                <a:latin typeface="Latin Modern Sans"/>
              </a:rPr>
              <a:t>a state vector</a:t>
            </a:r>
          </a:p>
        </p:txBody>
      </p:sp>
      <p:sp>
        <p:nvSpPr>
          <p:cNvPr id="12" name="PDF_TEXT_GROUP_139"/>
          <p:cNvSpPr txBox="1"/>
          <p:nvPr/>
        </p:nvSpPr>
        <p:spPr>
          <a:xfrm>
            <a:off x="1742216" y="3469865"/>
            <a:ext cx="1486356"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1A3E79"/>
                </a:solidFill>
                <a:latin typeface="Latin Modern Sans"/>
              </a:rPr>
              <a:t>local state</a:t>
            </a:r>
          </a:p>
        </p:txBody>
      </p:sp>
      <p:sp>
        <p:nvSpPr>
          <p:cNvPr id="13" name="PDF_TEXT_GROUP_140"/>
          <p:cNvSpPr txBox="1"/>
          <p:nvPr/>
        </p:nvSpPr>
        <p:spPr>
          <a:xfrm>
            <a:off x="7464863" y="3469865"/>
            <a:ext cx="1486356"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1A3E79"/>
                </a:solidFill>
                <a:latin typeface="Latin Modern Sans"/>
              </a:rPr>
              <a:t>local state</a:t>
            </a:r>
          </a:p>
        </p:txBody>
      </p:sp>
      <p:sp>
        <p:nvSpPr>
          <p:cNvPr id="14" name="PDF_TEXT_GROUP_141"/>
          <p:cNvSpPr txBox="1"/>
          <p:nvPr/>
        </p:nvSpPr>
        <p:spPr>
          <a:xfrm>
            <a:off x="11576489" y="3469865"/>
            <a:ext cx="1486356"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1A3E79"/>
                </a:solidFill>
                <a:latin typeface="Latin Modern Sans"/>
              </a:rPr>
              <a:t>local state</a:t>
            </a:r>
          </a:p>
        </p:txBody>
      </p:sp>
      <p:sp>
        <p:nvSpPr>
          <p:cNvPr id="15" name="PDF_TEXT_GROUP_142"/>
          <p:cNvSpPr txBox="1"/>
          <p:nvPr/>
        </p:nvSpPr>
        <p:spPr>
          <a:xfrm>
            <a:off x="1748345" y="4211752"/>
            <a:ext cx="3150716" cy="358014"/>
          </a:xfrm>
          <a:prstGeom prst="rect">
            <a:avLst/>
          </a:prstGeom>
          <a:noFill/>
          <a:ln>
            <a:noFill/>
          </a:ln>
        </p:spPr>
        <p:txBody>
          <a:bodyPr wrap="none" anchor="t" lIns="0" rIns="0" tIns="0" bIns="0">
            <a:noAutofit/>
          </a:bodyPr>
          <a:lstStyle/>
          <a:p>
            <a:pPr algn="l">
              <a:lnSpc>
                <a:spcPct val="100000"/>
              </a:lnSpc>
              <a:spcBef>
                <a:spcPts val="0"/>
              </a:spcBef>
              <a:spcAft>
                <a:spcPts val="0"/>
              </a:spcAft>
            </a:pPr>
            <a:r>
              <a:rPr sz="2202" b="0" i="0">
                <a:solidFill>
                  <a:srgbClr val="000000"/>
                </a:solidFill>
                <a:latin typeface="Latin Modern Mono"/>
              </a:rPr>
              <a:t>A:113, B:130, T:114</a:t>
            </a:r>
          </a:p>
        </p:txBody>
      </p:sp>
      <p:sp>
        <p:nvSpPr>
          <p:cNvPr id="16" name="PDF_TEXT_GROUP_143"/>
          <p:cNvSpPr txBox="1"/>
          <p:nvPr/>
        </p:nvSpPr>
        <p:spPr>
          <a:xfrm>
            <a:off x="5743277" y="4211752"/>
            <a:ext cx="3150716" cy="358014"/>
          </a:xfrm>
          <a:prstGeom prst="rect">
            <a:avLst/>
          </a:prstGeom>
          <a:noFill/>
          <a:ln>
            <a:noFill/>
          </a:ln>
        </p:spPr>
        <p:txBody>
          <a:bodyPr wrap="none" anchor="t" lIns="0" rIns="0" tIns="0" bIns="0">
            <a:noAutofit/>
          </a:bodyPr>
          <a:lstStyle/>
          <a:p>
            <a:pPr algn="ctr">
              <a:lnSpc>
                <a:spcPct val="100000"/>
              </a:lnSpc>
              <a:spcBef>
                <a:spcPts val="0"/>
              </a:spcBef>
              <a:spcAft>
                <a:spcPts val="0"/>
              </a:spcAft>
            </a:pPr>
            <a:r>
              <a:rPr sz="2202" b="0" i="0">
                <a:solidFill>
                  <a:srgbClr val="000000"/>
                </a:solidFill>
                <a:latin typeface="Latin Modern Mono"/>
              </a:rPr>
              <a:t>A:113, B:131, T:114</a:t>
            </a:r>
          </a:p>
        </p:txBody>
      </p:sp>
      <p:sp>
        <p:nvSpPr>
          <p:cNvPr id="17" name="PDF_TEXT_GROUP_144"/>
          <p:cNvSpPr txBox="1"/>
          <p:nvPr/>
        </p:nvSpPr>
        <p:spPr>
          <a:xfrm>
            <a:off x="9971596" y="4211752"/>
            <a:ext cx="3150716" cy="358014"/>
          </a:xfrm>
          <a:prstGeom prst="rect">
            <a:avLst/>
          </a:prstGeom>
          <a:noFill/>
          <a:ln>
            <a:noFill/>
          </a:ln>
        </p:spPr>
        <p:txBody>
          <a:bodyPr wrap="none" anchor="t" lIns="0" rIns="0" tIns="0" bIns="0">
            <a:noAutofit/>
          </a:bodyPr>
          <a:lstStyle/>
          <a:p>
            <a:pPr algn="l">
              <a:lnSpc>
                <a:spcPct val="100000"/>
              </a:lnSpc>
              <a:spcBef>
                <a:spcPts val="0"/>
              </a:spcBef>
              <a:spcAft>
                <a:spcPts val="0"/>
              </a:spcAft>
            </a:pPr>
            <a:r>
              <a:rPr sz="2202" b="0" i="0">
                <a:solidFill>
                  <a:srgbClr val="000000"/>
                </a:solidFill>
                <a:latin typeface="Latin Modern Mono"/>
              </a:rPr>
              <a:t>A:112, B:131, T:114</a:t>
            </a:r>
          </a:p>
        </p:txBody>
      </p:sp>
      <p:sp>
        <p:nvSpPr>
          <p:cNvPr id="18" name="PDF_TEXT_GROUP_145"/>
          <p:cNvSpPr txBox="1"/>
          <p:nvPr/>
        </p:nvSpPr>
        <p:spPr>
          <a:xfrm>
            <a:off x="4019229" y="5527098"/>
            <a:ext cx="2685947"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Alice detects B:131</a:t>
            </a:r>
          </a:p>
        </p:txBody>
      </p:sp>
      <p:sp>
        <p:nvSpPr>
          <p:cNvPr id="19" name="PDF_TEXT_GROUP_146"/>
          <p:cNvSpPr txBox="1"/>
          <p:nvPr/>
        </p:nvSpPr>
        <p:spPr>
          <a:xfrm>
            <a:off x="8203343" y="5527098"/>
            <a:ext cx="2529474"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Ted detects A:113</a:t>
            </a:r>
          </a:p>
        </p:txBody>
      </p:sp>
      <p:sp>
        <p:nvSpPr>
          <p:cNvPr id="20" name="PDF_TEXT_GROUP_147"/>
          <p:cNvSpPr txBox="1"/>
          <p:nvPr/>
        </p:nvSpPr>
        <p:spPr>
          <a:xfrm>
            <a:off x="4151694" y="5870769"/>
            <a:ext cx="2400041"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fetches</a:t>
            </a:r>
            <a:r>
              <a:rPr sz="2202" b="0" i="0">
                <a:solidFill>
                  <a:srgbClr val="000000"/>
                </a:solidFill>
                <a:latin typeface="Latin Modern Mono"/>
              </a:rPr>
              <a:t> /bob/131</a:t>
            </a:r>
          </a:p>
        </p:txBody>
      </p:sp>
      <p:sp>
        <p:nvSpPr>
          <p:cNvPr id="21" name="PDF_TEXT_GROUP_148"/>
          <p:cNvSpPr txBox="1"/>
          <p:nvPr/>
        </p:nvSpPr>
        <p:spPr>
          <a:xfrm>
            <a:off x="8109786" y="5870769"/>
            <a:ext cx="2731403"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fetches</a:t>
            </a:r>
            <a:r>
              <a:rPr sz="2202" b="0" i="0">
                <a:solidFill>
                  <a:srgbClr val="000000"/>
                </a:solidFill>
                <a:latin typeface="Latin Modern Mono"/>
              </a:rPr>
              <a:t> /alice/113</a:t>
            </a:r>
          </a:p>
        </p:txBody>
      </p:sp>
      <p:sp>
        <p:nvSpPr>
          <p:cNvPr id="22" name="PDF_TEXT_GROUP_149"/>
          <p:cNvSpPr txBox="1"/>
          <p:nvPr/>
        </p:nvSpPr>
        <p:spPr>
          <a:xfrm>
            <a:off x="1143656" y="6995905"/>
            <a:ext cx="12259446"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Each participant compares received and local sequence numbers, identifies missing names, and fetches the</a:t>
            </a:r>
            <a:r>
              <a:rPr sz="1863" b="0" i="0">
                <a:solidFill>
                  <a:srgbClr val="000000"/>
                </a:solidFill>
                <a:latin typeface="Latin Modern Sans"/>
              </a:rPr>
              <a:t> corresponding Data. All three converge on the same dataset without a central broker.</a:t>
            </a:r>
          </a:p>
        </p:txBody>
      </p:sp>
      <p:sp>
        <p:nvSpPr>
          <p:cNvPr id="23" name="PDF_TEXT_GROUP_1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1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1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153"/>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7" name="PDF_TEXT_GROUP_154"/>
          <p:cNvSpPr txBox="1"/>
          <p:nvPr/>
        </p:nvSpPr>
        <p:spPr>
          <a:xfrm>
            <a:off x="11416903"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9/64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Name-Based Access Control: NAC</a:t>
            </a:r>
          </a:p>
        </p:txBody>
      </p:sp>
      <p:sp>
        <p:nvSpPr>
          <p:cNvPr id="4" name="PDF_TEXT_GROUP_156"/>
          <p:cNvSpPr txBox="1"/>
          <p:nvPr/>
        </p:nvSpPr>
        <p:spPr>
          <a:xfrm>
            <a:off x="914808" y="1245268"/>
            <a:ext cx="1270936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NAC</a:t>
            </a:r>
            <a:r>
              <a:rPr sz="2710" b="1" i="0">
                <a:solidFill>
                  <a:srgbClr val="1A3E79"/>
                </a:solidFill>
                <a:latin typeface="Latin Modern Sans"/>
              </a:rPr>
              <a:t> [4]</a:t>
            </a:r>
            <a:r>
              <a:rPr sz="2710" b="1" i="0">
                <a:solidFill>
                  <a:srgbClr val="000000"/>
                </a:solidFill>
                <a:latin typeface="Latin Modern Sans"/>
              </a:rPr>
              <a:t> protects named NDN Data; NAC-ABE</a:t>
            </a:r>
            <a:r>
              <a:rPr sz="2710" b="1" i="0">
                <a:solidFill>
                  <a:srgbClr val="1A3E79"/>
                </a:solidFill>
                <a:latin typeface="Latin Modern Sans"/>
              </a:rPr>
              <a:t> [5,19]</a:t>
            </a:r>
            <a:r>
              <a:rPr sz="2710" b="1" i="0">
                <a:solidFill>
                  <a:srgbClr val="000000"/>
                </a:solidFill>
                <a:latin typeface="Latin Modern Sans"/>
              </a:rPr>
              <a:t> applies attribute-based</a:t>
            </a:r>
            <a:r>
              <a:rPr sz="2710" b="1" i="0">
                <a:solidFill>
                  <a:srgbClr val="000000"/>
                </a:solidFill>
                <a:latin typeface="Latin Modern Sans"/>
              </a:rPr>
              <a:t> decryption policy.</a:t>
            </a:r>
          </a:p>
        </p:txBody>
      </p:sp>
      <p:sp>
        <p:nvSpPr>
          <p:cNvPr id="5" name="PDF_TEXT_GROUP_157"/>
          <p:cNvSpPr txBox="1"/>
          <p:nvPr/>
        </p:nvSpPr>
        <p:spPr>
          <a:xfrm>
            <a:off x="1618972" y="2585439"/>
            <a:ext cx="517883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Content is encrypted at production,</a:t>
            </a:r>
          </a:p>
        </p:txBody>
      </p:sp>
      <p:sp>
        <p:nvSpPr>
          <p:cNvPr id="6" name="PDF_TEXT_GROUP_158"/>
          <p:cNvSpPr txBox="1"/>
          <p:nvPr/>
        </p:nvSpPr>
        <p:spPr>
          <a:xfrm>
            <a:off x="10985013" y="2966964"/>
            <a:ext cx="1356417"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1A3E79"/>
                </a:solidFill>
                <a:latin typeface="Latin Modern Sans"/>
              </a:rPr>
              <a:t>store / forward</a:t>
            </a:r>
          </a:p>
        </p:txBody>
      </p:sp>
      <p:sp>
        <p:nvSpPr>
          <p:cNvPr id="7" name="PDF_TEXT_GROUP_159"/>
          <p:cNvSpPr txBox="1"/>
          <p:nvPr/>
        </p:nvSpPr>
        <p:spPr>
          <a:xfrm>
            <a:off x="1618972" y="2971767"/>
            <a:ext cx="46319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so Data stays protected in caches</a:t>
            </a:r>
            <a:r>
              <a:rPr sz="2371" b="0" i="0">
                <a:solidFill>
                  <a:srgbClr val="000000"/>
                </a:solidFill>
                <a:latin typeface="Latin Modern Sans"/>
              </a:rPr>
              <a:t> and repositories.</a:t>
            </a:r>
          </a:p>
        </p:txBody>
      </p:sp>
      <p:sp>
        <p:nvSpPr>
          <p:cNvPr id="8" name="PDF_TEXT_GROUP_160"/>
          <p:cNvSpPr txBox="1"/>
          <p:nvPr/>
        </p:nvSpPr>
        <p:spPr>
          <a:xfrm>
            <a:off x="8093987" y="2977405"/>
            <a:ext cx="1339101"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1A3E79"/>
                </a:solidFill>
                <a:latin typeface="Latin Modern Sans"/>
              </a:rPr>
              <a:t>encrypt + sign</a:t>
            </a:r>
          </a:p>
        </p:txBody>
      </p:sp>
      <p:sp>
        <p:nvSpPr>
          <p:cNvPr id="9" name="PDF_TEXT_GROUP_161"/>
          <p:cNvSpPr txBox="1"/>
          <p:nvPr/>
        </p:nvSpPr>
        <p:spPr>
          <a:xfrm>
            <a:off x="9536216" y="3041845"/>
            <a:ext cx="1421010"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Encrypted Data</a:t>
            </a:r>
          </a:p>
        </p:txBody>
      </p:sp>
      <p:sp>
        <p:nvSpPr>
          <p:cNvPr id="10" name="PDF_TEXT_GROUP_162"/>
          <p:cNvSpPr txBox="1"/>
          <p:nvPr/>
        </p:nvSpPr>
        <p:spPr>
          <a:xfrm>
            <a:off x="7449798" y="3044461"/>
            <a:ext cx="656284"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UAV 1</a:t>
            </a:r>
          </a:p>
        </p:txBody>
      </p:sp>
      <p:sp>
        <p:nvSpPr>
          <p:cNvPr id="11" name="PDF_TEXT_GROUP_163"/>
          <p:cNvSpPr txBox="1"/>
          <p:nvPr/>
        </p:nvSpPr>
        <p:spPr>
          <a:xfrm>
            <a:off x="11996316" y="3155993"/>
            <a:ext cx="1171567"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cache / repo</a:t>
            </a:r>
          </a:p>
        </p:txBody>
      </p:sp>
      <p:sp>
        <p:nvSpPr>
          <p:cNvPr id="12" name="PDF_TEXT_GROUP_164"/>
          <p:cNvSpPr txBox="1"/>
          <p:nvPr/>
        </p:nvSpPr>
        <p:spPr>
          <a:xfrm>
            <a:off x="7362186" y="3267525"/>
            <a:ext cx="831510"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producer</a:t>
            </a:r>
          </a:p>
        </p:txBody>
      </p:sp>
      <p:sp>
        <p:nvSpPr>
          <p:cNvPr id="13" name="PDF_TEXT_GROUP_165"/>
          <p:cNvSpPr txBox="1"/>
          <p:nvPr/>
        </p:nvSpPr>
        <p:spPr>
          <a:xfrm>
            <a:off x="8995881" y="3282403"/>
            <a:ext cx="2593201" cy="220316"/>
          </a:xfrm>
          <a:prstGeom prst="rect">
            <a:avLst/>
          </a:prstGeom>
          <a:noFill/>
          <a:ln>
            <a:noFill/>
          </a:ln>
        </p:spPr>
        <p:txBody>
          <a:bodyPr wrap="none" anchor="t" lIns="0" rIns="0" tIns="0" bIns="0">
            <a:noAutofit/>
          </a:bodyPr>
          <a:lstStyle/>
          <a:p>
            <a:pPr algn="l">
              <a:lnSpc>
                <a:spcPct val="100000"/>
              </a:lnSpc>
              <a:spcBef>
                <a:spcPts val="0"/>
              </a:spcBef>
              <a:spcAft>
                <a:spcPts val="0"/>
              </a:spcAft>
            </a:pPr>
            <a:r>
              <a:rPr sz="1355" b="0" i="0">
                <a:solidFill>
                  <a:srgbClr val="000000"/>
                </a:solidFill>
                <a:latin typeface="Latin Modern Mono"/>
              </a:rPr>
              <a:t>/UAV/Drone1/video/seg/42</a:t>
            </a:r>
          </a:p>
        </p:txBody>
      </p:sp>
      <p:sp>
        <p:nvSpPr>
          <p:cNvPr id="14" name="PDF_TEXT_GROUP_166"/>
          <p:cNvSpPr txBox="1"/>
          <p:nvPr/>
        </p:nvSpPr>
        <p:spPr>
          <a:xfrm>
            <a:off x="8667348" y="3834542"/>
            <a:ext cx="1493280"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1A3E79"/>
                </a:solidFill>
                <a:latin typeface="Latin Modern Sans"/>
              </a:rPr>
              <a:t>decrypt by name</a:t>
            </a:r>
          </a:p>
        </p:txBody>
      </p:sp>
      <p:sp>
        <p:nvSpPr>
          <p:cNvPr id="15" name="PDF_TEXT_GROUP_167"/>
          <p:cNvSpPr txBox="1"/>
          <p:nvPr/>
        </p:nvSpPr>
        <p:spPr>
          <a:xfrm>
            <a:off x="1618972" y="3937603"/>
            <a:ext cx="4106791"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names express policy</a:t>
            </a:r>
            <a:r>
              <a:rPr sz="2371" b="0" i="0">
                <a:solidFill>
                  <a:srgbClr val="000000"/>
                </a:solidFill>
                <a:latin typeface="Latin Modern Sans"/>
              </a:rPr>
              <a:t> granularity and key names for</a:t>
            </a:r>
            <a:r>
              <a:rPr sz="2371" b="0" i="0">
                <a:solidFill>
                  <a:srgbClr val="000000"/>
                </a:solidFill>
                <a:latin typeface="Latin Modern Sans"/>
              </a:rPr>
              <a:t> automatic key retrieval.</a:t>
            </a:r>
          </a:p>
        </p:txBody>
      </p:sp>
      <p:sp>
        <p:nvSpPr>
          <p:cNvPr id="16" name="PDF_TEXT_GROUP_168"/>
          <p:cNvSpPr txBox="1"/>
          <p:nvPr/>
        </p:nvSpPr>
        <p:spPr>
          <a:xfrm>
            <a:off x="11915860" y="4069414"/>
            <a:ext cx="1858860"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1A3E79"/>
                </a:solidFill>
                <a:latin typeface="Latin Modern Sans"/>
              </a:rPr>
              <a:t>retrieve cached Data</a:t>
            </a:r>
          </a:p>
        </p:txBody>
      </p:sp>
      <p:sp>
        <p:nvSpPr>
          <p:cNvPr id="17" name="PDF_TEXT_GROUP_169"/>
          <p:cNvSpPr txBox="1"/>
          <p:nvPr/>
        </p:nvSpPr>
        <p:spPr>
          <a:xfrm>
            <a:off x="9559897" y="4398943"/>
            <a:ext cx="1392040" cy="47940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Ground station</a:t>
            </a:r>
            <a:r>
              <a:rPr sz="1355" b="0" i="0">
                <a:solidFill>
                  <a:srgbClr val="000000"/>
                </a:solidFill>
                <a:latin typeface="Latin Modern Sans"/>
              </a:rPr>
              <a:t> authorized user</a:t>
            </a:r>
          </a:p>
        </p:txBody>
      </p:sp>
      <p:sp>
        <p:nvSpPr>
          <p:cNvPr id="18" name="PDF_TEXT_GROUP_170"/>
          <p:cNvSpPr txBox="1"/>
          <p:nvPr/>
        </p:nvSpPr>
        <p:spPr>
          <a:xfrm>
            <a:off x="10286849" y="4900247"/>
            <a:ext cx="1646377"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1A3E79"/>
                </a:solidFill>
                <a:latin typeface="Latin Modern Sans"/>
              </a:rPr>
              <a:t>has matching keys</a:t>
            </a:r>
          </a:p>
        </p:txBody>
      </p:sp>
      <p:sp>
        <p:nvSpPr>
          <p:cNvPr id="19" name="PDF_TEXT_GROUP_171"/>
          <p:cNvSpPr txBox="1"/>
          <p:nvPr/>
        </p:nvSpPr>
        <p:spPr>
          <a:xfrm>
            <a:off x="9566911" y="5214974"/>
            <a:ext cx="1359681" cy="22031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ABE attributes</a:t>
            </a:r>
          </a:p>
        </p:txBody>
      </p:sp>
      <p:sp>
        <p:nvSpPr>
          <p:cNvPr id="20" name="PDF_TEXT_GROUP_172"/>
          <p:cNvSpPr txBox="1"/>
          <p:nvPr/>
        </p:nvSpPr>
        <p:spPr>
          <a:xfrm>
            <a:off x="1618972" y="5289767"/>
            <a:ext cx="4881113"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NAC-ABE uses attributes to decide</a:t>
            </a:r>
            <a:r>
              <a:rPr sz="2371" b="0" i="0">
                <a:solidFill>
                  <a:srgbClr val="000000"/>
                </a:solidFill>
                <a:latin typeface="Latin Modern Sans"/>
              </a:rPr>
              <a:t> which identities can decrypt named</a:t>
            </a:r>
            <a:r>
              <a:rPr sz="2371" b="0" i="0">
                <a:solidFill>
                  <a:srgbClr val="000000"/>
                </a:solidFill>
                <a:latin typeface="Latin Modern Sans"/>
              </a:rPr>
              <a:t> Data.</a:t>
            </a:r>
          </a:p>
        </p:txBody>
      </p:sp>
      <p:sp>
        <p:nvSpPr>
          <p:cNvPr id="21" name="PDF_TEXT_GROUP_173"/>
          <p:cNvSpPr txBox="1"/>
          <p:nvPr/>
        </p:nvSpPr>
        <p:spPr>
          <a:xfrm>
            <a:off x="9344727" y="5455532"/>
            <a:ext cx="1895470" cy="220316"/>
          </a:xfrm>
          <a:prstGeom prst="rect">
            <a:avLst/>
          </a:prstGeom>
          <a:noFill/>
          <a:ln>
            <a:noFill/>
          </a:ln>
        </p:spPr>
        <p:txBody>
          <a:bodyPr wrap="none" anchor="t" lIns="0" rIns="0" tIns="0" bIns="0">
            <a:noAutofit/>
          </a:bodyPr>
          <a:lstStyle/>
          <a:p>
            <a:pPr algn="l">
              <a:lnSpc>
                <a:spcPct val="100000"/>
              </a:lnSpc>
              <a:spcBef>
                <a:spcPts val="0"/>
              </a:spcBef>
              <a:spcAft>
                <a:spcPts val="0"/>
              </a:spcAft>
            </a:pPr>
            <a:r>
              <a:rPr sz="1355" b="0" i="0">
                <a:solidFill>
                  <a:srgbClr val="000000"/>
                </a:solidFill>
                <a:latin typeface="Latin Modern Mono"/>
              </a:rPr>
              <a:t>/UAV/Drone1/video</a:t>
            </a:r>
          </a:p>
        </p:txBody>
      </p:sp>
      <p:sp>
        <p:nvSpPr>
          <p:cNvPr id="22" name="PDF_TEXT_GROUP_174"/>
          <p:cNvSpPr txBox="1"/>
          <p:nvPr/>
        </p:nvSpPr>
        <p:spPr>
          <a:xfrm>
            <a:off x="9245064" y="5678595"/>
            <a:ext cx="2094821" cy="220316"/>
          </a:xfrm>
          <a:prstGeom prst="rect">
            <a:avLst/>
          </a:prstGeom>
          <a:noFill/>
          <a:ln>
            <a:noFill/>
          </a:ln>
        </p:spPr>
        <p:txBody>
          <a:bodyPr wrap="none" anchor="t" lIns="0" rIns="0" tIns="0" bIns="0">
            <a:noAutofit/>
          </a:bodyPr>
          <a:lstStyle/>
          <a:p>
            <a:pPr algn="l">
              <a:lnSpc>
                <a:spcPct val="100000"/>
              </a:lnSpc>
              <a:spcBef>
                <a:spcPts val="0"/>
              </a:spcBef>
              <a:spcAft>
                <a:spcPts val="0"/>
              </a:spcAft>
            </a:pPr>
            <a:r>
              <a:rPr sz="1355" b="0" i="0">
                <a:solidFill>
                  <a:srgbClr val="000000"/>
                </a:solidFill>
                <a:latin typeface="Latin Modern Mono"/>
              </a:rPr>
              <a:t>/ROLE/GroundStation</a:t>
            </a:r>
          </a:p>
        </p:txBody>
      </p:sp>
      <p:sp>
        <p:nvSpPr>
          <p:cNvPr id="23" name="PDF_TEXT_GROUP_175"/>
          <p:cNvSpPr txBox="1"/>
          <p:nvPr/>
        </p:nvSpPr>
        <p:spPr>
          <a:xfrm>
            <a:off x="1143656" y="6867000"/>
            <a:ext cx="12168571"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Example: UAV telemetry or video Data can be cached anywhere, but only ground stations with matching</a:t>
            </a:r>
            <a:r>
              <a:rPr sz="1863" b="0" i="0">
                <a:solidFill>
                  <a:srgbClr val="000000"/>
                </a:solidFill>
                <a:latin typeface="Latin Modern Sans"/>
              </a:rPr>
              <a:t> NAC-ABE attributes can decrypt it.</a:t>
            </a:r>
          </a:p>
        </p:txBody>
      </p:sp>
      <p:sp>
        <p:nvSpPr>
          <p:cNvPr id="24" name="PDF_TEXT_GROUP_17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5" name="PDF_TEXT_GROUP_17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6" name="PDF_TEXT_GROUP_17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7" name="PDF_TEXT_GROUP_179"/>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8" name="PDF_TEXT_GROUP_180"/>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10/64</a:t>
            </a:r>
          </a:p>
        </p:txBody>
      </p:sp>
      <p:sp>
        <p:nvSpPr>
          <p:cNvPr id="29" name="PDF_BULLET_SPAN_240"/>
          <p:cNvSpPr/>
          <p:nvPr/>
        </p:nvSpPr>
        <p:spPr>
          <a:xfrm rot="5400000">
            <a:off x="1227851" y="2663786"/>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DF_BULLET_SPAN_244"/>
          <p:cNvSpPr/>
          <p:nvPr/>
        </p:nvSpPr>
        <p:spPr>
          <a:xfrm rot="5400000">
            <a:off x="1227851" y="4015951"/>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DF_BULLET_SPAN_248"/>
          <p:cNvSpPr/>
          <p:nvPr/>
        </p:nvSpPr>
        <p:spPr>
          <a:xfrm rot="5400000">
            <a:off x="1227851" y="5368115"/>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8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Research Gap</a:t>
            </a:r>
          </a:p>
        </p:txBody>
      </p:sp>
      <p:sp>
        <p:nvSpPr>
          <p:cNvPr id="4" name="PDF_TEXT_GROUP_182"/>
          <p:cNvSpPr txBox="1"/>
          <p:nvPr/>
        </p:nvSpPr>
        <p:spPr>
          <a:xfrm>
            <a:off x="3095061" y="1348123"/>
            <a:ext cx="8446893"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1" i="0">
                <a:solidFill>
                  <a:srgbClr val="000000"/>
                </a:solidFill>
                <a:latin typeface="Latin Modern Sans"/>
              </a:rPr>
              <a:t>Multi-provider applications</a:t>
            </a:r>
            <a:br/>
            <a:r>
              <a:rPr sz="2371" b="0" i="0">
                <a:solidFill>
                  <a:srgbClr val="000000"/>
                </a:solidFill>
                <a:latin typeface="Latin Modern Sans"/>
              </a:rPr>
              <a:t>UAV missions, distributed inference, sensing, storage, robotics</a:t>
            </a:r>
          </a:p>
        </p:txBody>
      </p:sp>
      <p:sp>
        <p:nvSpPr>
          <p:cNvPr id="5" name="PDF_TEXT_GROUP_183"/>
          <p:cNvSpPr txBox="1"/>
          <p:nvPr/>
        </p:nvSpPr>
        <p:spPr>
          <a:xfrm>
            <a:off x="1967186" y="2711630"/>
            <a:ext cx="10702694" cy="121520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1" i="0">
                <a:solidFill>
                  <a:srgbClr val="000000"/>
                </a:solidFill>
                <a:latin typeface="Latin Modern Sans"/>
              </a:rPr>
              <a:t>Missing: a secure NDN service framework spanning the service lifecycle</a:t>
            </a:r>
            <a:br/>
            <a:r>
              <a:rPr sz="2371" b="0" i="0">
                <a:solidFill>
                  <a:srgbClr val="000000"/>
                </a:solidFill>
                <a:latin typeface="Latin Modern Sans"/>
              </a:rPr>
              <a:t>unified service interfaces; one-to-many Provider discovery and selection;</a:t>
            </a:r>
            <a:br/>
            <a:r>
              <a:rPr sz="2371" b="0" i="0">
                <a:solidFill>
                  <a:srgbClr val="000000"/>
                </a:solidFill>
                <a:latin typeface="Latin Modern Sans"/>
              </a:rPr>
              <a:t>authorization, replay protection, reliability, and large-data delivery</a:t>
            </a:r>
          </a:p>
        </p:txBody>
      </p:sp>
      <p:sp>
        <p:nvSpPr>
          <p:cNvPr id="6" name="PDF_TEXT_GROUP_184"/>
          <p:cNvSpPr txBox="1"/>
          <p:nvPr/>
        </p:nvSpPr>
        <p:spPr>
          <a:xfrm>
            <a:off x="3251165" y="4461497"/>
            <a:ext cx="8134631" cy="121517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1" i="0">
                <a:solidFill>
                  <a:srgbClr val="000000"/>
                </a:solidFill>
                <a:latin typeface="Latin Modern Sans"/>
              </a:rPr>
              <a:t>Existing ingredients</a:t>
            </a:r>
            <a:br/>
            <a:r>
              <a:rPr sz="2371" b="0" i="0">
                <a:solidFill>
                  <a:srgbClr val="000000"/>
                </a:solidFill>
                <a:latin typeface="Latin Modern Sans"/>
              </a:rPr>
              <a:t>named and signed Data plus caching</a:t>
            </a:r>
            <a:r>
              <a:rPr sz="2371" b="0" i="0">
                <a:solidFill>
                  <a:srgbClr val="1A3E79"/>
                </a:solidFill>
                <a:latin typeface="Latin Modern Sans"/>
              </a:rPr>
              <a:t> [1]</a:t>
            </a:r>
            <a:r>
              <a:rPr sz="2371" b="0" i="0">
                <a:solidFill>
                  <a:srgbClr val="000000"/>
                </a:solidFill>
                <a:latin typeface="Latin Modern Sans"/>
              </a:rPr>
              <a:t>, access control</a:t>
            </a:r>
            <a:r>
              <a:rPr sz="2371" b="0" i="0">
                <a:solidFill>
                  <a:srgbClr val="1A3E79"/>
                </a:solidFill>
                <a:latin typeface="Latin Modern Sans"/>
              </a:rPr>
              <a:t> [4]</a:t>
            </a:r>
            <a:r>
              <a:rPr sz="2371" b="0" i="0">
                <a:solidFill>
                  <a:srgbClr val="000000"/>
                </a:solidFill>
                <a:latin typeface="Latin Modern Sans"/>
              </a:rPr>
              <a:t>,</a:t>
            </a:r>
            <a:br/>
            <a:r>
              <a:rPr sz="2371" b="0" i="0">
                <a:solidFill>
                  <a:srgbClr val="000000"/>
                </a:solidFill>
                <a:latin typeface="Latin Modern Sans"/>
              </a:rPr>
              <a:t>computation</a:t>
            </a:r>
            <a:r>
              <a:rPr sz="2371" b="0" i="0">
                <a:solidFill>
                  <a:srgbClr val="1A3E79"/>
                </a:solidFill>
                <a:latin typeface="Latin Modern Sans"/>
              </a:rPr>
              <a:t> [6]</a:t>
            </a:r>
            <a:r>
              <a:rPr sz="2371" b="0" i="0">
                <a:solidFill>
                  <a:srgbClr val="000000"/>
                </a:solidFill>
                <a:latin typeface="Latin Modern Sans"/>
              </a:rPr>
              <a:t>, and service invocation</a:t>
            </a:r>
            <a:r>
              <a:rPr sz="2371" b="0" i="0">
                <a:solidFill>
                  <a:srgbClr val="1A3E79"/>
                </a:solidFill>
                <a:latin typeface="Latin Modern Sans"/>
              </a:rPr>
              <a:t> [9]</a:t>
            </a:r>
          </a:p>
        </p:txBody>
      </p:sp>
      <p:sp>
        <p:nvSpPr>
          <p:cNvPr id="7" name="PDF_TEXT_GROUP_185"/>
          <p:cNvSpPr txBox="1"/>
          <p:nvPr/>
        </p:nvSpPr>
        <p:spPr>
          <a:xfrm>
            <a:off x="1143656" y="6358952"/>
            <a:ext cx="1236339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v0.1 supplies the core framework functions; the proposed dissertation work</a:t>
            </a:r>
            <a:r>
              <a:rPr sz="2710" b="0" i="0">
                <a:solidFill>
                  <a:srgbClr val="000000"/>
                </a:solidFill>
                <a:latin typeface="Latin Modern Sans"/>
              </a:rPr>
              <a:t> extends them to multi-role collaboration and verifies Data flow between assigned</a:t>
            </a:r>
            <a:r>
              <a:rPr sz="2710" b="0" i="0">
                <a:solidFill>
                  <a:srgbClr val="000000"/>
                </a:solidFill>
                <a:latin typeface="Latin Modern Sans"/>
              </a:rPr>
              <a:t> roles.</a:t>
            </a:r>
          </a:p>
        </p:txBody>
      </p:sp>
      <p:sp>
        <p:nvSpPr>
          <p:cNvPr id="8" name="PDF_TEXT_GROUP_18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8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8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89"/>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2" name="PDF_TEXT_GROUP_190"/>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11/64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9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NDN Service Framework Directions</a:t>
            </a:r>
          </a:p>
        </p:txBody>
      </p:sp>
      <p:sp>
        <p:nvSpPr>
          <p:cNvPr id="4" name="PDF_TEXT_GROUP_192"/>
          <p:cNvSpPr txBox="1"/>
          <p:nvPr/>
        </p:nvSpPr>
        <p:spPr>
          <a:xfrm>
            <a:off x="1092471" y="1691174"/>
            <a:ext cx="5914449"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Computation / composition:</a:t>
            </a:r>
            <a:r>
              <a:rPr sz="1863" b="0" i="0">
                <a:solidFill>
                  <a:srgbClr val="000000"/>
                </a:solidFill>
                <a:latin typeface="Latin Modern Sans"/>
              </a:rPr>
              <a:t> NFN</a:t>
            </a:r>
            <a:r>
              <a:rPr sz="1863" b="0" i="0">
                <a:solidFill>
                  <a:srgbClr val="1A3E79"/>
                </a:solidFill>
                <a:latin typeface="Latin Modern Sans"/>
              </a:rPr>
              <a:t> [6]</a:t>
            </a:r>
            <a:r>
              <a:rPr sz="1863" b="0" i="0">
                <a:solidFill>
                  <a:srgbClr val="000000"/>
                </a:solidFill>
                <a:latin typeface="Latin Modern Sans"/>
              </a:rPr>
              <a:t>, NFaaS</a:t>
            </a:r>
            <a:r>
              <a:rPr sz="1863" b="0" i="0">
                <a:solidFill>
                  <a:srgbClr val="1A3E79"/>
                </a:solidFill>
                <a:latin typeface="Latin Modern Sans"/>
              </a:rPr>
              <a:t> [7]</a:t>
            </a:r>
            <a:r>
              <a:rPr sz="1863" b="0" i="0">
                <a:solidFill>
                  <a:srgbClr val="000000"/>
                </a:solidFill>
                <a:latin typeface="Latin Modern Sans"/>
              </a:rPr>
              <a:t>,</a:t>
            </a:r>
            <a:r>
              <a:rPr sz="1863" b="0" i="0">
                <a:solidFill>
                  <a:srgbClr val="000000"/>
                </a:solidFill>
                <a:latin typeface="Latin Modern Sans"/>
              </a:rPr>
              <a:t> CFEC</a:t>
            </a:r>
            <a:r>
              <a:rPr sz="1863" b="0" i="0">
                <a:solidFill>
                  <a:srgbClr val="1A3E79"/>
                </a:solidFill>
                <a:latin typeface="Latin Modern Sans"/>
              </a:rPr>
              <a:t> [8]</a:t>
            </a:r>
            <a:r>
              <a:rPr sz="1863" b="0" i="0">
                <a:solidFill>
                  <a:srgbClr val="000000"/>
                </a:solidFill>
                <a:latin typeface="Latin Modern Sans"/>
              </a:rPr>
              <a:t>, CFN</a:t>
            </a:r>
            <a:r>
              <a:rPr sz="1863" b="0" i="0">
                <a:solidFill>
                  <a:srgbClr val="1A3E79"/>
                </a:solidFill>
                <a:latin typeface="Latin Modern Sans"/>
              </a:rPr>
              <a:t> [14]</a:t>
            </a:r>
            <a:r>
              <a:rPr sz="1863" b="0" i="0">
                <a:solidFill>
                  <a:srgbClr val="000000"/>
                </a:solidFill>
                <a:latin typeface="Latin Modern Sans"/>
              </a:rPr>
              <a:t>, CaSCON</a:t>
            </a:r>
            <a:r>
              <a:rPr sz="1863" b="0" i="0">
                <a:solidFill>
                  <a:srgbClr val="1A3E79"/>
                </a:solidFill>
                <a:latin typeface="Latin Modern Sans"/>
              </a:rPr>
              <a:t> [15]</a:t>
            </a:r>
            <a:r>
              <a:rPr sz="1863" b="0" i="0">
                <a:solidFill>
                  <a:srgbClr val="000000"/>
                </a:solidFill>
                <a:latin typeface="Latin Modern Sans"/>
              </a:rPr>
              <a:t>, and</a:t>
            </a:r>
            <a:r>
              <a:rPr sz="1863" b="0" i="0">
                <a:solidFill>
                  <a:srgbClr val="000000"/>
                </a:solidFill>
                <a:latin typeface="Latin Modern Sans"/>
              </a:rPr>
              <a:t> data-centric composition</a:t>
            </a:r>
            <a:r>
              <a:rPr sz="1863" b="0" i="0">
                <a:solidFill>
                  <a:srgbClr val="1A3E79"/>
                </a:solidFill>
                <a:latin typeface="Latin Modern Sans"/>
              </a:rPr>
              <a:t> [21]</a:t>
            </a:r>
          </a:p>
        </p:txBody>
      </p:sp>
      <p:sp>
        <p:nvSpPr>
          <p:cNvPr id="5" name="PDF_TEXT_GROUP_193"/>
          <p:cNvSpPr txBox="1"/>
          <p:nvPr/>
        </p:nvSpPr>
        <p:spPr>
          <a:xfrm>
            <a:off x="7752444" y="1691174"/>
            <a:ext cx="5629072"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Content authorization:</a:t>
            </a:r>
            <a:r>
              <a:rPr sz="1863" b="0" i="0">
                <a:solidFill>
                  <a:srgbClr val="000000"/>
                </a:solidFill>
                <a:latin typeface="Latin Modern Sans"/>
              </a:rPr>
              <a:t> NAC</a:t>
            </a:r>
            <a:r>
              <a:rPr sz="1863" b="0" i="0">
                <a:solidFill>
                  <a:srgbClr val="1A3E79"/>
                </a:solidFill>
                <a:latin typeface="Latin Modern Sans"/>
              </a:rPr>
              <a:t> [4]</a:t>
            </a:r>
            <a:r>
              <a:rPr sz="1863" b="0" i="0">
                <a:solidFill>
                  <a:srgbClr val="000000"/>
                </a:solidFill>
                <a:latin typeface="Latin Modern Sans"/>
              </a:rPr>
              <a:t>, NAC-ABE</a:t>
            </a:r>
            <a:r>
              <a:rPr sz="1863" b="0" i="0">
                <a:solidFill>
                  <a:srgbClr val="1A3E79"/>
                </a:solidFill>
                <a:latin typeface="Latin Modern Sans"/>
              </a:rPr>
              <a:t> [5,19]</a:t>
            </a:r>
            <a:r>
              <a:rPr sz="1863" b="0" i="0">
                <a:solidFill>
                  <a:srgbClr val="000000"/>
                </a:solidFill>
                <a:latin typeface="Latin Modern Sans"/>
              </a:rPr>
              <a:t>, Trust Schema</a:t>
            </a:r>
            <a:r>
              <a:rPr sz="1863" b="0" i="0">
                <a:solidFill>
                  <a:srgbClr val="1A3E79"/>
                </a:solidFill>
                <a:latin typeface="Latin Modern Sans"/>
              </a:rPr>
              <a:t> [16]</a:t>
            </a:r>
            <a:r>
              <a:rPr sz="1863" b="0" i="0">
                <a:solidFill>
                  <a:srgbClr val="000000"/>
                </a:solidFill>
                <a:latin typeface="Latin Modern Sans"/>
              </a:rPr>
              <a:t>, and access-controlled</a:t>
            </a:r>
            <a:r>
              <a:rPr sz="1863" b="0" i="0">
                <a:solidFill>
                  <a:srgbClr val="000000"/>
                </a:solidFill>
                <a:latin typeface="Latin Modern Sans"/>
              </a:rPr>
              <a:t> derived Data</a:t>
            </a:r>
            <a:r>
              <a:rPr sz="1863" b="0" i="0">
                <a:solidFill>
                  <a:srgbClr val="1A3E79"/>
                </a:solidFill>
                <a:latin typeface="Latin Modern Sans"/>
              </a:rPr>
              <a:t> [20]</a:t>
            </a:r>
          </a:p>
        </p:txBody>
      </p:sp>
      <p:sp>
        <p:nvSpPr>
          <p:cNvPr id="6" name="PDF_TEXT_GROUP_194"/>
          <p:cNvSpPr txBox="1"/>
          <p:nvPr/>
        </p:nvSpPr>
        <p:spPr>
          <a:xfrm>
            <a:off x="1092471" y="2608699"/>
            <a:ext cx="5893775"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Named functions, placement, computation graphs,</a:t>
            </a:r>
            <a:r>
              <a:rPr sz="1863" b="0" i="0">
                <a:solidFill>
                  <a:srgbClr val="000000"/>
                </a:solidFill>
                <a:latin typeface="Latin Modern Sans"/>
              </a:rPr>
              <a:t> and dependency-aware composition.</a:t>
            </a:r>
          </a:p>
        </p:txBody>
      </p:sp>
      <p:sp>
        <p:nvSpPr>
          <p:cNvPr id="7" name="PDF_TEXT_GROUP_195"/>
          <p:cNvSpPr txBox="1"/>
          <p:nvPr/>
        </p:nvSpPr>
        <p:spPr>
          <a:xfrm>
            <a:off x="7752444" y="2608699"/>
            <a:ext cx="5861083"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Protect content and constrain valid signers; policy</a:t>
            </a:r>
            <a:r>
              <a:rPr sz="1863" b="0" i="0">
                <a:solidFill>
                  <a:srgbClr val="000000"/>
                </a:solidFill>
                <a:latin typeface="Latin Modern Sans"/>
              </a:rPr>
              <a:t> is not derived from a runtime collaboration plan.</a:t>
            </a:r>
          </a:p>
        </p:txBody>
      </p:sp>
      <p:sp>
        <p:nvSpPr>
          <p:cNvPr id="8" name="PDF_TEXT_GROUP_196"/>
          <p:cNvSpPr txBox="1"/>
          <p:nvPr/>
        </p:nvSpPr>
        <p:spPr>
          <a:xfrm>
            <a:off x="1092471" y="3946128"/>
            <a:ext cx="390036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Invocation:</a:t>
            </a:r>
            <a:r>
              <a:rPr sz="1863" b="0" i="0">
                <a:solidFill>
                  <a:srgbClr val="000000"/>
                </a:solidFill>
                <a:latin typeface="Latin Modern Sans"/>
              </a:rPr>
              <a:t> RICE</a:t>
            </a:r>
            <a:r>
              <a:rPr sz="1863" b="0" i="0">
                <a:solidFill>
                  <a:srgbClr val="1A3E79"/>
                </a:solidFill>
                <a:latin typeface="Latin Modern Sans"/>
              </a:rPr>
              <a:t> [9]</a:t>
            </a:r>
            <a:r>
              <a:rPr sz="1863" b="0" i="0">
                <a:solidFill>
                  <a:srgbClr val="000000"/>
                </a:solidFill>
                <a:latin typeface="Latin Modern Sans"/>
              </a:rPr>
              <a:t>, NSC</a:t>
            </a:r>
            <a:r>
              <a:rPr sz="1863" b="0" i="0">
                <a:solidFill>
                  <a:srgbClr val="1A3E79"/>
                </a:solidFill>
                <a:latin typeface="Latin Modern Sans"/>
              </a:rPr>
              <a:t> [10]</a:t>
            </a:r>
          </a:p>
        </p:txBody>
      </p:sp>
      <p:sp>
        <p:nvSpPr>
          <p:cNvPr id="9" name="PDF_TEXT_GROUP_197"/>
          <p:cNvSpPr txBox="1"/>
          <p:nvPr/>
        </p:nvSpPr>
        <p:spPr>
          <a:xfrm>
            <a:off x="7752444" y="3946128"/>
            <a:ext cx="62027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Application-specific:</a:t>
            </a:r>
            <a:r>
              <a:rPr sz="1863" b="0" i="0">
                <a:solidFill>
                  <a:srgbClr val="000000"/>
                </a:solidFill>
                <a:latin typeface="Latin Modern Sans"/>
              </a:rPr>
              <a:t> MIA-NDN</a:t>
            </a:r>
            <a:r>
              <a:rPr sz="1863" b="0" i="0">
                <a:solidFill>
                  <a:srgbClr val="1A3E79"/>
                </a:solidFill>
                <a:latin typeface="Latin Modern Sans"/>
              </a:rPr>
              <a:t> [11]</a:t>
            </a:r>
            <a:r>
              <a:rPr sz="1863" b="0" i="0">
                <a:solidFill>
                  <a:srgbClr val="000000"/>
                </a:solidFill>
                <a:latin typeface="Latin Modern Sans"/>
              </a:rPr>
              <a:t>, DNMP</a:t>
            </a:r>
            <a:r>
              <a:rPr sz="1863" b="0" i="0">
                <a:solidFill>
                  <a:srgbClr val="1A3E79"/>
                </a:solidFill>
                <a:latin typeface="Latin Modern Sans"/>
              </a:rPr>
              <a:t> [12]</a:t>
            </a:r>
            <a:r>
              <a:rPr sz="1863" b="0" i="0">
                <a:solidFill>
                  <a:srgbClr val="000000"/>
                </a:solidFill>
                <a:latin typeface="Latin Modern Sans"/>
              </a:rPr>
              <a:t>,</a:t>
            </a:r>
          </a:p>
        </p:txBody>
      </p:sp>
      <p:sp>
        <p:nvSpPr>
          <p:cNvPr id="10" name="PDF_TEXT_GROUP_198"/>
          <p:cNvSpPr txBox="1"/>
          <p:nvPr/>
        </p:nvSpPr>
        <p:spPr>
          <a:xfrm>
            <a:off x="1092471" y="4251991"/>
            <a:ext cx="5322364"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Named remote calls and execution; do not by</a:t>
            </a:r>
            <a:r>
              <a:rPr sz="1863" b="0" i="0">
                <a:solidFill>
                  <a:srgbClr val="000000"/>
                </a:solidFill>
                <a:latin typeface="Latin Modern Sans"/>
              </a:rPr>
              <a:t> themselves enforce a late-bound multi-role</a:t>
            </a:r>
            <a:r>
              <a:rPr sz="1863" b="0" i="0">
                <a:solidFill>
                  <a:srgbClr val="000000"/>
                </a:solidFill>
                <a:latin typeface="Latin Modern Sans"/>
              </a:rPr>
              <a:t> Data-admission policy.</a:t>
            </a:r>
          </a:p>
        </p:txBody>
      </p:sp>
      <p:sp>
        <p:nvSpPr>
          <p:cNvPr id="11" name="PDF_TEXT_GROUP_199"/>
          <p:cNvSpPr txBox="1"/>
          <p:nvPr/>
        </p:nvSpPr>
        <p:spPr>
          <a:xfrm>
            <a:off x="7752444" y="4251991"/>
            <a:ext cx="5067589"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SECaaS</a:t>
            </a:r>
            <a:r>
              <a:rPr sz="1863" b="0" i="0">
                <a:solidFill>
                  <a:srgbClr val="1A3E79"/>
                </a:solidFill>
                <a:latin typeface="Latin Modern Sans"/>
              </a:rPr>
              <a:t> [13]</a:t>
            </a:r>
            <a:r>
              <a:rPr sz="1863" b="0" i="0">
                <a:solidFill>
                  <a:srgbClr val="000000"/>
                </a:solidFill>
                <a:latin typeface="Latin Modern Sans"/>
              </a:rPr>
              <a:t> Targets aggregation, measurement, or edge</a:t>
            </a:r>
            <a:r>
              <a:rPr sz="1863" b="0" i="0">
                <a:solidFill>
                  <a:srgbClr val="000000"/>
                </a:solidFill>
                <a:latin typeface="Latin Modern Sans"/>
              </a:rPr>
              <a:t> security.</a:t>
            </a:r>
          </a:p>
        </p:txBody>
      </p:sp>
      <p:sp>
        <p:nvSpPr>
          <p:cNvPr id="12" name="PDF_TEXT_GROUP_200"/>
          <p:cNvSpPr txBox="1"/>
          <p:nvPr/>
        </p:nvSpPr>
        <p:spPr>
          <a:xfrm>
            <a:off x="914808" y="5880935"/>
            <a:ext cx="12867151" cy="157516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Targeted collaboration gap.</a:t>
            </a:r>
            <a:r>
              <a:rPr sz="1863" b="0" i="0">
                <a:solidFill>
                  <a:srgbClr val="000000"/>
                </a:solidFill>
                <a:latin typeface="Latin Modern Sans"/>
              </a:rPr>
              <a:t> NDNSF v0.1 already covers secure invocation, runtime Provider discovery and</a:t>
            </a:r>
            <a:r>
              <a:rPr sz="1863" b="0" i="0">
                <a:solidFill>
                  <a:srgbClr val="000000"/>
                </a:solidFill>
                <a:latin typeface="Latin Modern Sans"/>
              </a:rPr>
              <a:t> selection, authorization, replay protection, and reliable Data delivery.</a:t>
            </a:r>
            <a:r>
              <a:rPr sz="1863" b="0" i="0">
                <a:solidFill>
                  <a:srgbClr val="000000"/>
                </a:solidFill>
                <a:latin typeface="Latin Modern Sans"/>
              </a:rPr>
              <a:t> The proposed extension addresses a narrower missing function: after runtime ACKs, derive a multi-role</a:t>
            </a:r>
            <a:r>
              <a:rPr sz="1863" b="0" i="0">
                <a:solidFill>
                  <a:srgbClr val="000000"/>
                </a:solidFill>
                <a:latin typeface="Latin Modern Sans"/>
              </a:rPr>
              <a:t> dependency plan and admit intermediate Data only when its name, signer, assigned role, dependency edge, and</a:t>
            </a:r>
            <a:r>
              <a:rPr sz="1863" b="0" i="0">
                <a:solidFill>
                  <a:srgbClr val="000000"/>
                </a:solidFill>
                <a:latin typeface="Latin Modern Sans"/>
              </a:rPr>
              <a:t> request context match, including Data retrieved from an NDN cache.</a:t>
            </a:r>
          </a:p>
        </p:txBody>
      </p:sp>
      <p:sp>
        <p:nvSpPr>
          <p:cNvPr id="13" name="PDF_TEXT_GROUP_2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04"/>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7" name="PDF_TEXT_GROUP_205"/>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12/64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2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 Contribution</a:t>
            </a:r>
          </a:p>
        </p:txBody>
      </p:sp>
      <p:sp>
        <p:nvSpPr>
          <p:cNvPr id="4" name="PDF_TEXT_GROUP_207"/>
          <p:cNvSpPr txBox="1"/>
          <p:nvPr/>
        </p:nvSpPr>
        <p:spPr>
          <a:xfrm>
            <a:off x="1107736" y="1202860"/>
            <a:ext cx="25213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Framework function</a:t>
            </a:r>
          </a:p>
        </p:txBody>
      </p:sp>
      <p:sp>
        <p:nvSpPr>
          <p:cNvPr id="5" name="PDF_TEXT_GROUP_208"/>
          <p:cNvSpPr txBox="1"/>
          <p:nvPr/>
        </p:nvSpPr>
        <p:spPr>
          <a:xfrm>
            <a:off x="5079551" y="1202860"/>
            <a:ext cx="263839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NDNSF contribution</a:t>
            </a:r>
          </a:p>
        </p:txBody>
      </p:sp>
      <p:sp>
        <p:nvSpPr>
          <p:cNvPr id="6" name="PDF_TEXT_GROUP_209"/>
          <p:cNvSpPr txBox="1"/>
          <p:nvPr/>
        </p:nvSpPr>
        <p:spPr>
          <a:xfrm>
            <a:off x="1107736" y="1696862"/>
            <a:ext cx="2704574" cy="9695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Service interfaces and</a:t>
            </a:r>
            <a:r>
              <a:rPr sz="1863" b="1" i="0">
                <a:solidFill>
                  <a:srgbClr val="000000"/>
                </a:solidFill>
                <a:latin typeface="Latin Modern Sans"/>
              </a:rPr>
              <a:t> invocation</a:t>
            </a:r>
            <a:r>
              <a:rPr sz="1863" b="0" i="0">
                <a:solidFill>
                  <a:srgbClr val="000000"/>
                </a:solidFill>
                <a:latin typeface="Latin Modern Sans"/>
              </a:rPr>
              <a:t> v0.1</a:t>
            </a:r>
          </a:p>
        </p:txBody>
      </p:sp>
      <p:sp>
        <p:nvSpPr>
          <p:cNvPr id="7" name="PDF_TEXT_GROUP_210"/>
          <p:cNvSpPr txBox="1"/>
          <p:nvPr/>
        </p:nvSpPr>
        <p:spPr>
          <a:xfrm>
            <a:off x="5079525" y="2314663"/>
            <a:ext cx="8290805"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Generic C++ and Python APIs support Request, ACK, Selection,</a:t>
            </a:r>
            <a:r>
              <a:rPr sz="1863" b="0" i="0">
                <a:solidFill>
                  <a:srgbClr val="000000"/>
                </a:solidFill>
                <a:latin typeface="Latin Modern Sans"/>
              </a:rPr>
              <a:t> Response, and Targeted invocation without service-specific stubs; C++</a:t>
            </a:r>
            <a:r>
              <a:rPr sz="1863" b="0" i="0">
                <a:solidFill>
                  <a:srgbClr val="000000"/>
                </a:solidFill>
                <a:latin typeface="Latin Modern Sans"/>
              </a:rPr>
              <a:t> also provides trusted same-process local calls.</a:t>
            </a:r>
          </a:p>
        </p:txBody>
      </p:sp>
      <p:sp>
        <p:nvSpPr>
          <p:cNvPr id="8" name="PDF_TEXT_GROUP_211"/>
          <p:cNvSpPr txBox="1"/>
          <p:nvPr/>
        </p:nvSpPr>
        <p:spPr>
          <a:xfrm>
            <a:off x="1107736" y="3420360"/>
            <a:ext cx="3362796" cy="66374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One-to-many service model</a:t>
            </a:r>
            <a:r>
              <a:rPr sz="1863" b="0" i="0">
                <a:solidFill>
                  <a:srgbClr val="000000"/>
                </a:solidFill>
                <a:latin typeface="Latin Modern Sans"/>
              </a:rPr>
              <a:t> v0.1</a:t>
            </a:r>
          </a:p>
        </p:txBody>
      </p:sp>
      <p:sp>
        <p:nvSpPr>
          <p:cNvPr id="9" name="PDF_TEXT_GROUP_212"/>
          <p:cNvSpPr txBox="1"/>
          <p:nvPr/>
        </p:nvSpPr>
        <p:spPr>
          <a:xfrm>
            <a:off x="5079525" y="3732330"/>
            <a:ext cx="8504055"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One named Request reaches willing Providers; applications use built-in or</a:t>
            </a:r>
            <a:r>
              <a:rPr sz="1863" b="0" i="0">
                <a:solidFill>
                  <a:srgbClr val="000000"/>
                </a:solidFill>
                <a:latin typeface="Latin Modern Sans"/>
              </a:rPr>
              <a:t> customizable Provider-selection strategies.</a:t>
            </a:r>
          </a:p>
        </p:txBody>
      </p:sp>
      <p:sp>
        <p:nvSpPr>
          <p:cNvPr id="10" name="PDF_TEXT_GROUP_213"/>
          <p:cNvSpPr txBox="1"/>
          <p:nvPr/>
        </p:nvSpPr>
        <p:spPr>
          <a:xfrm>
            <a:off x="1107736" y="4532164"/>
            <a:ext cx="3220966" cy="66374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Security and authorization</a:t>
            </a:r>
            <a:r>
              <a:rPr sz="1863" b="0" i="0">
                <a:solidFill>
                  <a:srgbClr val="000000"/>
                </a:solidFill>
                <a:latin typeface="Latin Modern Sans"/>
              </a:rPr>
              <a:t> v0.1</a:t>
            </a:r>
          </a:p>
        </p:txBody>
      </p:sp>
      <p:sp>
        <p:nvSpPr>
          <p:cNvPr id="11" name="PDF_TEXT_GROUP_214"/>
          <p:cNvSpPr txBox="1"/>
          <p:nvPr/>
        </p:nvSpPr>
        <p:spPr>
          <a:xfrm>
            <a:off x="5079525" y="4844134"/>
            <a:ext cx="8208923"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Name-based policy, NAC-ABE, signatures, one-time tokens, and replay</a:t>
            </a:r>
            <a:r>
              <a:rPr sz="1863" b="0" i="0">
                <a:solidFill>
                  <a:srgbClr val="000000"/>
                </a:solidFill>
                <a:latin typeface="Latin Modern Sans"/>
              </a:rPr>
              <a:t> checks protect invocation and Data.</a:t>
            </a:r>
          </a:p>
        </p:txBody>
      </p:sp>
      <p:sp>
        <p:nvSpPr>
          <p:cNvPr id="12" name="PDF_TEXT_GROUP_215"/>
          <p:cNvSpPr txBox="1"/>
          <p:nvPr/>
        </p:nvSpPr>
        <p:spPr>
          <a:xfrm>
            <a:off x="1107736" y="5643967"/>
            <a:ext cx="3389727" cy="66374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Reliability and data delivery</a:t>
            </a:r>
            <a:r>
              <a:rPr sz="1863" b="0" i="0">
                <a:solidFill>
                  <a:srgbClr val="000000"/>
                </a:solidFill>
                <a:latin typeface="Latin Modern Sans"/>
              </a:rPr>
              <a:t> implemented</a:t>
            </a:r>
          </a:p>
        </p:txBody>
      </p:sp>
      <p:sp>
        <p:nvSpPr>
          <p:cNvPr id="13" name="PDF_TEXT_GROUP_216"/>
          <p:cNvSpPr txBox="1"/>
          <p:nvPr/>
        </p:nvSpPr>
        <p:spPr>
          <a:xfrm>
            <a:off x="5079628" y="5955938"/>
            <a:ext cx="8154958"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SVS retry, segmented retrieval, large-object references, streaming, and</a:t>
            </a:r>
            <a:r>
              <a:rPr sz="1863" b="0" i="0">
                <a:solidFill>
                  <a:srgbClr val="000000"/>
                </a:solidFill>
                <a:latin typeface="Latin Modern Sans"/>
              </a:rPr>
              <a:t> bounded FEC recovery.</a:t>
            </a:r>
          </a:p>
        </p:txBody>
      </p:sp>
      <p:sp>
        <p:nvSpPr>
          <p:cNvPr id="14" name="PDF_TEXT_GROUP_217"/>
          <p:cNvSpPr txBox="1"/>
          <p:nvPr/>
        </p:nvSpPr>
        <p:spPr>
          <a:xfrm>
            <a:off x="1107736" y="6755771"/>
            <a:ext cx="2888125" cy="66374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Multi-role collaboration</a:t>
            </a:r>
            <a:r>
              <a:rPr sz="1863" b="0" i="0">
                <a:solidFill>
                  <a:srgbClr val="000000"/>
                </a:solidFill>
                <a:latin typeface="Latin Modern Sans"/>
              </a:rPr>
              <a:t> proposed work</a:t>
            </a:r>
          </a:p>
        </p:txBody>
      </p:sp>
      <p:sp>
        <p:nvSpPr>
          <p:cNvPr id="15" name="PDF_TEXT_GROUP_218"/>
          <p:cNvSpPr txBox="1"/>
          <p:nvPr/>
        </p:nvSpPr>
        <p:spPr>
          <a:xfrm>
            <a:off x="5079654" y="7067742"/>
            <a:ext cx="8252110"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Assign willing Providers to application roles, declare allowed Data flow,</a:t>
            </a:r>
            <a:r>
              <a:rPr sz="1863" b="0" i="0">
                <a:solidFill>
                  <a:srgbClr val="000000"/>
                </a:solidFill>
                <a:latin typeface="Latin Modern Sans"/>
              </a:rPr>
              <a:t> and verify Data received between assigned roles.</a:t>
            </a:r>
          </a:p>
        </p:txBody>
      </p:sp>
      <p:sp>
        <p:nvSpPr>
          <p:cNvPr id="16" name="PDF_TEXT_GROUP_21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22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22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222"/>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0" name="PDF_TEXT_GROUP_223"/>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22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Dissertation Components</a:t>
            </a:r>
          </a:p>
        </p:txBody>
      </p:sp>
      <p:sp>
        <p:nvSpPr>
          <p:cNvPr id="4" name="PDF_TEXT_GROUP_225"/>
          <p:cNvSpPr txBox="1"/>
          <p:nvPr/>
        </p:nvSpPr>
        <p:spPr>
          <a:xfrm>
            <a:off x="5726446" y="2636303"/>
            <a:ext cx="62019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NDNSF is the dissertation contribution</a:t>
            </a:r>
          </a:p>
        </p:txBody>
      </p:sp>
      <p:sp>
        <p:nvSpPr>
          <p:cNvPr id="5" name="PDF_TEXT_GROUP_226"/>
          <p:cNvSpPr txBox="1"/>
          <p:nvPr/>
        </p:nvSpPr>
        <p:spPr>
          <a:xfrm>
            <a:off x="6095132" y="3877497"/>
            <a:ext cx="79480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a:t>
            </a:r>
          </a:p>
        </p:txBody>
      </p:sp>
      <p:sp>
        <p:nvSpPr>
          <p:cNvPr id="6" name="PDF_TEXT_GROUP_227"/>
          <p:cNvSpPr txBox="1"/>
          <p:nvPr/>
        </p:nvSpPr>
        <p:spPr>
          <a:xfrm>
            <a:off x="2269648" y="3877620"/>
            <a:ext cx="1122937" cy="65760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C16F2E"/>
                </a:solidFill>
                <a:latin typeface="Latin Modern Sans"/>
              </a:rPr>
              <a:t>feedback</a:t>
            </a:r>
            <a:br/>
            <a:r>
              <a:rPr sz="1863" b="0" i="0">
                <a:solidFill>
                  <a:srgbClr val="C16F2E"/>
                </a:solidFill>
                <a:latin typeface="Latin Modern Sans"/>
              </a:rPr>
              <a:t>loop</a:t>
            </a:r>
          </a:p>
        </p:txBody>
      </p:sp>
      <p:sp>
        <p:nvSpPr>
          <p:cNvPr id="7" name="PDF_TEXT_GROUP_228"/>
          <p:cNvSpPr txBox="1"/>
          <p:nvPr/>
        </p:nvSpPr>
        <p:spPr>
          <a:xfrm>
            <a:off x="9399139" y="3908778"/>
            <a:ext cx="30114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inference</a:t>
            </a:r>
          </a:p>
        </p:txBody>
      </p:sp>
      <p:sp>
        <p:nvSpPr>
          <p:cNvPr id="8" name="PDF_TEXT_GROUP_229"/>
          <p:cNvSpPr txBox="1"/>
          <p:nvPr/>
        </p:nvSpPr>
        <p:spPr>
          <a:xfrm>
            <a:off x="4895450" y="4263825"/>
            <a:ext cx="325426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requirements workload</a:t>
            </a:r>
          </a:p>
        </p:txBody>
      </p:sp>
      <p:sp>
        <p:nvSpPr>
          <p:cNvPr id="9" name="PDF_TEXT_GROUP_230"/>
          <p:cNvSpPr txBox="1"/>
          <p:nvPr/>
        </p:nvSpPr>
        <p:spPr>
          <a:xfrm>
            <a:off x="9284376" y="4295138"/>
            <a:ext cx="32590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collaboration workload</a:t>
            </a:r>
          </a:p>
        </p:txBody>
      </p:sp>
      <p:sp>
        <p:nvSpPr>
          <p:cNvPr id="10" name="PDF_TEXT_GROUP_231"/>
          <p:cNvSpPr txBox="1"/>
          <p:nvPr/>
        </p:nvSpPr>
        <p:spPr>
          <a:xfrm>
            <a:off x="5702693" y="5398896"/>
            <a:ext cx="62531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feedback refines the framework</a:t>
            </a:r>
          </a:p>
        </p:txBody>
      </p:sp>
      <p:sp>
        <p:nvSpPr>
          <p:cNvPr id="11" name="PDF_TEXT_GROUP_23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23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23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235"/>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5" name="PDF_TEXT_GROUP_236"/>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23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Research Questions</a:t>
            </a:r>
          </a:p>
        </p:txBody>
      </p:sp>
      <p:sp>
        <p:nvSpPr>
          <p:cNvPr id="4" name="PDF_TEXT_GROUP_238"/>
          <p:cNvSpPr txBox="1"/>
          <p:nvPr/>
        </p:nvSpPr>
        <p:spPr>
          <a:xfrm>
            <a:off x="2139405" y="1288501"/>
            <a:ext cx="1171073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3333B2"/>
                </a:solidFill>
                <a:latin typeface="Latin Modern Sans"/>
              </a:rPr>
              <a:t>RQ1</a:t>
            </a:r>
            <a:r>
              <a:rPr sz="2371" b="0" i="0">
                <a:solidFill>
                  <a:srgbClr val="000000"/>
                </a:solidFill>
                <a:latin typeface="Latin Modern Sans"/>
              </a:rPr>
              <a:t> Which service-layer functions are required to support secure invocation, dynamic</a:t>
            </a:r>
            <a:r>
              <a:rPr sz="2371" b="0" i="0">
                <a:solidFill>
                  <a:srgbClr val="000000"/>
                </a:solidFill>
                <a:latin typeface="Latin Modern Sans"/>
              </a:rPr>
              <a:t> multi-Provider selection, authorization, and reliable Data delivery over NDN?</a:t>
            </a:r>
          </a:p>
        </p:txBody>
      </p:sp>
      <p:sp>
        <p:nvSpPr>
          <p:cNvPr id="5" name="PDF_TEXT_GROUP_239"/>
          <p:cNvSpPr txBox="1"/>
          <p:nvPr/>
        </p:nvSpPr>
        <p:spPr>
          <a:xfrm>
            <a:off x="2139405" y="2220601"/>
            <a:ext cx="10966086"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3333B2"/>
                </a:solidFill>
                <a:latin typeface="Latin Modern Sans"/>
              </a:rPr>
              <a:t>RQ2</a:t>
            </a:r>
            <a:r>
              <a:rPr sz="2371" b="0" i="0">
                <a:solidFill>
                  <a:srgbClr val="000000"/>
                </a:solidFill>
                <a:latin typeface="Latin Modern Sans"/>
              </a:rPr>
              <a:t> How can NDNSF assign Providers to application roles and verify that each</a:t>
            </a:r>
            <a:r>
              <a:rPr sz="2371" b="0" i="0">
                <a:solidFill>
                  <a:srgbClr val="000000"/>
                </a:solidFill>
                <a:latin typeface="Latin Modern Sans"/>
              </a:rPr>
              <a:t> downstream Provider accepts Data only from the Provider assigned to an</a:t>
            </a:r>
            <a:r>
              <a:rPr sz="2371" b="0" i="0">
                <a:solidFill>
                  <a:srgbClr val="000000"/>
                </a:solidFill>
                <a:latin typeface="Latin Modern Sans"/>
              </a:rPr>
              <a:t> authorized upstream role?</a:t>
            </a:r>
          </a:p>
        </p:txBody>
      </p:sp>
      <p:sp>
        <p:nvSpPr>
          <p:cNvPr id="6" name="PDF_TEXT_GROUP_240"/>
          <p:cNvSpPr txBox="1"/>
          <p:nvPr/>
        </p:nvSpPr>
        <p:spPr>
          <a:xfrm>
            <a:off x="2139405" y="3539060"/>
            <a:ext cx="1086914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3333B2"/>
                </a:solidFill>
                <a:latin typeface="Latin Modern Sans"/>
              </a:rPr>
              <a:t>RQ3</a:t>
            </a:r>
            <a:r>
              <a:rPr sz="2371" b="0" i="0">
                <a:solidFill>
                  <a:srgbClr val="000000"/>
                </a:solidFill>
                <a:latin typeface="Latin Modern Sans"/>
              </a:rPr>
              <a:t> What reliability, security, and latency tradeoffs arise from multi-Provider</a:t>
            </a:r>
            <a:r>
              <a:rPr sz="2371" b="0" i="0">
                <a:solidFill>
                  <a:srgbClr val="000000"/>
                </a:solidFill>
                <a:latin typeface="Latin Modern Sans"/>
              </a:rPr>
              <a:t> publication, selection, Targeted invocation, and bounded response retry or</a:t>
            </a:r>
            <a:r>
              <a:rPr sz="2371" b="0" i="0">
                <a:solidFill>
                  <a:srgbClr val="000000"/>
                </a:solidFill>
                <a:latin typeface="Latin Modern Sans"/>
              </a:rPr>
              <a:t> Provider reselection?</a:t>
            </a:r>
          </a:p>
        </p:txBody>
      </p:sp>
      <p:sp>
        <p:nvSpPr>
          <p:cNvPr id="7" name="PDF_TEXT_GROUP_241"/>
          <p:cNvSpPr txBox="1"/>
          <p:nvPr/>
        </p:nvSpPr>
        <p:spPr>
          <a:xfrm>
            <a:off x="2139405" y="4857519"/>
            <a:ext cx="1144750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3333B2"/>
                </a:solidFill>
                <a:latin typeface="Latin Modern Sans"/>
              </a:rPr>
              <a:t>RQ4</a:t>
            </a:r>
            <a:r>
              <a:rPr sz="2371" b="0" i="0">
                <a:solidFill>
                  <a:srgbClr val="000000"/>
                </a:solidFill>
                <a:latin typeface="Latin Modern Sans"/>
              </a:rPr>
              <a:t> How should mobility and control requirements in UAV network applications be</a:t>
            </a:r>
            <a:r>
              <a:rPr sz="2371" b="0" i="0">
                <a:solidFill>
                  <a:srgbClr val="000000"/>
                </a:solidFill>
                <a:latin typeface="Latin Modern Sans"/>
              </a:rPr>
              <a:t> supported through NDNSF?</a:t>
            </a:r>
          </a:p>
        </p:txBody>
      </p:sp>
      <p:sp>
        <p:nvSpPr>
          <p:cNvPr id="8" name="PDF_TEXT_GROUP_242"/>
          <p:cNvSpPr txBox="1"/>
          <p:nvPr/>
        </p:nvSpPr>
        <p:spPr>
          <a:xfrm>
            <a:off x="2139405" y="5789619"/>
            <a:ext cx="1171053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3333B2"/>
                </a:solidFill>
                <a:latin typeface="Latin Modern Sans"/>
              </a:rPr>
              <a:t>RQ5</a:t>
            </a:r>
            <a:r>
              <a:rPr sz="2371" b="0" i="0">
                <a:solidFill>
                  <a:srgbClr val="000000"/>
                </a:solidFill>
                <a:latin typeface="Latin Modern Sans"/>
              </a:rPr>
              <a:t> How should distributed inference use NDNSF to reuse model files, assign model</a:t>
            </a:r>
            <a:r>
              <a:rPr sz="2371" b="0" i="0">
                <a:solidFill>
                  <a:srgbClr val="000000"/>
                </a:solidFill>
                <a:latin typeface="Latin Modern Sans"/>
              </a:rPr>
              <a:t> parts to available devices at runtime, and run one model across multiple devices?</a:t>
            </a:r>
          </a:p>
        </p:txBody>
      </p:sp>
      <p:sp>
        <p:nvSpPr>
          <p:cNvPr id="9" name="PDF_TEXT_GROUP_243"/>
          <p:cNvSpPr txBox="1"/>
          <p:nvPr/>
        </p:nvSpPr>
        <p:spPr>
          <a:xfrm>
            <a:off x="1123808" y="7301769"/>
            <a:ext cx="129329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RQ2 tests role assignment and Data-flow verification for both directly received and cached Named Data.</a:t>
            </a:r>
          </a:p>
        </p:txBody>
      </p:sp>
      <p:sp>
        <p:nvSpPr>
          <p:cNvPr id="10" name="PDF_TEXT_GROUP_2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47"/>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248"/>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2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Work Status and Timeline</a:t>
            </a:r>
          </a:p>
        </p:txBody>
      </p:sp>
      <p:sp>
        <p:nvSpPr>
          <p:cNvPr id="4" name="PDF_TEXT_GROUP_250"/>
          <p:cNvSpPr txBox="1"/>
          <p:nvPr/>
        </p:nvSpPr>
        <p:spPr>
          <a:xfrm>
            <a:off x="1027344" y="1197334"/>
            <a:ext cx="10118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Section</a:t>
            </a:r>
          </a:p>
        </p:txBody>
      </p:sp>
      <p:sp>
        <p:nvSpPr>
          <p:cNvPr id="5" name="PDF_TEXT_GROUP_251"/>
          <p:cNvSpPr txBox="1"/>
          <p:nvPr/>
        </p:nvSpPr>
        <p:spPr>
          <a:xfrm>
            <a:off x="3173550" y="1197334"/>
            <a:ext cx="214466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Completed Work</a:t>
            </a:r>
          </a:p>
        </p:txBody>
      </p:sp>
      <p:sp>
        <p:nvSpPr>
          <p:cNvPr id="6" name="PDF_TEXT_GROUP_252"/>
          <p:cNvSpPr txBox="1"/>
          <p:nvPr/>
        </p:nvSpPr>
        <p:spPr>
          <a:xfrm>
            <a:off x="7495156" y="1197334"/>
            <a:ext cx="210749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Remaining Work</a:t>
            </a:r>
          </a:p>
        </p:txBody>
      </p:sp>
      <p:sp>
        <p:nvSpPr>
          <p:cNvPr id="7" name="PDF_TEXT_GROUP_253"/>
          <p:cNvSpPr txBox="1"/>
          <p:nvPr/>
        </p:nvSpPr>
        <p:spPr>
          <a:xfrm>
            <a:off x="11816814" y="1197334"/>
            <a:ext cx="90691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Target</a:t>
            </a:r>
          </a:p>
        </p:txBody>
      </p:sp>
      <p:sp>
        <p:nvSpPr>
          <p:cNvPr id="8" name="PDF_TEXT_GROUP_254"/>
          <p:cNvSpPr txBox="1"/>
          <p:nvPr/>
        </p:nvSpPr>
        <p:spPr>
          <a:xfrm>
            <a:off x="1027344" y="1715798"/>
            <a:ext cx="103334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NDNSF</a:t>
            </a:r>
          </a:p>
        </p:txBody>
      </p:sp>
      <p:sp>
        <p:nvSpPr>
          <p:cNvPr id="9" name="PDF_TEXT_GROUP_255"/>
          <p:cNvSpPr txBox="1"/>
          <p:nvPr/>
        </p:nvSpPr>
        <p:spPr>
          <a:xfrm>
            <a:off x="3173462" y="1715798"/>
            <a:ext cx="42178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v0.1 invocation/security; Targeted</a:t>
            </a:r>
          </a:p>
        </p:txBody>
      </p:sp>
      <p:sp>
        <p:nvSpPr>
          <p:cNvPr id="10" name="PDF_TEXT_GROUP_256"/>
          <p:cNvSpPr txBox="1"/>
          <p:nvPr/>
        </p:nvSpPr>
        <p:spPr>
          <a:xfrm>
            <a:off x="7495132" y="1715798"/>
            <a:ext cx="30007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Implement Plan-to-Data</a:t>
            </a:r>
          </a:p>
        </p:txBody>
      </p:sp>
      <p:sp>
        <p:nvSpPr>
          <p:cNvPr id="11" name="PDF_TEXT_GROUP_257"/>
          <p:cNvSpPr txBox="1"/>
          <p:nvPr/>
        </p:nvSpPr>
        <p:spPr>
          <a:xfrm>
            <a:off x="11816769" y="1715798"/>
            <a:ext cx="13384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Aug. 2026</a:t>
            </a:r>
          </a:p>
        </p:txBody>
      </p:sp>
      <p:sp>
        <p:nvSpPr>
          <p:cNvPr id="12" name="PDF_TEXT_GROUP_258"/>
          <p:cNvSpPr txBox="1"/>
          <p:nvPr/>
        </p:nvSpPr>
        <p:spPr>
          <a:xfrm>
            <a:off x="1027344" y="2021629"/>
            <a:ext cx="132366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framework</a:t>
            </a:r>
          </a:p>
        </p:txBody>
      </p:sp>
      <p:sp>
        <p:nvSpPr>
          <p:cNvPr id="13" name="PDF_TEXT_GROUP_259"/>
          <p:cNvSpPr txBox="1"/>
          <p:nvPr/>
        </p:nvSpPr>
        <p:spPr>
          <a:xfrm>
            <a:off x="3173462" y="2021629"/>
            <a:ext cx="368349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invocation; trusted local calls;</a:t>
            </a:r>
          </a:p>
        </p:txBody>
      </p:sp>
      <p:sp>
        <p:nvSpPr>
          <p:cNvPr id="14" name="PDF_TEXT_GROUP_260"/>
          <p:cNvSpPr txBox="1"/>
          <p:nvPr/>
        </p:nvSpPr>
        <p:spPr>
          <a:xfrm>
            <a:off x="7495132" y="2021629"/>
            <a:ext cx="420422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enforcement for direct and cached</a:t>
            </a:r>
          </a:p>
        </p:txBody>
      </p:sp>
      <p:sp>
        <p:nvSpPr>
          <p:cNvPr id="15" name="PDF_TEXT_GROUP_261"/>
          <p:cNvSpPr txBox="1"/>
          <p:nvPr/>
        </p:nvSpPr>
        <p:spPr>
          <a:xfrm>
            <a:off x="3173462" y="2327493"/>
            <a:ext cx="4019707"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large-data support; execution-plan</a:t>
            </a:r>
            <a:r>
              <a:rPr sz="1863" b="0" i="0">
                <a:solidFill>
                  <a:srgbClr val="000000"/>
                </a:solidFill>
                <a:latin typeface="Latin Modern Sans"/>
              </a:rPr>
              <a:t> schema</a:t>
            </a:r>
          </a:p>
        </p:txBody>
      </p:sp>
      <p:sp>
        <p:nvSpPr>
          <p:cNvPr id="16" name="PDF_TEXT_GROUP_262"/>
          <p:cNvSpPr txBox="1"/>
          <p:nvPr/>
        </p:nvSpPr>
        <p:spPr>
          <a:xfrm>
            <a:off x="7495132" y="2327493"/>
            <a:ext cx="4140419"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Data; measure security and latency</a:t>
            </a:r>
            <a:r>
              <a:rPr sz="1863" b="0" i="0">
                <a:solidFill>
                  <a:srgbClr val="000000"/>
                </a:solidFill>
                <a:latin typeface="Latin Modern Sans"/>
              </a:rPr>
              <a:t> overhead</a:t>
            </a:r>
          </a:p>
        </p:txBody>
      </p:sp>
      <p:sp>
        <p:nvSpPr>
          <p:cNvPr id="17" name="PDF_TEXT_GROUP_263"/>
          <p:cNvSpPr txBox="1"/>
          <p:nvPr/>
        </p:nvSpPr>
        <p:spPr>
          <a:xfrm>
            <a:off x="1027344" y="3151788"/>
            <a:ext cx="176396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UAV workload</a:t>
            </a:r>
          </a:p>
        </p:txBody>
      </p:sp>
      <p:sp>
        <p:nvSpPr>
          <p:cNvPr id="18" name="PDF_TEXT_GROUP_264"/>
          <p:cNvSpPr txBox="1"/>
          <p:nvPr/>
        </p:nvSpPr>
        <p:spPr>
          <a:xfrm>
            <a:off x="3173462" y="3151788"/>
            <a:ext cx="3519762"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Control, telemetry, video, and</a:t>
            </a:r>
            <a:r>
              <a:rPr sz="1863" b="0" i="0">
                <a:solidFill>
                  <a:srgbClr val="000000"/>
                </a:solidFill>
                <a:latin typeface="Latin Modern Sans"/>
              </a:rPr>
              <a:t> mobility workload</a:t>
            </a:r>
          </a:p>
        </p:txBody>
      </p:sp>
      <p:sp>
        <p:nvSpPr>
          <p:cNvPr id="19" name="PDF_TEXT_GROUP_265"/>
          <p:cNvSpPr txBox="1"/>
          <p:nvPr/>
        </p:nvSpPr>
        <p:spPr>
          <a:xfrm>
            <a:off x="7495132" y="3151788"/>
            <a:ext cx="4011399"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Multi-drone role/edge tests in</a:t>
            </a:r>
            <a:r>
              <a:rPr sz="1863" b="0" i="0">
                <a:solidFill>
                  <a:srgbClr val="000000"/>
                </a:solidFill>
                <a:latin typeface="Latin Modern Sans"/>
              </a:rPr>
              <a:t> MiniNDN</a:t>
            </a:r>
            <a:r>
              <a:rPr sz="1863" b="0" i="0">
                <a:solidFill>
                  <a:srgbClr val="1A3E79"/>
                </a:solidFill>
                <a:latin typeface="Latin Modern Sans"/>
              </a:rPr>
              <a:t> [22]</a:t>
            </a:r>
            <a:r>
              <a:rPr sz="1863" b="0" i="0">
                <a:solidFill>
                  <a:srgbClr val="000000"/>
                </a:solidFill>
                <a:latin typeface="Latin Modern Sans"/>
              </a:rPr>
              <a:t> and PX4 SITL</a:t>
            </a:r>
            <a:r>
              <a:rPr sz="1863" b="0" i="0">
                <a:solidFill>
                  <a:srgbClr val="1A3E79"/>
                </a:solidFill>
                <a:latin typeface="Latin Modern Sans"/>
              </a:rPr>
              <a:t> [23]</a:t>
            </a:r>
          </a:p>
        </p:txBody>
      </p:sp>
      <p:sp>
        <p:nvSpPr>
          <p:cNvPr id="20" name="PDF_TEXT_GROUP_266"/>
          <p:cNvSpPr txBox="1"/>
          <p:nvPr/>
        </p:nvSpPr>
        <p:spPr>
          <a:xfrm>
            <a:off x="11816769" y="3151788"/>
            <a:ext cx="139905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21" name="PDF_TEXT_GROUP_267"/>
          <p:cNvSpPr txBox="1"/>
          <p:nvPr/>
        </p:nvSpPr>
        <p:spPr>
          <a:xfrm>
            <a:off x="1027344" y="3976084"/>
            <a:ext cx="14100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Distributed</a:t>
            </a:r>
          </a:p>
        </p:txBody>
      </p:sp>
      <p:sp>
        <p:nvSpPr>
          <p:cNvPr id="22" name="PDF_TEXT_GROUP_268"/>
          <p:cNvSpPr txBox="1"/>
          <p:nvPr/>
        </p:nvSpPr>
        <p:spPr>
          <a:xfrm>
            <a:off x="3173462" y="3976084"/>
            <a:ext cx="42702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Planner, Repo, named dependency</a:t>
            </a:r>
          </a:p>
        </p:txBody>
      </p:sp>
      <p:sp>
        <p:nvSpPr>
          <p:cNvPr id="23" name="PDF_TEXT_GROUP_269"/>
          <p:cNvSpPr txBox="1"/>
          <p:nvPr/>
        </p:nvSpPr>
        <p:spPr>
          <a:xfrm>
            <a:off x="7495132" y="3976084"/>
            <a:ext cx="42193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Real-model and failure gates; final</a:t>
            </a:r>
          </a:p>
        </p:txBody>
      </p:sp>
      <p:sp>
        <p:nvSpPr>
          <p:cNvPr id="24" name="PDF_TEXT_GROUP_270"/>
          <p:cNvSpPr txBox="1"/>
          <p:nvPr/>
        </p:nvSpPr>
        <p:spPr>
          <a:xfrm>
            <a:off x="11816769" y="3976084"/>
            <a:ext cx="1307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Oct. 2026</a:t>
            </a:r>
          </a:p>
        </p:txBody>
      </p:sp>
      <p:sp>
        <p:nvSpPr>
          <p:cNvPr id="25" name="PDF_TEXT_GROUP_271"/>
          <p:cNvSpPr txBox="1"/>
          <p:nvPr/>
        </p:nvSpPr>
        <p:spPr>
          <a:xfrm>
            <a:off x="1027344" y="4281947"/>
            <a:ext cx="1152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inference</a:t>
            </a:r>
          </a:p>
        </p:txBody>
      </p:sp>
      <p:sp>
        <p:nvSpPr>
          <p:cNvPr id="26" name="PDF_TEXT_GROUP_272"/>
          <p:cNvSpPr txBox="1"/>
          <p:nvPr/>
        </p:nvSpPr>
        <p:spPr>
          <a:xfrm>
            <a:off x="3173462" y="4281947"/>
            <a:ext cx="413702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flow; preliminary model campaign</a:t>
            </a:r>
          </a:p>
        </p:txBody>
      </p:sp>
      <p:sp>
        <p:nvSpPr>
          <p:cNvPr id="27" name="PDF_TEXT_GROUP_273"/>
          <p:cNvSpPr txBox="1"/>
          <p:nvPr/>
        </p:nvSpPr>
        <p:spPr>
          <a:xfrm>
            <a:off x="7495132" y="4281947"/>
            <a:ext cx="252099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statistical evaluation</a:t>
            </a:r>
          </a:p>
        </p:txBody>
      </p:sp>
      <p:sp>
        <p:nvSpPr>
          <p:cNvPr id="28" name="PDF_TEXT_GROUP_274"/>
          <p:cNvSpPr txBox="1"/>
          <p:nvPr/>
        </p:nvSpPr>
        <p:spPr>
          <a:xfrm>
            <a:off x="1027344" y="4800412"/>
            <a:ext cx="164819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Evidence and</a:t>
            </a:r>
          </a:p>
        </p:txBody>
      </p:sp>
      <p:sp>
        <p:nvSpPr>
          <p:cNvPr id="29" name="PDF_TEXT_GROUP_275"/>
          <p:cNvSpPr txBox="1"/>
          <p:nvPr/>
        </p:nvSpPr>
        <p:spPr>
          <a:xfrm>
            <a:off x="3173462" y="4800412"/>
            <a:ext cx="323449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Proposal, survey, and v0.1</a:t>
            </a:r>
          </a:p>
        </p:txBody>
      </p:sp>
      <p:sp>
        <p:nvSpPr>
          <p:cNvPr id="30" name="PDF_TEXT_GROUP_276"/>
          <p:cNvSpPr txBox="1"/>
          <p:nvPr/>
        </p:nvSpPr>
        <p:spPr>
          <a:xfrm>
            <a:off x="7495132" y="4800412"/>
            <a:ext cx="4198654"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Freeze evidence; integrate chapters;</a:t>
            </a:r>
            <a:r>
              <a:rPr sz="1863" b="0" i="0">
                <a:solidFill>
                  <a:srgbClr val="000000"/>
                </a:solidFill>
                <a:latin typeface="Latin Modern Sans"/>
              </a:rPr>
              <a:t> submit chair draft</a:t>
            </a:r>
          </a:p>
        </p:txBody>
      </p:sp>
      <p:sp>
        <p:nvSpPr>
          <p:cNvPr id="31" name="PDF_TEXT_GROUP_277"/>
          <p:cNvSpPr txBox="1"/>
          <p:nvPr/>
        </p:nvSpPr>
        <p:spPr>
          <a:xfrm>
            <a:off x="11816769" y="4800412"/>
            <a:ext cx="1312301"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Nov.–Dec.</a:t>
            </a:r>
            <a:r>
              <a:rPr sz="1863" b="0" i="0">
                <a:solidFill>
                  <a:srgbClr val="000000"/>
                </a:solidFill>
                <a:latin typeface="Latin Modern Sans"/>
              </a:rPr>
              <a:t> 2026</a:t>
            </a:r>
          </a:p>
        </p:txBody>
      </p:sp>
      <p:sp>
        <p:nvSpPr>
          <p:cNvPr id="32" name="PDF_TEXT_GROUP_278"/>
          <p:cNvSpPr txBox="1"/>
          <p:nvPr/>
        </p:nvSpPr>
        <p:spPr>
          <a:xfrm>
            <a:off x="1027344" y="5106243"/>
            <a:ext cx="13334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chair draft</a:t>
            </a:r>
          </a:p>
        </p:txBody>
      </p:sp>
      <p:sp>
        <p:nvSpPr>
          <p:cNvPr id="33" name="PDF_TEXT_GROUP_279"/>
          <p:cNvSpPr txBox="1"/>
          <p:nvPr/>
        </p:nvSpPr>
        <p:spPr>
          <a:xfrm>
            <a:off x="3173462" y="5106243"/>
            <a:ext cx="139712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manuscript</a:t>
            </a:r>
          </a:p>
        </p:txBody>
      </p:sp>
      <p:sp>
        <p:nvSpPr>
          <p:cNvPr id="34" name="PDF_TEXT_GROUP_280"/>
          <p:cNvSpPr txBox="1"/>
          <p:nvPr/>
        </p:nvSpPr>
        <p:spPr>
          <a:xfrm>
            <a:off x="1027344" y="5624708"/>
            <a:ext cx="201449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Graduation path</a:t>
            </a:r>
          </a:p>
        </p:txBody>
      </p:sp>
      <p:sp>
        <p:nvSpPr>
          <p:cNvPr id="35" name="PDF_TEXT_GROUP_281"/>
          <p:cNvSpPr txBox="1"/>
          <p:nvPr/>
        </p:nvSpPr>
        <p:spPr>
          <a:xfrm>
            <a:off x="3173462" y="5624708"/>
            <a:ext cx="3719132"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Spring 2027 path and deadlines</a:t>
            </a:r>
            <a:r>
              <a:rPr sz="1863" b="0" i="0">
                <a:solidFill>
                  <a:srgbClr val="000000"/>
                </a:solidFill>
                <a:latin typeface="Latin Modern Sans"/>
              </a:rPr>
              <a:t> confirmed</a:t>
            </a:r>
          </a:p>
        </p:txBody>
      </p:sp>
      <p:sp>
        <p:nvSpPr>
          <p:cNvPr id="36" name="PDF_TEXT_GROUP_282"/>
          <p:cNvSpPr txBox="1"/>
          <p:nvPr/>
        </p:nvSpPr>
        <p:spPr>
          <a:xfrm>
            <a:off x="7495132" y="5624708"/>
            <a:ext cx="414921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Committee review; February 2027</a:t>
            </a:r>
          </a:p>
        </p:txBody>
      </p:sp>
      <p:sp>
        <p:nvSpPr>
          <p:cNvPr id="37" name="PDF_TEXT_GROUP_283"/>
          <p:cNvSpPr txBox="1"/>
          <p:nvPr/>
        </p:nvSpPr>
        <p:spPr>
          <a:xfrm>
            <a:off x="11816769" y="5624708"/>
            <a:ext cx="128731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Jan.–Mar.</a:t>
            </a:r>
          </a:p>
        </p:txBody>
      </p:sp>
      <p:sp>
        <p:nvSpPr>
          <p:cNvPr id="38" name="PDF_TEXT_GROUP_284"/>
          <p:cNvSpPr txBox="1"/>
          <p:nvPr/>
        </p:nvSpPr>
        <p:spPr>
          <a:xfrm>
            <a:off x="7495132" y="5930571"/>
            <a:ext cx="420836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defense; corrections and ProQuest</a:t>
            </a:r>
          </a:p>
        </p:txBody>
      </p:sp>
      <p:sp>
        <p:nvSpPr>
          <p:cNvPr id="39" name="PDF_TEXT_GROUP_285"/>
          <p:cNvSpPr txBox="1"/>
          <p:nvPr/>
        </p:nvSpPr>
        <p:spPr>
          <a:xfrm>
            <a:off x="11816769" y="5930571"/>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2027</a:t>
            </a:r>
          </a:p>
        </p:txBody>
      </p:sp>
      <p:sp>
        <p:nvSpPr>
          <p:cNvPr id="40" name="PDF_TEXT_GROUP_286"/>
          <p:cNvSpPr txBox="1"/>
          <p:nvPr/>
        </p:nvSpPr>
        <p:spPr>
          <a:xfrm>
            <a:off x="1092471" y="6720839"/>
            <a:ext cx="1223341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Defense by mid-Feb. 2027; ProQuest: March 5 target, March 26 deadline; Spring 2027 graduation.</a:t>
            </a:r>
          </a:p>
        </p:txBody>
      </p:sp>
      <p:sp>
        <p:nvSpPr>
          <p:cNvPr id="41" name="PDF_TEXT_GROUP_28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42" name="PDF_TEXT_GROUP_28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43" name="PDF_TEXT_GROUP_28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44" name="PDF_TEXT_GROUP_290"/>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45" name="PDF_TEXT_GROUP_291"/>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16/64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9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 Entity Roles</a:t>
            </a:r>
          </a:p>
        </p:txBody>
      </p:sp>
      <p:sp>
        <p:nvSpPr>
          <p:cNvPr id="4" name="PDF_TEXT_GROUP_293"/>
          <p:cNvSpPr txBox="1"/>
          <p:nvPr/>
        </p:nvSpPr>
        <p:spPr>
          <a:xfrm>
            <a:off x="6355348" y="1642126"/>
            <a:ext cx="25647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 Controller</a:t>
            </a:r>
          </a:p>
        </p:txBody>
      </p:sp>
      <p:sp>
        <p:nvSpPr>
          <p:cNvPr id="5" name="PDF_TEXT_GROUP_294"/>
          <p:cNvSpPr txBox="1"/>
          <p:nvPr/>
        </p:nvSpPr>
        <p:spPr>
          <a:xfrm>
            <a:off x="6588101" y="2073140"/>
            <a:ext cx="206221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startup authority</a:t>
            </a:r>
          </a:p>
        </p:txBody>
      </p:sp>
      <p:sp>
        <p:nvSpPr>
          <p:cNvPr id="6" name="PDF_TEXT_GROUP_295"/>
          <p:cNvSpPr txBox="1"/>
          <p:nvPr/>
        </p:nvSpPr>
        <p:spPr>
          <a:xfrm>
            <a:off x="9894625" y="2096180"/>
            <a:ext cx="30803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permissions + keys/certs</a:t>
            </a:r>
          </a:p>
        </p:txBody>
      </p:sp>
      <p:sp>
        <p:nvSpPr>
          <p:cNvPr id="7" name="PDF_TEXT_GROUP_296"/>
          <p:cNvSpPr txBox="1"/>
          <p:nvPr/>
        </p:nvSpPr>
        <p:spPr>
          <a:xfrm>
            <a:off x="2442351" y="2543584"/>
            <a:ext cx="30803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permissions + keys/certs</a:t>
            </a:r>
          </a:p>
        </p:txBody>
      </p:sp>
      <p:sp>
        <p:nvSpPr>
          <p:cNvPr id="8" name="PDF_TEXT_GROUP_297"/>
          <p:cNvSpPr txBox="1"/>
          <p:nvPr/>
        </p:nvSpPr>
        <p:spPr>
          <a:xfrm>
            <a:off x="8740351" y="2734567"/>
            <a:ext cx="26497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1A3E79"/>
                </a:solidFill>
                <a:latin typeface="Latin Modern Sans"/>
              </a:rPr>
              <a:t>Authorized Providers</a:t>
            </a:r>
          </a:p>
        </p:txBody>
      </p:sp>
      <p:sp>
        <p:nvSpPr>
          <p:cNvPr id="9" name="PDF_TEXT_GROUP_298"/>
          <p:cNvSpPr txBox="1"/>
          <p:nvPr/>
        </p:nvSpPr>
        <p:spPr>
          <a:xfrm>
            <a:off x="5321259" y="3189532"/>
            <a:ext cx="242707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Request / Selection</a:t>
            </a:r>
          </a:p>
        </p:txBody>
      </p:sp>
      <p:sp>
        <p:nvSpPr>
          <p:cNvPr id="10" name="PDF_TEXT_GROUP_299"/>
          <p:cNvSpPr txBox="1"/>
          <p:nvPr/>
        </p:nvSpPr>
        <p:spPr>
          <a:xfrm>
            <a:off x="9246294" y="3298473"/>
            <a:ext cx="162217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A</a:t>
            </a:r>
          </a:p>
        </p:txBody>
      </p:sp>
      <p:sp>
        <p:nvSpPr>
          <p:cNvPr id="11" name="PDF_TEXT_GROUP_300"/>
          <p:cNvSpPr txBox="1"/>
          <p:nvPr/>
        </p:nvSpPr>
        <p:spPr>
          <a:xfrm>
            <a:off x="2511351" y="3738186"/>
            <a:ext cx="182714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 User</a:t>
            </a:r>
          </a:p>
        </p:txBody>
      </p:sp>
      <p:sp>
        <p:nvSpPr>
          <p:cNvPr id="12" name="PDF_TEXT_GROUP_301"/>
          <p:cNvSpPr txBox="1"/>
          <p:nvPr/>
        </p:nvSpPr>
        <p:spPr>
          <a:xfrm>
            <a:off x="9246294" y="3903058"/>
            <a:ext cx="162217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B</a:t>
            </a:r>
          </a:p>
        </p:txBody>
      </p:sp>
      <p:sp>
        <p:nvSpPr>
          <p:cNvPr id="13" name="PDF_TEXT_GROUP_302"/>
          <p:cNvSpPr txBox="1"/>
          <p:nvPr/>
        </p:nvSpPr>
        <p:spPr>
          <a:xfrm>
            <a:off x="5488142" y="4281365"/>
            <a:ext cx="206663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ACK / Response</a:t>
            </a:r>
          </a:p>
        </p:txBody>
      </p:sp>
      <p:sp>
        <p:nvSpPr>
          <p:cNvPr id="14" name="PDF_TEXT_GROUP_303"/>
          <p:cNvSpPr txBox="1"/>
          <p:nvPr/>
        </p:nvSpPr>
        <p:spPr>
          <a:xfrm>
            <a:off x="9250748" y="4507611"/>
            <a:ext cx="16132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C</a:t>
            </a:r>
          </a:p>
        </p:txBody>
      </p:sp>
      <p:sp>
        <p:nvSpPr>
          <p:cNvPr id="15" name="PDF_TEXT_GROUP_304"/>
          <p:cNvSpPr txBox="1"/>
          <p:nvPr/>
        </p:nvSpPr>
        <p:spPr>
          <a:xfrm>
            <a:off x="1143656" y="5945479"/>
            <a:ext cx="12011145"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At startup, users and providers obtain permissions, keys, and certificates. During</a:t>
            </a:r>
            <a:r>
              <a:rPr sz="2710" b="0" i="0">
                <a:solidFill>
                  <a:srgbClr val="000000"/>
                </a:solidFill>
                <a:latin typeface="Latin Modern Sans"/>
              </a:rPr>
              <a:t> invocation, the user coordinates directly with providers through named Data</a:t>
            </a:r>
            <a:r>
              <a:rPr sz="2710" b="0" i="0">
                <a:solidFill>
                  <a:srgbClr val="000000"/>
                </a:solidFill>
                <a:latin typeface="Latin Modern Sans"/>
              </a:rPr>
              <a:t> messages.</a:t>
            </a:r>
          </a:p>
        </p:txBody>
      </p:sp>
      <p:sp>
        <p:nvSpPr>
          <p:cNvPr id="16" name="PDF_TEXT_GROUP_3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3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3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30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0" name="PDF_TEXT_GROUP_309"/>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3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 Invocation Workflow</a:t>
            </a:r>
          </a:p>
        </p:txBody>
      </p:sp>
      <p:sp>
        <p:nvSpPr>
          <p:cNvPr id="4" name="PDF_TEXT_GROUP_311"/>
          <p:cNvSpPr txBox="1"/>
          <p:nvPr/>
        </p:nvSpPr>
        <p:spPr>
          <a:xfrm>
            <a:off x="3199216" y="1375914"/>
            <a:ext cx="777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a:t>
            </a:r>
          </a:p>
        </p:txBody>
      </p:sp>
      <p:sp>
        <p:nvSpPr>
          <p:cNvPr id="5" name="PDF_TEXT_GROUP_312"/>
          <p:cNvSpPr txBox="1"/>
          <p:nvPr/>
        </p:nvSpPr>
        <p:spPr>
          <a:xfrm>
            <a:off x="10194731" y="1375914"/>
            <a:ext cx="14239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Providers</a:t>
            </a:r>
          </a:p>
        </p:txBody>
      </p:sp>
      <p:sp>
        <p:nvSpPr>
          <p:cNvPr id="6" name="PDF_TEXT_GROUP_313"/>
          <p:cNvSpPr txBox="1"/>
          <p:nvPr/>
        </p:nvSpPr>
        <p:spPr>
          <a:xfrm>
            <a:off x="6006478" y="1532804"/>
            <a:ext cx="24851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1A3E79"/>
                </a:solidFill>
                <a:latin typeface="Latin Modern Sans"/>
              </a:rPr>
              <a:t>Request Message</a:t>
            </a:r>
          </a:p>
        </p:txBody>
      </p:sp>
      <p:sp>
        <p:nvSpPr>
          <p:cNvPr id="7" name="PDF_TEXT_GROUP_314"/>
          <p:cNvSpPr txBox="1"/>
          <p:nvPr/>
        </p:nvSpPr>
        <p:spPr>
          <a:xfrm>
            <a:off x="6221932" y="2060446"/>
            <a:ext cx="205073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 Message</a:t>
            </a:r>
          </a:p>
        </p:txBody>
      </p:sp>
      <p:sp>
        <p:nvSpPr>
          <p:cNvPr id="8" name="PDF_TEXT_GROUP_315"/>
          <p:cNvSpPr txBox="1"/>
          <p:nvPr/>
        </p:nvSpPr>
        <p:spPr>
          <a:xfrm>
            <a:off x="5937027" y="2588089"/>
            <a:ext cx="263513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1A3E79"/>
                </a:solidFill>
                <a:latin typeface="Latin Modern Sans"/>
              </a:rPr>
              <a:t>Selection Message</a:t>
            </a:r>
          </a:p>
        </p:txBody>
      </p:sp>
      <p:sp>
        <p:nvSpPr>
          <p:cNvPr id="9" name="PDF_TEXT_GROUP_316"/>
          <p:cNvSpPr txBox="1"/>
          <p:nvPr/>
        </p:nvSpPr>
        <p:spPr>
          <a:xfrm>
            <a:off x="5918050" y="3115699"/>
            <a:ext cx="2676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 Message</a:t>
            </a:r>
          </a:p>
        </p:txBody>
      </p:sp>
      <p:sp>
        <p:nvSpPr>
          <p:cNvPr id="10" name="PDF_TEXT_GROUP_317"/>
          <p:cNvSpPr txBox="1"/>
          <p:nvPr/>
        </p:nvSpPr>
        <p:spPr>
          <a:xfrm>
            <a:off x="1143656" y="4522631"/>
            <a:ext cx="618474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Underlying NDN Sync</a:t>
            </a:r>
            <a:r>
              <a:rPr sz="1863" b="1" i="0">
                <a:solidFill>
                  <a:srgbClr val="1A3E79"/>
                </a:solidFill>
                <a:latin typeface="Latin Modern Sans"/>
              </a:rPr>
              <a:t> [2]</a:t>
            </a:r>
            <a:r>
              <a:rPr sz="1863" b="1" i="0">
                <a:solidFill>
                  <a:srgbClr val="000000"/>
                </a:solidFill>
                <a:latin typeface="Latin Modern Sans"/>
              </a:rPr>
              <a:t>: announce, then fetch</a:t>
            </a:r>
          </a:p>
        </p:txBody>
      </p:sp>
      <p:sp>
        <p:nvSpPr>
          <p:cNvPr id="11" name="PDF_TEXT_GROUP_318"/>
          <p:cNvSpPr txBox="1"/>
          <p:nvPr/>
        </p:nvSpPr>
        <p:spPr>
          <a:xfrm>
            <a:off x="7675441" y="4522631"/>
            <a:ext cx="5572587"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SVS</a:t>
            </a:r>
            <a:r>
              <a:rPr sz="1863" b="1" i="0">
                <a:solidFill>
                  <a:srgbClr val="1A3E79"/>
                </a:solidFill>
                <a:latin typeface="Latin Modern Sans"/>
              </a:rPr>
              <a:t> [3]</a:t>
            </a:r>
            <a:r>
              <a:rPr sz="1863" b="1" i="0">
                <a:solidFill>
                  <a:srgbClr val="000000"/>
                </a:solidFill>
                <a:latin typeface="Latin Modern Sans"/>
              </a:rPr>
              <a:t> Pub/Sub API: combines the two-step</a:t>
            </a:r>
            <a:r>
              <a:rPr sz="1863" b="1" i="0">
                <a:solidFill>
                  <a:srgbClr val="000000"/>
                </a:solidFill>
                <a:latin typeface="Latin Modern Sans"/>
              </a:rPr>
              <a:t> delivery</a:t>
            </a:r>
          </a:p>
        </p:txBody>
      </p:sp>
      <p:sp>
        <p:nvSpPr>
          <p:cNvPr id="12" name="PDF_TEXT_GROUP_319"/>
          <p:cNvSpPr txBox="1"/>
          <p:nvPr/>
        </p:nvSpPr>
        <p:spPr>
          <a:xfrm>
            <a:off x="1230373" y="4925052"/>
            <a:ext cx="6056209" cy="657607"/>
          </a:xfrm>
          <a:prstGeom prst="rect">
            <a:avLst/>
          </a:prstGeom>
          <a:noFill/>
          <a:ln>
            <a:noFill/>
          </a:ln>
        </p:spPr>
        <p:txBody>
          <a:bodyPr wrap="square" anchor="t" lIns="0" rIns="0" tIns="0" bIns="0">
            <a:noAutofit/>
          </a:bodyPr>
          <a:lstStyle/>
          <a:p>
            <a:pPr algn="l" marL="388502" indent="-388502">
              <a:lnSpc>
                <a:spcPct val="100000"/>
              </a:lnSpc>
              <a:spcBef>
                <a:spcPts val="0"/>
              </a:spcBef>
              <a:spcAft>
                <a:spcPts val="0"/>
              </a:spcAft>
            </a:pPr>
            <a:r>
              <a:rPr sz="1863" b="0" i="0">
                <a:solidFill>
                  <a:srgbClr val="3333B2"/>
                </a:solidFill>
                <a:latin typeface="Latin Modern Sans"/>
              </a:rPr>
              <a:t>1.</a:t>
            </a:r>
            <a:r>
              <a:rPr sz="1863" b="0" i="0">
                <a:solidFill>
                  <a:srgbClr val="000000"/>
                </a:solidFill>
                <a:latin typeface="Latin Modern Sans"/>
              </a:rPr>
              <a:t> Sender publishes each logical message as signed,</a:t>
            </a:r>
            <a:r>
              <a:rPr sz="1863" b="0" i="0">
                <a:solidFill>
                  <a:srgbClr val="000000"/>
                </a:solidFill>
                <a:latin typeface="Latin Modern Sans"/>
              </a:rPr>
              <a:t> named Data.</a:t>
            </a:r>
          </a:p>
        </p:txBody>
      </p:sp>
      <p:sp>
        <p:nvSpPr>
          <p:cNvPr id="13" name="PDF_TEXT_GROUP_320"/>
          <p:cNvSpPr txBox="1"/>
          <p:nvPr/>
        </p:nvSpPr>
        <p:spPr>
          <a:xfrm>
            <a:off x="8150724" y="5230882"/>
            <a:ext cx="5484195"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Mono"/>
              </a:rPr>
              <a:t>publish(name, payload)</a:t>
            </a:r>
            <a:r>
              <a:rPr sz="1863" b="0" i="0">
                <a:solidFill>
                  <a:srgbClr val="000000"/>
                </a:solidFill>
                <a:latin typeface="Latin Modern Sans"/>
              </a:rPr>
              <a:t> stores the Data and</a:t>
            </a:r>
            <a:r>
              <a:rPr sz="1863" b="0" i="0">
                <a:solidFill>
                  <a:srgbClr val="000000"/>
                </a:solidFill>
                <a:latin typeface="Latin Modern Sans"/>
              </a:rPr>
              <a:t> announces its name.</a:t>
            </a:r>
          </a:p>
        </p:txBody>
      </p:sp>
      <p:sp>
        <p:nvSpPr>
          <p:cNvPr id="14" name="PDF_TEXT_GROUP_321"/>
          <p:cNvSpPr txBox="1"/>
          <p:nvPr/>
        </p:nvSpPr>
        <p:spPr>
          <a:xfrm>
            <a:off x="1230373" y="5633336"/>
            <a:ext cx="4990300" cy="302935"/>
          </a:xfrm>
          <a:prstGeom prst="rect">
            <a:avLst/>
          </a:prstGeom>
          <a:noFill/>
          <a:ln>
            <a:noFill/>
          </a:ln>
        </p:spPr>
        <p:txBody>
          <a:bodyPr wrap="square" anchor="t" lIns="0" rIns="0" tIns="0" bIns="0">
            <a:noAutofit/>
          </a:bodyPr>
          <a:lstStyle/>
          <a:p>
            <a:pPr algn="l" marL="388502" indent="-388502">
              <a:lnSpc>
                <a:spcPct val="100000"/>
              </a:lnSpc>
              <a:spcBef>
                <a:spcPts val="0"/>
              </a:spcBef>
              <a:spcAft>
                <a:spcPts val="0"/>
              </a:spcAft>
            </a:pPr>
            <a:r>
              <a:rPr sz="1863" b="0" i="0">
                <a:solidFill>
                  <a:srgbClr val="3333B2"/>
                </a:solidFill>
                <a:latin typeface="Latin Modern Sans"/>
              </a:rPr>
              <a:t>2.</a:t>
            </a:r>
            <a:r>
              <a:rPr sz="1863" b="0" i="0">
                <a:solidFill>
                  <a:srgbClr val="000000"/>
                </a:solidFill>
                <a:latin typeface="Latin Modern Sans"/>
              </a:rPr>
              <a:t> Sync announces the new Data name.</a:t>
            </a:r>
          </a:p>
        </p:txBody>
      </p:sp>
      <p:sp>
        <p:nvSpPr>
          <p:cNvPr id="15" name="PDF_TEXT_GROUP_322"/>
          <p:cNvSpPr txBox="1"/>
          <p:nvPr/>
        </p:nvSpPr>
        <p:spPr>
          <a:xfrm>
            <a:off x="8150724" y="5939167"/>
            <a:ext cx="5010624"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Mono"/>
              </a:rPr>
              <a:t>subscribe(prefix, callback)</a:t>
            </a:r>
            <a:r>
              <a:rPr sz="1863" b="0" i="0">
                <a:solidFill>
                  <a:srgbClr val="000000"/>
                </a:solidFill>
                <a:latin typeface="Latin Modern Sans"/>
              </a:rPr>
              <a:t> learns the</a:t>
            </a:r>
            <a:r>
              <a:rPr sz="1863" b="0" i="0">
                <a:solidFill>
                  <a:srgbClr val="000000"/>
                </a:solidFill>
                <a:latin typeface="Latin Modern Sans"/>
              </a:rPr>
              <a:t> name, fetches the Data, then invokes the</a:t>
            </a:r>
            <a:r>
              <a:rPr sz="1863" b="0" i="0">
                <a:solidFill>
                  <a:srgbClr val="000000"/>
                </a:solidFill>
                <a:latin typeface="Latin Modern Sans"/>
              </a:rPr>
              <a:t> callback.</a:t>
            </a:r>
          </a:p>
        </p:txBody>
      </p:sp>
      <p:sp>
        <p:nvSpPr>
          <p:cNvPr id="16" name="PDF_TEXT_GROUP_323"/>
          <p:cNvSpPr txBox="1"/>
          <p:nvPr/>
        </p:nvSpPr>
        <p:spPr>
          <a:xfrm>
            <a:off x="1230373" y="6035757"/>
            <a:ext cx="5642602" cy="657639"/>
          </a:xfrm>
          <a:prstGeom prst="rect">
            <a:avLst/>
          </a:prstGeom>
          <a:noFill/>
          <a:ln>
            <a:noFill/>
          </a:ln>
        </p:spPr>
        <p:txBody>
          <a:bodyPr wrap="square" anchor="t" lIns="0" rIns="0" tIns="0" bIns="0">
            <a:noAutofit/>
          </a:bodyPr>
          <a:lstStyle/>
          <a:p>
            <a:pPr algn="l" marL="388502" indent="-388502">
              <a:lnSpc>
                <a:spcPct val="100000"/>
              </a:lnSpc>
              <a:spcBef>
                <a:spcPts val="0"/>
              </a:spcBef>
              <a:spcAft>
                <a:spcPts val="0"/>
              </a:spcAft>
            </a:pPr>
            <a:r>
              <a:rPr sz="1863" b="0" i="0">
                <a:solidFill>
                  <a:srgbClr val="3333B2"/>
                </a:solidFill>
                <a:latin typeface="Latin Modern Sans"/>
              </a:rPr>
              <a:t>3.</a:t>
            </a:r>
            <a:r>
              <a:rPr sz="1863" b="0" i="0">
                <a:solidFill>
                  <a:srgbClr val="000000"/>
                </a:solidFill>
                <a:latin typeface="Latin Modern Sans"/>
              </a:rPr>
              <a:t> Receiver sends an Interest for that name and</a:t>
            </a:r>
            <a:r>
              <a:rPr sz="1863" b="0" i="0">
                <a:solidFill>
                  <a:srgbClr val="000000"/>
                </a:solidFill>
                <a:latin typeface="Latin Modern Sans"/>
              </a:rPr>
              <a:t> obtains the Data.</a:t>
            </a:r>
          </a:p>
        </p:txBody>
      </p:sp>
      <p:sp>
        <p:nvSpPr>
          <p:cNvPr id="17" name="PDF_TEXT_GROUP_324"/>
          <p:cNvSpPr txBox="1"/>
          <p:nvPr/>
        </p:nvSpPr>
        <p:spPr>
          <a:xfrm>
            <a:off x="7675441" y="6953314"/>
            <a:ext cx="5570400"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The NDNSF application does not manage the</a:t>
            </a:r>
            <a:r>
              <a:rPr sz="1863" b="1" i="0">
                <a:solidFill>
                  <a:srgbClr val="000000"/>
                </a:solidFill>
                <a:latin typeface="Latin Modern Sans"/>
              </a:rPr>
              <a:t> fetch itself.</a:t>
            </a:r>
          </a:p>
        </p:txBody>
      </p:sp>
      <p:sp>
        <p:nvSpPr>
          <p:cNvPr id="18" name="PDF_TEXT_GROUP_32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32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32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32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2" name="PDF_TEXT_GROUP_329"/>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18/64</a:t>
            </a:r>
          </a:p>
        </p:txBody>
      </p:sp>
      <p:sp>
        <p:nvSpPr>
          <p:cNvPr id="23" name="PDF_BULLET_SPAN_520"/>
          <p:cNvSpPr/>
          <p:nvPr/>
        </p:nvSpPr>
        <p:spPr>
          <a:xfrm rot="5400000">
            <a:off x="7802657" y="5293561"/>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DF_BULLET_SPAN_524"/>
          <p:cNvSpPr/>
          <p:nvPr/>
        </p:nvSpPr>
        <p:spPr>
          <a:xfrm rot="5400000">
            <a:off x="7802657" y="6001845"/>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33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 Access Control: Policy Examples</a:t>
            </a:r>
          </a:p>
        </p:txBody>
      </p:sp>
      <p:sp>
        <p:nvSpPr>
          <p:cNvPr id="4" name="PDF_TEXT_GROUP_331"/>
          <p:cNvSpPr txBox="1"/>
          <p:nvPr/>
        </p:nvSpPr>
        <p:spPr>
          <a:xfrm>
            <a:off x="914808" y="1726501"/>
            <a:ext cx="3935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Provider policy: Drone 1</a:t>
            </a:r>
          </a:p>
        </p:txBody>
      </p:sp>
      <p:sp>
        <p:nvSpPr>
          <p:cNvPr id="5" name="PDF_TEXT_GROUP_332"/>
          <p:cNvSpPr txBox="1"/>
          <p:nvPr/>
        </p:nvSpPr>
        <p:spPr>
          <a:xfrm>
            <a:off x="7446593" y="1726501"/>
            <a:ext cx="440961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User policy: Ground station</a:t>
            </a:r>
          </a:p>
        </p:txBody>
      </p:sp>
      <p:sp>
        <p:nvSpPr>
          <p:cNvPr id="6" name="PDF_TEXT_GROUP_333"/>
          <p:cNvSpPr txBox="1"/>
          <p:nvPr/>
        </p:nvSpPr>
        <p:spPr>
          <a:xfrm>
            <a:off x="1123808" y="2595231"/>
            <a:ext cx="3394278"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provider /UAVNET/drone1</a:t>
            </a:r>
          </a:p>
        </p:txBody>
      </p:sp>
      <p:sp>
        <p:nvSpPr>
          <p:cNvPr id="7" name="PDF_TEXT_GROUP_334"/>
          <p:cNvSpPr txBox="1"/>
          <p:nvPr/>
        </p:nvSpPr>
        <p:spPr>
          <a:xfrm>
            <a:off x="7655593" y="2595231"/>
            <a:ext cx="2250994"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user /UAVNET/gs</a:t>
            </a:r>
          </a:p>
        </p:txBody>
      </p:sp>
      <p:sp>
        <p:nvSpPr>
          <p:cNvPr id="8" name="PDF_TEXT_GROUP_335"/>
          <p:cNvSpPr txBox="1"/>
          <p:nvPr/>
        </p:nvSpPr>
        <p:spPr>
          <a:xfrm>
            <a:off x="1489718" y="2901062"/>
            <a:ext cx="4132244"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allow /FlightControl/Takeoff</a:t>
            </a:r>
          </a:p>
        </p:txBody>
      </p:sp>
      <p:sp>
        <p:nvSpPr>
          <p:cNvPr id="9" name="PDF_TEXT_GROUP_336"/>
          <p:cNvSpPr txBox="1"/>
          <p:nvPr/>
        </p:nvSpPr>
        <p:spPr>
          <a:xfrm>
            <a:off x="8021504" y="2901062"/>
            <a:ext cx="3099092"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allow /UAVNET/drone1/</a:t>
            </a:r>
          </a:p>
        </p:txBody>
      </p:sp>
      <p:sp>
        <p:nvSpPr>
          <p:cNvPr id="10" name="PDF_TEXT_GROUP_337"/>
          <p:cNvSpPr txBox="1"/>
          <p:nvPr/>
        </p:nvSpPr>
        <p:spPr>
          <a:xfrm>
            <a:off x="1489718" y="3206925"/>
            <a:ext cx="3689464"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allow /FlightControl/Land</a:t>
            </a:r>
          </a:p>
        </p:txBody>
      </p:sp>
      <p:sp>
        <p:nvSpPr>
          <p:cNvPr id="11" name="PDF_TEXT_GROUP_338"/>
          <p:cNvSpPr txBox="1"/>
          <p:nvPr/>
        </p:nvSpPr>
        <p:spPr>
          <a:xfrm>
            <a:off x="9073569" y="3206925"/>
            <a:ext cx="3099176"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FlightControl/Takeoff</a:t>
            </a:r>
          </a:p>
        </p:txBody>
      </p:sp>
      <p:sp>
        <p:nvSpPr>
          <p:cNvPr id="12" name="PDF_TEXT_GROUP_339"/>
          <p:cNvSpPr txBox="1"/>
          <p:nvPr/>
        </p:nvSpPr>
        <p:spPr>
          <a:xfrm>
            <a:off x="1489718" y="3512756"/>
            <a:ext cx="3394278"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allow /ImageProc/YOLO12</a:t>
            </a:r>
          </a:p>
        </p:txBody>
      </p:sp>
      <p:sp>
        <p:nvSpPr>
          <p:cNvPr id="13" name="PDF_TEXT_GROUP_340"/>
          <p:cNvSpPr txBox="1"/>
          <p:nvPr/>
        </p:nvSpPr>
        <p:spPr>
          <a:xfrm>
            <a:off x="8021504" y="3512756"/>
            <a:ext cx="3099092"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allow /UAVNET/drone1/</a:t>
            </a:r>
          </a:p>
        </p:txBody>
      </p:sp>
      <p:sp>
        <p:nvSpPr>
          <p:cNvPr id="14" name="PDF_TEXT_GROUP_341"/>
          <p:cNvSpPr txBox="1"/>
          <p:nvPr/>
        </p:nvSpPr>
        <p:spPr>
          <a:xfrm>
            <a:off x="9073569" y="3818619"/>
            <a:ext cx="2387474"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ImageProc/YOLO12</a:t>
            </a:r>
          </a:p>
        </p:txBody>
      </p:sp>
      <p:sp>
        <p:nvSpPr>
          <p:cNvPr id="15" name="PDF_TEXT_GROUP_342"/>
          <p:cNvSpPr txBox="1"/>
          <p:nvPr/>
        </p:nvSpPr>
        <p:spPr>
          <a:xfrm>
            <a:off x="8021504" y="4124450"/>
            <a:ext cx="3099092"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allow /UAVNET/drone3/</a:t>
            </a:r>
          </a:p>
        </p:txBody>
      </p:sp>
      <p:sp>
        <p:nvSpPr>
          <p:cNvPr id="16" name="PDF_TEXT_GROUP_343"/>
          <p:cNvSpPr txBox="1"/>
          <p:nvPr/>
        </p:nvSpPr>
        <p:spPr>
          <a:xfrm>
            <a:off x="914808" y="4402780"/>
            <a:ext cx="3935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Provider policy: Drone 3</a:t>
            </a:r>
          </a:p>
        </p:txBody>
      </p:sp>
      <p:sp>
        <p:nvSpPr>
          <p:cNvPr id="17" name="PDF_TEXT_GROUP_344"/>
          <p:cNvSpPr txBox="1"/>
          <p:nvPr/>
        </p:nvSpPr>
        <p:spPr>
          <a:xfrm>
            <a:off x="9073569" y="4430313"/>
            <a:ext cx="2951583"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Sensor/HyperSpectral</a:t>
            </a:r>
          </a:p>
        </p:txBody>
      </p:sp>
      <p:sp>
        <p:nvSpPr>
          <p:cNvPr id="18" name="PDF_TEXT_GROUP_345"/>
          <p:cNvSpPr txBox="1"/>
          <p:nvPr/>
        </p:nvSpPr>
        <p:spPr>
          <a:xfrm>
            <a:off x="1123808" y="5271477"/>
            <a:ext cx="3394278"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provider /UAVNET/drone3</a:t>
            </a:r>
          </a:p>
        </p:txBody>
      </p:sp>
      <p:sp>
        <p:nvSpPr>
          <p:cNvPr id="19" name="PDF_TEXT_GROUP_346"/>
          <p:cNvSpPr txBox="1"/>
          <p:nvPr/>
        </p:nvSpPr>
        <p:spPr>
          <a:xfrm>
            <a:off x="1489718" y="5577341"/>
            <a:ext cx="4132244"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allow /FlightControl/Takeoff</a:t>
            </a:r>
          </a:p>
        </p:txBody>
      </p:sp>
      <p:sp>
        <p:nvSpPr>
          <p:cNvPr id="20" name="PDF_TEXT_GROUP_347"/>
          <p:cNvSpPr txBox="1"/>
          <p:nvPr/>
        </p:nvSpPr>
        <p:spPr>
          <a:xfrm>
            <a:off x="7655593" y="5608744"/>
            <a:ext cx="5975237" cy="12693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 Provider policy defines which services an identity</a:t>
            </a:r>
            <a:r>
              <a:rPr sz="1863" b="0" i="0">
                <a:solidFill>
                  <a:srgbClr val="000000"/>
                </a:solidFill>
                <a:latin typeface="Latin Modern Sans"/>
              </a:rPr>
              <a:t> may offer; a User policy defines which</a:t>
            </a:r>
            <a:r>
              <a:rPr sz="1863" b="0" i="0">
                <a:solidFill>
                  <a:srgbClr val="000000"/>
                </a:solidFill>
                <a:latin typeface="Latin Modern Sans"/>
              </a:rPr>
              <a:t> Provider/service namespaces the User may invoke.</a:t>
            </a:r>
            <a:r>
              <a:rPr sz="1863" b="0" i="0">
                <a:solidFill>
                  <a:srgbClr val="000000"/>
                </a:solidFill>
                <a:latin typeface="Latin Modern Sans"/>
              </a:rPr>
              <a:t> Neither depends on fixed endpoint addresses.</a:t>
            </a:r>
          </a:p>
        </p:txBody>
      </p:sp>
      <p:sp>
        <p:nvSpPr>
          <p:cNvPr id="21" name="PDF_TEXT_GROUP_348"/>
          <p:cNvSpPr txBox="1"/>
          <p:nvPr/>
        </p:nvSpPr>
        <p:spPr>
          <a:xfrm>
            <a:off x="1489718" y="5883172"/>
            <a:ext cx="3984651"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allow /Sensor/HyperSpectral</a:t>
            </a:r>
          </a:p>
        </p:txBody>
      </p:sp>
      <p:sp>
        <p:nvSpPr>
          <p:cNvPr id="22" name="PDF_TEXT_GROUP_3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52"/>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6" name="PDF_TEXT_GROUP_353"/>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19/64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3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Why ABE? Confidential Provider Discovery</a:t>
            </a:r>
          </a:p>
        </p:txBody>
      </p:sp>
      <p:sp>
        <p:nvSpPr>
          <p:cNvPr id="4" name="PDF_TEXT_GROUP_355"/>
          <p:cNvSpPr txBox="1"/>
          <p:nvPr/>
        </p:nvSpPr>
        <p:spPr>
          <a:xfrm>
            <a:off x="914808" y="1574555"/>
            <a:ext cx="1157041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Reach authorized Providers before knowing who is willing and reachable.</a:t>
            </a:r>
          </a:p>
        </p:txBody>
      </p:sp>
      <p:sp>
        <p:nvSpPr>
          <p:cNvPr id="5" name="PDF_TEXT_GROUP_356"/>
          <p:cNvSpPr txBox="1"/>
          <p:nvPr/>
        </p:nvSpPr>
        <p:spPr>
          <a:xfrm>
            <a:off x="1618972" y="2383049"/>
            <a:ext cx="120722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 discovery descriptor states location, deadline, and resource needs for a positive-ACK</a:t>
            </a:r>
            <a:r>
              <a:rPr sz="2371" b="0" i="0">
                <a:solidFill>
                  <a:srgbClr val="000000"/>
                </a:solidFill>
                <a:latin typeface="Latin Modern Sans"/>
              </a:rPr>
              <a:t> decision.</a:t>
            </a:r>
          </a:p>
        </p:txBody>
      </p:sp>
      <p:sp>
        <p:nvSpPr>
          <p:cNvPr id="6" name="PDF_TEXT_GROUP_357"/>
          <p:cNvSpPr txBox="1"/>
          <p:nvPr/>
        </p:nvSpPr>
        <p:spPr>
          <a:xfrm>
            <a:off x="1618972" y="3348885"/>
            <a:ext cx="1041152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ABE</a:t>
            </a:r>
            <a:r>
              <a:rPr sz="2371" b="0" i="0">
                <a:solidFill>
                  <a:srgbClr val="1A3E79"/>
                </a:solidFill>
                <a:latin typeface="Latin Modern Sans"/>
              </a:rPr>
              <a:t> [19]</a:t>
            </a:r>
            <a:r>
              <a:rPr sz="2371" b="0" i="0">
                <a:solidFill>
                  <a:srgbClr val="000000"/>
                </a:solidFill>
                <a:latin typeface="Latin Modern Sans"/>
              </a:rPr>
              <a:t> protects this content without enumerating Provider identities.</a:t>
            </a:r>
          </a:p>
        </p:txBody>
      </p:sp>
      <p:sp>
        <p:nvSpPr>
          <p:cNvPr id="7" name="PDF_TEXT_GROUP_358"/>
          <p:cNvSpPr txBox="1"/>
          <p:nvPr/>
        </p:nvSpPr>
        <p:spPr>
          <a:xfrm>
            <a:off x="1618972" y="3928393"/>
            <a:ext cx="11296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Observers without the required decryption capability cannot read it; authorized but</a:t>
            </a:r>
            <a:r>
              <a:rPr sz="2371" b="0" i="0">
                <a:solidFill>
                  <a:srgbClr val="000000"/>
                </a:solidFill>
                <a:latin typeface="Latin Modern Sans"/>
              </a:rPr>
              <a:t> unselected Providers can.</a:t>
            </a:r>
          </a:p>
        </p:txBody>
      </p:sp>
      <p:sp>
        <p:nvSpPr>
          <p:cNvPr id="8" name="PDF_TEXT_GROUP_359"/>
          <p:cNvSpPr txBox="1"/>
          <p:nvPr/>
        </p:nvSpPr>
        <p:spPr>
          <a:xfrm>
            <a:off x="1618972" y="4894230"/>
            <a:ext cx="1136853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 the request-scoped path, Selection restricts application input and key material to</a:t>
            </a:r>
            <a:r>
              <a:rPr sz="2371" b="0" i="0">
                <a:solidFill>
                  <a:srgbClr val="000000"/>
                </a:solidFill>
                <a:latin typeface="Latin Modern Sans"/>
              </a:rPr>
              <a:t> selected Providers.</a:t>
            </a:r>
          </a:p>
        </p:txBody>
      </p:sp>
      <p:sp>
        <p:nvSpPr>
          <p:cNvPr id="9" name="PDF_TEXT_GROUP_360"/>
          <p:cNvSpPr txBox="1"/>
          <p:nvPr/>
        </p:nvSpPr>
        <p:spPr>
          <a:xfrm>
            <a:off x="1123808" y="6327660"/>
            <a:ext cx="11688395"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Trust Schema</a:t>
            </a:r>
            <a:r>
              <a:rPr sz="1863" b="0" i="0">
                <a:solidFill>
                  <a:srgbClr val="1A3E79"/>
                </a:solidFill>
                <a:latin typeface="Latin Modern Sans"/>
              </a:rPr>
              <a:t> [16]</a:t>
            </a:r>
            <a:r>
              <a:rPr sz="1863" b="0" i="0">
                <a:solidFill>
                  <a:srgbClr val="000000"/>
                </a:solidFill>
                <a:latin typeface="Latin Modern Sans"/>
              </a:rPr>
              <a:t> alone does not encrypt content. Role authorization can be combined with ABE or</a:t>
            </a:r>
            <a:r>
              <a:rPr sz="1863" b="0" i="0">
                <a:solidFill>
                  <a:srgbClr val="000000"/>
                </a:solidFill>
                <a:latin typeface="Latin Modern Sans"/>
              </a:rPr>
              <a:t> service-group encryption. Outer Data names and traffic patterns remain visible.</a:t>
            </a:r>
          </a:p>
        </p:txBody>
      </p:sp>
      <p:sp>
        <p:nvSpPr>
          <p:cNvPr id="10" name="PDF_TEXT_GROUP_36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6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6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64"/>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365"/>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20/64</a:t>
            </a:r>
          </a:p>
        </p:txBody>
      </p:sp>
      <p:sp>
        <p:nvSpPr>
          <p:cNvPr id="15" name="PDF_BULLET_SPAN_565"/>
          <p:cNvSpPr/>
          <p:nvPr/>
        </p:nvSpPr>
        <p:spPr>
          <a:xfrm rot="5400000">
            <a:off x="1227851" y="2461396"/>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68"/>
          <p:cNvSpPr/>
          <p:nvPr/>
        </p:nvSpPr>
        <p:spPr>
          <a:xfrm rot="5400000">
            <a:off x="1227851" y="3427233"/>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72"/>
          <p:cNvSpPr/>
          <p:nvPr/>
        </p:nvSpPr>
        <p:spPr>
          <a:xfrm rot="5400000">
            <a:off x="1227851" y="4006741"/>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575"/>
          <p:cNvSpPr/>
          <p:nvPr/>
        </p:nvSpPr>
        <p:spPr>
          <a:xfrm rot="5400000">
            <a:off x="1227851" y="4972577"/>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36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ABE-Backed Authorization Checks Permission</a:t>
            </a:r>
          </a:p>
        </p:txBody>
      </p:sp>
      <p:sp>
        <p:nvSpPr>
          <p:cNvPr id="4" name="PDF_TEXT_GROUP_367"/>
          <p:cNvSpPr txBox="1"/>
          <p:nvPr/>
        </p:nvSpPr>
        <p:spPr>
          <a:xfrm>
            <a:off x="914808" y="1609585"/>
            <a:ext cx="1101611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NAC-ABE</a:t>
            </a:r>
            <a:r>
              <a:rPr sz="2371" b="1" i="0">
                <a:solidFill>
                  <a:srgbClr val="1A3E79"/>
                </a:solidFill>
                <a:latin typeface="Latin Modern Sans"/>
              </a:rPr>
              <a:t> [5,19]</a:t>
            </a:r>
            <a:r>
              <a:rPr sz="2371" b="1" i="0">
                <a:solidFill>
                  <a:srgbClr val="000000"/>
                </a:solidFill>
                <a:latin typeface="Latin Modern Sans"/>
              </a:rPr>
              <a:t> protects challenges; signatures identify participants.</a:t>
            </a:r>
          </a:p>
        </p:txBody>
      </p:sp>
      <p:sp>
        <p:nvSpPr>
          <p:cNvPr id="5" name="PDF_TEXT_GROUP_368"/>
          <p:cNvSpPr txBox="1"/>
          <p:nvPr/>
        </p:nvSpPr>
        <p:spPr>
          <a:xfrm>
            <a:off x="1618972" y="2326465"/>
            <a:ext cx="11814645"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 carries a</a:t>
            </a:r>
            <a:r>
              <a:rPr sz="2371" b="1" i="0">
                <a:solidFill>
                  <a:srgbClr val="000000"/>
                </a:solidFill>
                <a:latin typeface="Latin Modern Sans"/>
              </a:rPr>
              <a:t> Requester Challenge</a:t>
            </a:r>
            <a:r>
              <a:rPr sz="2371" b="0" i="0">
                <a:solidFill>
                  <a:srgbClr val="000000"/>
                </a:solidFill>
                <a:latin typeface="Latin Modern Sans"/>
              </a:rPr>
              <a:t> (</a:t>
            </a:r>
            <a:r>
              <a:rPr sz="2371" b="0" i="0">
                <a:solidFill>
                  <a:srgbClr val="000000"/>
                </a:solidFill>
                <a:latin typeface="Latin Modern Mono"/>
              </a:rPr>
              <a:t>UserToken</a:t>
            </a:r>
            <a:r>
              <a:rPr sz="2371" b="0" i="0">
                <a:solidFill>
                  <a:srgbClr val="000000"/>
                </a:solidFill>
                <a:latin typeface="Latin Modern Sans"/>
              </a:rPr>
              <a:t>), protected for service-authorized</a:t>
            </a:r>
            <a:r>
              <a:rPr sz="2371" b="0" i="0">
                <a:solidFill>
                  <a:srgbClr val="000000"/>
                </a:solidFill>
                <a:latin typeface="Latin Modern Sans"/>
              </a:rPr>
              <a:t> Providers.</a:t>
            </a:r>
          </a:p>
        </p:txBody>
      </p:sp>
      <p:sp>
        <p:nvSpPr>
          <p:cNvPr id="6" name="PDF_TEXT_GROUP_369"/>
          <p:cNvSpPr txBox="1"/>
          <p:nvPr/>
        </p:nvSpPr>
        <p:spPr>
          <a:xfrm>
            <a:off x="1618972" y="3292301"/>
            <a:ext cx="1102679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 returns it and adds a</a:t>
            </a:r>
            <a:r>
              <a:rPr sz="2371" b="1" i="0">
                <a:solidFill>
                  <a:srgbClr val="000000"/>
                </a:solidFill>
                <a:latin typeface="Latin Modern Sans"/>
              </a:rPr>
              <a:t> Provider Challenge</a:t>
            </a:r>
            <a:r>
              <a:rPr sz="2371" b="0" i="0">
                <a:solidFill>
                  <a:srgbClr val="000000"/>
                </a:solidFill>
                <a:latin typeface="Latin Modern Sans"/>
              </a:rPr>
              <a:t> (</a:t>
            </a:r>
            <a:r>
              <a:rPr sz="2371" b="0" i="0">
                <a:solidFill>
                  <a:srgbClr val="000000"/>
                </a:solidFill>
                <a:latin typeface="Latin Modern Mono"/>
              </a:rPr>
              <a:t>ProviderToken</a:t>
            </a:r>
            <a:r>
              <a:rPr sz="2371" b="0" i="0">
                <a:solidFill>
                  <a:srgbClr val="000000"/>
                </a:solidFill>
                <a:latin typeface="Latin Modern Sans"/>
              </a:rPr>
              <a:t>), protected for</a:t>
            </a:r>
            <a:r>
              <a:rPr sz="2371" b="0" i="0">
                <a:solidFill>
                  <a:srgbClr val="000000"/>
                </a:solidFill>
                <a:latin typeface="Latin Modern Sans"/>
              </a:rPr>
              <a:t> service-authorized Users.</a:t>
            </a:r>
          </a:p>
        </p:txBody>
      </p:sp>
      <p:sp>
        <p:nvSpPr>
          <p:cNvPr id="7" name="PDF_TEXT_GROUP_370"/>
          <p:cNvSpPr txBox="1"/>
          <p:nvPr/>
        </p:nvSpPr>
        <p:spPr>
          <a:xfrm>
            <a:off x="1618972" y="4258137"/>
            <a:ext cx="71851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 returns the chosen Provider’s challenge.</a:t>
            </a:r>
          </a:p>
        </p:txBody>
      </p:sp>
      <p:sp>
        <p:nvSpPr>
          <p:cNvPr id="8" name="PDF_TEXT_GROUP_371"/>
          <p:cNvSpPr txBox="1"/>
          <p:nvPr/>
        </p:nvSpPr>
        <p:spPr>
          <a:xfrm>
            <a:off x="1618972" y="4837646"/>
            <a:ext cx="1140081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Each side validates signatures, service and request identity, challenge matching, and</a:t>
            </a:r>
            <a:r>
              <a:rPr sz="2371" b="0" i="0">
                <a:solidFill>
                  <a:srgbClr val="000000"/>
                </a:solidFill>
                <a:latin typeface="Latin Modern Sans"/>
              </a:rPr>
              <a:t> one-time state.</a:t>
            </a:r>
          </a:p>
        </p:txBody>
      </p:sp>
      <p:sp>
        <p:nvSpPr>
          <p:cNvPr id="9" name="PDF_TEXT_GROUP_372"/>
          <p:cNvSpPr txBox="1"/>
          <p:nvPr/>
        </p:nvSpPr>
        <p:spPr>
          <a:xfrm>
            <a:off x="1123808" y="6275083"/>
            <a:ext cx="11354063"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Challenges check access to ABE decryption capability. They do not replace signature validation or</a:t>
            </a:r>
            <a:r>
              <a:rPr sz="1863" b="0" i="0">
                <a:solidFill>
                  <a:srgbClr val="000000"/>
                </a:solidFill>
                <a:latin typeface="Latin Modern Sans"/>
              </a:rPr>
              <a:t> replay-state checks.</a:t>
            </a:r>
          </a:p>
        </p:txBody>
      </p:sp>
      <p:sp>
        <p:nvSpPr>
          <p:cNvPr id="10" name="PDF_TEXT_GROUP_3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76"/>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377"/>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21/64</a:t>
            </a:r>
          </a:p>
        </p:txBody>
      </p:sp>
      <p:sp>
        <p:nvSpPr>
          <p:cNvPr id="15" name="PDF_BULLET_SPAN_591"/>
          <p:cNvSpPr/>
          <p:nvPr/>
        </p:nvSpPr>
        <p:spPr>
          <a:xfrm rot="5400000">
            <a:off x="1227851" y="2404813"/>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98"/>
          <p:cNvSpPr/>
          <p:nvPr/>
        </p:nvSpPr>
        <p:spPr>
          <a:xfrm rot="5400000">
            <a:off x="1227851" y="337064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05"/>
          <p:cNvSpPr/>
          <p:nvPr/>
        </p:nvSpPr>
        <p:spPr>
          <a:xfrm rot="5400000">
            <a:off x="1227851" y="4336485"/>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607"/>
          <p:cNvSpPr/>
          <p:nvPr/>
        </p:nvSpPr>
        <p:spPr>
          <a:xfrm rot="5400000">
            <a:off x="1227851" y="4915993"/>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3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Why ABE? Aggregate Permissions, Reuse Identity Credentials</a:t>
            </a:r>
          </a:p>
        </p:txBody>
      </p:sp>
      <p:sp>
        <p:nvSpPr>
          <p:cNvPr id="4" name="PDF_TEXT_GROUP_379"/>
          <p:cNvSpPr txBox="1"/>
          <p:nvPr/>
        </p:nvSpPr>
        <p:spPr>
          <a:xfrm>
            <a:off x="1107736" y="1604641"/>
            <a:ext cx="32557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Authorization design</a:t>
            </a:r>
          </a:p>
        </p:txBody>
      </p:sp>
      <p:sp>
        <p:nvSpPr>
          <p:cNvPr id="5" name="PDF_TEXT_GROUP_380"/>
          <p:cNvSpPr txBox="1"/>
          <p:nvPr/>
        </p:nvSpPr>
        <p:spPr>
          <a:xfrm>
            <a:off x="5079534" y="1604641"/>
            <a:ext cx="641016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How service permissions are represented</a:t>
            </a:r>
          </a:p>
        </p:txBody>
      </p:sp>
      <p:sp>
        <p:nvSpPr>
          <p:cNvPr id="6" name="PDF_TEXT_GROUP_381"/>
          <p:cNvSpPr txBox="1"/>
          <p:nvPr/>
        </p:nvSpPr>
        <p:spPr>
          <a:xfrm>
            <a:off x="1107736" y="2173000"/>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a:t>
            </a:r>
            <a:r>
              <a:rPr sz="2371" b="0" i="0">
                <a:solidFill>
                  <a:srgbClr val="1A3E79"/>
                </a:solidFill>
                <a:latin typeface="Latin Modern Sans"/>
              </a:rPr>
              <a:t> [12]</a:t>
            </a:r>
          </a:p>
        </p:txBody>
      </p:sp>
      <p:sp>
        <p:nvSpPr>
          <p:cNvPr id="7" name="PDF_TEXT_GROUP_382"/>
          <p:cNvSpPr txBox="1"/>
          <p:nvPr/>
        </p:nvSpPr>
        <p:spPr>
          <a:xfrm>
            <a:off x="5079566" y="2173000"/>
            <a:ext cx="702959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 signing keys and Trust Schema rules constrain</a:t>
            </a:r>
            <a:r>
              <a:rPr sz="2371" b="0" i="0">
                <a:solidFill>
                  <a:srgbClr val="000000"/>
                </a:solidFill>
                <a:latin typeface="Latin Modern Sans"/>
              </a:rPr>
              <a:t> commands; roles may cover several permissions.</a:t>
            </a:r>
          </a:p>
        </p:txBody>
      </p:sp>
      <p:sp>
        <p:nvSpPr>
          <p:cNvPr id="8" name="PDF_TEXT_GROUP_383"/>
          <p:cNvSpPr txBox="1"/>
          <p:nvPr/>
        </p:nvSpPr>
        <p:spPr>
          <a:xfrm>
            <a:off x="1107736" y="3127688"/>
            <a:ext cx="359422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Our per-service certificate</a:t>
            </a:r>
            <a:r>
              <a:rPr sz="2371" b="0" i="0">
                <a:solidFill>
                  <a:srgbClr val="000000"/>
                </a:solidFill>
                <a:latin typeface="Latin Modern Sans"/>
              </a:rPr>
              <a:t> alternative</a:t>
            </a:r>
          </a:p>
        </p:txBody>
      </p:sp>
      <p:sp>
        <p:nvSpPr>
          <p:cNvPr id="9" name="PDF_TEXT_GROUP_384"/>
          <p:cNvSpPr txBox="1"/>
          <p:nvPr/>
        </p:nvSpPr>
        <p:spPr>
          <a:xfrm>
            <a:off x="5079664" y="3127688"/>
            <a:ext cx="816453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Each entity receives a signing credential for each authorized</a:t>
            </a:r>
            <a:r>
              <a:rPr sz="2371" b="0" i="0">
                <a:solidFill>
                  <a:srgbClr val="000000"/>
                </a:solidFill>
                <a:latin typeface="Latin Modern Sans"/>
              </a:rPr>
              <a:t> service role.</a:t>
            </a:r>
          </a:p>
        </p:txBody>
      </p:sp>
      <p:sp>
        <p:nvSpPr>
          <p:cNvPr id="10" name="PDF_TEXT_GROUP_385"/>
          <p:cNvSpPr txBox="1"/>
          <p:nvPr/>
        </p:nvSpPr>
        <p:spPr>
          <a:xfrm>
            <a:off x="1107736" y="4082375"/>
            <a:ext cx="38727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with KP-ABE</a:t>
            </a:r>
            <a:r>
              <a:rPr sz="2371" b="0" i="0">
                <a:solidFill>
                  <a:srgbClr val="1A3E79"/>
                </a:solidFill>
                <a:latin typeface="Latin Modern Sans"/>
              </a:rPr>
              <a:t> [19]</a:t>
            </a:r>
          </a:p>
        </p:txBody>
      </p:sp>
      <p:sp>
        <p:nvSpPr>
          <p:cNvPr id="11" name="PDF_TEXT_GROUP_386"/>
          <p:cNvSpPr txBox="1"/>
          <p:nvPr/>
        </p:nvSpPr>
        <p:spPr>
          <a:xfrm>
            <a:off x="5079406" y="4082375"/>
            <a:ext cx="839384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entity’s DKEY aggregates service permissions within one</a:t>
            </a:r>
            <a:r>
              <a:rPr sz="2371" b="0" i="0">
                <a:solidFill>
                  <a:srgbClr val="000000"/>
                </a:solidFill>
                <a:latin typeface="Latin Modern Sans"/>
              </a:rPr>
              <a:t> authority and parameter generation; identity-signing</a:t>
            </a:r>
            <a:r>
              <a:rPr sz="2371" b="0" i="0">
                <a:solidFill>
                  <a:srgbClr val="000000"/>
                </a:solidFill>
                <a:latin typeface="Latin Modern Sans"/>
              </a:rPr>
              <a:t> credentials are reused.</a:t>
            </a:r>
          </a:p>
        </p:txBody>
      </p:sp>
      <p:sp>
        <p:nvSpPr>
          <p:cNvPr id="12" name="PDF_TEXT_GROUP_387"/>
          <p:cNvSpPr txBox="1"/>
          <p:nvPr/>
        </p:nvSpPr>
        <p:spPr>
          <a:xfrm>
            <a:off x="1123808" y="5736389"/>
            <a:ext cx="12437519"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DKEY = decryption key. ABE avoids extra service-role signing credentials, not all key management. DKEY</a:t>
            </a:r>
            <a:r>
              <a:rPr sz="1863" b="0" i="0">
                <a:solidFill>
                  <a:srgbClr val="000000"/>
                </a:solidFill>
                <a:latin typeface="Latin Modern Sans"/>
              </a:rPr>
              <a:t> size and processing cost can grow with policy complexity; role designs can also reuse credentials.</a:t>
            </a:r>
          </a:p>
        </p:txBody>
      </p:sp>
      <p:sp>
        <p:nvSpPr>
          <p:cNvPr id="13" name="PDF_TEXT_GROUP_3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91"/>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7" name="PDF_TEXT_GROUP_392"/>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22/64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39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Runtime Revocation: What Changes and What It Costs</a:t>
            </a:r>
          </a:p>
        </p:txBody>
      </p:sp>
      <p:sp>
        <p:nvSpPr>
          <p:cNvPr id="4" name="PDF_TEXT_GROUP_394"/>
          <p:cNvSpPr txBox="1"/>
          <p:nvPr/>
        </p:nvSpPr>
        <p:spPr>
          <a:xfrm>
            <a:off x="1618972" y="1987188"/>
            <a:ext cx="1175991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NDNSF:</a:t>
            </a:r>
            <a:r>
              <a:rPr sz="2371" b="0" i="0">
                <a:solidFill>
                  <a:srgbClr val="000000"/>
                </a:solidFill>
                <a:latin typeface="Latin Modern Sans"/>
              </a:rPr>
              <a:t> validated Controller status makes runtime checks reject revoked invocations.</a:t>
            </a:r>
            <a:r>
              <a:rPr sz="2371" b="0" i="0">
                <a:solidFill>
                  <a:srgbClr val="000000"/>
                </a:solidFill>
                <a:latin typeface="Latin Modern Sans"/>
              </a:rPr>
              <a:t> ABE rotation protects future-generation exchanges.</a:t>
            </a:r>
          </a:p>
        </p:txBody>
      </p:sp>
      <p:sp>
        <p:nvSpPr>
          <p:cNvPr id="5" name="PDF_TEXT_GROUP_395"/>
          <p:cNvSpPr txBox="1"/>
          <p:nvPr/>
        </p:nvSpPr>
        <p:spPr>
          <a:xfrm>
            <a:off x="1618972" y="2953024"/>
            <a:ext cx="1197231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DNMP</a:t>
            </a:r>
            <a:r>
              <a:rPr sz="2371" b="1" i="0">
                <a:solidFill>
                  <a:srgbClr val="1A3E79"/>
                </a:solidFill>
                <a:latin typeface="Latin Modern Sans"/>
              </a:rPr>
              <a:t> [12]</a:t>
            </a:r>
            <a:r>
              <a:rPr sz="2371" b="1" i="0">
                <a:solidFill>
                  <a:srgbClr val="000000"/>
                </a:solidFill>
                <a:latin typeface="Latin Modern Sans"/>
              </a:rPr>
              <a:t>:</a:t>
            </a:r>
            <a:r>
              <a:rPr sz="2371" b="0" i="0">
                <a:solidFill>
                  <a:srgbClr val="000000"/>
                </a:solidFill>
                <a:latin typeface="Latin Modern Sans"/>
              </a:rPr>
              <a:t> describes key rotation for future measurement-data access, not a detailed</a:t>
            </a:r>
            <a:r>
              <a:rPr sz="2371" b="0" i="0">
                <a:solidFill>
                  <a:srgbClr val="000000"/>
                </a:solidFill>
                <a:latin typeface="Latin Modern Sans"/>
              </a:rPr>
              <a:t> online command-revocation protocol.</a:t>
            </a:r>
          </a:p>
        </p:txBody>
      </p:sp>
      <p:sp>
        <p:nvSpPr>
          <p:cNvPr id="6" name="PDF_TEXT_GROUP_396"/>
          <p:cNvSpPr txBox="1"/>
          <p:nvPr/>
        </p:nvSpPr>
        <p:spPr>
          <a:xfrm>
            <a:off x="1618972" y="3918860"/>
            <a:ext cx="1164843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Certificate alternative:</a:t>
            </a:r>
            <a:r>
              <a:rPr sz="2371" b="0" i="0">
                <a:solidFill>
                  <a:srgbClr val="000000"/>
                </a:solidFill>
                <a:latin typeface="Latin Modern Sans"/>
              </a:rPr>
              <a:t> revoke the role credential; execution nodes check status and</a:t>
            </a:r>
            <a:r>
              <a:rPr sz="2371" b="0" i="0">
                <a:solidFill>
                  <a:srgbClr val="000000"/>
                </a:solidFill>
                <a:latin typeface="Latin Modern Sans"/>
              </a:rPr>
              <a:t> reject later commands.</a:t>
            </a:r>
          </a:p>
        </p:txBody>
      </p:sp>
      <p:sp>
        <p:nvSpPr>
          <p:cNvPr id="7" name="PDF_TEXT_GROUP_397"/>
          <p:cNvSpPr txBox="1"/>
          <p:nvPr/>
        </p:nvSpPr>
        <p:spPr>
          <a:xfrm>
            <a:off x="1618972" y="4884697"/>
            <a:ext cx="120615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Both depend on update propagation and cannot retract disclosed keys or plaintext.</a:t>
            </a:r>
          </a:p>
        </p:txBody>
      </p:sp>
      <p:sp>
        <p:nvSpPr>
          <p:cNvPr id="8" name="PDF_TEXT_GROUP_398"/>
          <p:cNvSpPr txBox="1"/>
          <p:nvPr/>
        </p:nvSpPr>
        <p:spPr>
          <a:xfrm>
            <a:off x="1123808" y="5998400"/>
            <a:ext cx="11894145"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NDNSF: implemented and focused integration-tested. Controller-wide ABE rotation can require other</a:t>
            </a:r>
            <a:r>
              <a:rPr sz="1863" b="0" i="0">
                <a:solidFill>
                  <a:srgbClr val="000000"/>
                </a:solidFill>
                <a:latin typeface="Latin Modern Sans"/>
              </a:rPr>
              <a:t> authorized members to refresh DKEYs. This is supported functionality, not a uniquely ABE advantage.</a:t>
            </a:r>
          </a:p>
        </p:txBody>
      </p:sp>
      <p:sp>
        <p:nvSpPr>
          <p:cNvPr id="9" name="PDF_TEXT_GROUP_3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02"/>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3" name="PDF_TEXT_GROUP_403"/>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23/64</a:t>
            </a:r>
          </a:p>
        </p:txBody>
      </p:sp>
      <p:sp>
        <p:nvSpPr>
          <p:cNvPr id="14" name="PDF_BULLET_SPAN_641"/>
          <p:cNvSpPr/>
          <p:nvPr/>
        </p:nvSpPr>
        <p:spPr>
          <a:xfrm rot="5400000">
            <a:off x="1227851" y="2065535"/>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45"/>
          <p:cNvSpPr/>
          <p:nvPr/>
        </p:nvSpPr>
        <p:spPr>
          <a:xfrm rot="5400000">
            <a:off x="1227851" y="3031372"/>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51"/>
          <p:cNvSpPr/>
          <p:nvPr/>
        </p:nvSpPr>
        <p:spPr>
          <a:xfrm rot="5400000">
            <a:off x="1227851" y="3997208"/>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55"/>
          <p:cNvSpPr/>
          <p:nvPr/>
        </p:nvSpPr>
        <p:spPr>
          <a:xfrm rot="5400000">
            <a:off x="1227851" y="4963044"/>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4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Data: Protected-Discovery Design</a:t>
            </a:r>
          </a:p>
        </p:txBody>
      </p:sp>
      <p:sp>
        <p:nvSpPr>
          <p:cNvPr id="4" name="PDF_TEXT_GROUP_405"/>
          <p:cNvSpPr txBox="1"/>
          <p:nvPr/>
        </p:nvSpPr>
        <p:spPr>
          <a:xfrm>
            <a:off x="914808" y="1543375"/>
            <a:ext cx="12334760"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The descriptor lets authorized Providers decide whether to participate.</a:t>
            </a:r>
          </a:p>
        </p:txBody>
      </p:sp>
      <p:sp>
        <p:nvSpPr>
          <p:cNvPr id="5" name="PDF_TEXT_GROUP_406"/>
          <p:cNvSpPr txBox="1"/>
          <p:nvPr/>
        </p:nvSpPr>
        <p:spPr>
          <a:xfrm>
            <a:off x="1618972" y="2440736"/>
            <a:ext cx="461577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Names the requested service.</a:t>
            </a:r>
          </a:p>
        </p:txBody>
      </p:sp>
      <p:sp>
        <p:nvSpPr>
          <p:cNvPr id="6" name="PDF_TEXT_GROUP_407"/>
          <p:cNvSpPr txBox="1"/>
          <p:nvPr/>
        </p:nvSpPr>
        <p:spPr>
          <a:xfrm>
            <a:off x="1618972" y="2975164"/>
            <a:ext cx="530060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Identifies the requester and request</a:t>
            </a:r>
            <a:r>
              <a:rPr sz="2710" b="0" i="0">
                <a:solidFill>
                  <a:srgbClr val="000000"/>
                </a:solidFill>
                <a:latin typeface="Latin Modern Sans"/>
              </a:rPr>
              <a:t> instance.</a:t>
            </a:r>
          </a:p>
        </p:txBody>
      </p:sp>
      <p:sp>
        <p:nvSpPr>
          <p:cNvPr id="7" name="PDF_TEXT_GROUP_408"/>
          <p:cNvSpPr txBox="1"/>
          <p:nvPr/>
        </p:nvSpPr>
        <p:spPr>
          <a:xfrm>
            <a:off x="9337562" y="3379585"/>
            <a:ext cx="3246769"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/&lt;user&gt;/NDNSF/REQUEST/</a:t>
            </a:r>
          </a:p>
        </p:txBody>
      </p:sp>
      <p:sp>
        <p:nvSpPr>
          <p:cNvPr id="8" name="PDF_TEXT_GROUP_409"/>
          <p:cNvSpPr txBox="1"/>
          <p:nvPr/>
        </p:nvSpPr>
        <p:spPr>
          <a:xfrm>
            <a:off x="9405884" y="3685416"/>
            <a:ext cx="3099176"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&lt;service&gt;/&lt;requestId&gt;</a:t>
            </a:r>
          </a:p>
        </p:txBody>
      </p:sp>
      <p:sp>
        <p:nvSpPr>
          <p:cNvPr id="9" name="PDF_TEXT_GROUP_410"/>
          <p:cNvSpPr txBox="1"/>
          <p:nvPr/>
        </p:nvSpPr>
        <p:spPr>
          <a:xfrm>
            <a:off x="1618972" y="3947431"/>
            <a:ext cx="465505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Carries the protected discovery</a:t>
            </a:r>
            <a:r>
              <a:rPr sz="2710" b="0" i="0">
                <a:solidFill>
                  <a:srgbClr val="000000"/>
                </a:solidFill>
                <a:latin typeface="Latin Modern Sans"/>
              </a:rPr>
              <a:t> descriptor.</a:t>
            </a:r>
          </a:p>
        </p:txBody>
      </p:sp>
      <p:sp>
        <p:nvSpPr>
          <p:cNvPr id="10" name="PDF_TEXT_GROUP_411"/>
          <p:cNvSpPr txBox="1"/>
          <p:nvPr/>
        </p:nvSpPr>
        <p:spPr>
          <a:xfrm>
            <a:off x="9722417" y="4795048"/>
            <a:ext cx="2364634"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Protected Content</a:t>
            </a:r>
            <a:r>
              <a:rPr sz="1863" b="0" i="0">
                <a:solidFill>
                  <a:srgbClr val="000000"/>
                </a:solidFill>
                <a:latin typeface="Latin Modern Sans"/>
              </a:rPr>
              <a:t> discovery descriptor</a:t>
            </a:r>
          </a:p>
        </p:txBody>
      </p:sp>
      <p:sp>
        <p:nvSpPr>
          <p:cNvPr id="11" name="PDF_TEXT_GROUP_412"/>
          <p:cNvSpPr txBox="1"/>
          <p:nvPr/>
        </p:nvSpPr>
        <p:spPr>
          <a:xfrm>
            <a:off x="1618972" y="4919730"/>
            <a:ext cx="550153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Includes a fresh Requester Challenge</a:t>
            </a:r>
            <a:r>
              <a:rPr sz="2710" b="0" i="0">
                <a:solidFill>
                  <a:srgbClr val="000000"/>
                </a:solidFill>
                <a:latin typeface="Latin Modern Sans"/>
              </a:rPr>
              <a:t> for this invocation.</a:t>
            </a:r>
          </a:p>
        </p:txBody>
      </p:sp>
      <p:sp>
        <p:nvSpPr>
          <p:cNvPr id="12" name="PDF_TEXT_GROUP_413"/>
          <p:cNvSpPr txBox="1"/>
          <p:nvPr/>
        </p:nvSpPr>
        <p:spPr>
          <a:xfrm>
            <a:off x="10225778" y="5430694"/>
            <a:ext cx="1431110"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UserToken</a:t>
            </a:r>
          </a:p>
        </p:txBody>
      </p:sp>
      <p:sp>
        <p:nvSpPr>
          <p:cNvPr id="13" name="PDF_TEXT_GROUP_414"/>
          <p:cNvSpPr txBox="1"/>
          <p:nvPr/>
        </p:nvSpPr>
        <p:spPr>
          <a:xfrm>
            <a:off x="10385271" y="5712605"/>
            <a:ext cx="105283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strategy</a:t>
            </a:r>
          </a:p>
        </p:txBody>
      </p:sp>
      <p:sp>
        <p:nvSpPr>
          <p:cNvPr id="14" name="PDF_TEXT_GROUP_415"/>
          <p:cNvSpPr txBox="1"/>
          <p:nvPr/>
        </p:nvSpPr>
        <p:spPr>
          <a:xfrm>
            <a:off x="1143656" y="6399012"/>
            <a:ext cx="6073297"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Carried as:</a:t>
            </a:r>
            <a:r>
              <a:rPr sz="1863" b="0" i="0">
                <a:solidFill>
                  <a:srgbClr val="000000"/>
                </a:solidFill>
                <a:latin typeface="Latin Modern Sans"/>
              </a:rPr>
              <a:t> named, signed Data announced through</a:t>
            </a:r>
            <a:r>
              <a:rPr sz="1863" b="0" i="0">
                <a:solidFill>
                  <a:srgbClr val="000000"/>
                </a:solidFill>
                <a:latin typeface="Latin Modern Sans"/>
              </a:rPr>
              <a:t> SVS</a:t>
            </a:r>
            <a:r>
              <a:rPr sz="1863" b="0" i="0">
                <a:solidFill>
                  <a:srgbClr val="1A3E79"/>
                </a:solidFill>
                <a:latin typeface="Latin Modern Sans"/>
              </a:rPr>
              <a:t> [3]</a:t>
            </a:r>
            <a:r>
              <a:rPr sz="1863" b="0" i="0">
                <a:solidFill>
                  <a:srgbClr val="000000"/>
                </a:solidFill>
                <a:latin typeface="Latin Modern Sans"/>
              </a:rPr>
              <a:t>.</a:t>
            </a:r>
          </a:p>
        </p:txBody>
      </p:sp>
      <p:sp>
        <p:nvSpPr>
          <p:cNvPr id="15" name="PDF_TEXT_GROUP_416"/>
          <p:cNvSpPr txBox="1"/>
          <p:nvPr/>
        </p:nvSpPr>
        <p:spPr>
          <a:xfrm>
            <a:off x="10281061" y="6627836"/>
            <a:ext cx="126123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Signature</a:t>
            </a:r>
          </a:p>
        </p:txBody>
      </p:sp>
      <p:sp>
        <p:nvSpPr>
          <p:cNvPr id="16" name="PDF_TEXT_GROUP_4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20"/>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0" name="PDF_TEXT_GROUP_421"/>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24/64</a:t>
            </a:r>
          </a:p>
        </p:txBody>
      </p:sp>
      <p:sp>
        <p:nvSpPr>
          <p:cNvPr id="21" name="PDF_BULLET_SPAN_666"/>
          <p:cNvSpPr/>
          <p:nvPr/>
        </p:nvSpPr>
        <p:spPr>
          <a:xfrm rot="5400000">
            <a:off x="1207424" y="25265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668"/>
          <p:cNvSpPr/>
          <p:nvPr/>
        </p:nvSpPr>
        <p:spPr>
          <a:xfrm rot="5400000">
            <a:off x="1207424" y="306095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DF_BULLET_SPAN_671"/>
          <p:cNvSpPr/>
          <p:nvPr/>
        </p:nvSpPr>
        <p:spPr>
          <a:xfrm rot="5400000">
            <a:off x="1207424" y="403322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DF_BULLET_SPAN_674"/>
          <p:cNvSpPr/>
          <p:nvPr/>
        </p:nvSpPr>
        <p:spPr>
          <a:xfrm rot="5400000">
            <a:off x="1207424" y="500552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4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Selective ACK</a:t>
            </a:r>
          </a:p>
        </p:txBody>
      </p:sp>
      <p:sp>
        <p:nvSpPr>
          <p:cNvPr id="4" name="PDF_TEXT_GROUP_423"/>
          <p:cNvSpPr txBox="1"/>
          <p:nvPr/>
        </p:nvSpPr>
        <p:spPr>
          <a:xfrm>
            <a:off x="914808" y="1415149"/>
            <a:ext cx="1074899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In the normal discovery path, every Provider returns an ACK.</a:t>
            </a:r>
          </a:p>
        </p:txBody>
      </p:sp>
      <p:sp>
        <p:nvSpPr>
          <p:cNvPr id="5" name="PDF_TEXT_GROUP_424"/>
          <p:cNvSpPr txBox="1"/>
          <p:nvPr/>
        </p:nvSpPr>
        <p:spPr>
          <a:xfrm>
            <a:off x="1618972" y="2449913"/>
            <a:ext cx="57008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Positive ACK:</a:t>
            </a:r>
            <a:r>
              <a:rPr sz="2710" b="0" i="0">
                <a:solidFill>
                  <a:srgbClr val="000000"/>
                </a:solidFill>
                <a:latin typeface="Latin Modern Sans"/>
              </a:rPr>
              <a:t> the Provider is willing</a:t>
            </a:r>
            <a:r>
              <a:rPr sz="2710" b="0" i="0">
                <a:solidFill>
                  <a:srgbClr val="000000"/>
                </a:solidFill>
                <a:latin typeface="Latin Modern Sans"/>
              </a:rPr>
              <a:t> and currently capable.</a:t>
            </a:r>
          </a:p>
        </p:txBody>
      </p:sp>
      <p:sp>
        <p:nvSpPr>
          <p:cNvPr id="6" name="PDF_TEXT_GROUP_425"/>
          <p:cNvSpPr txBox="1"/>
          <p:nvPr/>
        </p:nvSpPr>
        <p:spPr>
          <a:xfrm>
            <a:off x="9273468" y="3281605"/>
            <a:ext cx="3246769"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/&lt;provider&gt;/NDNSF/ACK/</a:t>
            </a:r>
          </a:p>
        </p:txBody>
      </p:sp>
      <p:sp>
        <p:nvSpPr>
          <p:cNvPr id="7" name="PDF_TEXT_GROUP_426"/>
          <p:cNvSpPr txBox="1"/>
          <p:nvPr/>
        </p:nvSpPr>
        <p:spPr>
          <a:xfrm>
            <a:off x="1618972" y="3422180"/>
            <a:ext cx="5773280"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Negative ACK:</a:t>
            </a:r>
            <a:r>
              <a:rPr sz="2710" b="0" i="0">
                <a:solidFill>
                  <a:srgbClr val="000000"/>
                </a:solidFill>
                <a:latin typeface="Latin Modern Sans"/>
              </a:rPr>
              <a:t> the Provider received</a:t>
            </a:r>
            <a:r>
              <a:rPr sz="2710" b="0" i="0">
                <a:solidFill>
                  <a:srgbClr val="000000"/>
                </a:solidFill>
                <a:latin typeface="Latin Modern Sans"/>
              </a:rPr>
              <a:t> the request but is not ready or cannot</a:t>
            </a:r>
            <a:r>
              <a:rPr sz="2710" b="0" i="0">
                <a:solidFill>
                  <a:srgbClr val="000000"/>
                </a:solidFill>
                <a:latin typeface="Latin Modern Sans"/>
              </a:rPr>
              <a:t> serve it now.</a:t>
            </a:r>
          </a:p>
        </p:txBody>
      </p:sp>
      <p:sp>
        <p:nvSpPr>
          <p:cNvPr id="8" name="PDF_TEXT_GROUP_427"/>
          <p:cNvSpPr txBox="1"/>
          <p:nvPr/>
        </p:nvSpPr>
        <p:spPr>
          <a:xfrm>
            <a:off x="9615077" y="3587469"/>
            <a:ext cx="2524134"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&lt;user&gt;/&lt;service&gt;/</a:t>
            </a:r>
          </a:p>
        </p:txBody>
      </p:sp>
      <p:sp>
        <p:nvSpPr>
          <p:cNvPr id="9" name="PDF_TEXT_GROUP_428"/>
          <p:cNvSpPr txBox="1"/>
          <p:nvPr/>
        </p:nvSpPr>
        <p:spPr>
          <a:xfrm>
            <a:off x="10025008" y="3893299"/>
            <a:ext cx="1704430"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&lt;requestId&gt;</a:t>
            </a:r>
          </a:p>
        </p:txBody>
      </p:sp>
      <p:sp>
        <p:nvSpPr>
          <p:cNvPr id="10" name="PDF_TEXT_GROUP_429"/>
          <p:cNvSpPr txBox="1"/>
          <p:nvPr/>
        </p:nvSpPr>
        <p:spPr>
          <a:xfrm>
            <a:off x="1618972" y="4832285"/>
            <a:ext cx="5498965"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ACK metadata can report load, wait</a:t>
            </a:r>
            <a:r>
              <a:rPr sz="2710" b="0" i="0">
                <a:solidFill>
                  <a:srgbClr val="000000"/>
                </a:solidFill>
                <a:latin typeface="Latin Modern Sans"/>
              </a:rPr>
              <a:t> time, location, model availability, or</a:t>
            </a:r>
            <a:r>
              <a:rPr sz="2710" b="0" i="0">
                <a:solidFill>
                  <a:srgbClr val="000000"/>
                </a:solidFill>
                <a:latin typeface="Latin Modern Sans"/>
              </a:rPr>
              <a:t> safety state.</a:t>
            </a:r>
          </a:p>
        </p:txBody>
      </p:sp>
      <p:sp>
        <p:nvSpPr>
          <p:cNvPr id="11" name="PDF_TEXT_GROUP_430"/>
          <p:cNvSpPr txBox="1"/>
          <p:nvPr/>
        </p:nvSpPr>
        <p:spPr>
          <a:xfrm>
            <a:off x="10301426" y="4966641"/>
            <a:ext cx="109229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Content</a:t>
            </a:r>
          </a:p>
        </p:txBody>
      </p:sp>
      <p:sp>
        <p:nvSpPr>
          <p:cNvPr id="12" name="PDF_TEXT_GROUP_431"/>
          <p:cNvSpPr txBox="1"/>
          <p:nvPr/>
        </p:nvSpPr>
        <p:spPr>
          <a:xfrm>
            <a:off x="9888364" y="5296457"/>
            <a:ext cx="1977493"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ProviderToken</a:t>
            </a:r>
          </a:p>
        </p:txBody>
      </p:sp>
      <p:sp>
        <p:nvSpPr>
          <p:cNvPr id="13" name="PDF_TEXT_GROUP_432"/>
          <p:cNvSpPr txBox="1"/>
          <p:nvPr/>
        </p:nvSpPr>
        <p:spPr>
          <a:xfrm>
            <a:off x="10161651" y="5602288"/>
            <a:ext cx="1431110"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UserToken</a:t>
            </a:r>
          </a:p>
        </p:txBody>
      </p:sp>
      <p:sp>
        <p:nvSpPr>
          <p:cNvPr id="14" name="PDF_TEXT_GROUP_433"/>
          <p:cNvSpPr txBox="1"/>
          <p:nvPr/>
        </p:nvSpPr>
        <p:spPr>
          <a:xfrm>
            <a:off x="9926091" y="5884199"/>
            <a:ext cx="184306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ACK metadata</a:t>
            </a:r>
          </a:p>
        </p:txBody>
      </p:sp>
      <p:sp>
        <p:nvSpPr>
          <p:cNvPr id="15" name="PDF_TEXT_GROUP_434"/>
          <p:cNvSpPr txBox="1"/>
          <p:nvPr/>
        </p:nvSpPr>
        <p:spPr>
          <a:xfrm>
            <a:off x="1618972" y="6242423"/>
            <a:ext cx="51503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selects only among Providers</a:t>
            </a:r>
            <a:r>
              <a:rPr sz="2710" b="0" i="0">
                <a:solidFill>
                  <a:srgbClr val="000000"/>
                </a:solidFill>
                <a:latin typeface="Latin Modern Sans"/>
              </a:rPr>
              <a:t> with positive ACKs.</a:t>
            </a:r>
          </a:p>
        </p:txBody>
      </p:sp>
      <p:sp>
        <p:nvSpPr>
          <p:cNvPr id="16" name="PDF_TEXT_GROUP_435"/>
          <p:cNvSpPr txBox="1"/>
          <p:nvPr/>
        </p:nvSpPr>
        <p:spPr>
          <a:xfrm>
            <a:off x="10216967" y="6820208"/>
            <a:ext cx="126123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Signature</a:t>
            </a:r>
          </a:p>
        </p:txBody>
      </p:sp>
      <p:sp>
        <p:nvSpPr>
          <p:cNvPr id="17" name="PDF_TEXT_GROUP_43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3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3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39"/>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1" name="PDF_TEXT_GROUP_440"/>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25/64</a:t>
            </a:r>
          </a:p>
        </p:txBody>
      </p:sp>
      <p:sp>
        <p:nvSpPr>
          <p:cNvPr id="22" name="PDF_BULLET_SPAN_696"/>
          <p:cNvSpPr/>
          <p:nvPr/>
        </p:nvSpPr>
        <p:spPr>
          <a:xfrm rot="5400000">
            <a:off x="1207424" y="25357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DF_BULLET_SPAN_700"/>
          <p:cNvSpPr/>
          <p:nvPr/>
        </p:nvSpPr>
        <p:spPr>
          <a:xfrm rot="5400000">
            <a:off x="1207424" y="35079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DF_BULLET_SPAN_705"/>
          <p:cNvSpPr/>
          <p:nvPr/>
        </p:nvSpPr>
        <p:spPr>
          <a:xfrm rot="5400000">
            <a:off x="1207424" y="491807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DF_BULLET_SPAN_709"/>
          <p:cNvSpPr/>
          <p:nvPr/>
        </p:nvSpPr>
        <p:spPr>
          <a:xfrm rot="5400000">
            <a:off x="1207424" y="632821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ppt-background-026.png"/>
          <p:cNvPicPr>
            <a:picLocks noChangeAspect="1"/>
          </p:cNvPicPr>
          <p:nvPr/>
        </p:nvPicPr>
        <p:blipFill>
          <a:blip r:embed="rId2"/>
          <a:stretch>
            <a:fillRect/>
          </a:stretch>
        </p:blipFill>
        <p:spPr>
          <a:xfrm>
            <a:off x="0" y="0"/>
            <a:ext cx="14630400" cy="8229600"/>
          </a:xfrm>
          <a:prstGeom prst="rect">
            <a:avLst/>
          </a:prstGeom>
        </p:spPr>
      </p:pic>
      <p:pic>
        <p:nvPicPr>
          <p:cNvPr id="3" name="VISUAL_REGION_SELECTION_PACKET" descr="visual-region-026-visual_region_selection_packet.png"/>
          <p:cNvPicPr>
            <a:picLocks noChangeAspect="1"/>
          </p:cNvPicPr>
          <p:nvPr/>
        </p:nvPicPr>
        <p:blipFill>
          <a:blip r:embed="rId3"/>
          <a:stretch>
            <a:fillRect/>
          </a:stretch>
        </p:blipFill>
        <p:spPr>
          <a:xfrm>
            <a:off x="8685348" y="3019326"/>
            <a:ext cx="4164632" cy="4343184"/>
          </a:xfrm>
          <a:prstGeom prst="rect">
            <a:avLst/>
          </a:prstGeom>
        </p:spPr>
      </p:pic>
      <p:sp>
        <p:nvSpPr>
          <p:cNvPr id="4" name="PDF_TEXT_GROUP_44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Custom Provider Selection Strategy</a:t>
            </a:r>
          </a:p>
        </p:txBody>
      </p:sp>
      <p:sp>
        <p:nvSpPr>
          <p:cNvPr id="5" name="PDF_TEXT_GROUP_442"/>
          <p:cNvSpPr txBox="1"/>
          <p:nvPr/>
        </p:nvSpPr>
        <p:spPr>
          <a:xfrm>
            <a:off x="914808" y="1300430"/>
            <a:ext cx="115225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Provider selection is user-side, policy-driven, and performed after ACK</a:t>
            </a:r>
            <a:r>
              <a:rPr sz="2710" b="1" i="0">
                <a:solidFill>
                  <a:srgbClr val="000000"/>
                </a:solidFill>
                <a:latin typeface="Latin Modern Sans"/>
              </a:rPr>
              <a:t> collection.</a:t>
            </a:r>
          </a:p>
        </p:txBody>
      </p:sp>
      <p:sp>
        <p:nvSpPr>
          <p:cNvPr id="6" name="PDF_TEXT_GROUP_443"/>
          <p:cNvSpPr txBox="1"/>
          <p:nvPr/>
        </p:nvSpPr>
        <p:spPr>
          <a:xfrm>
            <a:off x="1618972" y="2773033"/>
            <a:ext cx="5699926"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collects all ACKs during an ACK</a:t>
            </a:r>
            <a:r>
              <a:rPr sz="2710" b="0" i="0">
                <a:solidFill>
                  <a:srgbClr val="000000"/>
                </a:solidFill>
                <a:latin typeface="Latin Modern Sans"/>
              </a:rPr>
              <a:t> window; only positive ACKs become</a:t>
            </a:r>
            <a:r>
              <a:rPr sz="2710" b="0" i="0">
                <a:solidFill>
                  <a:srgbClr val="000000"/>
                </a:solidFill>
                <a:latin typeface="Latin Modern Sans"/>
              </a:rPr>
              <a:t> selection candidates.</a:t>
            </a:r>
          </a:p>
        </p:txBody>
      </p:sp>
      <p:sp>
        <p:nvSpPr>
          <p:cNvPr id="7" name="PDF_TEXT_GROUP_444"/>
          <p:cNvSpPr txBox="1"/>
          <p:nvPr/>
        </p:nvSpPr>
        <p:spPr>
          <a:xfrm>
            <a:off x="9820042" y="3604757"/>
            <a:ext cx="2114153"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/&lt;user&gt;/NDNSF/</a:t>
            </a:r>
          </a:p>
        </p:txBody>
      </p:sp>
      <p:sp>
        <p:nvSpPr>
          <p:cNvPr id="8" name="PDF_TEXT_GROUP_445"/>
          <p:cNvSpPr txBox="1"/>
          <p:nvPr/>
        </p:nvSpPr>
        <p:spPr>
          <a:xfrm>
            <a:off x="9341790" y="3910620"/>
            <a:ext cx="3099176"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SELECTION/&lt;provider&gt;/</a:t>
            </a:r>
          </a:p>
        </p:txBody>
      </p:sp>
      <p:sp>
        <p:nvSpPr>
          <p:cNvPr id="9" name="PDF_TEXT_GROUP_446"/>
          <p:cNvSpPr txBox="1"/>
          <p:nvPr/>
        </p:nvSpPr>
        <p:spPr>
          <a:xfrm>
            <a:off x="1618972" y="4183170"/>
            <a:ext cx="50128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Built-in choices: first responding,</a:t>
            </a:r>
            <a:r>
              <a:rPr sz="2710" b="0" i="0">
                <a:solidFill>
                  <a:srgbClr val="000000"/>
                </a:solidFill>
                <a:latin typeface="Latin Modern Sans"/>
              </a:rPr>
              <a:t> random, all selected.</a:t>
            </a:r>
          </a:p>
        </p:txBody>
      </p:sp>
      <p:sp>
        <p:nvSpPr>
          <p:cNvPr id="10" name="PDF_TEXT_GROUP_447"/>
          <p:cNvSpPr txBox="1"/>
          <p:nvPr/>
        </p:nvSpPr>
        <p:spPr>
          <a:xfrm>
            <a:off x="9341790" y="4216451"/>
            <a:ext cx="3099176"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&lt;service&gt;/&lt;requestId&gt;</a:t>
            </a:r>
          </a:p>
        </p:txBody>
      </p:sp>
      <p:sp>
        <p:nvSpPr>
          <p:cNvPr id="11" name="PDF_TEXT_GROUP_448"/>
          <p:cNvSpPr txBox="1"/>
          <p:nvPr/>
        </p:nvSpPr>
        <p:spPr>
          <a:xfrm>
            <a:off x="1618972" y="5155437"/>
            <a:ext cx="5490269"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Custom policy can use latency, load,</a:t>
            </a:r>
            <a:r>
              <a:rPr sz="2710" b="0" i="0">
                <a:solidFill>
                  <a:srgbClr val="000000"/>
                </a:solidFill>
                <a:latin typeface="Latin Modern Sans"/>
              </a:rPr>
              <a:t> capability, location, or safety</a:t>
            </a:r>
            <a:r>
              <a:rPr sz="2710" b="0" i="0">
                <a:solidFill>
                  <a:srgbClr val="000000"/>
                </a:solidFill>
                <a:latin typeface="Latin Modern Sans"/>
              </a:rPr>
              <a:t> metadata.</a:t>
            </a:r>
          </a:p>
        </p:txBody>
      </p:sp>
      <p:sp>
        <p:nvSpPr>
          <p:cNvPr id="12" name="PDF_TEXT_GROUP_449"/>
          <p:cNvSpPr txBox="1"/>
          <p:nvPr/>
        </p:nvSpPr>
        <p:spPr>
          <a:xfrm>
            <a:off x="10301426" y="5234469"/>
            <a:ext cx="109229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Content</a:t>
            </a:r>
          </a:p>
        </p:txBody>
      </p:sp>
      <p:sp>
        <p:nvSpPr>
          <p:cNvPr id="13" name="PDF_TEXT_GROUP_450"/>
          <p:cNvSpPr txBox="1"/>
          <p:nvPr/>
        </p:nvSpPr>
        <p:spPr>
          <a:xfrm>
            <a:off x="9888364" y="5564253"/>
            <a:ext cx="1977493"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ProviderToken</a:t>
            </a:r>
          </a:p>
        </p:txBody>
      </p:sp>
      <p:sp>
        <p:nvSpPr>
          <p:cNvPr id="14" name="PDF_TEXT_GROUP_451"/>
          <p:cNvSpPr txBox="1"/>
          <p:nvPr/>
        </p:nvSpPr>
        <p:spPr>
          <a:xfrm>
            <a:off x="9828369" y="5846164"/>
            <a:ext cx="204813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service input key</a:t>
            </a:r>
          </a:p>
        </p:txBody>
      </p:sp>
      <p:sp>
        <p:nvSpPr>
          <p:cNvPr id="15" name="PDF_TEXT_GROUP_452"/>
          <p:cNvSpPr txBox="1"/>
          <p:nvPr/>
        </p:nvSpPr>
        <p:spPr>
          <a:xfrm>
            <a:off x="10216967" y="6731147"/>
            <a:ext cx="126123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Signature</a:t>
            </a:r>
          </a:p>
        </p:txBody>
      </p:sp>
      <p:sp>
        <p:nvSpPr>
          <p:cNvPr id="16" name="PDF_TEXT_GROUP_453"/>
          <p:cNvSpPr txBox="1"/>
          <p:nvPr/>
        </p:nvSpPr>
        <p:spPr>
          <a:xfrm>
            <a:off x="914841" y="7348690"/>
            <a:ext cx="129717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1A3E79"/>
                </a:solidFill>
                <a:latin typeface="Latin Modern Sans"/>
              </a:rPr>
              <a:t>Key point:</a:t>
            </a:r>
            <a:r>
              <a:rPr sz="1863" b="0" i="0">
                <a:solidFill>
                  <a:srgbClr val="1A3E79"/>
                </a:solidFill>
                <a:latin typeface="Latin Modern Sans"/>
              </a:rPr>
              <a:t> ACK publication is common; ACK status reports readiness, and selection uses positive ACKs.</a:t>
            </a:r>
          </a:p>
        </p:txBody>
      </p:sp>
      <p:sp>
        <p:nvSpPr>
          <p:cNvPr id="17" name="PDF_TEXT_GROUP_4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57"/>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1" name="PDF_TEXT_GROUP_458"/>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26/64</a:t>
            </a:r>
          </a:p>
        </p:txBody>
      </p:sp>
      <p:sp>
        <p:nvSpPr>
          <p:cNvPr id="22" name="PDF_BULLET_SPAN_728"/>
          <p:cNvSpPr/>
          <p:nvPr/>
        </p:nvSpPr>
        <p:spPr>
          <a:xfrm rot="5400000">
            <a:off x="1207424" y="285882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DF_BULLET_SPAN_732"/>
          <p:cNvSpPr/>
          <p:nvPr/>
        </p:nvSpPr>
        <p:spPr>
          <a:xfrm rot="5400000">
            <a:off x="1207424" y="426896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DF_BULLET_SPAN_735"/>
          <p:cNvSpPr/>
          <p:nvPr/>
        </p:nvSpPr>
        <p:spPr>
          <a:xfrm rot="5400000">
            <a:off x="1207424" y="524122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ppt-background-027.png"/>
          <p:cNvPicPr>
            <a:picLocks noChangeAspect="1"/>
          </p:cNvPicPr>
          <p:nvPr/>
        </p:nvPicPr>
        <p:blipFill>
          <a:blip r:embed="rId2"/>
          <a:stretch>
            <a:fillRect/>
          </a:stretch>
        </p:blipFill>
        <p:spPr>
          <a:xfrm>
            <a:off x="0" y="0"/>
            <a:ext cx="14630400" cy="8229600"/>
          </a:xfrm>
          <a:prstGeom prst="rect">
            <a:avLst/>
          </a:prstGeom>
        </p:spPr>
      </p:pic>
      <p:pic>
        <p:nvPicPr>
          <p:cNvPr id="3" name="VISUAL_REGION_FIRST_RESPONDING_SEQUENCE" descr="visual-region-027-visual_region_first_responding_sequence.png"/>
          <p:cNvPicPr>
            <a:picLocks noChangeAspect="1"/>
          </p:cNvPicPr>
          <p:nvPr/>
        </p:nvPicPr>
        <p:blipFill>
          <a:blip r:embed="rId3"/>
          <a:stretch>
            <a:fillRect/>
          </a:stretch>
        </p:blipFill>
        <p:spPr>
          <a:xfrm>
            <a:off x="1424335" y="2036109"/>
            <a:ext cx="5774750" cy="3437387"/>
          </a:xfrm>
          <a:prstGeom prst="rect">
            <a:avLst/>
          </a:prstGeom>
        </p:spPr>
      </p:pic>
      <p:pic>
        <p:nvPicPr>
          <p:cNvPr id="4" name="VISUAL_REGION_RANDOM_SELECTION_SEQUENCE" descr="visual-region-027-visual_region_random_selection_sequence.png"/>
          <p:cNvPicPr>
            <a:picLocks noChangeAspect="1"/>
          </p:cNvPicPr>
          <p:nvPr/>
        </p:nvPicPr>
        <p:blipFill>
          <a:blip r:embed="rId4"/>
          <a:stretch>
            <a:fillRect/>
          </a:stretch>
        </p:blipFill>
        <p:spPr>
          <a:xfrm>
            <a:off x="7454537" y="2074819"/>
            <a:ext cx="5743786" cy="3437387"/>
          </a:xfrm>
          <a:prstGeom prst="rect">
            <a:avLst/>
          </a:prstGeom>
        </p:spPr>
      </p:pic>
      <p:sp>
        <p:nvSpPr>
          <p:cNvPr id="5" name="PDF_TEXT_GROUP_4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Provider Selection Strategies: Built-In Choices</a:t>
            </a:r>
          </a:p>
        </p:txBody>
      </p:sp>
      <p:sp>
        <p:nvSpPr>
          <p:cNvPr id="6" name="PDF_TEXT_GROUP_460"/>
          <p:cNvSpPr txBox="1"/>
          <p:nvPr/>
        </p:nvSpPr>
        <p:spPr>
          <a:xfrm>
            <a:off x="3068672" y="1746795"/>
            <a:ext cx="26728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First Responding</a:t>
            </a:r>
          </a:p>
        </p:txBody>
      </p:sp>
      <p:sp>
        <p:nvSpPr>
          <p:cNvPr id="7" name="PDF_TEXT_GROUP_461"/>
          <p:cNvSpPr txBox="1"/>
          <p:nvPr/>
        </p:nvSpPr>
        <p:spPr>
          <a:xfrm>
            <a:off x="8997931" y="1746795"/>
            <a:ext cx="28755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Random Selection</a:t>
            </a:r>
          </a:p>
        </p:txBody>
      </p:sp>
      <p:sp>
        <p:nvSpPr>
          <p:cNvPr id="8" name="PDF_TEXT_GROUP_462"/>
          <p:cNvSpPr txBox="1"/>
          <p:nvPr/>
        </p:nvSpPr>
        <p:spPr>
          <a:xfrm>
            <a:off x="1143656" y="6432426"/>
            <a:ext cx="12278763"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same Request–ACK collection step can feed simple built-in policies: choose the first ready provider or</a:t>
            </a:r>
            <a:r>
              <a:rPr sz="1863" b="0" i="0">
                <a:solidFill>
                  <a:srgbClr val="000000"/>
                </a:solidFill>
                <a:latin typeface="Latin Modern Sans"/>
              </a:rPr>
              <a:t> pick randomly among valid ACKs.</a:t>
            </a:r>
          </a:p>
        </p:txBody>
      </p:sp>
      <p:sp>
        <p:nvSpPr>
          <p:cNvPr id="9" name="PDF_TEXT_GROUP_4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66"/>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3" name="PDF_TEXT_GROUP_467"/>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27/64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ppt-background-028.png"/>
          <p:cNvPicPr>
            <a:picLocks noChangeAspect="1"/>
          </p:cNvPicPr>
          <p:nvPr/>
        </p:nvPicPr>
        <p:blipFill>
          <a:blip r:embed="rId2"/>
          <a:stretch>
            <a:fillRect/>
          </a:stretch>
        </p:blipFill>
        <p:spPr>
          <a:xfrm>
            <a:off x="0" y="0"/>
            <a:ext cx="14630400" cy="8229600"/>
          </a:xfrm>
          <a:prstGeom prst="rect">
            <a:avLst/>
          </a:prstGeom>
        </p:spPr>
      </p:pic>
      <p:pic>
        <p:nvPicPr>
          <p:cNvPr id="3" name="VISUAL_REGION_ALL_RESPONDERS_SEQUENCE" descr="visual-region-028-visual_region_all_responders_sequence.png"/>
          <p:cNvPicPr>
            <a:picLocks noChangeAspect="1"/>
          </p:cNvPicPr>
          <p:nvPr/>
        </p:nvPicPr>
        <p:blipFill>
          <a:blip r:embed="rId3"/>
          <a:stretch>
            <a:fillRect/>
          </a:stretch>
        </p:blipFill>
        <p:spPr>
          <a:xfrm>
            <a:off x="1447558" y="2059335"/>
            <a:ext cx="5705081" cy="3406419"/>
          </a:xfrm>
          <a:prstGeom prst="rect">
            <a:avLst/>
          </a:prstGeom>
        </p:spPr>
      </p:pic>
      <p:pic>
        <p:nvPicPr>
          <p:cNvPr id="4" name="VISUAL_REGION_CUSTOM_SELECTION_SEQUENCE" descr="visual-region-028-visual_region_custom_selection_sequence.png"/>
          <p:cNvPicPr>
            <a:picLocks noChangeAspect="1"/>
          </p:cNvPicPr>
          <p:nvPr/>
        </p:nvPicPr>
        <p:blipFill>
          <a:blip r:embed="rId4"/>
          <a:stretch>
            <a:fillRect/>
          </a:stretch>
        </p:blipFill>
        <p:spPr>
          <a:xfrm>
            <a:off x="7462278" y="2090302"/>
            <a:ext cx="5720563" cy="3406419"/>
          </a:xfrm>
          <a:prstGeom prst="rect">
            <a:avLst/>
          </a:prstGeom>
        </p:spPr>
      </p:pic>
      <p:sp>
        <p:nvSpPr>
          <p:cNvPr id="5" name="PDF_TEXT_GROUP_4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Provider Selection Strategies: Multi-Provider and Custom</a:t>
            </a:r>
          </a:p>
        </p:txBody>
      </p:sp>
      <p:sp>
        <p:nvSpPr>
          <p:cNvPr id="6" name="PDF_TEXT_GROUP_469"/>
          <p:cNvSpPr txBox="1"/>
          <p:nvPr/>
        </p:nvSpPr>
        <p:spPr>
          <a:xfrm>
            <a:off x="3211996" y="1760788"/>
            <a:ext cx="2371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All Responders</a:t>
            </a:r>
          </a:p>
        </p:txBody>
      </p:sp>
      <p:sp>
        <p:nvSpPr>
          <p:cNvPr id="7" name="PDF_TEXT_GROUP_470"/>
          <p:cNvSpPr txBox="1"/>
          <p:nvPr/>
        </p:nvSpPr>
        <p:spPr>
          <a:xfrm>
            <a:off x="8357062" y="1760788"/>
            <a:ext cx="425922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Custom Selection Strategy</a:t>
            </a:r>
          </a:p>
        </p:txBody>
      </p:sp>
      <p:sp>
        <p:nvSpPr>
          <p:cNvPr id="8" name="PDF_TEXT_GROUP_471"/>
          <p:cNvSpPr txBox="1"/>
          <p:nvPr/>
        </p:nvSpPr>
        <p:spPr>
          <a:xfrm>
            <a:off x="1143656" y="6411421"/>
            <a:ext cx="12393123"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Selection can also choose all ready providers for cooperative execution, or use application-defined metadata</a:t>
            </a:r>
            <a:r>
              <a:rPr sz="1863" b="0" i="0">
                <a:solidFill>
                  <a:srgbClr val="000000"/>
                </a:solidFill>
                <a:latin typeface="Latin Modern Sans"/>
              </a:rPr>
              <a:t> such as latency, load, capability, location, or safety state.</a:t>
            </a:r>
          </a:p>
        </p:txBody>
      </p:sp>
      <p:sp>
        <p:nvSpPr>
          <p:cNvPr id="9" name="PDF_TEXT_GROUP_47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7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7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75"/>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3" name="PDF_TEXT_GROUP_476"/>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47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Completed Foundation: NDNSF v0.1</a:t>
            </a:r>
          </a:p>
        </p:txBody>
      </p:sp>
      <p:sp>
        <p:nvSpPr>
          <p:cNvPr id="4" name="PDF_TEXT_GROUP_478"/>
          <p:cNvSpPr txBox="1"/>
          <p:nvPr/>
        </p:nvSpPr>
        <p:spPr>
          <a:xfrm>
            <a:off x="6934390" y="1478745"/>
            <a:ext cx="230434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Provider API</a:t>
            </a:r>
          </a:p>
        </p:txBody>
      </p:sp>
      <p:sp>
        <p:nvSpPr>
          <p:cNvPr id="5" name="PDF_TEXT_GROUP_479"/>
          <p:cNvSpPr txBox="1"/>
          <p:nvPr/>
        </p:nvSpPr>
        <p:spPr>
          <a:xfrm>
            <a:off x="1618972" y="1575335"/>
            <a:ext cx="4493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Implemented generic dynamic</a:t>
            </a:r>
            <a:r>
              <a:rPr sz="2710" b="0" i="0">
                <a:solidFill>
                  <a:srgbClr val="000000"/>
                </a:solidFill>
                <a:latin typeface="Latin Modern Sans"/>
              </a:rPr>
              <a:t> C++ API</a:t>
            </a:r>
          </a:p>
        </p:txBody>
      </p:sp>
      <p:sp>
        <p:nvSpPr>
          <p:cNvPr id="6" name="PDF_TEXT_GROUP_480"/>
          <p:cNvSpPr txBox="1"/>
          <p:nvPr/>
        </p:nvSpPr>
        <p:spPr>
          <a:xfrm>
            <a:off x="7163205" y="2307658"/>
            <a:ext cx="6050675"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provider.addHandler&lt;RequestT, ResponseT&gt;(</a:t>
            </a:r>
          </a:p>
        </p:txBody>
      </p:sp>
      <p:sp>
        <p:nvSpPr>
          <p:cNvPr id="7" name="PDF_TEXT_GROUP_481"/>
          <p:cNvSpPr txBox="1"/>
          <p:nvPr/>
        </p:nvSpPr>
        <p:spPr>
          <a:xfrm>
            <a:off x="1618972" y="2547602"/>
            <a:ext cx="4739315"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Multi-provider ACK collection</a:t>
            </a:r>
          </a:p>
        </p:txBody>
      </p:sp>
      <p:sp>
        <p:nvSpPr>
          <p:cNvPr id="8" name="PDF_TEXT_GROUP_482"/>
          <p:cNvSpPr txBox="1"/>
          <p:nvPr/>
        </p:nvSpPr>
        <p:spPr>
          <a:xfrm>
            <a:off x="7483417" y="2613521"/>
            <a:ext cx="3246685"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serviceName, handler);</a:t>
            </a:r>
          </a:p>
        </p:txBody>
      </p:sp>
      <p:sp>
        <p:nvSpPr>
          <p:cNvPr id="9" name="PDF_TEXT_GROUP_483"/>
          <p:cNvSpPr txBox="1"/>
          <p:nvPr/>
        </p:nvSpPr>
        <p:spPr>
          <a:xfrm>
            <a:off x="1618972" y="3082031"/>
            <a:ext cx="4433835"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selection strategies</a:t>
            </a:r>
          </a:p>
        </p:txBody>
      </p:sp>
      <p:sp>
        <p:nvSpPr>
          <p:cNvPr id="10" name="PDF_TEXT_GROUP_484"/>
          <p:cNvSpPr txBox="1"/>
          <p:nvPr/>
        </p:nvSpPr>
        <p:spPr>
          <a:xfrm>
            <a:off x="6934390" y="3457404"/>
            <a:ext cx="1686115"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User API</a:t>
            </a:r>
          </a:p>
        </p:txBody>
      </p:sp>
      <p:sp>
        <p:nvSpPr>
          <p:cNvPr id="11" name="PDF_TEXT_GROUP_485"/>
          <p:cNvSpPr txBox="1"/>
          <p:nvPr/>
        </p:nvSpPr>
        <p:spPr>
          <a:xfrm>
            <a:off x="1618972" y="3616459"/>
            <a:ext cx="2636630"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NDN-SVS patch</a:t>
            </a:r>
          </a:p>
        </p:txBody>
      </p:sp>
      <p:sp>
        <p:nvSpPr>
          <p:cNvPr id="12" name="PDF_TEXT_GROUP_486"/>
          <p:cNvSpPr txBox="1"/>
          <p:nvPr/>
        </p:nvSpPr>
        <p:spPr>
          <a:xfrm>
            <a:off x="1618972" y="4150888"/>
            <a:ext cx="3262485"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evaluation</a:t>
            </a:r>
          </a:p>
        </p:txBody>
      </p:sp>
      <p:sp>
        <p:nvSpPr>
          <p:cNvPr id="13" name="PDF_TEXT_GROUP_487"/>
          <p:cNvSpPr txBox="1"/>
          <p:nvPr/>
        </p:nvSpPr>
        <p:spPr>
          <a:xfrm>
            <a:off x="7163205" y="4286317"/>
            <a:ext cx="6050675"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user.RequestService&lt;RequestT, ResponseT&gt;(</a:t>
            </a:r>
          </a:p>
        </p:txBody>
      </p:sp>
      <p:sp>
        <p:nvSpPr>
          <p:cNvPr id="14" name="PDF_TEXT_GROUP_488"/>
          <p:cNvSpPr txBox="1"/>
          <p:nvPr/>
        </p:nvSpPr>
        <p:spPr>
          <a:xfrm>
            <a:off x="7483417" y="4592180"/>
            <a:ext cx="4722532"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providers, serviceName, request,</a:t>
            </a:r>
          </a:p>
        </p:txBody>
      </p:sp>
      <p:sp>
        <p:nvSpPr>
          <p:cNvPr id="15" name="PDF_TEXT_GROUP_489"/>
          <p:cNvSpPr txBox="1"/>
          <p:nvPr/>
        </p:nvSpPr>
        <p:spPr>
          <a:xfrm>
            <a:off x="7483417" y="4898011"/>
            <a:ext cx="4870125"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onResponse, onTimeout, timeoutMs,</a:t>
            </a:r>
          </a:p>
        </p:txBody>
      </p:sp>
      <p:sp>
        <p:nvSpPr>
          <p:cNvPr id="16" name="PDF_TEXT_GROUP_490"/>
          <p:cNvSpPr txBox="1"/>
          <p:nvPr/>
        </p:nvSpPr>
        <p:spPr>
          <a:xfrm>
            <a:off x="7483417" y="5203874"/>
            <a:ext cx="1567770" cy="302935"/>
          </a:xfrm>
          <a:prstGeom prst="rect">
            <a:avLst/>
          </a:prstGeom>
          <a:noFill/>
          <a:ln>
            <a:noFill/>
          </a:ln>
        </p:spPr>
        <p:txBody>
          <a:bodyPr wrap="none" anchor="t" lIns="0" rIns="0" tIns="0" bIns="0">
            <a:noAutofit/>
          </a:bodyPr>
          <a:lstStyle/>
          <a:p>
            <a:pPr algn="l">
              <a:lnSpc>
                <a:spcPct val="100000"/>
              </a:lnSpc>
              <a:spcBef>
                <a:spcPts val="0"/>
              </a:spcBef>
              <a:spcAft>
                <a:spcPts val="0"/>
              </a:spcAft>
            </a:pPr>
            <a:r>
              <a:rPr sz="1863" b="0" i="0">
                <a:solidFill>
                  <a:srgbClr val="000000"/>
                </a:solidFill>
                <a:latin typeface="Latin Modern Mono"/>
              </a:rPr>
              <a:t>strategy);</a:t>
            </a:r>
          </a:p>
        </p:txBody>
      </p:sp>
      <p:sp>
        <p:nvSpPr>
          <p:cNvPr id="17" name="PDF_TEXT_GROUP_491"/>
          <p:cNvSpPr txBox="1"/>
          <p:nvPr/>
        </p:nvSpPr>
        <p:spPr>
          <a:xfrm>
            <a:off x="1143656" y="6479871"/>
            <a:ext cx="1199216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v0.1 (commit</a:t>
            </a:r>
            <a:r>
              <a:rPr sz="2371" b="0" i="0">
                <a:solidFill>
                  <a:srgbClr val="000000"/>
                </a:solidFill>
                <a:latin typeface="Latin Modern Mono"/>
              </a:rPr>
              <a:t> be9421f...</a:t>
            </a:r>
            <a:r>
              <a:rPr sz="2371" b="0" i="0">
                <a:solidFill>
                  <a:srgbClr val="000000"/>
                </a:solidFill>
                <a:latin typeface="Latin Modern Sans"/>
              </a:rPr>
              <a:t>, tree</a:t>
            </a:r>
            <a:r>
              <a:rPr sz="2371" b="0" i="0">
                <a:solidFill>
                  <a:srgbClr val="000000"/>
                </a:solidFill>
                <a:latin typeface="Latin Modern Mono"/>
              </a:rPr>
              <a:t> c9cc0c...</a:t>
            </a:r>
            <a:r>
              <a:rPr sz="2371" b="0" i="0">
                <a:solidFill>
                  <a:srgbClr val="000000"/>
                </a:solidFill>
                <a:latin typeface="Latin Modern Sans"/>
              </a:rPr>
              <a:t>) is the May 20 repository baseline;</a:t>
            </a:r>
            <a:r>
              <a:rPr sz="2371" b="0" i="0">
                <a:solidFill>
                  <a:srgbClr val="000000"/>
                </a:solidFill>
                <a:latin typeface="Latin Modern Sans"/>
              </a:rPr>
              <a:t> role-based dependency collaboration is post-v0.1 work.</a:t>
            </a:r>
          </a:p>
        </p:txBody>
      </p:sp>
      <p:sp>
        <p:nvSpPr>
          <p:cNvPr id="18" name="PDF_TEXT_GROUP_49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49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49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495"/>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2" name="PDF_TEXT_GROUP_496"/>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29/64</a:t>
            </a:r>
          </a:p>
        </p:txBody>
      </p:sp>
      <p:sp>
        <p:nvSpPr>
          <p:cNvPr id="23" name="PDF_BULLET_SPAN_774"/>
          <p:cNvSpPr/>
          <p:nvPr/>
        </p:nvSpPr>
        <p:spPr>
          <a:xfrm rot="5400000">
            <a:off x="1207424" y="166112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DF_BULLET_SPAN_777"/>
          <p:cNvSpPr/>
          <p:nvPr/>
        </p:nvSpPr>
        <p:spPr>
          <a:xfrm rot="5400000">
            <a:off x="1207424" y="263339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DF_BULLET_SPAN_779"/>
          <p:cNvSpPr/>
          <p:nvPr/>
        </p:nvSpPr>
        <p:spPr>
          <a:xfrm rot="5400000">
            <a:off x="1207424" y="316782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DF_BULLET_SPAN_781"/>
          <p:cNvSpPr/>
          <p:nvPr/>
        </p:nvSpPr>
        <p:spPr>
          <a:xfrm rot="5400000">
            <a:off x="1207424" y="370225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DF_BULLET_SPAN_783"/>
          <p:cNvSpPr/>
          <p:nvPr/>
        </p:nvSpPr>
        <p:spPr>
          <a:xfrm rot="5400000">
            <a:off x="1207424" y="423667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49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Baselines Before the Comparison</a:t>
            </a:r>
          </a:p>
        </p:txBody>
      </p:sp>
      <p:sp>
        <p:nvSpPr>
          <p:cNvPr id="4" name="PDF_TEXT_GROUP_498"/>
          <p:cNvSpPr txBox="1"/>
          <p:nvPr/>
        </p:nvSpPr>
        <p:spPr>
          <a:xfrm>
            <a:off x="11081398" y="1550345"/>
            <a:ext cx="106945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NDNSF</a:t>
            </a:r>
          </a:p>
        </p:txBody>
      </p:sp>
      <p:sp>
        <p:nvSpPr>
          <p:cNvPr id="5" name="PDF_TEXT_GROUP_499"/>
          <p:cNvSpPr txBox="1"/>
          <p:nvPr/>
        </p:nvSpPr>
        <p:spPr>
          <a:xfrm>
            <a:off x="2296381" y="1564628"/>
            <a:ext cx="13491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gRPC</a:t>
            </a:r>
            <a:r>
              <a:rPr sz="1863" b="0" i="0">
                <a:solidFill>
                  <a:srgbClr val="1A3E79"/>
                </a:solidFill>
                <a:latin typeface="Latin Modern Sans"/>
              </a:rPr>
              <a:t> [17]</a:t>
            </a:r>
          </a:p>
        </p:txBody>
      </p:sp>
      <p:sp>
        <p:nvSpPr>
          <p:cNvPr id="6" name="PDF_TEXT_GROUP_500"/>
          <p:cNvSpPr txBox="1"/>
          <p:nvPr/>
        </p:nvSpPr>
        <p:spPr>
          <a:xfrm>
            <a:off x="6593652" y="1564628"/>
            <a:ext cx="120767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NSC</a:t>
            </a:r>
            <a:r>
              <a:rPr sz="1863" b="0" i="0">
                <a:solidFill>
                  <a:srgbClr val="1A3E79"/>
                </a:solidFill>
                <a:latin typeface="Latin Modern Sans"/>
              </a:rPr>
              <a:t> [10]</a:t>
            </a:r>
          </a:p>
        </p:txBody>
      </p:sp>
      <p:sp>
        <p:nvSpPr>
          <p:cNvPr id="7" name="PDF_TEXT_GROUP_501"/>
          <p:cNvSpPr txBox="1"/>
          <p:nvPr/>
        </p:nvSpPr>
        <p:spPr>
          <a:xfrm>
            <a:off x="11279005" y="2400906"/>
            <a:ext cx="788807"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Request</a:t>
            </a:r>
          </a:p>
        </p:txBody>
      </p:sp>
      <p:sp>
        <p:nvSpPr>
          <p:cNvPr id="8" name="PDF_TEXT_GROUP_502"/>
          <p:cNvSpPr txBox="1"/>
          <p:nvPr/>
        </p:nvSpPr>
        <p:spPr>
          <a:xfrm>
            <a:off x="11935630" y="2474488"/>
            <a:ext cx="343174"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P1</a:t>
            </a:r>
          </a:p>
        </p:txBody>
      </p:sp>
      <p:sp>
        <p:nvSpPr>
          <p:cNvPr id="9" name="PDF_TEXT_GROUP_503"/>
          <p:cNvSpPr txBox="1"/>
          <p:nvPr/>
        </p:nvSpPr>
        <p:spPr>
          <a:xfrm>
            <a:off x="6533656" y="2479593"/>
            <a:ext cx="1029391"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named call</a:t>
            </a:r>
          </a:p>
        </p:txBody>
      </p:sp>
      <p:sp>
        <p:nvSpPr>
          <p:cNvPr id="10" name="PDF_TEXT_GROUP_504"/>
          <p:cNvSpPr txBox="1"/>
          <p:nvPr/>
        </p:nvSpPr>
        <p:spPr>
          <a:xfrm>
            <a:off x="2427828" y="2490354"/>
            <a:ext cx="1253808"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RPC/channel</a:t>
            </a:r>
          </a:p>
        </p:txBody>
      </p:sp>
      <p:sp>
        <p:nvSpPr>
          <p:cNvPr id="11" name="PDF_TEXT_GROUP_505"/>
          <p:cNvSpPr txBox="1"/>
          <p:nvPr/>
        </p:nvSpPr>
        <p:spPr>
          <a:xfrm>
            <a:off x="7278602" y="2534400"/>
            <a:ext cx="842514" cy="48640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0" i="0">
                <a:solidFill>
                  <a:srgbClr val="000000"/>
                </a:solidFill>
                <a:latin typeface="Latin Modern Sans"/>
              </a:rPr>
              <a:t>service</a:t>
            </a:r>
            <a:br/>
            <a:r>
              <a:rPr sz="1355" b="0" i="0">
                <a:solidFill>
                  <a:srgbClr val="000000"/>
                </a:solidFill>
                <a:latin typeface="Latin Modern Sans"/>
              </a:rPr>
              <a:t>executor</a:t>
            </a:r>
          </a:p>
        </p:txBody>
      </p:sp>
      <p:sp>
        <p:nvSpPr>
          <p:cNvPr id="12" name="PDF_TEXT_GROUP_506"/>
          <p:cNvSpPr txBox="1"/>
          <p:nvPr/>
        </p:nvSpPr>
        <p:spPr>
          <a:xfrm>
            <a:off x="3348963" y="2597124"/>
            <a:ext cx="820714" cy="4863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selected</a:t>
            </a:r>
            <a:r>
              <a:rPr sz="1355" b="0" i="0">
                <a:solidFill>
                  <a:srgbClr val="000000"/>
                </a:solidFill>
                <a:latin typeface="Latin Modern Sans"/>
              </a:rPr>
              <a:t> backend</a:t>
            </a:r>
          </a:p>
        </p:txBody>
      </p:sp>
      <p:sp>
        <p:nvSpPr>
          <p:cNvPr id="13" name="PDF_TEXT_GROUP_507"/>
          <p:cNvSpPr txBox="1"/>
          <p:nvPr/>
        </p:nvSpPr>
        <p:spPr>
          <a:xfrm>
            <a:off x="6195952" y="2650767"/>
            <a:ext cx="558196"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caller</a:t>
            </a:r>
          </a:p>
        </p:txBody>
      </p:sp>
      <p:sp>
        <p:nvSpPr>
          <p:cNvPr id="14" name="PDF_TEXT_GROUP_508"/>
          <p:cNvSpPr txBox="1"/>
          <p:nvPr/>
        </p:nvSpPr>
        <p:spPr>
          <a:xfrm>
            <a:off x="1758326" y="2709774"/>
            <a:ext cx="1002132"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client stub</a:t>
            </a:r>
          </a:p>
        </p:txBody>
      </p:sp>
      <p:sp>
        <p:nvSpPr>
          <p:cNvPr id="15" name="PDF_TEXT_GROUP_509"/>
          <p:cNvSpPr txBox="1"/>
          <p:nvPr/>
        </p:nvSpPr>
        <p:spPr>
          <a:xfrm>
            <a:off x="10921131" y="2767619"/>
            <a:ext cx="1009196" cy="23632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User</a:t>
            </a:r>
            <a:r>
              <a:rPr sz="1355" b="0" i="0">
                <a:solidFill>
                  <a:srgbClr val="1A3E79"/>
                </a:solidFill>
                <a:latin typeface="Latin Modern Sans"/>
              </a:rPr>
              <a:t> ACK</a:t>
            </a:r>
          </a:p>
        </p:txBody>
      </p:sp>
      <p:sp>
        <p:nvSpPr>
          <p:cNvPr id="16" name="PDF_TEXT_GROUP_510"/>
          <p:cNvSpPr txBox="1"/>
          <p:nvPr/>
        </p:nvSpPr>
        <p:spPr>
          <a:xfrm>
            <a:off x="11935630" y="3060750"/>
            <a:ext cx="343174"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P2</a:t>
            </a:r>
          </a:p>
        </p:txBody>
      </p:sp>
      <p:sp>
        <p:nvSpPr>
          <p:cNvPr id="17" name="PDF_TEXT_GROUP_511"/>
          <p:cNvSpPr txBox="1"/>
          <p:nvPr/>
        </p:nvSpPr>
        <p:spPr>
          <a:xfrm>
            <a:off x="5845468" y="3504896"/>
            <a:ext cx="272523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Expresses an RPC-like</a:t>
            </a:r>
          </a:p>
        </p:txBody>
      </p:sp>
      <p:sp>
        <p:nvSpPr>
          <p:cNvPr id="18" name="PDF_TEXT_GROUP_512"/>
          <p:cNvSpPr txBox="1"/>
          <p:nvPr/>
        </p:nvSpPr>
        <p:spPr>
          <a:xfrm>
            <a:off x="1618972" y="3567620"/>
            <a:ext cx="290399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Load balancing chooses</a:t>
            </a:r>
          </a:p>
        </p:txBody>
      </p:sp>
      <p:sp>
        <p:nvSpPr>
          <p:cNvPr id="19" name="PDF_TEXT_GROUP_513"/>
          <p:cNvSpPr txBox="1"/>
          <p:nvPr/>
        </p:nvSpPr>
        <p:spPr>
          <a:xfrm>
            <a:off x="10071965" y="3805912"/>
            <a:ext cx="3284679"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Discovers multiple ready</a:t>
            </a:r>
            <a:r>
              <a:rPr sz="1863" b="0" i="0">
                <a:solidFill>
                  <a:srgbClr val="000000"/>
                </a:solidFill>
                <a:latin typeface="Latin Modern Sans"/>
              </a:rPr>
              <a:t> Providers through one ACK</a:t>
            </a:r>
            <a:r>
              <a:rPr sz="1863" b="0" i="0">
                <a:solidFill>
                  <a:srgbClr val="000000"/>
                </a:solidFill>
                <a:latin typeface="Latin Modern Sans"/>
              </a:rPr>
              <a:t> window.</a:t>
            </a:r>
          </a:p>
        </p:txBody>
      </p:sp>
      <p:sp>
        <p:nvSpPr>
          <p:cNvPr id="20" name="PDF_TEXT_GROUP_514"/>
          <p:cNvSpPr txBox="1"/>
          <p:nvPr/>
        </p:nvSpPr>
        <p:spPr>
          <a:xfrm>
            <a:off x="5845468" y="3810759"/>
            <a:ext cx="268389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service call with NDN</a:t>
            </a:r>
          </a:p>
        </p:txBody>
      </p:sp>
      <p:sp>
        <p:nvSpPr>
          <p:cNvPr id="21" name="PDF_TEXT_GROUP_515"/>
          <p:cNvSpPr txBox="1"/>
          <p:nvPr/>
        </p:nvSpPr>
        <p:spPr>
          <a:xfrm>
            <a:off x="1618972" y="3873451"/>
            <a:ext cx="31671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among backend addresses</a:t>
            </a:r>
          </a:p>
        </p:txBody>
      </p:sp>
      <p:sp>
        <p:nvSpPr>
          <p:cNvPr id="22" name="PDF_TEXT_GROUP_516"/>
          <p:cNvSpPr txBox="1"/>
          <p:nvPr/>
        </p:nvSpPr>
        <p:spPr>
          <a:xfrm>
            <a:off x="5845468" y="4116590"/>
            <a:ext cx="933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names.</a:t>
            </a:r>
          </a:p>
        </p:txBody>
      </p:sp>
      <p:sp>
        <p:nvSpPr>
          <p:cNvPr id="23" name="PDF_TEXT_GROUP_517"/>
          <p:cNvSpPr txBox="1"/>
          <p:nvPr/>
        </p:nvSpPr>
        <p:spPr>
          <a:xfrm>
            <a:off x="1618972" y="4179314"/>
            <a:ext cx="306425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supplied beforehand by a</a:t>
            </a:r>
          </a:p>
        </p:txBody>
      </p:sp>
      <p:sp>
        <p:nvSpPr>
          <p:cNvPr id="24" name="PDF_TEXT_GROUP_518"/>
          <p:cNvSpPr txBox="1"/>
          <p:nvPr/>
        </p:nvSpPr>
        <p:spPr>
          <a:xfrm>
            <a:off x="1618972" y="4485145"/>
            <a:ext cx="35254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resolver; it does not discover</a:t>
            </a:r>
          </a:p>
        </p:txBody>
      </p:sp>
      <p:sp>
        <p:nvSpPr>
          <p:cNvPr id="25" name="PDF_TEXT_GROUP_519"/>
          <p:cNvSpPr txBox="1"/>
          <p:nvPr/>
        </p:nvSpPr>
        <p:spPr>
          <a:xfrm>
            <a:off x="5845468" y="4519011"/>
            <a:ext cx="345456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evaluated configuration</a:t>
            </a:r>
          </a:p>
        </p:txBody>
      </p:sp>
      <p:sp>
        <p:nvSpPr>
          <p:cNvPr id="26" name="PDF_TEXT_GROUP_520"/>
          <p:cNvSpPr txBox="1"/>
          <p:nvPr/>
        </p:nvSpPr>
        <p:spPr>
          <a:xfrm>
            <a:off x="1618972" y="4791008"/>
            <a:ext cx="2985817"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willing Providers from an</a:t>
            </a:r>
            <a:r>
              <a:rPr sz="1863" b="0" i="0">
                <a:solidFill>
                  <a:srgbClr val="000000"/>
                </a:solidFill>
                <a:latin typeface="Latin Modern Sans"/>
              </a:rPr>
              <a:t> RPC.</a:t>
            </a:r>
          </a:p>
        </p:txBody>
      </p:sp>
      <p:sp>
        <p:nvSpPr>
          <p:cNvPr id="27" name="PDF_TEXT_GROUP_521"/>
          <p:cNvSpPr txBox="1"/>
          <p:nvPr/>
        </p:nvSpPr>
        <p:spPr>
          <a:xfrm>
            <a:off x="10071965" y="4820027"/>
            <a:ext cx="3658572"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Selects after observing runtime</a:t>
            </a:r>
            <a:r>
              <a:rPr sz="1863" b="0" i="0">
                <a:solidFill>
                  <a:srgbClr val="000000"/>
                </a:solidFill>
                <a:latin typeface="Latin Modern Sans"/>
              </a:rPr>
              <a:t> willingness and metadata.</a:t>
            </a:r>
          </a:p>
        </p:txBody>
      </p:sp>
      <p:sp>
        <p:nvSpPr>
          <p:cNvPr id="28" name="PDF_TEXT_GROUP_522"/>
          <p:cNvSpPr txBox="1"/>
          <p:nvPr/>
        </p:nvSpPr>
        <p:spPr>
          <a:xfrm>
            <a:off x="5845468" y="4824875"/>
            <a:ext cx="2502760"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binds one call to one</a:t>
            </a:r>
            <a:r>
              <a:rPr sz="1863" b="0" i="0">
                <a:solidFill>
                  <a:srgbClr val="000000"/>
                </a:solidFill>
                <a:latin typeface="Latin Modern Sans"/>
              </a:rPr>
              <a:t> executor.</a:t>
            </a:r>
          </a:p>
        </p:txBody>
      </p:sp>
      <p:sp>
        <p:nvSpPr>
          <p:cNvPr id="29" name="PDF_TEXT_GROUP_523"/>
          <p:cNvSpPr txBox="1"/>
          <p:nvPr/>
        </p:nvSpPr>
        <p:spPr>
          <a:xfrm>
            <a:off x="1618972" y="5499292"/>
            <a:ext cx="2908985" cy="12693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Here, gRPC-1 uses one</a:t>
            </a:r>
            <a:r>
              <a:rPr sz="1863" b="0" i="0">
                <a:solidFill>
                  <a:srgbClr val="000000"/>
                </a:solidFill>
                <a:latin typeface="Latin Modern Sans"/>
              </a:rPr>
              <a:t> endpoint; gRPC-SEQ-4</a:t>
            </a:r>
            <a:r>
              <a:rPr sz="1863" b="0" i="0">
                <a:solidFill>
                  <a:srgbClr val="000000"/>
                </a:solidFill>
                <a:latin typeface="Latin Modern Sans"/>
              </a:rPr>
              <a:t> retries four preregistered</a:t>
            </a:r>
            <a:r>
              <a:rPr sz="1863" b="0" i="0">
                <a:solidFill>
                  <a:srgbClr val="000000"/>
                </a:solidFill>
                <a:latin typeface="Latin Modern Sans"/>
              </a:rPr>
              <a:t> endpoints sequentially.</a:t>
            </a:r>
          </a:p>
        </p:txBody>
      </p:sp>
      <p:sp>
        <p:nvSpPr>
          <p:cNvPr id="30" name="PDF_TEXT_GROUP_524"/>
          <p:cNvSpPr txBox="1"/>
          <p:nvPr/>
        </p:nvSpPr>
        <p:spPr>
          <a:xfrm>
            <a:off x="1092471" y="6988279"/>
            <a:ext cx="12216583"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Context only:</a:t>
            </a:r>
            <a:r>
              <a:rPr sz="1863" b="0" i="0">
                <a:solidFill>
                  <a:srgbClr val="000000"/>
                </a:solidFill>
                <a:latin typeface="Latin Modern Sans"/>
              </a:rPr>
              <a:t> NDNSF uses submitted v0.1 measurements; NSC/gRPC use one new run per loss with the</a:t>
            </a:r>
            <a:r>
              <a:rPr sz="1863" b="0" i="0">
                <a:solidFill>
                  <a:srgbClr val="000000"/>
                </a:solidFill>
                <a:latin typeface="Latin Modern Sans"/>
              </a:rPr>
              <a:t> shown workload and deadline. Batches and semantics differ; no variance or significance claim is made.</a:t>
            </a:r>
          </a:p>
        </p:txBody>
      </p:sp>
      <p:sp>
        <p:nvSpPr>
          <p:cNvPr id="31" name="PDF_TEXT_GROUP_52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32" name="PDF_TEXT_GROUP_52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33" name="PDF_TEXT_GROUP_52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34" name="PDF_TEXT_GROUP_52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35" name="PDF_TEXT_GROUP_529"/>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30/64</a:t>
            </a:r>
          </a:p>
        </p:txBody>
      </p:sp>
      <p:sp>
        <p:nvSpPr>
          <p:cNvPr id="36" name="PDF_BULLET_SPAN_811"/>
          <p:cNvSpPr/>
          <p:nvPr/>
        </p:nvSpPr>
        <p:spPr>
          <a:xfrm rot="5400000">
            <a:off x="1270872" y="3630298"/>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DF_BULLET_SPAN_818"/>
          <p:cNvSpPr/>
          <p:nvPr/>
        </p:nvSpPr>
        <p:spPr>
          <a:xfrm rot="5400000">
            <a:off x="1270872" y="5561971"/>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DF_BULLET_SPAN_829"/>
          <p:cNvSpPr/>
          <p:nvPr/>
        </p:nvSpPr>
        <p:spPr>
          <a:xfrm rot="5400000">
            <a:off x="5497368" y="3567574"/>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DF_BULLET_SPAN_833"/>
          <p:cNvSpPr/>
          <p:nvPr/>
        </p:nvSpPr>
        <p:spPr>
          <a:xfrm rot="5400000">
            <a:off x="5497368" y="458168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DF_BULLET_SPAN_843"/>
          <p:cNvSpPr/>
          <p:nvPr/>
        </p:nvSpPr>
        <p:spPr>
          <a:xfrm rot="5400000">
            <a:off x="9723897" y="386859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DF_BULLET_SPAN_847"/>
          <p:cNvSpPr/>
          <p:nvPr/>
        </p:nvSpPr>
        <p:spPr>
          <a:xfrm rot="5400000">
            <a:off x="9723897" y="4882705"/>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ppt-background-031.png"/>
          <p:cNvPicPr>
            <a:picLocks noChangeAspect="1"/>
          </p:cNvPicPr>
          <p:nvPr/>
        </p:nvPicPr>
        <p:blipFill>
          <a:blip r:embed="rId2"/>
          <a:stretch>
            <a:fillRect/>
          </a:stretch>
        </p:blipFill>
        <p:spPr>
          <a:xfrm>
            <a:off x="0" y="0"/>
            <a:ext cx="14630400" cy="8229600"/>
          </a:xfrm>
          <a:prstGeom prst="rect">
            <a:avLst/>
          </a:prstGeom>
        </p:spPr>
      </p:pic>
      <p:pic>
        <p:nvPicPr>
          <p:cNvPr id="3" name="VISUAL_REGION_NETWORK_TOPOLOGY" descr="visual-region-031-visual_region_network_topology.png"/>
          <p:cNvPicPr>
            <a:picLocks noChangeAspect="1"/>
          </p:cNvPicPr>
          <p:nvPr/>
        </p:nvPicPr>
        <p:blipFill>
          <a:blip r:embed="rId3"/>
          <a:stretch>
            <a:fillRect/>
          </a:stretch>
        </p:blipFill>
        <p:spPr>
          <a:xfrm>
            <a:off x="1254034" y="1873530"/>
            <a:ext cx="4807131" cy="3801254"/>
          </a:xfrm>
          <a:prstGeom prst="rect">
            <a:avLst/>
          </a:prstGeom>
        </p:spPr>
      </p:pic>
      <p:pic>
        <p:nvPicPr>
          <p:cNvPr id="4" name="VISUAL_REGION_NETWORK_SUCCESS_CHART" descr="visual-region-031-visual_region_network_success_chart.png"/>
          <p:cNvPicPr>
            <a:picLocks noChangeAspect="1"/>
          </p:cNvPicPr>
          <p:nvPr/>
        </p:nvPicPr>
        <p:blipFill>
          <a:blip r:embed="rId4"/>
          <a:stretch>
            <a:fillRect/>
          </a:stretch>
        </p:blipFill>
        <p:spPr>
          <a:xfrm>
            <a:off x="6610773" y="2508363"/>
            <a:ext cx="7168121" cy="3367710"/>
          </a:xfrm>
          <a:prstGeom prst="rect">
            <a:avLst/>
          </a:prstGeom>
        </p:spPr>
      </p:pic>
      <p:sp>
        <p:nvSpPr>
          <p:cNvPr id="5" name="PDF_TEXT_GROUP_53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Network Loss: NDNSF v0.1 and Baselines</a:t>
            </a:r>
          </a:p>
        </p:txBody>
      </p:sp>
      <p:sp>
        <p:nvSpPr>
          <p:cNvPr id="6" name="PDF_TEXT_GROUP_531"/>
          <p:cNvSpPr txBox="1"/>
          <p:nvPr/>
        </p:nvSpPr>
        <p:spPr>
          <a:xfrm>
            <a:off x="914808" y="1412456"/>
            <a:ext cx="41181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Common topology and workload</a:t>
            </a:r>
          </a:p>
        </p:txBody>
      </p:sp>
      <p:sp>
        <p:nvSpPr>
          <p:cNvPr id="7" name="PDF_TEXT_GROUP_532"/>
          <p:cNvSpPr txBox="1"/>
          <p:nvPr/>
        </p:nvSpPr>
        <p:spPr>
          <a:xfrm>
            <a:off x="6678175" y="1423314"/>
            <a:ext cx="31563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Service success rate (%)</a:t>
            </a:r>
          </a:p>
        </p:txBody>
      </p:sp>
      <p:sp>
        <p:nvSpPr>
          <p:cNvPr id="8" name="PDF_TEXT_GROUP_533"/>
          <p:cNvSpPr txBox="1"/>
          <p:nvPr/>
        </p:nvSpPr>
        <p:spPr>
          <a:xfrm>
            <a:off x="6678175" y="1728039"/>
            <a:ext cx="7454729"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Submitted NDNSF v0.1 values (10%: best measured); new NSC/gRPC: one run</a:t>
            </a:r>
          </a:p>
        </p:txBody>
      </p:sp>
      <p:sp>
        <p:nvSpPr>
          <p:cNvPr id="9" name="PDF_TEXT_GROUP_534"/>
          <p:cNvSpPr txBox="1"/>
          <p:nvPr/>
        </p:nvSpPr>
        <p:spPr>
          <a:xfrm>
            <a:off x="6678175" y="2033870"/>
            <a:ext cx="7226984"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per loss. Configuration-aligned context only; no variance or significance claim.</a:t>
            </a:r>
          </a:p>
        </p:txBody>
      </p:sp>
      <p:sp>
        <p:nvSpPr>
          <p:cNvPr id="10" name="PDF_TEXT_GROUP_535"/>
          <p:cNvSpPr txBox="1"/>
          <p:nvPr/>
        </p:nvSpPr>
        <p:spPr>
          <a:xfrm>
            <a:off x="914808" y="5792877"/>
            <a:ext cx="5018561" cy="54301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Path:</a:t>
            </a:r>
            <a:r>
              <a:rPr sz="1355" b="0" i="0">
                <a:solidFill>
                  <a:srgbClr val="000000"/>
                </a:solidFill>
                <a:latin typeface="Latin Modern Sans"/>
              </a:rPr>
              <a:t> Memphis</a:t>
            </a:r>
            <a:r>
              <a:rPr sz="1355" b="0" i="0">
                <a:solidFill>
                  <a:srgbClr val="000000"/>
                </a:solidFill>
                <a:latin typeface="Cambria Math"/>
              </a:rPr>
              <a:t> →</a:t>
            </a:r>
            <a:r>
              <a:rPr sz="1355" b="0" i="0">
                <a:solidFill>
                  <a:srgbClr val="000000"/>
                </a:solidFill>
                <a:latin typeface="Latin Modern Sans"/>
              </a:rPr>
              <a:t> CSU</a:t>
            </a:r>
            <a:r>
              <a:rPr sz="1355" b="0" i="0">
                <a:solidFill>
                  <a:srgbClr val="000000"/>
                </a:solidFill>
                <a:latin typeface="Cambria Math"/>
              </a:rPr>
              <a:t> →</a:t>
            </a:r>
            <a:r>
              <a:rPr sz="1355" b="0" i="0">
                <a:solidFill>
                  <a:srgbClr val="000000"/>
                </a:solidFill>
                <a:latin typeface="Latin Modern Sans"/>
              </a:rPr>
              <a:t> UCLA; 37 ms one way.</a:t>
            </a:r>
            <a:r>
              <a:rPr sz="1355" b="1" i="0">
                <a:solidFill>
                  <a:srgbClr val="000000"/>
                </a:solidFill>
                <a:latin typeface="Latin Modern Sans"/>
              </a:rPr>
              <a:t> Load:</a:t>
            </a:r>
            <a:r>
              <a:rPr sz="1355" b="0" i="0">
                <a:solidFill>
                  <a:srgbClr val="000000"/>
                </a:solidFill>
                <a:latin typeface="Latin Modern Sans"/>
              </a:rPr>
              <a:t> 10 RPS; 5 ms service delay; 1/3/10% per-link loss.</a:t>
            </a:r>
          </a:p>
        </p:txBody>
      </p:sp>
      <p:sp>
        <p:nvSpPr>
          <p:cNvPr id="11" name="PDF_TEXT_GROUP_536"/>
          <p:cNvSpPr txBox="1"/>
          <p:nvPr/>
        </p:nvSpPr>
        <p:spPr>
          <a:xfrm>
            <a:off x="914808" y="6426505"/>
            <a:ext cx="5240195"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NDNSF run:</a:t>
            </a:r>
            <a:r>
              <a:rPr sz="1355" b="0" i="0">
                <a:solidFill>
                  <a:srgbClr val="000000"/>
                </a:solidFill>
                <a:latin typeface="Latin Modern Sans"/>
              </a:rPr>
              <a:t> 60 s after warmup; 600 measured requests.</a:t>
            </a:r>
          </a:p>
        </p:txBody>
      </p:sp>
      <p:sp>
        <p:nvSpPr>
          <p:cNvPr id="12" name="PDF_TEXT_GROUP_537"/>
          <p:cNvSpPr txBox="1"/>
          <p:nvPr/>
        </p:nvSpPr>
        <p:spPr>
          <a:xfrm>
            <a:off x="1092471" y="7010441"/>
            <a:ext cx="10823792"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Result:</a:t>
            </a:r>
            <a:r>
              <a:rPr sz="1355" b="0" i="0">
                <a:solidFill>
                  <a:srgbClr val="000000"/>
                </a:solidFill>
                <a:latin typeface="Latin Modern Sans"/>
              </a:rPr>
              <a:t> With SVS retry, NDNSF completed 599/600, 598/600, and 539/600 requests at 1%, 3%, and 10% link loss.</a:t>
            </a:r>
          </a:p>
        </p:txBody>
      </p:sp>
      <p:sp>
        <p:nvSpPr>
          <p:cNvPr id="13" name="PDF_TEXT_GROUP_53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53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54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541"/>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7" name="PDF_TEXT_GROUP_542"/>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31/64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54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Historical v0.1: Provider Failures</a:t>
            </a:r>
          </a:p>
        </p:txBody>
      </p:sp>
      <p:sp>
        <p:nvSpPr>
          <p:cNvPr id="4" name="PDF_TEXT_GROUP_544"/>
          <p:cNvSpPr txBox="1"/>
          <p:nvPr/>
        </p:nvSpPr>
        <p:spPr>
          <a:xfrm>
            <a:off x="914808" y="1246970"/>
            <a:ext cx="27068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Historical experiment</a:t>
            </a:r>
          </a:p>
        </p:txBody>
      </p:sp>
      <p:sp>
        <p:nvSpPr>
          <p:cNvPr id="5" name="PDF_TEXT_GROUP_545"/>
          <p:cNvSpPr txBox="1"/>
          <p:nvPr/>
        </p:nvSpPr>
        <p:spPr>
          <a:xfrm>
            <a:off x="8108834" y="1246988"/>
            <a:ext cx="4793991"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Historical multi-provider topology</a:t>
            </a:r>
          </a:p>
        </p:txBody>
      </p:sp>
      <p:sp>
        <p:nvSpPr>
          <p:cNvPr id="6" name="PDF_TEXT_GROUP_546"/>
          <p:cNvSpPr txBox="1"/>
          <p:nvPr/>
        </p:nvSpPr>
        <p:spPr>
          <a:xfrm>
            <a:off x="1618972" y="1649391"/>
            <a:ext cx="4865467"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Memphis User; identical service Providers</a:t>
            </a:r>
            <a:r>
              <a:rPr sz="1863" b="0" i="0">
                <a:solidFill>
                  <a:srgbClr val="000000"/>
                </a:solidFill>
                <a:latin typeface="Latin Modern Sans"/>
              </a:rPr>
              <a:t> at UCLA, WUSTL, and UIUC.</a:t>
            </a:r>
          </a:p>
        </p:txBody>
      </p:sp>
      <p:sp>
        <p:nvSpPr>
          <p:cNvPr id="7" name="PDF_TEXT_GROUP_547"/>
          <p:cNvSpPr txBox="1"/>
          <p:nvPr/>
        </p:nvSpPr>
        <p:spPr>
          <a:xfrm>
            <a:off x="11160779" y="1725978"/>
            <a:ext cx="1079673" cy="65760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UCLA</a:t>
            </a:r>
            <a:br/>
            <a:r>
              <a:rPr sz="1863" b="0" i="0">
                <a:solidFill>
                  <a:srgbClr val="000000"/>
                </a:solidFill>
                <a:latin typeface="Latin Modern Sans"/>
              </a:rPr>
              <a:t>Provider</a:t>
            </a:r>
          </a:p>
        </p:txBody>
      </p:sp>
      <p:sp>
        <p:nvSpPr>
          <p:cNvPr id="8" name="PDF_TEXT_GROUP_548"/>
          <p:cNvSpPr txBox="1"/>
          <p:nvPr/>
        </p:nvSpPr>
        <p:spPr>
          <a:xfrm>
            <a:off x="1618972" y="2357675"/>
            <a:ext cx="4708872"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Every 10 s, each Provider independently</a:t>
            </a:r>
            <a:r>
              <a:rPr sz="1863" b="0" i="0">
                <a:solidFill>
                  <a:srgbClr val="000000"/>
                </a:solidFill>
                <a:latin typeface="Latin Modern Sans"/>
              </a:rPr>
              <a:t> starts a 10 s rejection period with</a:t>
            </a:r>
            <a:r>
              <a:rPr sz="1863" b="0" i="0">
                <a:solidFill>
                  <a:srgbClr val="000000"/>
                </a:solidFill>
                <a:latin typeface="Latin Modern Sans"/>
              </a:rPr>
              <a:t> probability 10/20/30%.</a:t>
            </a:r>
          </a:p>
        </p:txBody>
      </p:sp>
      <p:sp>
        <p:nvSpPr>
          <p:cNvPr id="9" name="PDF_TEXT_GROUP_549"/>
          <p:cNvSpPr txBox="1"/>
          <p:nvPr/>
        </p:nvSpPr>
        <p:spPr>
          <a:xfrm>
            <a:off x="8377528" y="2477112"/>
            <a:ext cx="115717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Memphis</a:t>
            </a:r>
            <a:br/>
            <a:r>
              <a:rPr sz="1863" b="0" i="0">
                <a:solidFill>
                  <a:srgbClr val="000000"/>
                </a:solidFill>
                <a:latin typeface="Latin Modern Sans"/>
              </a:rPr>
              <a:t>User</a:t>
            </a:r>
          </a:p>
        </p:txBody>
      </p:sp>
      <p:sp>
        <p:nvSpPr>
          <p:cNvPr id="10" name="PDF_TEXT_GROUP_550"/>
          <p:cNvSpPr txBox="1"/>
          <p:nvPr/>
        </p:nvSpPr>
        <p:spPr>
          <a:xfrm>
            <a:off x="11224787" y="2477112"/>
            <a:ext cx="1079673"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WUSTL</a:t>
            </a:r>
            <a:r>
              <a:rPr sz="1863" b="0" i="0">
                <a:solidFill>
                  <a:srgbClr val="000000"/>
                </a:solidFill>
                <a:latin typeface="Latin Modern Sans"/>
              </a:rPr>
              <a:t> Provider</a:t>
            </a:r>
          </a:p>
        </p:txBody>
      </p:sp>
      <p:sp>
        <p:nvSpPr>
          <p:cNvPr id="11" name="PDF_TEXT_GROUP_551"/>
          <p:cNvSpPr txBox="1"/>
          <p:nvPr/>
        </p:nvSpPr>
        <p:spPr>
          <a:xfrm>
            <a:off x="11160779" y="3228246"/>
            <a:ext cx="107967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UIUC</a:t>
            </a:r>
            <a:br/>
            <a:r>
              <a:rPr sz="1863" b="0" i="0">
                <a:solidFill>
                  <a:srgbClr val="000000"/>
                </a:solidFill>
                <a:latin typeface="Latin Modern Sans"/>
              </a:rPr>
              <a:t>Provider</a:t>
            </a:r>
          </a:p>
        </p:txBody>
      </p:sp>
      <p:sp>
        <p:nvSpPr>
          <p:cNvPr id="12" name="PDF_TEXT_GROUP_552"/>
          <p:cNvSpPr txBox="1"/>
          <p:nvPr/>
        </p:nvSpPr>
        <p:spPr>
          <a:xfrm>
            <a:off x="1618972" y="3371822"/>
            <a:ext cx="4600558"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Unavailable NDNSF Providers suppress</a:t>
            </a:r>
            <a:r>
              <a:rPr sz="1863" b="0" i="0">
                <a:solidFill>
                  <a:srgbClr val="000000"/>
                </a:solidFill>
                <a:latin typeface="Latin Modern Sans"/>
              </a:rPr>
              <a:t> ACKs; FirstResponding selects a valid</a:t>
            </a:r>
            <a:r>
              <a:rPr sz="1863" b="0" i="0">
                <a:solidFill>
                  <a:srgbClr val="000000"/>
                </a:solidFill>
                <a:latin typeface="Latin Modern Sans"/>
              </a:rPr>
              <a:t> candidate.</a:t>
            </a:r>
          </a:p>
        </p:txBody>
      </p:sp>
      <p:sp>
        <p:nvSpPr>
          <p:cNvPr id="13" name="PDF_TEXT_GROUP_553"/>
          <p:cNvSpPr txBox="1"/>
          <p:nvPr/>
        </p:nvSpPr>
        <p:spPr>
          <a:xfrm>
            <a:off x="8623200" y="3951898"/>
            <a:ext cx="3683195"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Request success rate (%)</a:t>
            </a:r>
          </a:p>
        </p:txBody>
      </p:sp>
      <p:sp>
        <p:nvSpPr>
          <p:cNvPr id="14" name="PDF_TEXT_GROUP_554"/>
          <p:cNvSpPr txBox="1"/>
          <p:nvPr/>
        </p:nvSpPr>
        <p:spPr>
          <a:xfrm>
            <a:off x="1618972" y="4385937"/>
            <a:ext cx="4748947"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NSC and gRPC use one fixed target and</a:t>
            </a:r>
            <a:r>
              <a:rPr sz="1863" b="0" i="0">
                <a:solidFill>
                  <a:srgbClr val="000000"/>
                </a:solidFill>
                <a:latin typeface="Latin Modern Sans"/>
              </a:rPr>
              <a:t> no failover.</a:t>
            </a:r>
          </a:p>
        </p:txBody>
      </p:sp>
      <p:sp>
        <p:nvSpPr>
          <p:cNvPr id="15" name="PDF_TEXT_GROUP_555"/>
          <p:cNvSpPr txBox="1"/>
          <p:nvPr/>
        </p:nvSpPr>
        <p:spPr>
          <a:xfrm>
            <a:off x="7947502" y="4661120"/>
            <a:ext cx="1127029"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System</a:t>
            </a:r>
          </a:p>
        </p:txBody>
      </p:sp>
      <p:sp>
        <p:nvSpPr>
          <p:cNvPr id="16" name="PDF_TEXT_GROUP_556"/>
          <p:cNvSpPr txBox="1"/>
          <p:nvPr/>
        </p:nvSpPr>
        <p:spPr>
          <a:xfrm>
            <a:off x="9614227" y="4661120"/>
            <a:ext cx="783921"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10%</a:t>
            </a:r>
          </a:p>
        </p:txBody>
      </p:sp>
      <p:sp>
        <p:nvSpPr>
          <p:cNvPr id="17" name="PDF_TEXT_GROUP_557"/>
          <p:cNvSpPr txBox="1"/>
          <p:nvPr/>
        </p:nvSpPr>
        <p:spPr>
          <a:xfrm>
            <a:off x="10853637" y="4661120"/>
            <a:ext cx="783921"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20%</a:t>
            </a:r>
          </a:p>
        </p:txBody>
      </p:sp>
      <p:sp>
        <p:nvSpPr>
          <p:cNvPr id="18" name="PDF_TEXT_GROUP_558"/>
          <p:cNvSpPr txBox="1"/>
          <p:nvPr/>
        </p:nvSpPr>
        <p:spPr>
          <a:xfrm>
            <a:off x="12093046" y="4661120"/>
            <a:ext cx="783921"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30%</a:t>
            </a:r>
          </a:p>
        </p:txBody>
      </p:sp>
      <p:sp>
        <p:nvSpPr>
          <p:cNvPr id="19" name="PDF_TEXT_GROUP_559"/>
          <p:cNvSpPr txBox="1"/>
          <p:nvPr/>
        </p:nvSpPr>
        <p:spPr>
          <a:xfrm>
            <a:off x="914808" y="5167480"/>
            <a:ext cx="274845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What this established</a:t>
            </a:r>
          </a:p>
        </p:txBody>
      </p:sp>
      <p:sp>
        <p:nvSpPr>
          <p:cNvPr id="20" name="PDF_TEXT_GROUP_560"/>
          <p:cNvSpPr txBox="1"/>
          <p:nvPr/>
        </p:nvSpPr>
        <p:spPr>
          <a:xfrm>
            <a:off x="7947502" y="5285837"/>
            <a:ext cx="733397"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NSC</a:t>
            </a:r>
          </a:p>
        </p:txBody>
      </p:sp>
      <p:sp>
        <p:nvSpPr>
          <p:cNvPr id="21" name="PDF_TEXT_GROUP_561"/>
          <p:cNvSpPr txBox="1"/>
          <p:nvPr/>
        </p:nvSpPr>
        <p:spPr>
          <a:xfrm>
            <a:off x="9552793" y="5285837"/>
            <a:ext cx="845268"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83.25</a:t>
            </a:r>
          </a:p>
        </p:txBody>
      </p:sp>
      <p:sp>
        <p:nvSpPr>
          <p:cNvPr id="22" name="PDF_TEXT_GROUP_562"/>
          <p:cNvSpPr txBox="1"/>
          <p:nvPr/>
        </p:nvSpPr>
        <p:spPr>
          <a:xfrm>
            <a:off x="10792203" y="5285837"/>
            <a:ext cx="845268"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66.58</a:t>
            </a:r>
          </a:p>
        </p:txBody>
      </p:sp>
      <p:sp>
        <p:nvSpPr>
          <p:cNvPr id="23" name="PDF_TEXT_GROUP_563"/>
          <p:cNvSpPr txBox="1"/>
          <p:nvPr/>
        </p:nvSpPr>
        <p:spPr>
          <a:xfrm>
            <a:off x="12031902" y="5285837"/>
            <a:ext cx="845268"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49.92</a:t>
            </a:r>
          </a:p>
        </p:txBody>
      </p:sp>
      <p:sp>
        <p:nvSpPr>
          <p:cNvPr id="24" name="PDF_TEXT_GROUP_564"/>
          <p:cNvSpPr txBox="1"/>
          <p:nvPr/>
        </p:nvSpPr>
        <p:spPr>
          <a:xfrm>
            <a:off x="1618972" y="5569933"/>
            <a:ext cx="5016403"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NDNSF remains above 96% success at the</a:t>
            </a:r>
            <a:r>
              <a:rPr sz="1863" b="0" i="0">
                <a:solidFill>
                  <a:srgbClr val="000000"/>
                </a:solidFill>
                <a:latin typeface="Latin Modern Sans"/>
              </a:rPr>
              <a:t> 30% setting.</a:t>
            </a:r>
          </a:p>
        </p:txBody>
      </p:sp>
      <p:sp>
        <p:nvSpPr>
          <p:cNvPr id="25" name="PDF_TEXT_GROUP_565"/>
          <p:cNvSpPr txBox="1"/>
          <p:nvPr/>
        </p:nvSpPr>
        <p:spPr>
          <a:xfrm>
            <a:off x="7947502" y="5728522"/>
            <a:ext cx="889484"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gRPC</a:t>
            </a:r>
          </a:p>
        </p:txBody>
      </p:sp>
      <p:sp>
        <p:nvSpPr>
          <p:cNvPr id="26" name="PDF_TEXT_GROUP_566"/>
          <p:cNvSpPr txBox="1"/>
          <p:nvPr/>
        </p:nvSpPr>
        <p:spPr>
          <a:xfrm>
            <a:off x="9552909" y="5728522"/>
            <a:ext cx="845268"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83.35</a:t>
            </a:r>
          </a:p>
        </p:txBody>
      </p:sp>
      <p:sp>
        <p:nvSpPr>
          <p:cNvPr id="27" name="PDF_TEXT_GROUP_567"/>
          <p:cNvSpPr txBox="1"/>
          <p:nvPr/>
        </p:nvSpPr>
        <p:spPr>
          <a:xfrm>
            <a:off x="10792319" y="5728522"/>
            <a:ext cx="845268"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66.69</a:t>
            </a:r>
          </a:p>
        </p:txBody>
      </p:sp>
      <p:sp>
        <p:nvSpPr>
          <p:cNvPr id="28" name="PDF_TEXT_GROUP_568"/>
          <p:cNvSpPr txBox="1"/>
          <p:nvPr/>
        </p:nvSpPr>
        <p:spPr>
          <a:xfrm>
            <a:off x="12031728" y="5728522"/>
            <a:ext cx="845268"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65.36</a:t>
            </a:r>
          </a:p>
        </p:txBody>
      </p:sp>
      <p:sp>
        <p:nvSpPr>
          <p:cNvPr id="29" name="PDF_TEXT_GROUP_569"/>
          <p:cNvSpPr txBox="1"/>
          <p:nvPr/>
        </p:nvSpPr>
        <p:spPr>
          <a:xfrm>
            <a:off x="7947502" y="6171176"/>
            <a:ext cx="5142922"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NDNSF</a:t>
            </a:r>
            <a:r>
              <a:rPr sz="2202" b="1" i="0">
                <a:solidFill>
                  <a:srgbClr val="000000"/>
                </a:solidFill>
                <a:latin typeface="Latin Modern Sans"/>
              </a:rPr>
              <a:t> 99.82</a:t>
            </a:r>
            <a:r>
              <a:rPr sz="2202" b="1" i="0">
                <a:solidFill>
                  <a:srgbClr val="000000"/>
                </a:solidFill>
                <a:latin typeface="Latin Modern Sans"/>
              </a:rPr>
              <a:t> 99.46</a:t>
            </a:r>
            <a:r>
              <a:rPr sz="2202" b="1" i="0">
                <a:solidFill>
                  <a:srgbClr val="000000"/>
                </a:solidFill>
                <a:latin typeface="Latin Modern Sans"/>
              </a:rPr>
              <a:t> 96.70</a:t>
            </a:r>
          </a:p>
        </p:txBody>
      </p:sp>
      <p:sp>
        <p:nvSpPr>
          <p:cNvPr id="30" name="PDF_TEXT_GROUP_570"/>
          <p:cNvSpPr txBox="1"/>
          <p:nvPr/>
        </p:nvSpPr>
        <p:spPr>
          <a:xfrm>
            <a:off x="1618972" y="6278218"/>
            <a:ext cx="4668798"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Motivation only; not a matched failover</a:t>
            </a:r>
            <a:r>
              <a:rPr sz="1863" b="0" i="0">
                <a:solidFill>
                  <a:srgbClr val="000000"/>
                </a:solidFill>
                <a:latin typeface="Latin Modern Sans"/>
              </a:rPr>
              <a:t> comparison.</a:t>
            </a:r>
          </a:p>
        </p:txBody>
      </p:sp>
      <p:sp>
        <p:nvSpPr>
          <p:cNvPr id="31" name="PDF_TEXT_GROUP_571"/>
          <p:cNvSpPr txBox="1"/>
          <p:nvPr/>
        </p:nvSpPr>
        <p:spPr>
          <a:xfrm>
            <a:off x="1092471" y="7269415"/>
            <a:ext cx="12754656"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Evidence boundary:</a:t>
            </a:r>
            <a:r>
              <a:rPr sz="1355" b="0" i="0">
                <a:solidFill>
                  <a:srgbClr val="000000"/>
                </a:solidFill>
                <a:latin typeface="Latin Modern Sans"/>
              </a:rPr>
              <a:t> historical configuration-level result; the baselines are not the four-target sequential clients evaluated on Slides 32–33.</a:t>
            </a:r>
          </a:p>
        </p:txBody>
      </p:sp>
      <p:sp>
        <p:nvSpPr>
          <p:cNvPr id="32" name="PDF_TEXT_GROUP_57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33" name="PDF_TEXT_GROUP_57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34" name="PDF_TEXT_GROUP_57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35" name="PDF_TEXT_GROUP_575"/>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36" name="PDF_TEXT_GROUP_576"/>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32/64</a:t>
            </a:r>
          </a:p>
        </p:txBody>
      </p:sp>
      <p:sp>
        <p:nvSpPr>
          <p:cNvPr id="37" name="PDF_BULLET_SPAN_882"/>
          <p:cNvSpPr/>
          <p:nvPr/>
        </p:nvSpPr>
        <p:spPr>
          <a:xfrm rot="5400000">
            <a:off x="1270872" y="171206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DF_BULLET_SPAN_885"/>
          <p:cNvSpPr/>
          <p:nvPr/>
        </p:nvSpPr>
        <p:spPr>
          <a:xfrm rot="5400000">
            <a:off x="1270872" y="2420353"/>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DF_BULLET_SPAN_889"/>
          <p:cNvSpPr/>
          <p:nvPr/>
        </p:nvSpPr>
        <p:spPr>
          <a:xfrm rot="5400000">
            <a:off x="1270872" y="343450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DF_BULLET_SPAN_893"/>
          <p:cNvSpPr/>
          <p:nvPr/>
        </p:nvSpPr>
        <p:spPr>
          <a:xfrm rot="5400000">
            <a:off x="1270872" y="4448615"/>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DF_BULLET_SPAN_897"/>
          <p:cNvSpPr/>
          <p:nvPr/>
        </p:nvSpPr>
        <p:spPr>
          <a:xfrm rot="5400000">
            <a:off x="1270872" y="5632611"/>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DF_BULLET_SPAN_900"/>
          <p:cNvSpPr/>
          <p:nvPr/>
        </p:nvSpPr>
        <p:spPr>
          <a:xfrm rot="5400000">
            <a:off x="1270872" y="6340896"/>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ppt-background-033.png"/>
          <p:cNvPicPr>
            <a:picLocks noChangeAspect="1"/>
          </p:cNvPicPr>
          <p:nvPr/>
        </p:nvPicPr>
        <p:blipFill>
          <a:blip r:embed="rId2"/>
          <a:stretch>
            <a:fillRect/>
          </a:stretch>
        </p:blipFill>
        <p:spPr>
          <a:xfrm>
            <a:off x="0" y="0"/>
            <a:ext cx="14630400" cy="8229600"/>
          </a:xfrm>
          <a:prstGeom prst="rect">
            <a:avLst/>
          </a:prstGeom>
        </p:spPr>
      </p:pic>
      <p:pic>
        <p:nvPicPr>
          <p:cNvPr id="3" name="VISUAL_REGION_MOBILITY_TOPOLOGY" descr="visual-region-033-visual_region_mobility_topology.png"/>
          <p:cNvPicPr>
            <a:picLocks noChangeAspect="1"/>
          </p:cNvPicPr>
          <p:nvPr/>
        </p:nvPicPr>
        <p:blipFill>
          <a:blip r:embed="rId3"/>
          <a:stretch>
            <a:fillRect/>
          </a:stretch>
        </p:blipFill>
        <p:spPr>
          <a:xfrm>
            <a:off x="2059093" y="1873530"/>
            <a:ext cx="3522133" cy="3747061"/>
          </a:xfrm>
          <a:prstGeom prst="rect">
            <a:avLst/>
          </a:prstGeom>
        </p:spPr>
      </p:pic>
      <p:sp>
        <p:nvSpPr>
          <p:cNvPr id="4" name="PDF_TEXT_GROUP_57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Four-Provider Mobility: Experiment Design</a:t>
            </a:r>
          </a:p>
        </p:txBody>
      </p:sp>
      <p:sp>
        <p:nvSpPr>
          <p:cNvPr id="5" name="PDF_TEXT_GROUP_578"/>
          <p:cNvSpPr txBox="1"/>
          <p:nvPr/>
        </p:nvSpPr>
        <p:spPr>
          <a:xfrm>
            <a:off x="914808" y="1313862"/>
            <a:ext cx="4172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One-AP field and evaluated radii</a:t>
            </a:r>
          </a:p>
        </p:txBody>
      </p:sp>
      <p:sp>
        <p:nvSpPr>
          <p:cNvPr id="6" name="PDF_TEXT_GROUP_579"/>
          <p:cNvSpPr txBox="1"/>
          <p:nvPr/>
        </p:nvSpPr>
        <p:spPr>
          <a:xfrm>
            <a:off x="6806363" y="1313862"/>
            <a:ext cx="386889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Matched systems and controls</a:t>
            </a:r>
          </a:p>
        </p:txBody>
      </p:sp>
      <p:sp>
        <p:nvSpPr>
          <p:cNvPr id="7" name="PDF_TEXT_GROUP_580"/>
          <p:cNvSpPr txBox="1"/>
          <p:nvPr/>
        </p:nvSpPr>
        <p:spPr>
          <a:xfrm>
            <a:off x="7085040" y="1744365"/>
            <a:ext cx="99462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System</a:t>
            </a:r>
          </a:p>
        </p:txBody>
      </p:sp>
      <p:sp>
        <p:nvSpPr>
          <p:cNvPr id="8" name="PDF_TEXT_GROUP_581"/>
          <p:cNvSpPr txBox="1"/>
          <p:nvPr/>
        </p:nvSpPr>
        <p:spPr>
          <a:xfrm>
            <a:off x="9006925" y="1744365"/>
            <a:ext cx="19150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Client behavior</a:t>
            </a:r>
          </a:p>
        </p:txBody>
      </p:sp>
      <p:sp>
        <p:nvSpPr>
          <p:cNvPr id="9" name="PDF_TEXT_GROUP_582"/>
          <p:cNvSpPr txBox="1"/>
          <p:nvPr/>
        </p:nvSpPr>
        <p:spPr>
          <a:xfrm>
            <a:off x="7085040" y="2238335"/>
            <a:ext cx="106945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NDNSF</a:t>
            </a:r>
          </a:p>
        </p:txBody>
      </p:sp>
      <p:sp>
        <p:nvSpPr>
          <p:cNvPr id="10" name="PDF_TEXT_GROUP_583"/>
          <p:cNvSpPr txBox="1"/>
          <p:nvPr/>
        </p:nvSpPr>
        <p:spPr>
          <a:xfrm>
            <a:off x="9006926" y="2238335"/>
            <a:ext cx="4043577"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runtime ACKs; FirstResponding +</a:t>
            </a:r>
            <a:r>
              <a:rPr sz="1863" b="0" i="0">
                <a:solidFill>
                  <a:srgbClr val="000000"/>
                </a:solidFill>
                <a:latin typeface="Latin Modern Sans"/>
              </a:rPr>
              <a:t> bounded reselection</a:t>
            </a:r>
          </a:p>
        </p:txBody>
      </p:sp>
      <p:sp>
        <p:nvSpPr>
          <p:cNvPr id="11" name="PDF_TEXT_GROUP_584"/>
          <p:cNvSpPr txBox="1"/>
          <p:nvPr/>
        </p:nvSpPr>
        <p:spPr>
          <a:xfrm>
            <a:off x="7085040" y="2856169"/>
            <a:ext cx="164114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gRPC-SEQ-4</a:t>
            </a:r>
          </a:p>
        </p:txBody>
      </p:sp>
      <p:sp>
        <p:nvSpPr>
          <p:cNvPr id="12" name="PDF_TEXT_GROUP_585"/>
          <p:cNvSpPr txBox="1"/>
          <p:nvPr/>
        </p:nvSpPr>
        <p:spPr>
          <a:xfrm>
            <a:off x="9007054" y="2856169"/>
            <a:ext cx="47411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four registered IPs; sequential 1 s retry</a:t>
            </a:r>
          </a:p>
        </p:txBody>
      </p:sp>
      <p:sp>
        <p:nvSpPr>
          <p:cNvPr id="13" name="PDF_TEXT_GROUP_586"/>
          <p:cNvSpPr txBox="1"/>
          <p:nvPr/>
        </p:nvSpPr>
        <p:spPr>
          <a:xfrm>
            <a:off x="7085040" y="3168140"/>
            <a:ext cx="88911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NSC-4</a:t>
            </a:r>
          </a:p>
        </p:txBody>
      </p:sp>
      <p:sp>
        <p:nvSpPr>
          <p:cNvPr id="14" name="PDF_TEXT_GROUP_587"/>
          <p:cNvSpPr txBox="1"/>
          <p:nvPr/>
        </p:nvSpPr>
        <p:spPr>
          <a:xfrm>
            <a:off x="9006874" y="3168140"/>
            <a:ext cx="4385986"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four registered prefixes; sequential 1 s</a:t>
            </a:r>
            <a:r>
              <a:rPr sz="1863" b="0" i="0">
                <a:solidFill>
                  <a:srgbClr val="000000"/>
                </a:solidFill>
                <a:latin typeface="Latin Modern Sans"/>
              </a:rPr>
              <a:t> retry</a:t>
            </a:r>
          </a:p>
        </p:txBody>
      </p:sp>
      <p:sp>
        <p:nvSpPr>
          <p:cNvPr id="15" name="PDF_TEXT_GROUP_588"/>
          <p:cNvSpPr txBox="1"/>
          <p:nvPr/>
        </p:nvSpPr>
        <p:spPr>
          <a:xfrm>
            <a:off x="6806363" y="3960928"/>
            <a:ext cx="358743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Two matched analysis layers</a:t>
            </a:r>
          </a:p>
        </p:txBody>
      </p:sp>
      <p:sp>
        <p:nvSpPr>
          <p:cNvPr id="16" name="PDF_TEXT_GROUP_589"/>
          <p:cNvSpPr txBox="1"/>
          <p:nvPr/>
        </p:nvSpPr>
        <p:spPr>
          <a:xfrm>
            <a:off x="7510526" y="4363349"/>
            <a:ext cx="57532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All requests:</a:t>
            </a:r>
            <a:r>
              <a:rPr sz="1863" b="0" i="0">
                <a:solidFill>
                  <a:srgbClr val="000000"/>
                </a:solidFill>
                <a:latin typeface="Latin Modern Sans"/>
              </a:rPr>
              <a:t> 50/100/150 m; coverage control.</a:t>
            </a:r>
          </a:p>
        </p:txBody>
      </p:sp>
      <p:sp>
        <p:nvSpPr>
          <p:cNvPr id="17" name="PDF_TEXT_GROUP_590"/>
          <p:cNvSpPr txBox="1"/>
          <p:nvPr/>
        </p:nvSpPr>
        <p:spPr>
          <a:xfrm>
            <a:off x="7510526" y="4669212"/>
            <a:ext cx="5300655"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Independent switching test:</a:t>
            </a:r>
            <a:r>
              <a:rPr sz="1863" b="0" i="0">
                <a:solidFill>
                  <a:srgbClr val="000000"/>
                </a:solidFill>
                <a:latin typeface="Latin Modern Sans"/>
              </a:rPr>
              <a:t> 100 m; actual</a:t>
            </a:r>
            <a:r>
              <a:rPr sz="1863" b="0" i="0">
                <a:solidFill>
                  <a:srgbClr val="000000"/>
                </a:solidFill>
                <a:latin typeface="Latin Modern Sans"/>
              </a:rPr>
              <a:t> publication time and applied-gate agreement.</a:t>
            </a:r>
          </a:p>
        </p:txBody>
      </p:sp>
      <p:sp>
        <p:nvSpPr>
          <p:cNvPr id="18" name="PDF_TEXT_GROUP_591"/>
          <p:cNvSpPr txBox="1"/>
          <p:nvPr/>
        </p:nvSpPr>
        <p:spPr>
          <a:xfrm>
            <a:off x="7510526" y="5280906"/>
            <a:ext cx="6324617"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5 RPS, 60 s; 1 s attempt/ACK; 5 s deadline; admission</a:t>
            </a:r>
            <a:r>
              <a:rPr sz="1863" b="0" i="0">
                <a:solidFill>
                  <a:srgbClr val="000000"/>
                </a:solidFill>
                <a:latin typeface="Latin Modern Sans"/>
              </a:rPr>
              <a:t> and health routing disabled.</a:t>
            </a:r>
          </a:p>
        </p:txBody>
      </p:sp>
      <p:sp>
        <p:nvSpPr>
          <p:cNvPr id="19" name="PDF_TEXT_GROUP_592"/>
          <p:cNvSpPr txBox="1"/>
          <p:nvPr/>
        </p:nvSpPr>
        <p:spPr>
          <a:xfrm>
            <a:off x="7510526" y="5892600"/>
            <a:ext cx="5702865"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Mono"/>
              </a:rPr>
              <a:t>block_network=true</a:t>
            </a:r>
            <a:r>
              <a:rPr sz="1863" b="0" i="0">
                <a:solidFill>
                  <a:srgbClr val="000000"/>
                </a:solidFill>
                <a:latin typeface="Latin Modern Sans"/>
              </a:rPr>
              <a:t>; same trace; 4.05 s request</a:t>
            </a:r>
            <a:r>
              <a:rPr sz="1863" b="0" i="0">
                <a:solidFill>
                  <a:srgbClr val="000000"/>
                </a:solidFill>
                <a:latin typeface="Latin Modern Sans"/>
              </a:rPr>
              <a:t> phase.</a:t>
            </a:r>
          </a:p>
        </p:txBody>
      </p:sp>
      <p:sp>
        <p:nvSpPr>
          <p:cNvPr id="20" name="PDF_TEXT_GROUP_593"/>
          <p:cNvSpPr txBox="1"/>
          <p:nvPr/>
        </p:nvSpPr>
        <p:spPr>
          <a:xfrm>
            <a:off x="1092471" y="6361754"/>
            <a:ext cx="4471002" cy="49721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400</a:t>
            </a:r>
            <a:r>
              <a:rPr sz="1355" b="0" i="0">
                <a:solidFill>
                  <a:srgbClr val="000000"/>
                </a:solidFill>
                <a:latin typeface="Cambria Math"/>
              </a:rPr>
              <a:t> ×</a:t>
            </a:r>
            <a:r>
              <a:rPr sz="1355" b="0" i="0">
                <a:solidFill>
                  <a:srgbClr val="000000"/>
                </a:solidFill>
                <a:latin typeface="Latin Modern Sans"/>
              </a:rPr>
              <a:t> 400 m field; AP at (200,200); 2 m/s random</a:t>
            </a:r>
            <a:r>
              <a:rPr sz="1355" b="0" i="0">
                <a:solidFill>
                  <a:srgbClr val="000000"/>
                </a:solidFill>
                <a:latin typeface="Latin Modern Sans"/>
              </a:rPr>
              <a:t> waypoint; 300 s simulated burn-in.</a:t>
            </a:r>
          </a:p>
        </p:txBody>
      </p:sp>
      <p:sp>
        <p:nvSpPr>
          <p:cNvPr id="21" name="PDF_TEXT_GROUP_594"/>
          <p:cNvSpPr txBox="1"/>
          <p:nvPr/>
        </p:nvSpPr>
        <p:spPr>
          <a:xfrm>
            <a:off x="6984025" y="6943742"/>
            <a:ext cx="6553677" cy="48640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NDNSF does not require a pre-registered Provider endpoint list; gRPC and</a:t>
            </a:r>
            <a:r>
              <a:rPr sz="1355" b="0" i="0">
                <a:solidFill>
                  <a:srgbClr val="000000"/>
                </a:solidFill>
                <a:latin typeface="Latin Modern Sans"/>
              </a:rPr>
              <a:t> NSC receive the same four targets before each run.</a:t>
            </a:r>
          </a:p>
        </p:txBody>
      </p:sp>
      <p:sp>
        <p:nvSpPr>
          <p:cNvPr id="22" name="PDF_TEXT_GROUP_59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59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59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59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6" name="PDF_TEXT_GROUP_599"/>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33/64</a:t>
            </a:r>
          </a:p>
        </p:txBody>
      </p:sp>
      <p:sp>
        <p:nvSpPr>
          <p:cNvPr id="27" name="PDF_BULLET_SPAN_954"/>
          <p:cNvSpPr/>
          <p:nvPr/>
        </p:nvSpPr>
        <p:spPr>
          <a:xfrm rot="5400000">
            <a:off x="7162426" y="4426027"/>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DF_BULLET_SPAN_957"/>
          <p:cNvSpPr/>
          <p:nvPr/>
        </p:nvSpPr>
        <p:spPr>
          <a:xfrm rot="5400000">
            <a:off x="7162426" y="473189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DF_BULLET_SPAN_961"/>
          <p:cNvSpPr/>
          <p:nvPr/>
        </p:nvSpPr>
        <p:spPr>
          <a:xfrm rot="5400000">
            <a:off x="7162426" y="5343584"/>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DF_BULLET_SPAN_964"/>
          <p:cNvSpPr/>
          <p:nvPr/>
        </p:nvSpPr>
        <p:spPr>
          <a:xfrm rot="5400000">
            <a:off x="7162426" y="595527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ppt-background-034.png"/>
          <p:cNvPicPr>
            <a:picLocks noChangeAspect="1"/>
          </p:cNvPicPr>
          <p:nvPr/>
        </p:nvPicPr>
        <p:blipFill>
          <a:blip r:embed="rId2"/>
          <a:stretch>
            <a:fillRect/>
          </a:stretch>
        </p:blipFill>
        <p:spPr>
          <a:xfrm>
            <a:off x="0" y="0"/>
            <a:ext cx="14630400" cy="8229600"/>
          </a:xfrm>
          <a:prstGeom prst="rect">
            <a:avLst/>
          </a:prstGeom>
        </p:spPr>
      </p:pic>
      <p:pic>
        <p:nvPicPr>
          <p:cNvPr id="3" name="VISUAL_REGION_MOBILITY_RESULTS" descr="visual-region-034-visual_region_mobility_results.png"/>
          <p:cNvPicPr>
            <a:picLocks noChangeAspect="1"/>
          </p:cNvPicPr>
          <p:nvPr/>
        </p:nvPicPr>
        <p:blipFill>
          <a:blip r:embed="rId3"/>
          <a:stretch>
            <a:fillRect/>
          </a:stretch>
        </p:blipFill>
        <p:spPr>
          <a:xfrm>
            <a:off x="2376472" y="1416760"/>
            <a:ext cx="10744441" cy="4343184"/>
          </a:xfrm>
          <a:prstGeom prst="rect">
            <a:avLst/>
          </a:prstGeom>
        </p:spPr>
      </p:pic>
      <p:sp>
        <p:nvSpPr>
          <p:cNvPr id="4" name="PDF_TEXT_GROUP_60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Results: Coverage and Switching</a:t>
            </a:r>
          </a:p>
        </p:txBody>
      </p:sp>
      <p:sp>
        <p:nvSpPr>
          <p:cNvPr id="5" name="PDF_TEXT_GROUP_601"/>
          <p:cNvSpPr txBox="1"/>
          <p:nvPr/>
        </p:nvSpPr>
        <p:spPr>
          <a:xfrm>
            <a:off x="7752444" y="6054751"/>
            <a:ext cx="6177681"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When switching is needed:</a:t>
            </a:r>
            <a:r>
              <a:rPr sz="1355" b="0" i="0">
                <a:solidFill>
                  <a:srgbClr val="000000"/>
                </a:solidFill>
                <a:latin typeface="Latin Modern Sans"/>
              </a:rPr>
              <a:t> Among 1,312 matched requests where</a:t>
            </a:r>
          </a:p>
        </p:txBody>
      </p:sp>
      <p:sp>
        <p:nvSpPr>
          <p:cNvPr id="6" name="PDF_TEXT_GROUP_602"/>
          <p:cNvSpPr txBox="1"/>
          <p:nvPr/>
        </p:nvSpPr>
        <p:spPr>
          <a:xfrm>
            <a:off x="1092471" y="6065512"/>
            <a:ext cx="6093524"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All requests:</a:t>
            </a:r>
            <a:r>
              <a:rPr sz="1355" b="0" i="0">
                <a:solidFill>
                  <a:srgbClr val="000000"/>
                </a:solidFill>
                <a:latin typeface="Latin Modern Sans"/>
              </a:rPr>
              <a:t> At 50 m, all systems succeed on only about 54–55%</a:t>
            </a:r>
          </a:p>
        </p:txBody>
      </p:sp>
      <p:sp>
        <p:nvSpPr>
          <p:cNvPr id="7" name="PDF_TEXT_GROUP_603"/>
          <p:cNvSpPr txBox="1"/>
          <p:nvPr/>
        </p:nvSpPr>
        <p:spPr>
          <a:xfrm>
            <a:off x="7752444" y="6280118"/>
            <a:ext cx="5637998"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the initial Provider was unavailable but another Provider was</a:t>
            </a:r>
          </a:p>
        </p:txBody>
      </p:sp>
      <p:sp>
        <p:nvSpPr>
          <p:cNvPr id="8" name="PDF_TEXT_GROUP_604"/>
          <p:cNvSpPr txBox="1"/>
          <p:nvPr/>
        </p:nvSpPr>
        <p:spPr>
          <a:xfrm>
            <a:off x="1092471" y="6290846"/>
            <a:ext cx="6056944"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of requests. At 100 m, success is about 98%; at 150 m, it reaches</a:t>
            </a:r>
          </a:p>
        </p:txBody>
      </p:sp>
      <p:sp>
        <p:nvSpPr>
          <p:cNvPr id="9" name="PDF_TEXT_GROUP_605"/>
          <p:cNvSpPr txBox="1"/>
          <p:nvPr/>
        </p:nvSpPr>
        <p:spPr>
          <a:xfrm>
            <a:off x="7752444" y="6505484"/>
            <a:ext cx="5805766" cy="116250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reachable, NDNSF’s tail latency was 597 ms lower than gRPC and</a:t>
            </a:r>
            <a:r>
              <a:rPr sz="1355" b="0" i="0">
                <a:solidFill>
                  <a:srgbClr val="000000"/>
                </a:solidFill>
                <a:latin typeface="Latin Modern Sans"/>
              </a:rPr>
              <a:t> 2.62 s lower than NSC. The intervals are shown in the chart.</a:t>
            </a:r>
            <a:r>
              <a:rPr sz="1355" b="0" i="0">
                <a:solidFill>
                  <a:srgbClr val="000000"/>
                </a:solidFill>
                <a:latin typeface="Latin Modern Sans"/>
              </a:rPr>
              <a:t> Success rates were 99.92/98.86/98.78% for NDNSF/gRPC/NSC;</a:t>
            </a:r>
            <a:r>
              <a:rPr sz="1355" b="0" i="0">
                <a:solidFill>
                  <a:srgbClr val="000000"/>
                </a:solidFill>
                <a:latin typeface="Latin Modern Sans"/>
              </a:rPr>
              <a:t> no overall success-rate advantage is claimed: actual Provider</a:t>
            </a:r>
            <a:r>
              <a:rPr sz="1355" b="0" i="0">
                <a:solidFill>
                  <a:srgbClr val="000000"/>
                </a:solidFill>
                <a:latin typeface="Latin Modern Sans"/>
              </a:rPr>
              <a:t> coverage at publication time dominates success.</a:t>
            </a:r>
          </a:p>
        </p:txBody>
      </p:sp>
      <p:sp>
        <p:nvSpPr>
          <p:cNvPr id="10" name="PDF_TEXT_GROUP_606"/>
          <p:cNvSpPr txBox="1"/>
          <p:nvPr/>
        </p:nvSpPr>
        <p:spPr>
          <a:xfrm>
            <a:off x="1092471" y="6516212"/>
            <a:ext cx="5505861" cy="48640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100%. The main driver is which Providers are actually covered</a:t>
            </a:r>
            <a:r>
              <a:rPr sz="1355" b="0" i="0">
                <a:solidFill>
                  <a:srgbClr val="000000"/>
                </a:solidFill>
                <a:latin typeface="Latin Modern Sans"/>
              </a:rPr>
              <a:t> when a request is published.</a:t>
            </a:r>
          </a:p>
        </p:txBody>
      </p:sp>
      <p:sp>
        <p:nvSpPr>
          <p:cNvPr id="11" name="PDF_TEXT_GROUP_60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60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60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610"/>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5" name="PDF_TEXT_GROUP_611"/>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34/64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61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 v0.1 Evaluation: Availability</a:t>
            </a:r>
          </a:p>
        </p:txBody>
      </p:sp>
      <p:sp>
        <p:nvSpPr>
          <p:cNvPr id="4" name="PDF_TEXT_GROUP_613"/>
          <p:cNvSpPr txBox="1"/>
          <p:nvPr/>
        </p:nvSpPr>
        <p:spPr>
          <a:xfrm>
            <a:off x="914808" y="1157618"/>
            <a:ext cx="253105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Experiment settings</a:t>
            </a:r>
          </a:p>
        </p:txBody>
      </p:sp>
      <p:sp>
        <p:nvSpPr>
          <p:cNvPr id="5" name="PDF_TEXT_GROUP_614"/>
          <p:cNvSpPr txBox="1"/>
          <p:nvPr/>
        </p:nvSpPr>
        <p:spPr>
          <a:xfrm>
            <a:off x="8587022" y="1157618"/>
            <a:ext cx="380122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Provider availability over time</a:t>
            </a:r>
          </a:p>
        </p:txBody>
      </p:sp>
      <p:sp>
        <p:nvSpPr>
          <p:cNvPr id="6" name="PDF_TEXT_GROUP_615"/>
          <p:cNvSpPr txBox="1"/>
          <p:nvPr/>
        </p:nvSpPr>
        <p:spPr>
          <a:xfrm>
            <a:off x="1618972" y="1560072"/>
            <a:ext cx="5130119"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Real-machine test: Odroid User with laptop</a:t>
            </a:r>
            <a:r>
              <a:rPr sz="1863" b="0" i="0">
                <a:solidFill>
                  <a:srgbClr val="000000"/>
                </a:solidFill>
                <a:latin typeface="Latin Modern Sans"/>
              </a:rPr>
              <a:t> and PC Providers.</a:t>
            </a:r>
          </a:p>
        </p:txBody>
      </p:sp>
      <p:sp>
        <p:nvSpPr>
          <p:cNvPr id="7" name="PDF_TEXT_GROUP_616"/>
          <p:cNvSpPr txBox="1"/>
          <p:nvPr/>
        </p:nvSpPr>
        <p:spPr>
          <a:xfrm>
            <a:off x="9171001" y="1597557"/>
            <a:ext cx="46126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75% covered by at least one Provider</a:t>
            </a:r>
          </a:p>
        </p:txBody>
      </p:sp>
      <p:sp>
        <p:nvSpPr>
          <p:cNvPr id="8" name="PDF_TEXT_GROUP_617"/>
          <p:cNvSpPr txBox="1"/>
          <p:nvPr/>
        </p:nvSpPr>
        <p:spPr>
          <a:xfrm>
            <a:off x="7791268" y="2212838"/>
            <a:ext cx="49120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PC</a:t>
            </a:r>
          </a:p>
        </p:txBody>
      </p:sp>
      <p:sp>
        <p:nvSpPr>
          <p:cNvPr id="9" name="PDF_TEXT_GROUP_618"/>
          <p:cNvSpPr txBox="1"/>
          <p:nvPr/>
        </p:nvSpPr>
        <p:spPr>
          <a:xfrm>
            <a:off x="1618972" y="2268323"/>
            <a:ext cx="503619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laptop is unavailable during the first</a:t>
            </a:r>
          </a:p>
        </p:txBody>
      </p:sp>
      <p:sp>
        <p:nvSpPr>
          <p:cNvPr id="10" name="PDF_TEXT_GROUP_619"/>
          <p:cNvSpPr txBox="1"/>
          <p:nvPr/>
        </p:nvSpPr>
        <p:spPr>
          <a:xfrm>
            <a:off x="9700751" y="2344710"/>
            <a:ext cx="832772" cy="48640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1" i="0">
                <a:solidFill>
                  <a:srgbClr val="874D20"/>
                </a:solidFill>
                <a:latin typeface="Latin Modern Sans"/>
              </a:rPr>
              <a:t>no</a:t>
            </a:r>
            <a:br/>
            <a:r>
              <a:rPr sz="1355" b="1" i="0">
                <a:solidFill>
                  <a:srgbClr val="874D20"/>
                </a:solidFill>
                <a:latin typeface="Latin Modern Sans"/>
              </a:rPr>
              <a:t>provider</a:t>
            </a:r>
          </a:p>
        </p:txBody>
      </p:sp>
      <p:sp>
        <p:nvSpPr>
          <p:cNvPr id="11" name="PDF_TEXT_GROUP_620"/>
          <p:cNvSpPr txBox="1"/>
          <p:nvPr/>
        </p:nvSpPr>
        <p:spPr>
          <a:xfrm>
            <a:off x="1618972" y="2574187"/>
            <a:ext cx="4392056"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half; the PC is unavailable during the</a:t>
            </a:r>
            <a:r>
              <a:rPr sz="1863" b="0" i="0">
                <a:solidFill>
                  <a:srgbClr val="000000"/>
                </a:solidFill>
                <a:latin typeface="Latin Modern Sans"/>
              </a:rPr>
              <a:t> middle half.</a:t>
            </a:r>
          </a:p>
        </p:txBody>
      </p:sp>
      <p:sp>
        <p:nvSpPr>
          <p:cNvPr id="12" name="PDF_TEXT_GROUP_621"/>
          <p:cNvSpPr txBox="1"/>
          <p:nvPr/>
        </p:nvSpPr>
        <p:spPr>
          <a:xfrm>
            <a:off x="7342933" y="2627474"/>
            <a:ext cx="93955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Laptop</a:t>
            </a:r>
          </a:p>
        </p:txBody>
      </p:sp>
      <p:sp>
        <p:nvSpPr>
          <p:cNvPr id="13" name="PDF_TEXT_GROUP_622"/>
          <p:cNvSpPr txBox="1"/>
          <p:nvPr/>
        </p:nvSpPr>
        <p:spPr>
          <a:xfrm>
            <a:off x="1618972" y="3282471"/>
            <a:ext cx="4926274"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Their unavailable windows overlap for one</a:t>
            </a:r>
            <a:r>
              <a:rPr sz="1863" b="0" i="0">
                <a:solidFill>
                  <a:srgbClr val="000000"/>
                </a:solidFill>
                <a:latin typeface="Latin Modern Sans"/>
              </a:rPr>
              <a:t> quarter of the run.</a:t>
            </a:r>
          </a:p>
        </p:txBody>
      </p:sp>
      <p:sp>
        <p:nvSpPr>
          <p:cNvPr id="14" name="PDF_TEXT_GROUP_623"/>
          <p:cNvSpPr txBox="1"/>
          <p:nvPr/>
        </p:nvSpPr>
        <p:spPr>
          <a:xfrm>
            <a:off x="8150950" y="3346358"/>
            <a:ext cx="5064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0%</a:t>
            </a:r>
          </a:p>
        </p:txBody>
      </p:sp>
      <p:sp>
        <p:nvSpPr>
          <p:cNvPr id="15" name="PDF_TEXT_GROUP_624"/>
          <p:cNvSpPr txBox="1"/>
          <p:nvPr/>
        </p:nvSpPr>
        <p:spPr>
          <a:xfrm>
            <a:off x="9271919" y="3346358"/>
            <a:ext cx="64306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25%</a:t>
            </a:r>
          </a:p>
        </p:txBody>
      </p:sp>
      <p:sp>
        <p:nvSpPr>
          <p:cNvPr id="16" name="PDF_TEXT_GROUP_625"/>
          <p:cNvSpPr txBox="1"/>
          <p:nvPr/>
        </p:nvSpPr>
        <p:spPr>
          <a:xfrm>
            <a:off x="10461241" y="3346358"/>
            <a:ext cx="64306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50%</a:t>
            </a:r>
          </a:p>
        </p:txBody>
      </p:sp>
      <p:sp>
        <p:nvSpPr>
          <p:cNvPr id="17" name="PDF_TEXT_GROUP_626"/>
          <p:cNvSpPr txBox="1"/>
          <p:nvPr/>
        </p:nvSpPr>
        <p:spPr>
          <a:xfrm>
            <a:off x="11650531" y="3346358"/>
            <a:ext cx="64306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75%</a:t>
            </a:r>
          </a:p>
        </p:txBody>
      </p:sp>
      <p:sp>
        <p:nvSpPr>
          <p:cNvPr id="18" name="PDF_TEXT_GROUP_627"/>
          <p:cNvSpPr txBox="1"/>
          <p:nvPr/>
        </p:nvSpPr>
        <p:spPr>
          <a:xfrm>
            <a:off x="12771532" y="3346358"/>
            <a:ext cx="77972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100%</a:t>
            </a:r>
          </a:p>
        </p:txBody>
      </p:sp>
      <p:sp>
        <p:nvSpPr>
          <p:cNvPr id="19" name="PDF_TEXT_GROUP_628"/>
          <p:cNvSpPr txBox="1"/>
          <p:nvPr/>
        </p:nvSpPr>
        <p:spPr>
          <a:xfrm>
            <a:off x="7646750" y="3867763"/>
            <a:ext cx="59305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Measured request success (not time coverage)</a:t>
            </a:r>
          </a:p>
        </p:txBody>
      </p:sp>
      <p:sp>
        <p:nvSpPr>
          <p:cNvPr id="20" name="PDF_TEXT_GROUP_629"/>
          <p:cNvSpPr txBox="1"/>
          <p:nvPr/>
        </p:nvSpPr>
        <p:spPr>
          <a:xfrm>
            <a:off x="914808" y="4192272"/>
            <a:ext cx="15454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Observation</a:t>
            </a:r>
          </a:p>
        </p:txBody>
      </p:sp>
      <p:sp>
        <p:nvSpPr>
          <p:cNvPr id="21" name="PDF_TEXT_GROUP_630"/>
          <p:cNvSpPr txBox="1"/>
          <p:nvPr/>
        </p:nvSpPr>
        <p:spPr>
          <a:xfrm>
            <a:off x="1618972" y="4594693"/>
            <a:ext cx="5177447"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At least one Provider is available for 75% of</a:t>
            </a:r>
            <a:r>
              <a:rPr sz="1863" b="0" i="0">
                <a:solidFill>
                  <a:srgbClr val="000000"/>
                </a:solidFill>
                <a:latin typeface="Latin Modern Sans"/>
              </a:rPr>
              <a:t> the run. This is the provider-time coverage</a:t>
            </a:r>
            <a:r>
              <a:rPr sz="1863" b="0" i="0">
                <a:solidFill>
                  <a:srgbClr val="000000"/>
                </a:solidFill>
                <a:latin typeface="Latin Modern Sans"/>
              </a:rPr>
              <a:t> ceiling, not a guaranteed success rate.</a:t>
            </a:r>
          </a:p>
        </p:txBody>
      </p:sp>
      <p:sp>
        <p:nvSpPr>
          <p:cNvPr id="22" name="PDF_TEXT_GROUP_631"/>
          <p:cNvSpPr txBox="1"/>
          <p:nvPr/>
        </p:nvSpPr>
        <p:spPr>
          <a:xfrm>
            <a:off x="1618972" y="5512251"/>
            <a:ext cx="4671190"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NDNSF reaches 74.62% at 10 RPS and</a:t>
            </a:r>
            <a:r>
              <a:rPr sz="1863" b="0" i="0">
                <a:solidFill>
                  <a:srgbClr val="000000"/>
                </a:solidFill>
                <a:latin typeface="Latin Modern Sans"/>
              </a:rPr>
              <a:t> 73.73% at 30 RPS.</a:t>
            </a:r>
          </a:p>
        </p:txBody>
      </p:sp>
      <p:sp>
        <p:nvSpPr>
          <p:cNvPr id="23" name="PDF_TEXT_GROUP_632"/>
          <p:cNvSpPr txBox="1"/>
          <p:nvPr/>
        </p:nvSpPr>
        <p:spPr>
          <a:xfrm>
            <a:off x="1618972" y="6123945"/>
            <a:ext cx="5005368"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small gap below 75% is failover delay:</a:t>
            </a:r>
            <a:r>
              <a:rPr sz="1863" b="0" i="0">
                <a:solidFill>
                  <a:srgbClr val="000000"/>
                </a:solidFill>
                <a:latin typeface="Latin Modern Sans"/>
              </a:rPr>
              <a:t> an in-flight request can hit its deadline</a:t>
            </a:r>
            <a:r>
              <a:rPr sz="1863" b="0" i="0">
                <a:solidFill>
                  <a:srgbClr val="000000"/>
                </a:solidFill>
                <a:latin typeface="Latin Modern Sans"/>
              </a:rPr>
              <a:t> before another Provider is selected.</a:t>
            </a:r>
          </a:p>
        </p:txBody>
      </p:sp>
      <p:sp>
        <p:nvSpPr>
          <p:cNvPr id="24" name="PDF_TEXT_GROUP_633"/>
          <p:cNvSpPr txBox="1"/>
          <p:nvPr/>
        </p:nvSpPr>
        <p:spPr>
          <a:xfrm>
            <a:off x="1618972" y="7041470"/>
            <a:ext cx="4960664"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SVS/Sync retransmission recovers lost</a:t>
            </a:r>
            <a:r>
              <a:rPr sz="1863" b="0" i="0">
                <a:solidFill>
                  <a:srgbClr val="000000"/>
                </a:solidFill>
                <a:latin typeface="Latin Modern Sans"/>
              </a:rPr>
              <a:t> Data, not Provider outages; recovery after</a:t>
            </a:r>
            <a:r>
              <a:rPr sz="1863" b="0" i="0">
                <a:solidFill>
                  <a:srgbClr val="000000"/>
                </a:solidFill>
                <a:latin typeface="Latin Modern Sans"/>
              </a:rPr>
              <a:t> the deadline still fails.</a:t>
            </a:r>
          </a:p>
        </p:txBody>
      </p:sp>
      <p:sp>
        <p:nvSpPr>
          <p:cNvPr id="25" name="PDF_TEXT_GROUP_63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6" name="PDF_TEXT_GROUP_63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7" name="PDF_TEXT_GROUP_63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8" name="PDF_TEXT_GROUP_637"/>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9" name="PDF_TEXT_GROUP_638"/>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35/64</a:t>
            </a:r>
          </a:p>
        </p:txBody>
      </p:sp>
      <p:sp>
        <p:nvSpPr>
          <p:cNvPr id="30" name="PDF_BULLET_SPAN_996"/>
          <p:cNvSpPr/>
          <p:nvPr/>
        </p:nvSpPr>
        <p:spPr>
          <a:xfrm rot="5400000">
            <a:off x="1270872" y="162275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DF_BULLET_SPAN_999"/>
          <p:cNvSpPr/>
          <p:nvPr/>
        </p:nvSpPr>
        <p:spPr>
          <a:xfrm rot="5400000">
            <a:off x="1270872" y="2331002"/>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DF_BULLET_SPAN_1003"/>
          <p:cNvSpPr/>
          <p:nvPr/>
        </p:nvSpPr>
        <p:spPr>
          <a:xfrm rot="5400000">
            <a:off x="1270872" y="334514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DF_BULLET_SPAN_1007"/>
          <p:cNvSpPr/>
          <p:nvPr/>
        </p:nvSpPr>
        <p:spPr>
          <a:xfrm rot="5400000">
            <a:off x="1270872" y="4657372"/>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DF_BULLET_SPAN_1011"/>
          <p:cNvSpPr/>
          <p:nvPr/>
        </p:nvSpPr>
        <p:spPr>
          <a:xfrm rot="5400000">
            <a:off x="1270872" y="557492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DF_BULLET_SPAN_1014"/>
          <p:cNvSpPr/>
          <p:nvPr/>
        </p:nvSpPr>
        <p:spPr>
          <a:xfrm rot="5400000">
            <a:off x="1270872" y="6186623"/>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DF_BULLET_SPAN_1018"/>
          <p:cNvSpPr/>
          <p:nvPr/>
        </p:nvSpPr>
        <p:spPr>
          <a:xfrm rot="5400000">
            <a:off x="1270872" y="7104148"/>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63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Evidence: What We Can Claim</a:t>
            </a:r>
          </a:p>
        </p:txBody>
      </p:sp>
      <p:sp>
        <p:nvSpPr>
          <p:cNvPr id="4" name="PDF_TEXT_GROUP_640"/>
          <p:cNvSpPr txBox="1"/>
          <p:nvPr/>
        </p:nvSpPr>
        <p:spPr>
          <a:xfrm>
            <a:off x="1092471" y="1845899"/>
            <a:ext cx="38605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Historical v0.1 demonstrations</a:t>
            </a:r>
          </a:p>
        </p:txBody>
      </p:sp>
      <p:sp>
        <p:nvSpPr>
          <p:cNvPr id="5" name="PDF_TEXT_GROUP_641"/>
          <p:cNvSpPr txBox="1"/>
          <p:nvPr/>
        </p:nvSpPr>
        <p:spPr>
          <a:xfrm>
            <a:off x="5511088" y="1845899"/>
            <a:ext cx="36421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Matched all-request controls</a:t>
            </a:r>
          </a:p>
        </p:txBody>
      </p:sp>
      <p:sp>
        <p:nvSpPr>
          <p:cNvPr id="6" name="PDF_TEXT_GROUP_642"/>
          <p:cNvSpPr txBox="1"/>
          <p:nvPr/>
        </p:nvSpPr>
        <p:spPr>
          <a:xfrm>
            <a:off x="9929673" y="1845899"/>
            <a:ext cx="34397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Independent switching test</a:t>
            </a:r>
          </a:p>
        </p:txBody>
      </p:sp>
      <p:sp>
        <p:nvSpPr>
          <p:cNvPr id="7" name="PDF_TEXT_GROUP_643"/>
          <p:cNvSpPr txBox="1"/>
          <p:nvPr/>
        </p:nvSpPr>
        <p:spPr>
          <a:xfrm>
            <a:off x="1618972" y="2506906"/>
            <a:ext cx="2647471"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Provider rejection and</a:t>
            </a:r>
            <a:r>
              <a:rPr sz="1863" b="0" i="0">
                <a:solidFill>
                  <a:srgbClr val="000000"/>
                </a:solidFill>
                <a:latin typeface="Latin Modern Sans"/>
              </a:rPr>
              <a:t> availability</a:t>
            </a:r>
          </a:p>
        </p:txBody>
      </p:sp>
      <p:sp>
        <p:nvSpPr>
          <p:cNvPr id="8" name="PDF_TEXT_GROUP_644"/>
          <p:cNvSpPr txBox="1"/>
          <p:nvPr/>
        </p:nvSpPr>
        <p:spPr>
          <a:xfrm>
            <a:off x="6037589" y="2556995"/>
            <a:ext cx="299053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Same trace; four targets</a:t>
            </a:r>
          </a:p>
        </p:txBody>
      </p:sp>
      <p:sp>
        <p:nvSpPr>
          <p:cNvPr id="9" name="PDF_TEXT_GROUP_645"/>
          <p:cNvSpPr txBox="1"/>
          <p:nvPr/>
        </p:nvSpPr>
        <p:spPr>
          <a:xfrm>
            <a:off x="10456174" y="2556995"/>
            <a:ext cx="2965702"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1,312 matched switching</a:t>
            </a:r>
            <a:r>
              <a:rPr sz="1863" b="0" i="0">
                <a:solidFill>
                  <a:srgbClr val="000000"/>
                </a:solidFill>
                <a:latin typeface="Latin Modern Sans"/>
              </a:rPr>
              <a:t> requests</a:t>
            </a:r>
          </a:p>
        </p:txBody>
      </p:sp>
      <p:sp>
        <p:nvSpPr>
          <p:cNvPr id="10" name="PDF_TEXT_GROUP_646"/>
          <p:cNvSpPr txBox="1"/>
          <p:nvPr/>
        </p:nvSpPr>
        <p:spPr>
          <a:xfrm>
            <a:off x="6037589" y="2959416"/>
            <a:ext cx="2901526"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50/100/150 m; repeated</a:t>
            </a:r>
            <a:r>
              <a:rPr sz="1863" b="0" i="0">
                <a:solidFill>
                  <a:srgbClr val="000000"/>
                </a:solidFill>
                <a:latin typeface="Latin Modern Sans"/>
              </a:rPr>
              <a:t> runs</a:t>
            </a:r>
          </a:p>
        </p:txBody>
      </p:sp>
      <p:sp>
        <p:nvSpPr>
          <p:cNvPr id="11" name="PDF_TEXT_GROUP_647"/>
          <p:cNvSpPr txBox="1"/>
          <p:nvPr/>
        </p:nvSpPr>
        <p:spPr>
          <a:xfrm>
            <a:off x="1618972" y="3215191"/>
            <a:ext cx="284893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One NSC/gRPC target</a:t>
            </a:r>
          </a:p>
        </p:txBody>
      </p:sp>
      <p:sp>
        <p:nvSpPr>
          <p:cNvPr id="12" name="PDF_TEXT_GROUP_648"/>
          <p:cNvSpPr txBox="1"/>
          <p:nvPr/>
        </p:nvSpPr>
        <p:spPr>
          <a:xfrm>
            <a:off x="10456174" y="3265279"/>
            <a:ext cx="3166719"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Tail latency: 597 ms below</a:t>
            </a:r>
            <a:r>
              <a:rPr sz="1863" b="0" i="0">
                <a:solidFill>
                  <a:srgbClr val="000000"/>
                </a:solidFill>
                <a:latin typeface="Latin Modern Sans"/>
              </a:rPr>
              <a:t> gRPC</a:t>
            </a:r>
          </a:p>
        </p:txBody>
      </p:sp>
      <p:sp>
        <p:nvSpPr>
          <p:cNvPr id="13" name="PDF_TEXT_GROUP_649"/>
          <p:cNvSpPr txBox="1"/>
          <p:nvPr/>
        </p:nvSpPr>
        <p:spPr>
          <a:xfrm>
            <a:off x="1618972" y="3617612"/>
            <a:ext cx="28090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No seed-level inference</a:t>
            </a:r>
          </a:p>
        </p:txBody>
      </p:sp>
      <p:sp>
        <p:nvSpPr>
          <p:cNvPr id="14" name="PDF_TEXT_GROUP_650"/>
          <p:cNvSpPr txBox="1"/>
          <p:nvPr/>
        </p:nvSpPr>
        <p:spPr>
          <a:xfrm>
            <a:off x="6037589" y="3667700"/>
            <a:ext cx="345667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Coverage dominates success</a:t>
            </a:r>
          </a:p>
        </p:txBody>
      </p:sp>
      <p:sp>
        <p:nvSpPr>
          <p:cNvPr id="15" name="PDF_TEXT_GROUP_651"/>
          <p:cNvSpPr txBox="1"/>
          <p:nvPr/>
        </p:nvSpPr>
        <p:spPr>
          <a:xfrm>
            <a:off x="10456174" y="3973563"/>
            <a:ext cx="3379284"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Tail latency: 2,618 ms below</a:t>
            </a:r>
            <a:r>
              <a:rPr sz="1863" b="0" i="0">
                <a:solidFill>
                  <a:srgbClr val="000000"/>
                </a:solidFill>
                <a:latin typeface="Latin Modern Sans"/>
              </a:rPr>
              <a:t> NSC</a:t>
            </a:r>
          </a:p>
        </p:txBody>
      </p:sp>
      <p:sp>
        <p:nvSpPr>
          <p:cNvPr id="16" name="PDF_TEXT_GROUP_652"/>
          <p:cNvSpPr txBox="1"/>
          <p:nvPr/>
        </p:nvSpPr>
        <p:spPr>
          <a:xfrm>
            <a:off x="1618972" y="4020065"/>
            <a:ext cx="26956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Role:</a:t>
            </a:r>
            <a:r>
              <a:rPr sz="1863" b="0" i="0">
                <a:solidFill>
                  <a:srgbClr val="000000"/>
                </a:solidFill>
                <a:latin typeface="Latin Modern Sans"/>
              </a:rPr>
              <a:t> motivation only</a:t>
            </a:r>
          </a:p>
        </p:txBody>
      </p:sp>
      <p:sp>
        <p:nvSpPr>
          <p:cNvPr id="17" name="PDF_TEXT_GROUP_653"/>
          <p:cNvSpPr txBox="1"/>
          <p:nvPr/>
        </p:nvSpPr>
        <p:spPr>
          <a:xfrm>
            <a:off x="6037589" y="4070121"/>
            <a:ext cx="287271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No universal advantage</a:t>
            </a:r>
          </a:p>
        </p:txBody>
      </p:sp>
      <p:sp>
        <p:nvSpPr>
          <p:cNvPr id="18" name="PDF_TEXT_GROUP_654"/>
          <p:cNvSpPr txBox="1"/>
          <p:nvPr/>
        </p:nvSpPr>
        <p:spPr>
          <a:xfrm>
            <a:off x="6037589" y="4472574"/>
            <a:ext cx="28622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Role:</a:t>
            </a:r>
            <a:r>
              <a:rPr sz="1863" b="0" i="0">
                <a:solidFill>
                  <a:srgbClr val="000000"/>
                </a:solidFill>
                <a:latin typeface="Latin Modern Sans"/>
              </a:rPr>
              <a:t> negative controls</a:t>
            </a:r>
          </a:p>
        </p:txBody>
      </p:sp>
      <p:sp>
        <p:nvSpPr>
          <p:cNvPr id="19" name="PDF_TEXT_GROUP_655"/>
          <p:cNvSpPr txBox="1"/>
          <p:nvPr/>
        </p:nvSpPr>
        <p:spPr>
          <a:xfrm>
            <a:off x="10456174" y="4681848"/>
            <a:ext cx="243699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Comparable success</a:t>
            </a:r>
          </a:p>
        </p:txBody>
      </p:sp>
      <p:sp>
        <p:nvSpPr>
          <p:cNvPr id="20" name="PDF_TEXT_GROUP_656"/>
          <p:cNvSpPr txBox="1"/>
          <p:nvPr/>
        </p:nvSpPr>
        <p:spPr>
          <a:xfrm>
            <a:off x="10456174" y="5084268"/>
            <a:ext cx="34606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Role:</a:t>
            </a:r>
            <a:r>
              <a:rPr sz="1863" b="0" i="0">
                <a:solidFill>
                  <a:srgbClr val="000000"/>
                </a:solidFill>
                <a:latin typeface="Latin Modern Sans"/>
              </a:rPr>
              <a:t> confirmatory evidence</a:t>
            </a:r>
          </a:p>
        </p:txBody>
      </p:sp>
      <p:sp>
        <p:nvSpPr>
          <p:cNvPr id="21" name="PDF_TEXT_GROUP_657"/>
          <p:cNvSpPr txBox="1"/>
          <p:nvPr/>
        </p:nvSpPr>
        <p:spPr>
          <a:xfrm>
            <a:off x="1092471" y="5989520"/>
            <a:ext cx="12408590"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Supported conclusion:</a:t>
            </a:r>
            <a:r>
              <a:rPr sz="2371" b="0" i="0">
                <a:solidFill>
                  <a:srgbClr val="000000"/>
                </a:solidFill>
                <a:latin typeface="Latin Modern Sans"/>
              </a:rPr>
              <a:t> When a Provider switch is required, runtime discovery reduces tail</a:t>
            </a:r>
            <a:r>
              <a:rPr sz="2371" b="0" i="0">
                <a:solidFill>
                  <a:srgbClr val="000000"/>
                </a:solidFill>
                <a:latin typeface="Latin Modern Sans"/>
              </a:rPr>
              <a:t> latency versus sequential retry over pre-registered targets; it is not universally better under</a:t>
            </a:r>
            <a:r>
              <a:rPr sz="2371" b="0" i="0">
                <a:solidFill>
                  <a:srgbClr val="000000"/>
                </a:solidFill>
                <a:latin typeface="Latin Modern Sans"/>
              </a:rPr>
              <a:t> mobility.</a:t>
            </a:r>
          </a:p>
        </p:txBody>
      </p:sp>
      <p:sp>
        <p:nvSpPr>
          <p:cNvPr id="22" name="PDF_TEXT_GROUP_65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65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66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661"/>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6" name="PDF_TEXT_GROUP_662"/>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36/64</a:t>
            </a:r>
          </a:p>
        </p:txBody>
      </p:sp>
      <p:sp>
        <p:nvSpPr>
          <p:cNvPr id="27" name="PDF_BULLET_SPAN_1041"/>
          <p:cNvSpPr/>
          <p:nvPr/>
        </p:nvSpPr>
        <p:spPr>
          <a:xfrm rot="5400000">
            <a:off x="1270872" y="2569585"/>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DF_BULLET_SPAN_1044"/>
          <p:cNvSpPr/>
          <p:nvPr/>
        </p:nvSpPr>
        <p:spPr>
          <a:xfrm rot="5400000">
            <a:off x="1270872" y="327786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DF_BULLET_SPAN_1046"/>
          <p:cNvSpPr/>
          <p:nvPr/>
        </p:nvSpPr>
        <p:spPr>
          <a:xfrm rot="5400000">
            <a:off x="1270872" y="368029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DF_BULLET_SPAN_1048"/>
          <p:cNvSpPr/>
          <p:nvPr/>
        </p:nvSpPr>
        <p:spPr>
          <a:xfrm rot="5400000">
            <a:off x="1270872" y="4082743"/>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DF_BULLET_SPAN_1052"/>
          <p:cNvSpPr/>
          <p:nvPr/>
        </p:nvSpPr>
        <p:spPr>
          <a:xfrm rot="5400000">
            <a:off x="5689489" y="2619673"/>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DF_BULLET_SPAN_1054"/>
          <p:cNvSpPr/>
          <p:nvPr/>
        </p:nvSpPr>
        <p:spPr>
          <a:xfrm rot="5400000">
            <a:off x="5689489" y="3022094"/>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DF_BULLET_SPAN_1057"/>
          <p:cNvSpPr/>
          <p:nvPr/>
        </p:nvSpPr>
        <p:spPr>
          <a:xfrm rot="5400000">
            <a:off x="5689489" y="3730378"/>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DF_BULLET_SPAN_1059"/>
          <p:cNvSpPr/>
          <p:nvPr/>
        </p:nvSpPr>
        <p:spPr>
          <a:xfrm rot="5400000">
            <a:off x="5689489" y="413279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DF_BULLET_SPAN_1061"/>
          <p:cNvSpPr/>
          <p:nvPr/>
        </p:nvSpPr>
        <p:spPr>
          <a:xfrm rot="5400000">
            <a:off x="5689489" y="4535253"/>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DF_BULLET_SPAN_1065"/>
          <p:cNvSpPr/>
          <p:nvPr/>
        </p:nvSpPr>
        <p:spPr>
          <a:xfrm rot="5400000">
            <a:off x="10108107" y="2619673"/>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DF_BULLET_SPAN_1068"/>
          <p:cNvSpPr/>
          <p:nvPr/>
        </p:nvSpPr>
        <p:spPr>
          <a:xfrm rot="5400000">
            <a:off x="10108107" y="3327957"/>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DF_BULLET_SPAN_1071"/>
          <p:cNvSpPr/>
          <p:nvPr/>
        </p:nvSpPr>
        <p:spPr>
          <a:xfrm rot="5400000">
            <a:off x="10108107" y="4036241"/>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DF_BULLET_SPAN_1074"/>
          <p:cNvSpPr/>
          <p:nvPr/>
        </p:nvSpPr>
        <p:spPr>
          <a:xfrm rot="5400000">
            <a:off x="10108107" y="4744526"/>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DF_BULLET_SPAN_1076"/>
          <p:cNvSpPr/>
          <p:nvPr/>
        </p:nvSpPr>
        <p:spPr>
          <a:xfrm rot="5400000">
            <a:off x="10108107" y="5146947"/>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66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NDNSF v0.1 Still Lacks</a:t>
            </a:r>
          </a:p>
        </p:txBody>
      </p:sp>
      <p:sp>
        <p:nvSpPr>
          <p:cNvPr id="4" name="PDF_TEXT_GROUP_664"/>
          <p:cNvSpPr txBox="1"/>
          <p:nvPr/>
        </p:nvSpPr>
        <p:spPr>
          <a:xfrm>
            <a:off x="1123808" y="1655376"/>
            <a:ext cx="39801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Completed v0.1 evidence</a:t>
            </a:r>
          </a:p>
        </p:txBody>
      </p:sp>
      <p:sp>
        <p:nvSpPr>
          <p:cNvPr id="5" name="PDF_TEXT_GROUP_665"/>
          <p:cNvSpPr txBox="1"/>
          <p:nvPr/>
        </p:nvSpPr>
        <p:spPr>
          <a:xfrm>
            <a:off x="7527566" y="1655376"/>
            <a:ext cx="461706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Still missing for collaboration</a:t>
            </a:r>
          </a:p>
        </p:txBody>
      </p:sp>
      <p:sp>
        <p:nvSpPr>
          <p:cNvPr id="6" name="PDF_TEXT_GROUP_666"/>
          <p:cNvSpPr txBox="1"/>
          <p:nvPr/>
        </p:nvSpPr>
        <p:spPr>
          <a:xfrm>
            <a:off x="1618972" y="2587475"/>
            <a:ext cx="502885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Runtime discovery and service ACKs</a:t>
            </a:r>
            <a:r>
              <a:rPr sz="2371" b="0" i="0">
                <a:solidFill>
                  <a:srgbClr val="000000"/>
                </a:solidFill>
                <a:latin typeface="Latin Modern Sans"/>
              </a:rPr>
              <a:t> reporting willingness and status</a:t>
            </a:r>
          </a:p>
        </p:txBody>
      </p:sp>
      <p:sp>
        <p:nvSpPr>
          <p:cNvPr id="7" name="PDF_TEXT_GROUP_667"/>
          <p:cNvSpPr txBox="1"/>
          <p:nvPr/>
        </p:nvSpPr>
        <p:spPr>
          <a:xfrm>
            <a:off x="8022730" y="2587475"/>
            <a:ext cx="5158105"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different Providers to different</a:t>
            </a:r>
            <a:r>
              <a:rPr sz="2371" b="0" i="0">
                <a:solidFill>
                  <a:srgbClr val="000000"/>
                </a:solidFill>
                <a:latin typeface="Latin Modern Sans"/>
              </a:rPr>
              <a:t> application roles, such as capture,</a:t>
            </a:r>
            <a:r>
              <a:rPr sz="2371" b="0" i="0">
                <a:solidFill>
                  <a:srgbClr val="000000"/>
                </a:solidFill>
                <a:latin typeface="Latin Modern Sans"/>
              </a:rPr>
              <a:t> detection, and mapping.</a:t>
            </a:r>
          </a:p>
        </p:txBody>
      </p:sp>
      <p:sp>
        <p:nvSpPr>
          <p:cNvPr id="8" name="PDF_TEXT_GROUP_668"/>
          <p:cNvSpPr txBox="1"/>
          <p:nvPr/>
        </p:nvSpPr>
        <p:spPr>
          <a:xfrm>
            <a:off x="1618972" y="3553311"/>
            <a:ext cx="48884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selection under failure and</a:t>
            </a:r>
            <a:r>
              <a:rPr sz="2371" b="0" i="0">
                <a:solidFill>
                  <a:srgbClr val="000000"/>
                </a:solidFill>
                <a:latin typeface="Latin Modern Sans"/>
              </a:rPr>
              <a:t> mobility</a:t>
            </a:r>
          </a:p>
        </p:txBody>
      </p:sp>
      <p:sp>
        <p:nvSpPr>
          <p:cNvPr id="9" name="PDF_TEXT_GROUP_669"/>
          <p:cNvSpPr txBox="1"/>
          <p:nvPr/>
        </p:nvSpPr>
        <p:spPr>
          <a:xfrm>
            <a:off x="8022730" y="3939639"/>
            <a:ext cx="577362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Record which role is allowed to send Data</a:t>
            </a:r>
            <a:r>
              <a:rPr sz="2371" b="0" i="0">
                <a:solidFill>
                  <a:srgbClr val="000000"/>
                </a:solidFill>
                <a:latin typeface="Latin Modern Sans"/>
              </a:rPr>
              <a:t> to which downstream role.</a:t>
            </a:r>
          </a:p>
        </p:txBody>
      </p:sp>
      <p:sp>
        <p:nvSpPr>
          <p:cNvPr id="10" name="PDF_TEXT_GROUP_670"/>
          <p:cNvSpPr txBox="1"/>
          <p:nvPr/>
        </p:nvSpPr>
        <p:spPr>
          <a:xfrm>
            <a:off x="1618972" y="4519147"/>
            <a:ext cx="518569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Request-level authorization and token</a:t>
            </a:r>
            <a:r>
              <a:rPr sz="2371" b="0" i="0">
                <a:solidFill>
                  <a:srgbClr val="000000"/>
                </a:solidFill>
                <a:latin typeface="Latin Modern Sans"/>
              </a:rPr>
              <a:t> binding</a:t>
            </a:r>
          </a:p>
        </p:txBody>
      </p:sp>
      <p:sp>
        <p:nvSpPr>
          <p:cNvPr id="11" name="PDF_TEXT_GROUP_671"/>
          <p:cNvSpPr txBox="1"/>
          <p:nvPr/>
        </p:nvSpPr>
        <p:spPr>
          <a:xfrm>
            <a:off x="8022730" y="4905475"/>
            <a:ext cx="5789446" cy="160150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Verify that received Data came from the</a:t>
            </a:r>
            <a:r>
              <a:rPr sz="2371" b="0" i="0">
                <a:solidFill>
                  <a:srgbClr val="000000"/>
                </a:solidFill>
                <a:latin typeface="Latin Modern Sans"/>
              </a:rPr>
              <a:t> Provider assigned to the authorized</a:t>
            </a:r>
            <a:r>
              <a:rPr sz="2371" b="0" i="0">
                <a:solidFill>
                  <a:srgbClr val="000000"/>
                </a:solidFill>
                <a:latin typeface="Latin Modern Sans"/>
              </a:rPr>
              <a:t> preceding role, whether fetched directly or</a:t>
            </a:r>
            <a:r>
              <a:rPr sz="2371" b="0" i="0">
                <a:solidFill>
                  <a:srgbClr val="000000"/>
                </a:solidFill>
                <a:latin typeface="Latin Modern Sans"/>
              </a:rPr>
              <a:t> from a cache.</a:t>
            </a:r>
          </a:p>
        </p:txBody>
      </p:sp>
      <p:sp>
        <p:nvSpPr>
          <p:cNvPr id="12" name="PDF_TEXT_GROUP_672"/>
          <p:cNvSpPr txBox="1"/>
          <p:nvPr/>
        </p:nvSpPr>
        <p:spPr>
          <a:xfrm>
            <a:off x="1123808" y="6849169"/>
            <a:ext cx="115326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and distributed inference are requirement generators: they expose why Provider</a:t>
            </a:r>
            <a:r>
              <a:rPr sz="2371" b="0" i="0">
                <a:solidFill>
                  <a:srgbClr val="000000"/>
                </a:solidFill>
                <a:latin typeface="Latin Modern Sans"/>
              </a:rPr>
              <a:t> selection alone is insufficient for multi-role execution.</a:t>
            </a:r>
          </a:p>
        </p:txBody>
      </p:sp>
      <p:sp>
        <p:nvSpPr>
          <p:cNvPr id="13" name="PDF_TEXT_GROUP_6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6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6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676"/>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7" name="PDF_TEXT_GROUP_677"/>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37/64</a:t>
            </a:r>
          </a:p>
        </p:txBody>
      </p:sp>
      <p:sp>
        <p:nvSpPr>
          <p:cNvPr id="18" name="PDF_BULLET_SPAN_1090"/>
          <p:cNvSpPr/>
          <p:nvPr/>
        </p:nvSpPr>
        <p:spPr>
          <a:xfrm rot="5400000">
            <a:off x="1227851" y="2665822"/>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093"/>
          <p:cNvSpPr/>
          <p:nvPr/>
        </p:nvSpPr>
        <p:spPr>
          <a:xfrm rot="5400000">
            <a:off x="1227851" y="3631658"/>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1096"/>
          <p:cNvSpPr/>
          <p:nvPr/>
        </p:nvSpPr>
        <p:spPr>
          <a:xfrm rot="5400000">
            <a:off x="1227851" y="4597495"/>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DF_BULLET_SPAN_1100"/>
          <p:cNvSpPr/>
          <p:nvPr/>
        </p:nvSpPr>
        <p:spPr>
          <a:xfrm rot="5400000">
            <a:off x="7631642" y="2665822"/>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104"/>
          <p:cNvSpPr/>
          <p:nvPr/>
        </p:nvSpPr>
        <p:spPr>
          <a:xfrm rot="5400000">
            <a:off x="7631642" y="4017986"/>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DF_BULLET_SPAN_1107"/>
          <p:cNvSpPr/>
          <p:nvPr/>
        </p:nvSpPr>
        <p:spPr>
          <a:xfrm rot="5400000">
            <a:off x="7631642" y="4983823"/>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38.png"/>
          <p:cNvPicPr>
            <a:picLocks noChangeAspect="1"/>
          </p:cNvPicPr>
          <p:nvPr/>
        </p:nvPicPr>
        <p:blipFill>
          <a:blip r:embed="rId2"/>
          <a:stretch>
            <a:fillRect/>
          </a:stretch>
        </p:blipFill>
        <p:spPr>
          <a:xfrm>
            <a:off x="0" y="0"/>
            <a:ext cx="14630400" cy="8229600"/>
          </a:xfrm>
          <a:prstGeom prst="rect">
            <a:avLst/>
          </a:prstGeom>
        </p:spPr>
      </p:pic>
      <p:sp>
        <p:nvSpPr>
          <p:cNvPr id="3" name="PDF_TEXT_GROUP_6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Workload</a:t>
            </a:r>
          </a:p>
        </p:txBody>
      </p:sp>
      <p:sp>
        <p:nvSpPr>
          <p:cNvPr id="4" name="PDF_TEXT_GROUP_679"/>
          <p:cNvSpPr txBox="1"/>
          <p:nvPr/>
        </p:nvSpPr>
        <p:spPr>
          <a:xfrm>
            <a:off x="2016348" y="1566218"/>
            <a:ext cx="114525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service policy + NAC-ABE authorization + one-time invocation tokens</a:t>
            </a:r>
          </a:p>
        </p:txBody>
      </p:sp>
      <p:sp>
        <p:nvSpPr>
          <p:cNvPr id="5" name="PDF_TEXT_GROUP_680"/>
          <p:cNvSpPr txBox="1"/>
          <p:nvPr/>
        </p:nvSpPr>
        <p:spPr>
          <a:xfrm>
            <a:off x="5101416" y="2327622"/>
            <a:ext cx="242707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Request / Selection</a:t>
            </a:r>
          </a:p>
        </p:txBody>
      </p:sp>
      <p:sp>
        <p:nvSpPr>
          <p:cNvPr id="6" name="PDF_TEXT_GROUP_681"/>
          <p:cNvSpPr txBox="1"/>
          <p:nvPr/>
        </p:nvSpPr>
        <p:spPr>
          <a:xfrm>
            <a:off x="7622132" y="2327622"/>
            <a:ext cx="206663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D8259"/>
                </a:solidFill>
                <a:latin typeface="Latin Modern Sans"/>
              </a:rPr>
              <a:t>ACK / Response</a:t>
            </a:r>
          </a:p>
        </p:txBody>
      </p:sp>
      <p:sp>
        <p:nvSpPr>
          <p:cNvPr id="7" name="PDF_TEXT_GROUP_682"/>
          <p:cNvSpPr txBox="1"/>
          <p:nvPr/>
        </p:nvSpPr>
        <p:spPr>
          <a:xfrm>
            <a:off x="2972111" y="2884484"/>
            <a:ext cx="13722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Drone 1</a:t>
            </a:r>
          </a:p>
        </p:txBody>
      </p:sp>
      <p:sp>
        <p:nvSpPr>
          <p:cNvPr id="8" name="PDF_TEXT_GROUP_683"/>
          <p:cNvSpPr txBox="1"/>
          <p:nvPr/>
        </p:nvSpPr>
        <p:spPr>
          <a:xfrm>
            <a:off x="6632508" y="2884484"/>
            <a:ext cx="1372258" cy="38555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1" i="0">
                <a:solidFill>
                  <a:srgbClr val="000000"/>
                </a:solidFill>
                <a:latin typeface="Latin Modern Sans"/>
              </a:rPr>
              <a:t>Drone 2</a:t>
            </a:r>
          </a:p>
        </p:txBody>
      </p:sp>
      <p:sp>
        <p:nvSpPr>
          <p:cNvPr id="9" name="PDF_TEXT_GROUP_684"/>
          <p:cNvSpPr txBox="1"/>
          <p:nvPr/>
        </p:nvSpPr>
        <p:spPr>
          <a:xfrm>
            <a:off x="10473666" y="2884484"/>
            <a:ext cx="13722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Drone 3</a:t>
            </a:r>
          </a:p>
        </p:txBody>
      </p:sp>
      <p:sp>
        <p:nvSpPr>
          <p:cNvPr id="10" name="PDF_TEXT_GROUP_685"/>
          <p:cNvSpPr txBox="1"/>
          <p:nvPr/>
        </p:nvSpPr>
        <p:spPr>
          <a:xfrm>
            <a:off x="4863306" y="2956145"/>
            <a:ext cx="1030606"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C16F2E"/>
                </a:solidFill>
                <a:latin typeface="Latin Modern Sans"/>
              </a:rPr>
              <a:t>service call</a:t>
            </a:r>
          </a:p>
        </p:txBody>
      </p:sp>
      <p:sp>
        <p:nvSpPr>
          <p:cNvPr id="11" name="PDF_TEXT_GROUP_686"/>
          <p:cNvSpPr txBox="1"/>
          <p:nvPr/>
        </p:nvSpPr>
        <p:spPr>
          <a:xfrm>
            <a:off x="8852951" y="2956145"/>
            <a:ext cx="1030606"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C16F2E"/>
                </a:solidFill>
                <a:latin typeface="Latin Modern Sans"/>
              </a:rPr>
              <a:t>service call</a:t>
            </a:r>
          </a:p>
        </p:txBody>
      </p:sp>
      <p:sp>
        <p:nvSpPr>
          <p:cNvPr id="12" name="PDF_TEXT_GROUP_687"/>
          <p:cNvSpPr txBox="1"/>
          <p:nvPr/>
        </p:nvSpPr>
        <p:spPr>
          <a:xfrm>
            <a:off x="2657708" y="3270812"/>
            <a:ext cx="200083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Flight control</a:t>
            </a:r>
          </a:p>
        </p:txBody>
      </p:sp>
      <p:sp>
        <p:nvSpPr>
          <p:cNvPr id="13" name="PDF_TEXT_GROUP_688"/>
          <p:cNvSpPr txBox="1"/>
          <p:nvPr/>
        </p:nvSpPr>
        <p:spPr>
          <a:xfrm>
            <a:off x="5705349" y="3270812"/>
            <a:ext cx="3226419" cy="38555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Telemetry and sensing</a:t>
            </a:r>
          </a:p>
        </p:txBody>
      </p:sp>
      <p:sp>
        <p:nvSpPr>
          <p:cNvPr id="14" name="PDF_TEXT_GROUP_689"/>
          <p:cNvSpPr txBox="1"/>
          <p:nvPr/>
        </p:nvSpPr>
        <p:spPr>
          <a:xfrm>
            <a:off x="9927963" y="3270812"/>
            <a:ext cx="24653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Image processing</a:t>
            </a:r>
          </a:p>
        </p:txBody>
      </p:sp>
      <p:sp>
        <p:nvSpPr>
          <p:cNvPr id="15" name="PDF_TEXT_GROUP_690"/>
          <p:cNvSpPr txBox="1"/>
          <p:nvPr/>
        </p:nvSpPr>
        <p:spPr>
          <a:xfrm>
            <a:off x="4991419" y="5037127"/>
            <a:ext cx="4654376"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1" i="0">
                <a:solidFill>
                  <a:srgbClr val="000000"/>
                </a:solidFill>
                <a:latin typeface="Latin Modern Sans"/>
              </a:rPr>
              <a:t>Ground station</a:t>
            </a:r>
            <a:br/>
            <a:r>
              <a:rPr sz="2371" b="0" i="0">
                <a:solidFill>
                  <a:srgbClr val="000000"/>
                </a:solidFill>
                <a:latin typeface="Latin Modern Sans"/>
              </a:rPr>
              <a:t>requester and mission coordinator</a:t>
            </a:r>
          </a:p>
        </p:txBody>
      </p:sp>
      <p:sp>
        <p:nvSpPr>
          <p:cNvPr id="16" name="PDF_TEXT_GROUP_691"/>
          <p:cNvSpPr txBox="1"/>
          <p:nvPr/>
        </p:nvSpPr>
        <p:spPr>
          <a:xfrm>
            <a:off x="1143656" y="6621577"/>
            <a:ext cx="1233980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ground station and drones may all invoke services; each drone can act as both</a:t>
            </a:r>
            <a:r>
              <a:rPr sz="2710" b="0" i="0">
                <a:solidFill>
                  <a:srgbClr val="000000"/>
                </a:solidFill>
                <a:latin typeface="Latin Modern Sans"/>
              </a:rPr>
              <a:t> an NDNSF User and Provider during a mission.</a:t>
            </a:r>
          </a:p>
        </p:txBody>
      </p:sp>
      <p:sp>
        <p:nvSpPr>
          <p:cNvPr id="17" name="PDF_TEXT_GROUP_69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69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69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695"/>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1" name="PDF_TEXT_GROUP_696"/>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38/64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39.png"/>
          <p:cNvPicPr>
            <a:picLocks noChangeAspect="1"/>
          </p:cNvPicPr>
          <p:nvPr/>
        </p:nvPicPr>
        <p:blipFill>
          <a:blip r:embed="rId2"/>
          <a:stretch>
            <a:fillRect/>
          </a:stretch>
        </p:blipFill>
        <p:spPr>
          <a:xfrm>
            <a:off x="0" y="0"/>
            <a:ext cx="14630400" cy="8229600"/>
          </a:xfrm>
          <a:prstGeom prst="rect">
            <a:avLst/>
          </a:prstGeom>
        </p:spPr>
      </p:pic>
      <p:sp>
        <p:nvSpPr>
          <p:cNvPr id="3" name="PDF_TEXT_GROUP_69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Requirements of a UAV Network Application</a:t>
            </a:r>
          </a:p>
        </p:txBody>
      </p:sp>
      <p:sp>
        <p:nvSpPr>
          <p:cNvPr id="4" name="PDF_TEXT_GROUP_698"/>
          <p:cNvSpPr txBox="1"/>
          <p:nvPr/>
        </p:nvSpPr>
        <p:spPr>
          <a:xfrm>
            <a:off x="1618972" y="2259803"/>
            <a:ext cx="5462635"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Mobility and changing reachability</a:t>
            </a:r>
          </a:p>
        </p:txBody>
      </p:sp>
      <p:sp>
        <p:nvSpPr>
          <p:cNvPr id="5" name="PDF_TEXT_GROUP_699"/>
          <p:cNvSpPr txBox="1"/>
          <p:nvPr/>
        </p:nvSpPr>
        <p:spPr>
          <a:xfrm>
            <a:off x="1618972" y="2794232"/>
            <a:ext cx="381568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Command authorization</a:t>
            </a:r>
          </a:p>
        </p:txBody>
      </p:sp>
      <p:sp>
        <p:nvSpPr>
          <p:cNvPr id="6" name="PDF_TEXT_GROUP_700"/>
          <p:cNvSpPr txBox="1"/>
          <p:nvPr/>
        </p:nvSpPr>
        <p:spPr>
          <a:xfrm>
            <a:off x="1618972" y="3328660"/>
            <a:ext cx="31105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Telemetry freshness</a:t>
            </a:r>
          </a:p>
        </p:txBody>
      </p:sp>
      <p:sp>
        <p:nvSpPr>
          <p:cNvPr id="7" name="PDF_TEXT_GROUP_701"/>
          <p:cNvSpPr txBox="1"/>
          <p:nvPr/>
        </p:nvSpPr>
        <p:spPr>
          <a:xfrm>
            <a:off x="1618972" y="3863089"/>
            <a:ext cx="441611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Video and recording objects</a:t>
            </a:r>
          </a:p>
        </p:txBody>
      </p:sp>
      <p:sp>
        <p:nvSpPr>
          <p:cNvPr id="8" name="PDF_TEXT_GROUP_702"/>
          <p:cNvSpPr txBox="1"/>
          <p:nvPr/>
        </p:nvSpPr>
        <p:spPr>
          <a:xfrm>
            <a:off x="1618972" y="4397517"/>
            <a:ext cx="329104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Multi-drone missions</a:t>
            </a:r>
          </a:p>
        </p:txBody>
      </p:sp>
      <p:sp>
        <p:nvSpPr>
          <p:cNvPr id="9" name="PDF_TEXT_GROUP_703"/>
          <p:cNvSpPr txBox="1"/>
          <p:nvPr/>
        </p:nvSpPr>
        <p:spPr>
          <a:xfrm>
            <a:off x="1143656" y="5222394"/>
            <a:ext cx="1241563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dissertation will not produce a comprehensive UAV application. Instead, it will</a:t>
            </a:r>
            <a:r>
              <a:rPr sz="2710" b="0" i="0">
                <a:solidFill>
                  <a:srgbClr val="000000"/>
                </a:solidFill>
                <a:latin typeface="Latin Modern Sans"/>
              </a:rPr>
              <a:t> develop the NDNSF mechanisms needed to support this class of application.</a:t>
            </a:r>
          </a:p>
        </p:txBody>
      </p:sp>
      <p:sp>
        <p:nvSpPr>
          <p:cNvPr id="10" name="PDF_TEXT_GROUP_70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70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70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707"/>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708"/>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39/64</a:t>
            </a:r>
          </a:p>
        </p:txBody>
      </p:sp>
      <p:sp>
        <p:nvSpPr>
          <p:cNvPr id="15" name="PDF_BULLET_SPAN_1141"/>
          <p:cNvSpPr/>
          <p:nvPr/>
        </p:nvSpPr>
        <p:spPr>
          <a:xfrm rot="5400000">
            <a:off x="1207424" y="23455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143"/>
          <p:cNvSpPr/>
          <p:nvPr/>
        </p:nvSpPr>
        <p:spPr>
          <a:xfrm rot="5400000">
            <a:off x="1207424" y="288002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145"/>
          <p:cNvSpPr/>
          <p:nvPr/>
        </p:nvSpPr>
        <p:spPr>
          <a:xfrm rot="5400000">
            <a:off x="1207424" y="341445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147"/>
          <p:cNvSpPr/>
          <p:nvPr/>
        </p:nvSpPr>
        <p:spPr>
          <a:xfrm rot="5400000">
            <a:off x="1207424" y="394887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149"/>
          <p:cNvSpPr/>
          <p:nvPr/>
        </p:nvSpPr>
        <p:spPr>
          <a:xfrm rot="5400000">
            <a:off x="1207424" y="448330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40.png"/>
          <p:cNvPicPr>
            <a:picLocks noChangeAspect="1"/>
          </p:cNvPicPr>
          <p:nvPr/>
        </p:nvPicPr>
        <p:blipFill>
          <a:blip r:embed="rId2"/>
          <a:stretch>
            <a:fillRect/>
          </a:stretch>
        </p:blipFill>
        <p:spPr>
          <a:xfrm>
            <a:off x="0" y="0"/>
            <a:ext cx="14630400" cy="8229600"/>
          </a:xfrm>
          <a:prstGeom prst="rect">
            <a:avLst/>
          </a:prstGeom>
        </p:spPr>
      </p:pic>
      <p:sp>
        <p:nvSpPr>
          <p:cNvPr id="3" name="PDF_TEXT_GROUP_709"/>
          <p:cNvSpPr txBox="1"/>
          <p:nvPr/>
        </p:nvSpPr>
        <p:spPr>
          <a:xfrm>
            <a:off x="183009" y="294111"/>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Requirements</a:t>
            </a:r>
            <a:r>
              <a:rPr sz="3557" b="0" i="0">
                <a:solidFill>
                  <a:srgbClr val="1A3E79"/>
                </a:solidFill>
                <a:latin typeface="Cambria Math"/>
              </a:rPr>
              <a:t> →</a:t>
            </a:r>
            <a:r>
              <a:rPr sz="3557" b="1" i="0">
                <a:solidFill>
                  <a:srgbClr val="1A3E79"/>
                </a:solidFill>
                <a:latin typeface="Latin Modern Sans"/>
              </a:rPr>
              <a:t> NDNSF Mechanisms</a:t>
            </a:r>
          </a:p>
        </p:txBody>
      </p:sp>
      <p:sp>
        <p:nvSpPr>
          <p:cNvPr id="4" name="PDF_TEXT_GROUP_710"/>
          <p:cNvSpPr txBox="1"/>
          <p:nvPr/>
        </p:nvSpPr>
        <p:spPr>
          <a:xfrm>
            <a:off x="1107736" y="1339603"/>
            <a:ext cx="2488580"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UAV requirement</a:t>
            </a:r>
          </a:p>
        </p:txBody>
      </p:sp>
      <p:sp>
        <p:nvSpPr>
          <p:cNvPr id="5" name="PDF_TEXT_GROUP_711"/>
          <p:cNvSpPr txBox="1"/>
          <p:nvPr/>
        </p:nvSpPr>
        <p:spPr>
          <a:xfrm>
            <a:off x="5463915" y="1339603"/>
            <a:ext cx="2822228"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1" i="0">
                <a:solidFill>
                  <a:srgbClr val="000000"/>
                </a:solidFill>
                <a:latin typeface="Latin Modern Sans"/>
              </a:rPr>
              <a:t>NDNSF mechanism</a:t>
            </a:r>
          </a:p>
        </p:txBody>
      </p:sp>
      <p:sp>
        <p:nvSpPr>
          <p:cNvPr id="6" name="PDF_TEXT_GROUP_712"/>
          <p:cNvSpPr txBox="1"/>
          <p:nvPr/>
        </p:nvSpPr>
        <p:spPr>
          <a:xfrm>
            <a:off x="1107736" y="1875777"/>
            <a:ext cx="2892242" cy="75688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Mobility and changing</a:t>
            </a:r>
            <a:r>
              <a:rPr sz="2202" b="0" i="0">
                <a:solidFill>
                  <a:srgbClr val="000000"/>
                </a:solidFill>
                <a:latin typeface="Latin Modern Sans"/>
              </a:rPr>
              <a:t> reachability</a:t>
            </a:r>
          </a:p>
        </p:txBody>
      </p:sp>
      <p:sp>
        <p:nvSpPr>
          <p:cNvPr id="7" name="PDF_TEXT_GROUP_713"/>
          <p:cNvSpPr txBox="1"/>
          <p:nvPr/>
        </p:nvSpPr>
        <p:spPr>
          <a:xfrm>
            <a:off x="5463873" y="1875777"/>
            <a:ext cx="7642343" cy="111102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Service ACKs report willingness and runtime status; NDNSF</a:t>
            </a:r>
            <a:r>
              <a:rPr sz="2202" b="0" i="0">
                <a:solidFill>
                  <a:srgbClr val="000000"/>
                </a:solidFill>
                <a:latin typeface="Latin Modern Sans"/>
              </a:rPr>
              <a:t> selects a responding Provider. Optional bounded response</a:t>
            </a:r>
            <a:r>
              <a:rPr sz="2202" b="0" i="0">
                <a:solidFill>
                  <a:srgbClr val="000000"/>
                </a:solidFill>
                <a:latin typeface="Latin Modern Sans"/>
              </a:rPr>
              <a:t> reselection may run after selection.</a:t>
            </a:r>
          </a:p>
        </p:txBody>
      </p:sp>
      <p:sp>
        <p:nvSpPr>
          <p:cNvPr id="8" name="PDF_TEXT_GROUP_714"/>
          <p:cNvSpPr txBox="1"/>
          <p:nvPr/>
        </p:nvSpPr>
        <p:spPr>
          <a:xfrm>
            <a:off x="1107736" y="3120202"/>
            <a:ext cx="3222475"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Command authorization</a:t>
            </a:r>
          </a:p>
        </p:txBody>
      </p:sp>
      <p:sp>
        <p:nvSpPr>
          <p:cNvPr id="9" name="PDF_TEXT_GROUP_715"/>
          <p:cNvSpPr txBox="1"/>
          <p:nvPr/>
        </p:nvSpPr>
        <p:spPr>
          <a:xfrm>
            <a:off x="5463873" y="3120202"/>
            <a:ext cx="8193552" cy="75688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Targeted invocation with NAC-ABE, one-time tokens, and replay</a:t>
            </a:r>
            <a:r>
              <a:rPr sz="2202" b="0" i="0">
                <a:solidFill>
                  <a:srgbClr val="000000"/>
                </a:solidFill>
                <a:latin typeface="Latin Modern Sans"/>
              </a:rPr>
              <a:t> checks</a:t>
            </a:r>
          </a:p>
        </p:txBody>
      </p:sp>
      <p:sp>
        <p:nvSpPr>
          <p:cNvPr id="10" name="PDF_TEXT_GROUP_716"/>
          <p:cNvSpPr txBox="1"/>
          <p:nvPr/>
        </p:nvSpPr>
        <p:spPr>
          <a:xfrm>
            <a:off x="1107736" y="4010518"/>
            <a:ext cx="2628183"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Telemetry freshness</a:t>
            </a:r>
          </a:p>
        </p:txBody>
      </p:sp>
      <p:sp>
        <p:nvSpPr>
          <p:cNvPr id="11" name="PDF_TEXT_GROUP_717"/>
          <p:cNvSpPr txBox="1"/>
          <p:nvPr/>
        </p:nvSpPr>
        <p:spPr>
          <a:xfrm>
            <a:off x="5463828" y="4010518"/>
            <a:ext cx="8161446"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Versioned names, freshness/expiry checks, and lifecycle state</a:t>
            </a:r>
          </a:p>
        </p:txBody>
      </p:sp>
      <p:sp>
        <p:nvSpPr>
          <p:cNvPr id="12" name="PDF_TEXT_GROUP_718"/>
          <p:cNvSpPr txBox="1"/>
          <p:nvPr/>
        </p:nvSpPr>
        <p:spPr>
          <a:xfrm>
            <a:off x="1107736" y="4546691"/>
            <a:ext cx="3730229"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Video and recording objects</a:t>
            </a:r>
          </a:p>
        </p:txBody>
      </p:sp>
      <p:sp>
        <p:nvSpPr>
          <p:cNvPr id="13" name="PDF_TEXT_GROUP_719"/>
          <p:cNvSpPr txBox="1"/>
          <p:nvPr/>
        </p:nvSpPr>
        <p:spPr>
          <a:xfrm>
            <a:off x="5463873" y="4546691"/>
            <a:ext cx="7003393" cy="75688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Immutable object references, manifests, and segmented</a:t>
            </a:r>
            <a:r>
              <a:rPr sz="2202" b="0" i="0">
                <a:solidFill>
                  <a:srgbClr val="000000"/>
                </a:solidFill>
                <a:latin typeface="Latin Modern Sans"/>
              </a:rPr>
              <a:t> cache/Repo retrieval</a:t>
            </a:r>
          </a:p>
        </p:txBody>
      </p:sp>
      <p:sp>
        <p:nvSpPr>
          <p:cNvPr id="14" name="PDF_TEXT_GROUP_720"/>
          <p:cNvSpPr txBox="1"/>
          <p:nvPr/>
        </p:nvSpPr>
        <p:spPr>
          <a:xfrm>
            <a:off x="1107736" y="5436975"/>
            <a:ext cx="2779444" cy="35801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Multi-drone missions</a:t>
            </a:r>
          </a:p>
        </p:txBody>
      </p:sp>
      <p:sp>
        <p:nvSpPr>
          <p:cNvPr id="15" name="PDF_TEXT_GROUP_721"/>
          <p:cNvSpPr txBox="1"/>
          <p:nvPr/>
        </p:nvSpPr>
        <p:spPr>
          <a:xfrm>
            <a:off x="5463828" y="5436975"/>
            <a:ext cx="7674956" cy="75688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202" b="0" i="0">
                <a:solidFill>
                  <a:srgbClr val="000000"/>
                </a:solidFill>
                <a:latin typeface="Latin Modern Sans"/>
              </a:rPr>
              <a:t>Assign Providers to mission roles; accept Data only from the</a:t>
            </a:r>
            <a:r>
              <a:rPr sz="2202" b="0" i="0">
                <a:solidFill>
                  <a:srgbClr val="000000"/>
                </a:solidFill>
                <a:latin typeface="Latin Modern Sans"/>
              </a:rPr>
              <a:t> Provider assigned to the authorized preceding role.</a:t>
            </a:r>
          </a:p>
        </p:txBody>
      </p:sp>
      <p:sp>
        <p:nvSpPr>
          <p:cNvPr id="16" name="PDF_TEXT_GROUP_722"/>
          <p:cNvSpPr txBox="1"/>
          <p:nvPr/>
        </p:nvSpPr>
        <p:spPr>
          <a:xfrm>
            <a:off x="1108123" y="6748985"/>
            <a:ext cx="12100562"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Generic one-to-many calls use ACK and Selection. Targeted calls skip them only after a Provider/service</a:t>
            </a:r>
            <a:r>
              <a:rPr sz="1863" b="0" i="0">
                <a:solidFill>
                  <a:srgbClr val="000000"/>
                </a:solidFill>
                <a:latin typeface="Latin Modern Sans"/>
              </a:rPr>
              <a:t> token batch has been bootstrapped.</a:t>
            </a:r>
          </a:p>
        </p:txBody>
      </p:sp>
      <p:sp>
        <p:nvSpPr>
          <p:cNvPr id="17" name="PDF_TEXT_GROUP_7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26"/>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1" name="PDF_TEXT_GROUP_727"/>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40/64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1" descr="background-041.png"/>
          <p:cNvPicPr>
            <a:picLocks noChangeAspect="1"/>
          </p:cNvPicPr>
          <p:nvPr/>
        </p:nvPicPr>
        <p:blipFill>
          <a:blip r:embed="rId2"/>
          <a:stretch>
            <a:fillRect/>
          </a:stretch>
        </p:blipFill>
        <p:spPr>
          <a:xfrm>
            <a:off x="0" y="0"/>
            <a:ext cx="14630400" cy="8229600"/>
          </a:xfrm>
          <a:prstGeom prst="rect">
            <a:avLst/>
          </a:prstGeom>
        </p:spPr>
      </p:pic>
      <p:sp>
        <p:nvSpPr>
          <p:cNvPr id="3" name="PDF_TEXT_GROUP_7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Distributed Inference: Splitting a YOLO Model</a:t>
            </a:r>
          </a:p>
        </p:txBody>
      </p:sp>
      <p:sp>
        <p:nvSpPr>
          <p:cNvPr id="4" name="PDF_TEXT_GROUP_729"/>
          <p:cNvSpPr txBox="1"/>
          <p:nvPr/>
        </p:nvSpPr>
        <p:spPr>
          <a:xfrm>
            <a:off x="914808" y="1597686"/>
            <a:ext cx="6991584"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Layer-wise (horizontal) cuts: contiguous layer groups form</a:t>
            </a:r>
            <a:r>
              <a:rPr sz="1863" b="1" i="0">
                <a:solidFill>
                  <a:srgbClr val="000000"/>
                </a:solidFill>
                <a:latin typeface="Latin Modern Sans"/>
              </a:rPr>
              <a:t> pipeline stages</a:t>
            </a:r>
          </a:p>
        </p:txBody>
      </p:sp>
      <p:sp>
        <p:nvSpPr>
          <p:cNvPr id="5" name="PDF_TEXT_GROUP_730"/>
          <p:cNvSpPr txBox="1"/>
          <p:nvPr/>
        </p:nvSpPr>
        <p:spPr>
          <a:xfrm>
            <a:off x="8471227" y="1597686"/>
            <a:ext cx="4713399"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Tensor-wise (vertical) cut: one layer or</a:t>
            </a:r>
            <a:r>
              <a:rPr sz="1863" b="1" i="0">
                <a:solidFill>
                  <a:srgbClr val="000000"/>
                </a:solidFill>
                <a:latin typeface="Latin Modern Sans"/>
              </a:rPr>
              <a:t> stage is partitioned across devices</a:t>
            </a:r>
          </a:p>
        </p:txBody>
      </p:sp>
      <p:sp>
        <p:nvSpPr>
          <p:cNvPr id="6" name="PDF_TEXT_GROUP_731"/>
          <p:cNvSpPr txBox="1"/>
          <p:nvPr/>
        </p:nvSpPr>
        <p:spPr>
          <a:xfrm>
            <a:off x="10019941" y="2699052"/>
            <a:ext cx="232595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1A3E79"/>
                </a:solidFill>
                <a:latin typeface="Latin Modern Sans"/>
              </a:rPr>
              <a:t>YOLO Neck stage</a:t>
            </a:r>
          </a:p>
        </p:txBody>
      </p:sp>
      <p:sp>
        <p:nvSpPr>
          <p:cNvPr id="7" name="PDF_TEXT_GROUP_732"/>
          <p:cNvSpPr txBox="1"/>
          <p:nvPr/>
        </p:nvSpPr>
        <p:spPr>
          <a:xfrm>
            <a:off x="2879671" y="2976058"/>
            <a:ext cx="1244550"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YOLO</a:t>
            </a:r>
            <a:br/>
            <a:r>
              <a:rPr sz="1863" b="0" i="0">
                <a:solidFill>
                  <a:srgbClr val="000000"/>
                </a:solidFill>
                <a:latin typeface="Latin Modern Sans"/>
              </a:rPr>
              <a:t>Backbone</a:t>
            </a:r>
          </a:p>
        </p:txBody>
      </p:sp>
      <p:sp>
        <p:nvSpPr>
          <p:cNvPr id="8" name="PDF_TEXT_GROUP_733"/>
          <p:cNvSpPr txBox="1"/>
          <p:nvPr/>
        </p:nvSpPr>
        <p:spPr>
          <a:xfrm>
            <a:off x="6288242" y="2976058"/>
            <a:ext cx="1230146"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Detection</a:t>
            </a:r>
            <a:br/>
            <a:r>
              <a:rPr sz="1863" b="0" i="0">
                <a:solidFill>
                  <a:srgbClr val="000000"/>
                </a:solidFill>
                <a:latin typeface="Latin Modern Sans"/>
              </a:rPr>
              <a:t>head</a:t>
            </a:r>
          </a:p>
        </p:txBody>
      </p:sp>
      <p:sp>
        <p:nvSpPr>
          <p:cNvPr id="9" name="PDF_TEXT_GROUP_734"/>
          <p:cNvSpPr txBox="1"/>
          <p:nvPr/>
        </p:nvSpPr>
        <p:spPr>
          <a:xfrm>
            <a:off x="1574370" y="3103929"/>
            <a:ext cx="8243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Image</a:t>
            </a:r>
          </a:p>
        </p:txBody>
      </p:sp>
      <p:sp>
        <p:nvSpPr>
          <p:cNvPr id="10" name="PDF_TEXT_GROUP_735"/>
          <p:cNvSpPr txBox="1"/>
          <p:nvPr/>
        </p:nvSpPr>
        <p:spPr>
          <a:xfrm>
            <a:off x="4895030" y="3128974"/>
            <a:ext cx="7113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Neck</a:t>
            </a:r>
          </a:p>
        </p:txBody>
      </p:sp>
      <p:sp>
        <p:nvSpPr>
          <p:cNvPr id="11" name="PDF_TEXT_GROUP_736"/>
          <p:cNvSpPr txBox="1"/>
          <p:nvPr/>
        </p:nvSpPr>
        <p:spPr>
          <a:xfrm>
            <a:off x="10465340" y="3182100"/>
            <a:ext cx="140489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Partition A</a:t>
            </a:r>
          </a:p>
        </p:txBody>
      </p:sp>
      <p:sp>
        <p:nvSpPr>
          <p:cNvPr id="12" name="PDF_TEXT_GROUP_737"/>
          <p:cNvSpPr txBox="1"/>
          <p:nvPr/>
        </p:nvSpPr>
        <p:spPr>
          <a:xfrm>
            <a:off x="3581941" y="3807037"/>
            <a:ext cx="893617"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1A3E79"/>
                </a:solidFill>
                <a:latin typeface="Latin Modern Sans"/>
              </a:rPr>
              <a:t>stage cut</a:t>
            </a:r>
          </a:p>
        </p:txBody>
      </p:sp>
      <p:sp>
        <p:nvSpPr>
          <p:cNvPr id="13" name="PDF_TEXT_GROUP_738"/>
          <p:cNvSpPr txBox="1"/>
          <p:nvPr/>
        </p:nvSpPr>
        <p:spPr>
          <a:xfrm>
            <a:off x="5228603" y="3807037"/>
            <a:ext cx="893617"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1A3E79"/>
                </a:solidFill>
                <a:latin typeface="Latin Modern Sans"/>
              </a:rPr>
              <a:t>stage cut</a:t>
            </a:r>
          </a:p>
        </p:txBody>
      </p:sp>
      <p:sp>
        <p:nvSpPr>
          <p:cNvPr id="14" name="PDF_TEXT_GROUP_739"/>
          <p:cNvSpPr txBox="1"/>
          <p:nvPr/>
        </p:nvSpPr>
        <p:spPr>
          <a:xfrm>
            <a:off x="10465340" y="3823298"/>
            <a:ext cx="140489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Partition B</a:t>
            </a:r>
          </a:p>
        </p:txBody>
      </p:sp>
      <p:sp>
        <p:nvSpPr>
          <p:cNvPr id="15" name="PDF_TEXT_GROUP_740"/>
          <p:cNvSpPr txBox="1"/>
          <p:nvPr/>
        </p:nvSpPr>
        <p:spPr>
          <a:xfrm>
            <a:off x="914808" y="4669923"/>
            <a:ext cx="6939472"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Each stage owns a contiguous layer range and sends named</a:t>
            </a:r>
            <a:r>
              <a:rPr sz="1863" b="0" i="0">
                <a:solidFill>
                  <a:srgbClr val="000000"/>
                </a:solidFill>
                <a:latin typeface="Latin Modern Sans"/>
              </a:rPr>
              <a:t> intermediate activations to the next stage.</a:t>
            </a:r>
          </a:p>
        </p:txBody>
      </p:sp>
      <p:sp>
        <p:nvSpPr>
          <p:cNvPr id="16" name="PDF_TEXT_GROUP_741"/>
          <p:cNvSpPr txBox="1"/>
          <p:nvPr/>
        </p:nvSpPr>
        <p:spPr>
          <a:xfrm>
            <a:off x="8471227" y="4890119"/>
            <a:ext cx="5134929"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Each partition computes a slice of the same</a:t>
            </a:r>
            <a:r>
              <a:rPr sz="1863" b="0" i="0">
                <a:solidFill>
                  <a:srgbClr val="000000"/>
                </a:solidFill>
                <a:latin typeface="Latin Modern Sans"/>
              </a:rPr>
              <a:t> layer or stage; partial outputs may require</a:t>
            </a:r>
            <a:r>
              <a:rPr sz="1863" b="0" i="0">
                <a:solidFill>
                  <a:srgbClr val="000000"/>
                </a:solidFill>
                <a:latin typeface="Latin Modern Sans"/>
              </a:rPr>
              <a:t> exchange or aggregation.</a:t>
            </a:r>
          </a:p>
        </p:txBody>
      </p:sp>
      <p:sp>
        <p:nvSpPr>
          <p:cNvPr id="17" name="PDF_TEXT_GROUP_742"/>
          <p:cNvSpPr txBox="1"/>
          <p:nvPr/>
        </p:nvSpPr>
        <p:spPr>
          <a:xfrm>
            <a:off x="1092471" y="6352090"/>
            <a:ext cx="12349318"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 hybrid layout combines layer-wise pipeline cuts with tensor-wise partitions; NDNSF assigns each stage or</a:t>
            </a:r>
            <a:r>
              <a:rPr sz="1863" b="0" i="0">
                <a:solidFill>
                  <a:srgbClr val="000000"/>
                </a:solidFill>
                <a:latin typeface="Latin Modern Sans"/>
              </a:rPr>
              <a:t> partition and device to the selected Providers.</a:t>
            </a:r>
          </a:p>
        </p:txBody>
      </p:sp>
      <p:sp>
        <p:nvSpPr>
          <p:cNvPr id="18" name="PDF_TEXT_GROUP_74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74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74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746"/>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2" name="PDF_TEXT_GROUP_747"/>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41/64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2" descr="background-042.png"/>
          <p:cNvPicPr>
            <a:picLocks noChangeAspect="1"/>
          </p:cNvPicPr>
          <p:nvPr/>
        </p:nvPicPr>
        <p:blipFill>
          <a:blip r:embed="rId2"/>
          <a:stretch>
            <a:fillRect/>
          </a:stretch>
        </p:blipFill>
        <p:spPr>
          <a:xfrm>
            <a:off x="0" y="0"/>
            <a:ext cx="14630400" cy="8229600"/>
          </a:xfrm>
          <a:prstGeom prst="rect">
            <a:avLst/>
          </a:prstGeom>
        </p:spPr>
      </p:pic>
      <p:sp>
        <p:nvSpPr>
          <p:cNvPr id="3" name="PDF_TEXT_GROUP_74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Distributed Inference Challenge</a:t>
            </a:r>
          </a:p>
        </p:txBody>
      </p:sp>
      <p:sp>
        <p:nvSpPr>
          <p:cNvPr id="4" name="PDF_TEXT_GROUP_749"/>
          <p:cNvSpPr txBox="1"/>
          <p:nvPr/>
        </p:nvSpPr>
        <p:spPr>
          <a:xfrm>
            <a:off x="914808" y="1752605"/>
            <a:ext cx="4350361"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Information available for one YOLO</a:t>
            </a:r>
            <a:r>
              <a:rPr sz="1863" b="1" i="0">
                <a:solidFill>
                  <a:srgbClr val="000000"/>
                </a:solidFill>
                <a:latin typeface="Latin Modern Sans"/>
              </a:rPr>
              <a:t> request</a:t>
            </a:r>
          </a:p>
        </p:txBody>
      </p:sp>
      <p:sp>
        <p:nvSpPr>
          <p:cNvPr id="5" name="PDF_TEXT_GROUP_750"/>
          <p:cNvSpPr txBox="1"/>
          <p:nvPr/>
        </p:nvSpPr>
        <p:spPr>
          <a:xfrm>
            <a:off x="6165971" y="1752605"/>
            <a:ext cx="34312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Example collaboration plan</a:t>
            </a:r>
          </a:p>
        </p:txBody>
      </p:sp>
      <p:sp>
        <p:nvSpPr>
          <p:cNvPr id="6" name="PDF_TEXT_GROUP_751"/>
          <p:cNvSpPr txBox="1"/>
          <p:nvPr/>
        </p:nvSpPr>
        <p:spPr>
          <a:xfrm>
            <a:off x="1618972" y="2460890"/>
            <a:ext cx="4290789"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signed NDN Data objects containing</a:t>
            </a:r>
            <a:r>
              <a:rPr sz="1863" b="0" i="0">
                <a:solidFill>
                  <a:srgbClr val="000000"/>
                </a:solidFill>
                <a:latin typeface="Latin Modern Sans"/>
              </a:rPr>
              <a:t> reusable YOLO layer artifacts;</a:t>
            </a:r>
          </a:p>
        </p:txBody>
      </p:sp>
      <p:sp>
        <p:nvSpPr>
          <p:cNvPr id="7" name="PDF_TEXT_GROUP_752"/>
          <p:cNvSpPr txBox="1"/>
          <p:nvPr/>
        </p:nvSpPr>
        <p:spPr>
          <a:xfrm>
            <a:off x="7180503" y="2541904"/>
            <a:ext cx="130879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P2 / CPU</a:t>
            </a:r>
          </a:p>
        </p:txBody>
      </p:sp>
      <p:sp>
        <p:nvSpPr>
          <p:cNvPr id="8" name="PDF_TEXT_GROUP_753"/>
          <p:cNvSpPr txBox="1"/>
          <p:nvPr/>
        </p:nvSpPr>
        <p:spPr>
          <a:xfrm>
            <a:off x="9202177" y="2541904"/>
            <a:ext cx="13164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P3 / GPU</a:t>
            </a:r>
          </a:p>
        </p:txBody>
      </p:sp>
      <p:sp>
        <p:nvSpPr>
          <p:cNvPr id="9" name="PDF_TEXT_GROUP_754"/>
          <p:cNvSpPr txBox="1"/>
          <p:nvPr/>
        </p:nvSpPr>
        <p:spPr>
          <a:xfrm>
            <a:off x="11382375" y="2541904"/>
            <a:ext cx="13164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P4 / GPU</a:t>
            </a:r>
          </a:p>
        </p:txBody>
      </p:sp>
      <p:sp>
        <p:nvSpPr>
          <p:cNvPr id="10" name="PDF_TEXT_GROUP_755"/>
          <p:cNvSpPr txBox="1"/>
          <p:nvPr/>
        </p:nvSpPr>
        <p:spPr>
          <a:xfrm>
            <a:off x="7205740" y="2847735"/>
            <a:ext cx="125853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Backbone</a:t>
            </a:r>
          </a:p>
        </p:txBody>
      </p:sp>
      <p:sp>
        <p:nvSpPr>
          <p:cNvPr id="11" name="PDF_TEXT_GROUP_756"/>
          <p:cNvSpPr txBox="1"/>
          <p:nvPr/>
        </p:nvSpPr>
        <p:spPr>
          <a:xfrm>
            <a:off x="9504736" y="2847735"/>
            <a:ext cx="7113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Neck</a:t>
            </a:r>
          </a:p>
        </p:txBody>
      </p:sp>
      <p:sp>
        <p:nvSpPr>
          <p:cNvPr id="12" name="PDF_TEXT_GROUP_757"/>
          <p:cNvSpPr txBox="1"/>
          <p:nvPr/>
        </p:nvSpPr>
        <p:spPr>
          <a:xfrm>
            <a:off x="11105506" y="2847735"/>
            <a:ext cx="187014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Detection head</a:t>
            </a:r>
          </a:p>
        </p:txBody>
      </p:sp>
      <p:sp>
        <p:nvSpPr>
          <p:cNvPr id="13" name="PDF_TEXT_GROUP_758"/>
          <p:cNvSpPr txBox="1"/>
          <p:nvPr/>
        </p:nvSpPr>
        <p:spPr>
          <a:xfrm>
            <a:off x="1618972" y="3169174"/>
            <a:ext cx="4196442"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ONNX Runtime plus an NDNSF-DI</a:t>
            </a:r>
            <a:r>
              <a:rPr sz="1863" b="0" i="0">
                <a:solidFill>
                  <a:srgbClr val="000000"/>
                </a:solidFill>
                <a:latin typeface="Latin Modern Sans"/>
              </a:rPr>
              <a:t> adapter that interprets and splits</a:t>
            </a:r>
            <a:r>
              <a:rPr sz="1863" b="0" i="0">
                <a:solidFill>
                  <a:srgbClr val="000000"/>
                </a:solidFill>
                <a:latin typeface="Latin Modern Sans"/>
              </a:rPr>
              <a:t> the model;</a:t>
            </a:r>
          </a:p>
        </p:txBody>
      </p:sp>
      <p:sp>
        <p:nvSpPr>
          <p:cNvPr id="14" name="PDF_TEXT_GROUP_759"/>
          <p:cNvSpPr txBox="1"/>
          <p:nvPr/>
        </p:nvSpPr>
        <p:spPr>
          <a:xfrm>
            <a:off x="6870102" y="3654095"/>
            <a:ext cx="6907757"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P2, P3, and P4 receive only their assigned model parts and</a:t>
            </a:r>
            <a:r>
              <a:rPr sz="1863" b="0" i="0">
                <a:solidFill>
                  <a:srgbClr val="000000"/>
                </a:solidFill>
                <a:latin typeface="Latin Modern Sans"/>
              </a:rPr>
              <a:t> device instructions.</a:t>
            </a:r>
          </a:p>
        </p:txBody>
      </p:sp>
      <p:sp>
        <p:nvSpPr>
          <p:cNvPr id="15" name="PDF_TEXT_GROUP_760"/>
          <p:cNvSpPr txBox="1"/>
          <p:nvPr/>
        </p:nvSpPr>
        <p:spPr>
          <a:xfrm>
            <a:off x="1618972" y="4183289"/>
            <a:ext cx="3615591"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Provider offers describing</a:t>
            </a:r>
            <a:r>
              <a:rPr sz="1863" b="0" i="0">
                <a:solidFill>
                  <a:srgbClr val="000000"/>
                </a:solidFill>
                <a:latin typeface="Latin Modern Sans"/>
              </a:rPr>
              <a:t> CPU/GPU, memory, load, and</a:t>
            </a:r>
            <a:r>
              <a:rPr sz="1863" b="0" i="0">
                <a:solidFill>
                  <a:srgbClr val="000000"/>
                </a:solidFill>
                <a:latin typeface="Latin Modern Sans"/>
              </a:rPr>
              <a:t> cached layers;</a:t>
            </a:r>
          </a:p>
        </p:txBody>
      </p:sp>
      <p:sp>
        <p:nvSpPr>
          <p:cNvPr id="16" name="PDF_TEXT_GROUP_761"/>
          <p:cNvSpPr txBox="1"/>
          <p:nvPr/>
        </p:nvSpPr>
        <p:spPr>
          <a:xfrm>
            <a:off x="6870102" y="4362380"/>
            <a:ext cx="6474729"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Named intermediate tensors connect the assigned roles;</a:t>
            </a:r>
            <a:r>
              <a:rPr sz="1863" b="0" i="0">
                <a:solidFill>
                  <a:srgbClr val="000000"/>
                </a:solidFill>
                <a:latin typeface="Latin Modern Sans"/>
              </a:rPr>
              <a:t> each pipeline stage is a DI role.</a:t>
            </a:r>
          </a:p>
        </p:txBody>
      </p:sp>
      <p:sp>
        <p:nvSpPr>
          <p:cNvPr id="17" name="PDF_TEXT_GROUP_762"/>
          <p:cNvSpPr txBox="1"/>
          <p:nvPr/>
        </p:nvSpPr>
        <p:spPr>
          <a:xfrm>
            <a:off x="6870102" y="5070664"/>
            <a:ext cx="6194130"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plan is fixed only after signed Provider offers are</a:t>
            </a:r>
            <a:r>
              <a:rPr sz="1863" b="0" i="0">
                <a:solidFill>
                  <a:srgbClr val="000000"/>
                </a:solidFill>
                <a:latin typeface="Latin Modern Sans"/>
              </a:rPr>
              <a:t> collected.</a:t>
            </a:r>
          </a:p>
        </p:txBody>
      </p:sp>
      <p:sp>
        <p:nvSpPr>
          <p:cNvPr id="18" name="PDF_TEXT_GROUP_763"/>
          <p:cNvSpPr txBox="1"/>
          <p:nvPr/>
        </p:nvSpPr>
        <p:spPr>
          <a:xfrm>
            <a:off x="1618972" y="5197436"/>
            <a:ext cx="367413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input image and deadline.</a:t>
            </a:r>
          </a:p>
        </p:txBody>
      </p:sp>
      <p:sp>
        <p:nvSpPr>
          <p:cNvPr id="19" name="PDF_TEXT_GROUP_764"/>
          <p:cNvSpPr txBox="1"/>
          <p:nvPr/>
        </p:nvSpPr>
        <p:spPr>
          <a:xfrm>
            <a:off x="1092471" y="6103425"/>
            <a:ext cx="12556662"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 proposed collaboration plan states which Provider runs each role, on which device, with which model part,</a:t>
            </a:r>
            <a:r>
              <a:rPr sz="1863" b="0" i="0">
                <a:solidFill>
                  <a:srgbClr val="000000"/>
                </a:solidFill>
                <a:latin typeface="Latin Modern Sans"/>
              </a:rPr>
              <a:t> and which Data may flow to the downstream role.</a:t>
            </a:r>
          </a:p>
        </p:txBody>
      </p:sp>
      <p:sp>
        <p:nvSpPr>
          <p:cNvPr id="20" name="PDF_TEXT_GROUP_76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1" name="PDF_TEXT_GROUP_76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2" name="PDF_TEXT_GROUP_76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3" name="PDF_TEXT_GROUP_76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4" name="PDF_TEXT_GROUP_769"/>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42/64</a:t>
            </a:r>
          </a:p>
        </p:txBody>
      </p:sp>
      <p:sp>
        <p:nvSpPr>
          <p:cNvPr id="25" name="PDF_BULLET_SPAN_1217"/>
          <p:cNvSpPr/>
          <p:nvPr/>
        </p:nvSpPr>
        <p:spPr>
          <a:xfrm rot="5400000">
            <a:off x="1270872" y="2523568"/>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DF_BULLET_SPAN_1220"/>
          <p:cNvSpPr/>
          <p:nvPr/>
        </p:nvSpPr>
        <p:spPr>
          <a:xfrm rot="5400000">
            <a:off x="1270872" y="3231852"/>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DF_BULLET_SPAN_1224"/>
          <p:cNvSpPr/>
          <p:nvPr/>
        </p:nvSpPr>
        <p:spPr>
          <a:xfrm rot="5400000">
            <a:off x="1270872" y="4245967"/>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DF_BULLET_SPAN_1228"/>
          <p:cNvSpPr/>
          <p:nvPr/>
        </p:nvSpPr>
        <p:spPr>
          <a:xfrm rot="5400000">
            <a:off x="1270872" y="5260114"/>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DF_BULLET_SPAN_1237"/>
          <p:cNvSpPr/>
          <p:nvPr/>
        </p:nvSpPr>
        <p:spPr>
          <a:xfrm rot="5400000">
            <a:off x="6522002" y="3716774"/>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DF_BULLET_SPAN_1240"/>
          <p:cNvSpPr/>
          <p:nvPr/>
        </p:nvSpPr>
        <p:spPr>
          <a:xfrm rot="5400000">
            <a:off x="6522002" y="4425058"/>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DF_BULLET_SPAN_1243"/>
          <p:cNvSpPr/>
          <p:nvPr/>
        </p:nvSpPr>
        <p:spPr>
          <a:xfrm rot="5400000">
            <a:off x="6522002" y="5133342"/>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3" descr="background-043.png"/>
          <p:cNvPicPr>
            <a:picLocks noChangeAspect="1"/>
          </p:cNvPicPr>
          <p:nvPr/>
        </p:nvPicPr>
        <p:blipFill>
          <a:blip r:embed="rId2"/>
          <a:stretch>
            <a:fillRect/>
          </a:stretch>
        </p:blipFill>
        <p:spPr>
          <a:xfrm>
            <a:off x="0" y="0"/>
            <a:ext cx="14630400" cy="8229600"/>
          </a:xfrm>
          <a:prstGeom prst="rect">
            <a:avLst/>
          </a:prstGeom>
        </p:spPr>
      </p:pic>
      <p:sp>
        <p:nvSpPr>
          <p:cNvPr id="3" name="PDF_TEXT_GROUP_770"/>
          <p:cNvSpPr txBox="1"/>
          <p:nvPr/>
        </p:nvSpPr>
        <p:spPr>
          <a:xfrm>
            <a:off x="183009" y="294111"/>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Requirements</a:t>
            </a:r>
            <a:r>
              <a:rPr sz="3557" b="0" i="0">
                <a:solidFill>
                  <a:srgbClr val="1A3E79"/>
                </a:solidFill>
                <a:latin typeface="Cambria Math"/>
              </a:rPr>
              <a:t> →</a:t>
            </a:r>
            <a:r>
              <a:rPr sz="3557" b="1" i="0">
                <a:solidFill>
                  <a:srgbClr val="1A3E79"/>
                </a:solidFill>
                <a:latin typeface="Latin Modern Sans"/>
              </a:rPr>
              <a:t> Proposed NDNSF-DI Mechanisms</a:t>
            </a:r>
          </a:p>
        </p:txBody>
      </p:sp>
      <p:sp>
        <p:nvSpPr>
          <p:cNvPr id="4" name="PDF_TEXT_GROUP_771"/>
          <p:cNvSpPr txBox="1"/>
          <p:nvPr/>
        </p:nvSpPr>
        <p:spPr>
          <a:xfrm>
            <a:off x="1011272" y="1545304"/>
            <a:ext cx="42868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Distributed-inference requirement</a:t>
            </a:r>
          </a:p>
        </p:txBody>
      </p:sp>
      <p:sp>
        <p:nvSpPr>
          <p:cNvPr id="5" name="PDF_TEXT_GROUP_772"/>
          <p:cNvSpPr txBox="1"/>
          <p:nvPr/>
        </p:nvSpPr>
        <p:spPr>
          <a:xfrm>
            <a:off x="5814957" y="1545304"/>
            <a:ext cx="25083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NDNSF mechanism</a:t>
            </a:r>
          </a:p>
        </p:txBody>
      </p:sp>
      <p:sp>
        <p:nvSpPr>
          <p:cNvPr id="6" name="PDF_TEXT_GROUP_773"/>
          <p:cNvSpPr txBox="1"/>
          <p:nvPr/>
        </p:nvSpPr>
        <p:spPr>
          <a:xfrm>
            <a:off x="1011272" y="2033166"/>
            <a:ext cx="4408673"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Run a model that does not fit on one</a:t>
            </a:r>
            <a:r>
              <a:rPr sz="1863" b="0" i="0">
                <a:solidFill>
                  <a:srgbClr val="000000"/>
                </a:solidFill>
                <a:latin typeface="Latin Modern Sans"/>
              </a:rPr>
              <a:t> available device</a:t>
            </a:r>
          </a:p>
        </p:txBody>
      </p:sp>
      <p:sp>
        <p:nvSpPr>
          <p:cNvPr id="7" name="PDF_TEXT_GROUP_774"/>
          <p:cNvSpPr txBox="1"/>
          <p:nvPr/>
        </p:nvSpPr>
        <p:spPr>
          <a:xfrm>
            <a:off x="5814906" y="2033166"/>
            <a:ext cx="7684248"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Split the model into pipeline stages and, where supported, parallel</a:t>
            </a:r>
            <a:r>
              <a:rPr sz="1863" b="0" i="0">
                <a:solidFill>
                  <a:srgbClr val="000000"/>
                </a:solidFill>
                <a:latin typeface="Latin Modern Sans"/>
              </a:rPr>
              <a:t> tensor partitions</a:t>
            </a:r>
          </a:p>
        </p:txBody>
      </p:sp>
      <p:sp>
        <p:nvSpPr>
          <p:cNvPr id="8" name="PDF_TEXT_GROUP_775"/>
          <p:cNvSpPr txBox="1"/>
          <p:nvPr/>
        </p:nvSpPr>
        <p:spPr>
          <a:xfrm>
            <a:off x="1011272" y="2826891"/>
            <a:ext cx="4016877"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Use heterogeneous CPU and GPU</a:t>
            </a:r>
            <a:r>
              <a:rPr sz="1863" b="0" i="0">
                <a:solidFill>
                  <a:srgbClr val="000000"/>
                </a:solidFill>
                <a:latin typeface="Latin Modern Sans"/>
              </a:rPr>
              <a:t> Providers effectively</a:t>
            </a:r>
          </a:p>
        </p:txBody>
      </p:sp>
      <p:sp>
        <p:nvSpPr>
          <p:cNvPr id="9" name="PDF_TEXT_GROUP_776"/>
          <p:cNvSpPr txBox="1"/>
          <p:nvPr/>
        </p:nvSpPr>
        <p:spPr>
          <a:xfrm>
            <a:off x="5814906" y="2826891"/>
            <a:ext cx="7537042"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Collect signed Provider offers, then choose Providers and devices</a:t>
            </a:r>
            <a:r>
              <a:rPr sz="1863" b="0" i="0">
                <a:solidFill>
                  <a:srgbClr val="000000"/>
                </a:solidFill>
                <a:latin typeface="Latin Modern Sans"/>
              </a:rPr>
              <a:t> after the ACK window closes</a:t>
            </a:r>
          </a:p>
        </p:txBody>
      </p:sp>
      <p:sp>
        <p:nvSpPr>
          <p:cNvPr id="10" name="PDF_TEXT_GROUP_777"/>
          <p:cNvSpPr txBox="1"/>
          <p:nvPr/>
        </p:nvSpPr>
        <p:spPr>
          <a:xfrm>
            <a:off x="1011272" y="3620617"/>
            <a:ext cx="4237005"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Avoid copying a complete model for</a:t>
            </a:r>
            <a:r>
              <a:rPr sz="1863" b="0" i="0">
                <a:solidFill>
                  <a:srgbClr val="000000"/>
                </a:solidFill>
                <a:latin typeface="Latin Modern Sans"/>
              </a:rPr>
              <a:t> every request</a:t>
            </a:r>
          </a:p>
        </p:txBody>
      </p:sp>
      <p:sp>
        <p:nvSpPr>
          <p:cNvPr id="11" name="PDF_TEXT_GROUP_778"/>
          <p:cNvSpPr txBox="1"/>
          <p:nvPr/>
        </p:nvSpPr>
        <p:spPr>
          <a:xfrm>
            <a:off x="5814906" y="3620617"/>
            <a:ext cx="7277843"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Reuse signed layer artifacts from an NDN Repo or cache; each</a:t>
            </a:r>
            <a:r>
              <a:rPr sz="1863" b="0" i="0">
                <a:solidFill>
                  <a:srgbClr val="000000"/>
                </a:solidFill>
                <a:latin typeface="Latin Modern Sans"/>
              </a:rPr>
              <a:t> Provider prepares only its assigned model part</a:t>
            </a:r>
          </a:p>
        </p:txBody>
      </p:sp>
      <p:sp>
        <p:nvSpPr>
          <p:cNvPr id="12" name="PDF_TEXT_GROUP_779"/>
          <p:cNvSpPr txBox="1"/>
          <p:nvPr/>
        </p:nvSpPr>
        <p:spPr>
          <a:xfrm>
            <a:off x="1011272" y="4414342"/>
            <a:ext cx="4336986"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Send intermediate tensors only along</a:t>
            </a:r>
            <a:r>
              <a:rPr sz="1863" b="0" i="0">
                <a:solidFill>
                  <a:srgbClr val="000000"/>
                </a:solidFill>
                <a:latin typeface="Latin Modern Sans"/>
              </a:rPr>
              <a:t> the planned pipeline</a:t>
            </a:r>
          </a:p>
        </p:txBody>
      </p:sp>
      <p:sp>
        <p:nvSpPr>
          <p:cNvPr id="13" name="PDF_TEXT_GROUP_780"/>
          <p:cNvSpPr txBox="1"/>
          <p:nvPr/>
        </p:nvSpPr>
        <p:spPr>
          <a:xfrm>
            <a:off x="5814906" y="4414342"/>
            <a:ext cx="7545453"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Assign Providers to roles and verify each tensor’s request, signer,</a:t>
            </a:r>
            <a:r>
              <a:rPr sz="1863" b="0" i="0">
                <a:solidFill>
                  <a:srgbClr val="000000"/>
                </a:solidFill>
                <a:latin typeface="Latin Modern Sans"/>
              </a:rPr>
              <a:t> preceding role, and name</a:t>
            </a:r>
          </a:p>
        </p:txBody>
      </p:sp>
      <p:sp>
        <p:nvSpPr>
          <p:cNvPr id="14" name="PDF_TEXT_GROUP_781"/>
          <p:cNvSpPr txBox="1"/>
          <p:nvPr/>
        </p:nvSpPr>
        <p:spPr>
          <a:xfrm>
            <a:off x="1011272" y="5208068"/>
            <a:ext cx="4081336"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Continue when a selected Provider</a:t>
            </a:r>
            <a:r>
              <a:rPr sz="1863" b="0" i="0">
                <a:solidFill>
                  <a:srgbClr val="000000"/>
                </a:solidFill>
                <a:latin typeface="Latin Modern Sans"/>
              </a:rPr>
              <a:t> becomes unavailable</a:t>
            </a:r>
          </a:p>
        </p:txBody>
      </p:sp>
      <p:sp>
        <p:nvSpPr>
          <p:cNvPr id="15" name="PDF_TEXT_GROUP_782"/>
          <p:cNvSpPr txBox="1"/>
          <p:nvPr/>
        </p:nvSpPr>
        <p:spPr>
          <a:xfrm>
            <a:off x="5814906" y="5208068"/>
            <a:ext cx="7148128"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Use authenticated status and bounded replanning or Provider</a:t>
            </a:r>
            <a:r>
              <a:rPr sz="1863" b="0" i="0">
                <a:solidFill>
                  <a:srgbClr val="000000"/>
                </a:solidFill>
                <a:latin typeface="Latin Modern Sans"/>
              </a:rPr>
              <a:t> reselection within the request deadline</a:t>
            </a:r>
          </a:p>
        </p:txBody>
      </p:sp>
      <p:sp>
        <p:nvSpPr>
          <p:cNvPr id="16" name="PDF_TEXT_GROUP_783"/>
          <p:cNvSpPr txBox="1"/>
          <p:nvPr/>
        </p:nvSpPr>
        <p:spPr>
          <a:xfrm>
            <a:off x="1092471" y="6423248"/>
            <a:ext cx="12380956"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NDNSF carries Request, ACK, Selection, and Data. Proposed NDNSF-DI mechanisms interpret the model,</a:t>
            </a:r>
            <a:r>
              <a:rPr sz="1863" b="0" i="0">
                <a:solidFill>
                  <a:srgbClr val="000000"/>
                </a:solidFill>
                <a:latin typeface="Latin Modern Sans"/>
              </a:rPr>
              <a:t> choose the split, assign devices, and run each model part.</a:t>
            </a:r>
          </a:p>
        </p:txBody>
      </p:sp>
      <p:sp>
        <p:nvSpPr>
          <p:cNvPr id="17" name="PDF_TEXT_GROUP_78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8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8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87"/>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1" name="PDF_TEXT_GROUP_788"/>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43/64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4" descr="background-044.png"/>
          <p:cNvPicPr>
            <a:picLocks noChangeAspect="1"/>
          </p:cNvPicPr>
          <p:nvPr/>
        </p:nvPicPr>
        <p:blipFill>
          <a:blip r:embed="rId2"/>
          <a:stretch>
            <a:fillRect/>
          </a:stretch>
        </p:blipFill>
        <p:spPr>
          <a:xfrm>
            <a:off x="0" y="0"/>
            <a:ext cx="14630400" cy="8229600"/>
          </a:xfrm>
          <a:prstGeom prst="rect">
            <a:avLst/>
          </a:prstGeom>
        </p:spPr>
      </p:pic>
      <p:sp>
        <p:nvSpPr>
          <p:cNvPr id="3" name="PDF_TEXT_GROUP_78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Post-v0.1: From Application Roles to an Execution Plan</a:t>
            </a:r>
          </a:p>
        </p:txBody>
      </p:sp>
      <p:sp>
        <p:nvSpPr>
          <p:cNvPr id="4" name="PDF_TEXT_GROUP_790"/>
          <p:cNvSpPr txBox="1"/>
          <p:nvPr/>
        </p:nvSpPr>
        <p:spPr>
          <a:xfrm>
            <a:off x="9111651" y="1412811"/>
            <a:ext cx="377813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Example after ACK collection</a:t>
            </a:r>
          </a:p>
        </p:txBody>
      </p:sp>
      <p:sp>
        <p:nvSpPr>
          <p:cNvPr id="5" name="PDF_TEXT_GROUP_791"/>
          <p:cNvSpPr txBox="1"/>
          <p:nvPr/>
        </p:nvSpPr>
        <p:spPr>
          <a:xfrm>
            <a:off x="3246808" y="1914666"/>
            <a:ext cx="3148687" cy="963470"/>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Application description</a:t>
            </a:r>
            <a:br/>
            <a:r>
              <a:rPr sz="1863" b="0" i="0">
                <a:solidFill>
                  <a:srgbClr val="000000"/>
                </a:solidFill>
                <a:latin typeface="Latin Modern Sans"/>
              </a:rPr>
              <a:t>roles, services, allowed</a:t>
            </a:r>
            <a:br/>
            <a:r>
              <a:rPr sz="1863" b="0" i="0">
                <a:solidFill>
                  <a:srgbClr val="000000"/>
                </a:solidFill>
                <a:latin typeface="Latin Modern Sans"/>
              </a:rPr>
              <a:t>Data flow, and constraints</a:t>
            </a:r>
          </a:p>
        </p:txBody>
      </p:sp>
      <p:sp>
        <p:nvSpPr>
          <p:cNvPr id="6" name="PDF_TEXT_GROUP_792"/>
          <p:cNvSpPr txBox="1"/>
          <p:nvPr/>
        </p:nvSpPr>
        <p:spPr>
          <a:xfrm>
            <a:off x="9111651" y="1930662"/>
            <a:ext cx="64216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Role</a:t>
            </a:r>
          </a:p>
        </p:txBody>
      </p:sp>
      <p:sp>
        <p:nvSpPr>
          <p:cNvPr id="7" name="PDF_TEXT_GROUP_793"/>
          <p:cNvSpPr txBox="1"/>
          <p:nvPr/>
        </p:nvSpPr>
        <p:spPr>
          <a:xfrm>
            <a:off x="10599532" y="1930662"/>
            <a:ext cx="109365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Provider</a:t>
            </a:r>
          </a:p>
        </p:txBody>
      </p:sp>
      <p:sp>
        <p:nvSpPr>
          <p:cNvPr id="8" name="PDF_TEXT_GROUP_794"/>
          <p:cNvSpPr txBox="1"/>
          <p:nvPr/>
        </p:nvSpPr>
        <p:spPr>
          <a:xfrm>
            <a:off x="9111651" y="2418524"/>
            <a:ext cx="10436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Capture</a:t>
            </a:r>
          </a:p>
        </p:txBody>
      </p:sp>
      <p:sp>
        <p:nvSpPr>
          <p:cNvPr id="9" name="PDF_TEXT_GROUP_795"/>
          <p:cNvSpPr txBox="1"/>
          <p:nvPr/>
        </p:nvSpPr>
        <p:spPr>
          <a:xfrm>
            <a:off x="10599712" y="2418524"/>
            <a:ext cx="8911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UAV-1</a:t>
            </a:r>
          </a:p>
        </p:txBody>
      </p:sp>
      <p:sp>
        <p:nvSpPr>
          <p:cNvPr id="10" name="PDF_TEXT_GROUP_796"/>
          <p:cNvSpPr txBox="1"/>
          <p:nvPr/>
        </p:nvSpPr>
        <p:spPr>
          <a:xfrm>
            <a:off x="9111651" y="2724388"/>
            <a:ext cx="12441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Detection</a:t>
            </a:r>
          </a:p>
        </p:txBody>
      </p:sp>
      <p:sp>
        <p:nvSpPr>
          <p:cNvPr id="11" name="PDF_TEXT_GROUP_797"/>
          <p:cNvSpPr txBox="1"/>
          <p:nvPr/>
        </p:nvSpPr>
        <p:spPr>
          <a:xfrm>
            <a:off x="10599609" y="2724388"/>
            <a:ext cx="93289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Edge-2</a:t>
            </a:r>
          </a:p>
        </p:txBody>
      </p:sp>
      <p:sp>
        <p:nvSpPr>
          <p:cNvPr id="12" name="PDF_TEXT_GROUP_798"/>
          <p:cNvSpPr txBox="1"/>
          <p:nvPr/>
        </p:nvSpPr>
        <p:spPr>
          <a:xfrm>
            <a:off x="9111651" y="3030218"/>
            <a:ext cx="11369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Mapping</a:t>
            </a:r>
          </a:p>
        </p:txBody>
      </p:sp>
      <p:sp>
        <p:nvSpPr>
          <p:cNvPr id="13" name="PDF_TEXT_GROUP_799"/>
          <p:cNvSpPr txBox="1"/>
          <p:nvPr/>
        </p:nvSpPr>
        <p:spPr>
          <a:xfrm>
            <a:off x="10599686" y="3030218"/>
            <a:ext cx="70381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GS-1</a:t>
            </a:r>
          </a:p>
        </p:txBody>
      </p:sp>
      <p:sp>
        <p:nvSpPr>
          <p:cNvPr id="14" name="PDF_TEXT_GROUP_800"/>
          <p:cNvSpPr txBox="1"/>
          <p:nvPr/>
        </p:nvSpPr>
        <p:spPr>
          <a:xfrm>
            <a:off x="2891935" y="3116694"/>
            <a:ext cx="3858302" cy="963470"/>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One Request elicits signed ACKs</a:t>
            </a:r>
            <a:br/>
            <a:r>
              <a:rPr sz="1863" b="0" i="0">
                <a:solidFill>
                  <a:srgbClr val="000000"/>
                </a:solidFill>
                <a:latin typeface="Latin Modern Sans"/>
              </a:rPr>
              <a:t>from willing Providers</a:t>
            </a:r>
            <a:br/>
            <a:r>
              <a:rPr sz="1863" b="0" i="0">
                <a:solidFill>
                  <a:srgbClr val="000000"/>
                </a:solidFill>
                <a:latin typeface="Latin Modern Sans"/>
              </a:rPr>
              <a:t>capability + load + resources</a:t>
            </a:r>
          </a:p>
        </p:txBody>
      </p:sp>
      <p:sp>
        <p:nvSpPr>
          <p:cNvPr id="15" name="PDF_TEXT_GROUP_801"/>
          <p:cNvSpPr txBox="1"/>
          <p:nvPr/>
        </p:nvSpPr>
        <p:spPr>
          <a:xfrm>
            <a:off x="9111651" y="3625238"/>
            <a:ext cx="232856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Allowed Data flow</a:t>
            </a:r>
          </a:p>
        </p:txBody>
      </p:sp>
      <p:sp>
        <p:nvSpPr>
          <p:cNvPr id="16" name="PDF_TEXT_GROUP_802"/>
          <p:cNvSpPr txBox="1"/>
          <p:nvPr/>
        </p:nvSpPr>
        <p:spPr>
          <a:xfrm>
            <a:off x="9815782" y="4013268"/>
            <a:ext cx="3479736"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Capture image</a:t>
            </a:r>
            <a:r>
              <a:rPr sz="1863" b="0" i="0">
                <a:solidFill>
                  <a:srgbClr val="000000"/>
                </a:solidFill>
                <a:latin typeface="Cambria Math"/>
              </a:rPr>
              <a:t> →</a:t>
            </a:r>
            <a:r>
              <a:rPr sz="1863" b="0" i="0">
                <a:solidFill>
                  <a:srgbClr val="000000"/>
                </a:solidFill>
                <a:latin typeface="Latin Modern Sans"/>
              </a:rPr>
              <a:t> Detection</a:t>
            </a:r>
          </a:p>
        </p:txBody>
      </p:sp>
      <p:sp>
        <p:nvSpPr>
          <p:cNvPr id="17" name="PDF_TEXT_GROUP_803"/>
          <p:cNvSpPr txBox="1"/>
          <p:nvPr/>
        </p:nvSpPr>
        <p:spPr>
          <a:xfrm>
            <a:off x="2911492" y="4335817"/>
            <a:ext cx="3819256" cy="963470"/>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Application planner</a:t>
            </a:r>
            <a:br/>
            <a:r>
              <a:rPr sz="1863" b="0" i="0">
                <a:solidFill>
                  <a:srgbClr val="000000"/>
                </a:solidFill>
                <a:latin typeface="Latin Modern Sans"/>
              </a:rPr>
              <a:t>assigns willing Providers to roles</a:t>
            </a:r>
            <a:br/>
            <a:r>
              <a:rPr sz="1863" b="0" i="0">
                <a:solidFill>
                  <a:srgbClr val="000000"/>
                </a:solidFill>
                <a:latin typeface="Latin Modern Sans"/>
              </a:rPr>
              <a:t>and chooses a feasible layout</a:t>
            </a:r>
          </a:p>
        </p:txBody>
      </p:sp>
      <p:sp>
        <p:nvSpPr>
          <p:cNvPr id="18" name="PDF_TEXT_GROUP_804"/>
          <p:cNvSpPr txBox="1"/>
          <p:nvPr/>
        </p:nvSpPr>
        <p:spPr>
          <a:xfrm>
            <a:off x="9815782" y="4415689"/>
            <a:ext cx="3629084"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Detected objects</a:t>
            </a:r>
            <a:r>
              <a:rPr sz="1863" b="0" i="0">
                <a:solidFill>
                  <a:srgbClr val="000000"/>
                </a:solidFill>
                <a:latin typeface="Cambria Math"/>
              </a:rPr>
              <a:t> →</a:t>
            </a:r>
            <a:r>
              <a:rPr sz="1863" b="0" i="0">
                <a:solidFill>
                  <a:srgbClr val="000000"/>
                </a:solidFill>
                <a:latin typeface="Latin Modern Sans"/>
              </a:rPr>
              <a:t> Mapping</a:t>
            </a:r>
          </a:p>
        </p:txBody>
      </p:sp>
      <p:sp>
        <p:nvSpPr>
          <p:cNvPr id="19" name="PDF_TEXT_GROUP_805"/>
          <p:cNvSpPr txBox="1"/>
          <p:nvPr/>
        </p:nvSpPr>
        <p:spPr>
          <a:xfrm>
            <a:off x="9111651" y="4905824"/>
            <a:ext cx="4656811"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Only Providers that returned a valid</a:t>
            </a:r>
            <a:r>
              <a:rPr sz="1863" b="0" i="0">
                <a:solidFill>
                  <a:srgbClr val="1A3E79"/>
                </a:solidFill>
                <a:latin typeface="Latin Modern Sans"/>
              </a:rPr>
              <a:t> ACK for this request may be assigned a</a:t>
            </a:r>
            <a:r>
              <a:rPr sz="1863" b="0" i="0">
                <a:solidFill>
                  <a:srgbClr val="1A3E79"/>
                </a:solidFill>
                <a:latin typeface="Latin Modern Sans"/>
              </a:rPr>
              <a:t> role.</a:t>
            </a:r>
          </a:p>
        </p:txBody>
      </p:sp>
      <p:sp>
        <p:nvSpPr>
          <p:cNvPr id="20" name="PDF_TEXT_GROUP_806"/>
          <p:cNvSpPr txBox="1"/>
          <p:nvPr/>
        </p:nvSpPr>
        <p:spPr>
          <a:xfrm>
            <a:off x="2938827" y="5554939"/>
            <a:ext cx="3764675" cy="963470"/>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NDNSF checks the assignments</a:t>
            </a:r>
            <a:br/>
            <a:r>
              <a:rPr sz="1863" b="0" i="0">
                <a:solidFill>
                  <a:srgbClr val="000000"/>
                </a:solidFill>
                <a:latin typeface="Latin Modern Sans"/>
              </a:rPr>
              <a:t>every required role is filled</a:t>
            </a:r>
            <a:br/>
            <a:r>
              <a:rPr sz="1863" b="0" i="0">
                <a:solidFill>
                  <a:srgbClr val="000000"/>
                </a:solidFill>
                <a:latin typeface="Latin Modern Sans"/>
              </a:rPr>
              <a:t>by an eligible Provider</a:t>
            </a:r>
          </a:p>
        </p:txBody>
      </p:sp>
      <p:sp>
        <p:nvSpPr>
          <p:cNvPr id="21" name="PDF_TEXT_GROUP_807"/>
          <p:cNvSpPr txBox="1"/>
          <p:nvPr/>
        </p:nvSpPr>
        <p:spPr>
          <a:xfrm>
            <a:off x="2060584" y="6774062"/>
            <a:ext cx="5521117"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1" i="0">
                <a:solidFill>
                  <a:srgbClr val="000000"/>
                </a:solidFill>
                <a:latin typeface="Latin Modern Sans"/>
              </a:rPr>
              <a:t>Execution plan</a:t>
            </a:r>
            <a:br/>
            <a:r>
              <a:rPr sz="1863" b="0" i="0">
                <a:solidFill>
                  <a:srgbClr val="000000"/>
                </a:solidFill>
                <a:latin typeface="Latin Modern Sans"/>
              </a:rPr>
              <a:t>role–Provider assignments + allowed Data flow</a:t>
            </a:r>
          </a:p>
        </p:txBody>
      </p:sp>
      <p:sp>
        <p:nvSpPr>
          <p:cNvPr id="22" name="PDF_TEXT_GROUP_80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80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81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811"/>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6" name="PDF_TEXT_GROUP_812"/>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44/64</a:t>
            </a:r>
          </a:p>
        </p:txBody>
      </p:sp>
      <p:sp>
        <p:nvSpPr>
          <p:cNvPr id="27" name="PDF_BULLET_SPAN_1310"/>
          <p:cNvSpPr/>
          <p:nvPr/>
        </p:nvSpPr>
        <p:spPr>
          <a:xfrm rot="5400000">
            <a:off x="9467682" y="409036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DF_BULLET_SPAN_1314"/>
          <p:cNvSpPr/>
          <p:nvPr/>
        </p:nvSpPr>
        <p:spPr>
          <a:xfrm rot="5400000">
            <a:off x="9467682" y="449279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5" descr="background-045.png"/>
          <p:cNvPicPr>
            <a:picLocks noChangeAspect="1"/>
          </p:cNvPicPr>
          <p:nvPr/>
        </p:nvPicPr>
        <p:blipFill>
          <a:blip r:embed="rId2"/>
          <a:stretch>
            <a:fillRect/>
          </a:stretch>
        </p:blipFill>
        <p:spPr>
          <a:xfrm>
            <a:off x="0" y="0"/>
            <a:ext cx="14630400" cy="8229600"/>
          </a:xfrm>
          <a:prstGeom prst="rect">
            <a:avLst/>
          </a:prstGeom>
        </p:spPr>
      </p:pic>
      <p:sp>
        <p:nvSpPr>
          <p:cNvPr id="3" name="PDF_TEXT_GROUP_81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Verify Data Between Assigned Roles</a:t>
            </a:r>
          </a:p>
        </p:txBody>
      </p:sp>
      <p:sp>
        <p:nvSpPr>
          <p:cNvPr id="4" name="PDF_TEXT_GROUP_814"/>
          <p:cNvSpPr txBox="1"/>
          <p:nvPr/>
        </p:nvSpPr>
        <p:spPr>
          <a:xfrm>
            <a:off x="914808" y="1818044"/>
            <a:ext cx="508739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YOLO example from the execution plan</a:t>
            </a:r>
          </a:p>
        </p:txBody>
      </p:sp>
      <p:sp>
        <p:nvSpPr>
          <p:cNvPr id="5" name="PDF_TEXT_GROUP_815"/>
          <p:cNvSpPr txBox="1"/>
          <p:nvPr/>
        </p:nvSpPr>
        <p:spPr>
          <a:xfrm>
            <a:off x="7446593" y="1818044"/>
            <a:ext cx="23898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Expected decisions</a:t>
            </a:r>
          </a:p>
        </p:txBody>
      </p:sp>
      <p:sp>
        <p:nvSpPr>
          <p:cNvPr id="6" name="PDF_TEXT_GROUP_816"/>
          <p:cNvSpPr txBox="1"/>
          <p:nvPr/>
        </p:nvSpPr>
        <p:spPr>
          <a:xfrm>
            <a:off x="8150724" y="2330369"/>
            <a:ext cx="53171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3D8259"/>
                </a:solidFill>
                <a:latin typeface="Latin Modern Sans"/>
              </a:rPr>
              <a:t>Accept:</a:t>
            </a:r>
            <a:r>
              <a:rPr sz="1863" b="0" i="0">
                <a:solidFill>
                  <a:srgbClr val="000000"/>
                </a:solidFill>
                <a:latin typeface="Latin Modern Sans"/>
              </a:rPr>
              <a:t> correctly signed P2 feature tensor.</a:t>
            </a:r>
          </a:p>
        </p:txBody>
      </p:sp>
      <p:sp>
        <p:nvSpPr>
          <p:cNvPr id="7" name="PDF_TEXT_GROUP_817"/>
          <p:cNvSpPr txBox="1"/>
          <p:nvPr/>
        </p:nvSpPr>
        <p:spPr>
          <a:xfrm>
            <a:off x="2210406" y="2580068"/>
            <a:ext cx="45326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P2</a:t>
            </a:r>
          </a:p>
        </p:txBody>
      </p:sp>
      <p:sp>
        <p:nvSpPr>
          <p:cNvPr id="8" name="PDF_TEXT_GROUP_818"/>
          <p:cNvSpPr txBox="1"/>
          <p:nvPr/>
        </p:nvSpPr>
        <p:spPr>
          <a:xfrm>
            <a:off x="5262006" y="2580068"/>
            <a:ext cx="45326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P4</a:t>
            </a:r>
          </a:p>
        </p:txBody>
      </p:sp>
      <p:sp>
        <p:nvSpPr>
          <p:cNvPr id="9" name="PDF_TEXT_GROUP_819"/>
          <p:cNvSpPr txBox="1"/>
          <p:nvPr/>
        </p:nvSpPr>
        <p:spPr>
          <a:xfrm>
            <a:off x="3039175" y="2586102"/>
            <a:ext cx="1841290" cy="220316"/>
          </a:xfrm>
          <a:prstGeom prst="rect">
            <a:avLst/>
          </a:prstGeom>
          <a:noFill/>
          <a:ln>
            <a:noFill/>
          </a:ln>
        </p:spPr>
        <p:txBody>
          <a:bodyPr wrap="none" anchor="t" lIns="0" rIns="0" tIns="0" bIns="0">
            <a:noAutofit/>
          </a:bodyPr>
          <a:lstStyle/>
          <a:p>
            <a:pPr algn="l">
              <a:lnSpc>
                <a:spcPct val="100000"/>
              </a:lnSpc>
              <a:spcBef>
                <a:spcPts val="0"/>
              </a:spcBef>
              <a:spcAft>
                <a:spcPts val="0"/>
              </a:spcAft>
            </a:pPr>
            <a:r>
              <a:rPr sz="1355" b="0" i="0">
                <a:solidFill>
                  <a:srgbClr val="1A3E79"/>
                </a:solidFill>
                <a:latin typeface="Latin Modern Mono"/>
              </a:rPr>
              <a:t>/tensor/features</a:t>
            </a:r>
          </a:p>
        </p:txBody>
      </p:sp>
      <p:sp>
        <p:nvSpPr>
          <p:cNvPr id="10" name="PDF_TEXT_GROUP_820"/>
          <p:cNvSpPr txBox="1"/>
          <p:nvPr/>
        </p:nvSpPr>
        <p:spPr>
          <a:xfrm>
            <a:off x="8150724" y="2732822"/>
            <a:ext cx="5624521"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3D8259"/>
                </a:solidFill>
                <a:latin typeface="Latin Modern Sans"/>
              </a:rPr>
              <a:t>Accept:</a:t>
            </a:r>
            <a:r>
              <a:rPr sz="1863" b="0" i="0">
                <a:solidFill>
                  <a:srgbClr val="000000"/>
                </a:solidFill>
                <a:latin typeface="Latin Modern Sans"/>
              </a:rPr>
              <a:t> the same valid tensor retrieved from an</a:t>
            </a:r>
            <a:r>
              <a:rPr sz="1863" b="0" i="0">
                <a:solidFill>
                  <a:srgbClr val="000000"/>
                </a:solidFill>
                <a:latin typeface="Latin Modern Sans"/>
              </a:rPr>
              <a:t> NDN cache.</a:t>
            </a:r>
          </a:p>
        </p:txBody>
      </p:sp>
      <p:sp>
        <p:nvSpPr>
          <p:cNvPr id="11" name="PDF_TEXT_GROUP_821"/>
          <p:cNvSpPr txBox="1"/>
          <p:nvPr/>
        </p:nvSpPr>
        <p:spPr>
          <a:xfrm>
            <a:off x="1553942" y="2885899"/>
            <a:ext cx="17662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Backbone role</a:t>
            </a:r>
          </a:p>
        </p:txBody>
      </p:sp>
      <p:sp>
        <p:nvSpPr>
          <p:cNvPr id="12" name="PDF_TEXT_GROUP_822"/>
          <p:cNvSpPr txBox="1"/>
          <p:nvPr/>
        </p:nvSpPr>
        <p:spPr>
          <a:xfrm>
            <a:off x="4299627" y="2885899"/>
            <a:ext cx="241479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Detection-head role</a:t>
            </a:r>
          </a:p>
        </p:txBody>
      </p:sp>
      <p:sp>
        <p:nvSpPr>
          <p:cNvPr id="13" name="PDF_TEXT_GROUP_823"/>
          <p:cNvSpPr txBox="1"/>
          <p:nvPr/>
        </p:nvSpPr>
        <p:spPr>
          <a:xfrm>
            <a:off x="8150724" y="3441074"/>
            <a:ext cx="601731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B20000"/>
                </a:solidFill>
                <a:latin typeface="Latin Modern Sans"/>
              </a:rPr>
              <a:t>Reject:</a:t>
            </a:r>
            <a:r>
              <a:rPr sz="1863" b="0" i="0">
                <a:solidFill>
                  <a:srgbClr val="000000"/>
                </a:solidFill>
                <a:latin typeface="Latin Modern Sans"/>
              </a:rPr>
              <a:t> unassigned P3 uses the same request ID.</a:t>
            </a:r>
          </a:p>
        </p:txBody>
      </p:sp>
      <p:sp>
        <p:nvSpPr>
          <p:cNvPr id="14" name="PDF_TEXT_GROUP_824"/>
          <p:cNvSpPr txBox="1"/>
          <p:nvPr/>
        </p:nvSpPr>
        <p:spPr>
          <a:xfrm>
            <a:off x="914808" y="3579157"/>
            <a:ext cx="52584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Before P4 processes the tensor, it checks</a:t>
            </a:r>
          </a:p>
        </p:txBody>
      </p:sp>
      <p:sp>
        <p:nvSpPr>
          <p:cNvPr id="15" name="PDF_TEXT_GROUP_825"/>
          <p:cNvSpPr txBox="1"/>
          <p:nvPr/>
        </p:nvSpPr>
        <p:spPr>
          <a:xfrm>
            <a:off x="8150724" y="3843527"/>
            <a:ext cx="5187739"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B20000"/>
                </a:solidFill>
                <a:latin typeface="Latin Modern Sans"/>
              </a:rPr>
              <a:t>Reject:</a:t>
            </a:r>
            <a:r>
              <a:rPr sz="1863" b="0" i="0">
                <a:solidFill>
                  <a:srgbClr val="000000"/>
                </a:solidFill>
                <a:latin typeface="Latin Modern Sans"/>
              </a:rPr>
              <a:t> P2 publishes on an undeclared Data</a:t>
            </a:r>
            <a:r>
              <a:rPr sz="1863" b="0" i="0">
                <a:solidFill>
                  <a:srgbClr val="000000"/>
                </a:solidFill>
                <a:latin typeface="Latin Modern Sans"/>
              </a:rPr>
              <a:t> name.</a:t>
            </a:r>
          </a:p>
        </p:txBody>
      </p:sp>
      <p:sp>
        <p:nvSpPr>
          <p:cNvPr id="16" name="PDF_TEXT_GROUP_826"/>
          <p:cNvSpPr txBox="1"/>
          <p:nvPr/>
        </p:nvSpPr>
        <p:spPr>
          <a:xfrm>
            <a:off x="1618972" y="3981577"/>
            <a:ext cx="408115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it belongs to the current request;</a:t>
            </a:r>
          </a:p>
        </p:txBody>
      </p:sp>
      <p:sp>
        <p:nvSpPr>
          <p:cNvPr id="17" name="PDF_TEXT_GROUP_827"/>
          <p:cNvSpPr txBox="1"/>
          <p:nvPr/>
        </p:nvSpPr>
        <p:spPr>
          <a:xfrm>
            <a:off x="1618972" y="4384031"/>
            <a:ext cx="486181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signer is P2, assigned to Backbone;</a:t>
            </a:r>
          </a:p>
        </p:txBody>
      </p:sp>
      <p:sp>
        <p:nvSpPr>
          <p:cNvPr id="18" name="PDF_TEXT_GROUP_828"/>
          <p:cNvSpPr txBox="1"/>
          <p:nvPr/>
        </p:nvSpPr>
        <p:spPr>
          <a:xfrm>
            <a:off x="8150724" y="4551779"/>
            <a:ext cx="5669484"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B20000"/>
                </a:solidFill>
                <a:latin typeface="Latin Modern Sans"/>
              </a:rPr>
              <a:t>Reject:</a:t>
            </a:r>
            <a:r>
              <a:rPr sz="1863" b="0" i="0">
                <a:solidFill>
                  <a:srgbClr val="000000"/>
                </a:solidFill>
                <a:latin typeface="Latin Modern Sans"/>
              </a:rPr>
              <a:t> a valid old tensor is replayed for another</a:t>
            </a:r>
            <a:r>
              <a:rPr sz="1863" b="0" i="0">
                <a:solidFill>
                  <a:srgbClr val="000000"/>
                </a:solidFill>
                <a:latin typeface="Latin Modern Sans"/>
              </a:rPr>
              <a:t> request.</a:t>
            </a:r>
          </a:p>
        </p:txBody>
      </p:sp>
      <p:sp>
        <p:nvSpPr>
          <p:cNvPr id="19" name="PDF_TEXT_GROUP_829"/>
          <p:cNvSpPr txBox="1"/>
          <p:nvPr/>
        </p:nvSpPr>
        <p:spPr>
          <a:xfrm>
            <a:off x="1618972" y="4786452"/>
            <a:ext cx="486376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Backbone is the allowed preceding role;</a:t>
            </a:r>
          </a:p>
        </p:txBody>
      </p:sp>
      <p:sp>
        <p:nvSpPr>
          <p:cNvPr id="20" name="PDF_TEXT_GROUP_830"/>
          <p:cNvSpPr txBox="1"/>
          <p:nvPr/>
        </p:nvSpPr>
        <p:spPr>
          <a:xfrm>
            <a:off x="1618972" y="5188873"/>
            <a:ext cx="4662801" cy="30692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its name is under</a:t>
            </a:r>
            <a:r>
              <a:rPr sz="1863" b="0" i="0">
                <a:solidFill>
                  <a:srgbClr val="000000"/>
                </a:solidFill>
                <a:latin typeface="Latin Modern Mono"/>
              </a:rPr>
              <a:t> /tensor/features</a:t>
            </a:r>
            <a:r>
              <a:rPr sz="1863" b="0" i="0">
                <a:solidFill>
                  <a:srgbClr val="000000"/>
                </a:solidFill>
                <a:latin typeface="Latin Modern Sans"/>
              </a:rPr>
              <a:t>.</a:t>
            </a:r>
          </a:p>
        </p:txBody>
      </p:sp>
      <p:sp>
        <p:nvSpPr>
          <p:cNvPr id="21" name="PDF_TEXT_GROUP_831"/>
          <p:cNvSpPr txBox="1"/>
          <p:nvPr/>
        </p:nvSpPr>
        <p:spPr>
          <a:xfrm>
            <a:off x="7624224" y="5749541"/>
            <a:ext cx="5738184"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proposed Plan-to-Data mechanism turns the</a:t>
            </a:r>
            <a:r>
              <a:rPr sz="1863" b="0" i="0">
                <a:solidFill>
                  <a:srgbClr val="000000"/>
                </a:solidFill>
                <a:latin typeface="Latin Modern Sans"/>
              </a:rPr>
              <a:t> execution plan into checks performed by each</a:t>
            </a:r>
            <a:r>
              <a:rPr sz="1863" b="0" i="0">
                <a:solidFill>
                  <a:srgbClr val="000000"/>
                </a:solidFill>
                <a:latin typeface="Latin Modern Sans"/>
              </a:rPr>
              <a:t> Provider.</a:t>
            </a:r>
          </a:p>
        </p:txBody>
      </p:sp>
      <p:sp>
        <p:nvSpPr>
          <p:cNvPr id="22" name="PDF_TEXT_GROUP_83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83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83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835"/>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6" name="PDF_TEXT_GROUP_836"/>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45/64</a:t>
            </a:r>
          </a:p>
        </p:txBody>
      </p:sp>
      <p:sp>
        <p:nvSpPr>
          <p:cNvPr id="27" name="PDF_BULLET_SPAN_1334"/>
          <p:cNvSpPr/>
          <p:nvPr/>
        </p:nvSpPr>
        <p:spPr>
          <a:xfrm rot="5400000">
            <a:off x="1270872" y="4044256"/>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DF_BULLET_SPAN_1336"/>
          <p:cNvSpPr/>
          <p:nvPr/>
        </p:nvSpPr>
        <p:spPr>
          <a:xfrm rot="5400000">
            <a:off x="1270872" y="444670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DF_BULLET_SPAN_1338"/>
          <p:cNvSpPr/>
          <p:nvPr/>
        </p:nvSpPr>
        <p:spPr>
          <a:xfrm rot="5400000">
            <a:off x="1270872" y="484913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DF_BULLET_SPAN_1340"/>
          <p:cNvSpPr/>
          <p:nvPr/>
        </p:nvSpPr>
        <p:spPr>
          <a:xfrm rot="5400000">
            <a:off x="1270872" y="5251551"/>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DF_BULLET_SPAN_1345"/>
          <p:cNvSpPr/>
          <p:nvPr/>
        </p:nvSpPr>
        <p:spPr>
          <a:xfrm rot="5400000">
            <a:off x="7802657" y="2393047"/>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DF_BULLET_SPAN_1348"/>
          <p:cNvSpPr/>
          <p:nvPr/>
        </p:nvSpPr>
        <p:spPr>
          <a:xfrm rot="5400000">
            <a:off x="7802657" y="279550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DF_BULLET_SPAN_1352"/>
          <p:cNvSpPr/>
          <p:nvPr/>
        </p:nvSpPr>
        <p:spPr>
          <a:xfrm rot="5400000">
            <a:off x="7802657" y="3503752"/>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DF_BULLET_SPAN_1355"/>
          <p:cNvSpPr/>
          <p:nvPr/>
        </p:nvSpPr>
        <p:spPr>
          <a:xfrm rot="5400000">
            <a:off x="7802657" y="3906205"/>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DF_BULLET_SPAN_1359"/>
          <p:cNvSpPr/>
          <p:nvPr/>
        </p:nvSpPr>
        <p:spPr>
          <a:xfrm rot="5400000">
            <a:off x="7802657" y="4614457"/>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6" descr="background-046.png"/>
          <p:cNvPicPr>
            <a:picLocks noChangeAspect="1"/>
          </p:cNvPicPr>
          <p:nvPr/>
        </p:nvPicPr>
        <p:blipFill>
          <a:blip r:embed="rId2"/>
          <a:stretch>
            <a:fillRect/>
          </a:stretch>
        </p:blipFill>
        <p:spPr>
          <a:xfrm>
            <a:off x="0" y="0"/>
            <a:ext cx="14630400" cy="8229600"/>
          </a:xfrm>
          <a:prstGeom prst="rect">
            <a:avLst/>
          </a:prstGeom>
        </p:spPr>
      </p:pic>
      <p:sp>
        <p:nvSpPr>
          <p:cNvPr id="3" name="PDF_TEXT_GROUP_83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NDNSF-DI Architecture</a:t>
            </a:r>
          </a:p>
        </p:txBody>
      </p:sp>
      <p:sp>
        <p:nvSpPr>
          <p:cNvPr id="4" name="PDF_TEXT_GROUP_838"/>
          <p:cNvSpPr txBox="1"/>
          <p:nvPr/>
        </p:nvSpPr>
        <p:spPr>
          <a:xfrm>
            <a:off x="5179501" y="1126499"/>
            <a:ext cx="4346785"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1" i="0">
                <a:solidFill>
                  <a:srgbClr val="1A3E79"/>
                </a:solidFill>
                <a:latin typeface="Latin Modern Sans"/>
              </a:rPr>
              <a:t>Dynamic planning and assignment</a:t>
            </a:r>
          </a:p>
        </p:txBody>
      </p:sp>
      <p:sp>
        <p:nvSpPr>
          <p:cNvPr id="5" name="PDF_TEXT_GROUP_839"/>
          <p:cNvSpPr txBox="1"/>
          <p:nvPr/>
        </p:nvSpPr>
        <p:spPr>
          <a:xfrm>
            <a:off x="10569452" y="1504063"/>
            <a:ext cx="1196551" cy="48640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Per-Provider</a:t>
            </a:r>
            <a:r>
              <a:rPr sz="1355" b="0" i="0">
                <a:solidFill>
                  <a:srgbClr val="000000"/>
                </a:solidFill>
                <a:latin typeface="Latin Modern Sans"/>
              </a:rPr>
              <a:t> instructions</a:t>
            </a:r>
          </a:p>
        </p:txBody>
      </p:sp>
      <p:sp>
        <p:nvSpPr>
          <p:cNvPr id="6" name="PDF_TEXT_GROUP_840"/>
          <p:cNvSpPr txBox="1"/>
          <p:nvPr/>
        </p:nvSpPr>
        <p:spPr>
          <a:xfrm>
            <a:off x="7680863" y="1729429"/>
            <a:ext cx="1008961"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DI planner</a:t>
            </a:r>
          </a:p>
        </p:txBody>
      </p:sp>
      <p:sp>
        <p:nvSpPr>
          <p:cNvPr id="7" name="PDF_TEXT_GROUP_841"/>
          <p:cNvSpPr txBox="1"/>
          <p:nvPr/>
        </p:nvSpPr>
        <p:spPr>
          <a:xfrm>
            <a:off x="5176773" y="1748204"/>
            <a:ext cx="894119"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Collected</a:t>
            </a:r>
          </a:p>
        </p:txBody>
      </p:sp>
      <p:sp>
        <p:nvSpPr>
          <p:cNvPr id="8" name="PDF_TEXT_GROUP_842"/>
          <p:cNvSpPr txBox="1"/>
          <p:nvPr/>
        </p:nvSpPr>
        <p:spPr>
          <a:xfrm>
            <a:off x="2581609" y="1842112"/>
            <a:ext cx="1327444"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Model request</a:t>
            </a:r>
          </a:p>
        </p:txBody>
      </p:sp>
      <p:sp>
        <p:nvSpPr>
          <p:cNvPr id="9" name="PDF_TEXT_GROUP_843"/>
          <p:cNvSpPr txBox="1"/>
          <p:nvPr/>
        </p:nvSpPr>
        <p:spPr>
          <a:xfrm>
            <a:off x="7369784" y="1954795"/>
            <a:ext cx="1643073"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split + placement</a:t>
            </a:r>
          </a:p>
        </p:txBody>
      </p:sp>
      <p:sp>
        <p:nvSpPr>
          <p:cNvPr id="10" name="PDF_TEXT_GROUP_844"/>
          <p:cNvSpPr txBox="1"/>
          <p:nvPr/>
        </p:nvSpPr>
        <p:spPr>
          <a:xfrm>
            <a:off x="10523076" y="1954795"/>
            <a:ext cx="1289227" cy="48640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role + model</a:t>
            </a:r>
            <a:r>
              <a:rPr sz="1355" b="0" i="0">
                <a:solidFill>
                  <a:srgbClr val="000000"/>
                </a:solidFill>
                <a:latin typeface="Latin Modern Sans"/>
              </a:rPr>
              <a:t> part + device</a:t>
            </a:r>
          </a:p>
        </p:txBody>
      </p:sp>
      <p:sp>
        <p:nvSpPr>
          <p:cNvPr id="11" name="PDF_TEXT_GROUP_845"/>
          <p:cNvSpPr txBox="1"/>
          <p:nvPr/>
        </p:nvSpPr>
        <p:spPr>
          <a:xfrm>
            <a:off x="4947086" y="1973570"/>
            <a:ext cx="1353700"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Provider offers</a:t>
            </a:r>
          </a:p>
        </p:txBody>
      </p:sp>
      <p:sp>
        <p:nvSpPr>
          <p:cNvPr id="12" name="PDF_TEXT_GROUP_846"/>
          <p:cNvSpPr txBox="1"/>
          <p:nvPr/>
        </p:nvSpPr>
        <p:spPr>
          <a:xfrm>
            <a:off x="5568878" y="2645435"/>
            <a:ext cx="3565872" cy="48640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1" i="0">
                <a:solidFill>
                  <a:srgbClr val="000000"/>
                </a:solidFill>
                <a:latin typeface="Latin Modern Sans"/>
              </a:rPr>
              <a:t>Final assignment sent to each Provider</a:t>
            </a:r>
            <a:br/>
            <a:r>
              <a:rPr sz="1355" b="0" i="0">
                <a:solidFill>
                  <a:srgbClr val="000000"/>
                </a:solidFill>
                <a:latin typeface="Latin Modern Sans"/>
              </a:rPr>
              <a:t>role + model part + selected device</a:t>
            </a:r>
          </a:p>
        </p:txBody>
      </p:sp>
      <p:sp>
        <p:nvSpPr>
          <p:cNvPr id="13" name="PDF_TEXT_GROUP_847"/>
          <p:cNvSpPr txBox="1"/>
          <p:nvPr/>
        </p:nvSpPr>
        <p:spPr>
          <a:xfrm>
            <a:off x="3468405" y="3644782"/>
            <a:ext cx="1017449"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P2 / CPU</a:t>
            </a:r>
          </a:p>
        </p:txBody>
      </p:sp>
      <p:sp>
        <p:nvSpPr>
          <p:cNvPr id="14" name="PDF_TEXT_GROUP_848"/>
          <p:cNvSpPr txBox="1"/>
          <p:nvPr/>
        </p:nvSpPr>
        <p:spPr>
          <a:xfrm>
            <a:off x="6752790" y="3644782"/>
            <a:ext cx="1200236" cy="22316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1" i="0">
                <a:solidFill>
                  <a:srgbClr val="000000"/>
                </a:solidFill>
                <a:latin typeface="Latin Modern Sans"/>
              </a:rPr>
              <a:t>P3 / GPU 0</a:t>
            </a:r>
          </a:p>
        </p:txBody>
      </p:sp>
      <p:sp>
        <p:nvSpPr>
          <p:cNvPr id="15" name="PDF_TEXT_GROUP_849"/>
          <p:cNvSpPr txBox="1"/>
          <p:nvPr/>
        </p:nvSpPr>
        <p:spPr>
          <a:xfrm>
            <a:off x="10115017" y="3644782"/>
            <a:ext cx="1446627"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P4 / GPUs 0,1</a:t>
            </a:r>
          </a:p>
        </p:txBody>
      </p:sp>
      <p:sp>
        <p:nvSpPr>
          <p:cNvPr id="16" name="PDF_TEXT_GROUP_850"/>
          <p:cNvSpPr txBox="1"/>
          <p:nvPr/>
        </p:nvSpPr>
        <p:spPr>
          <a:xfrm>
            <a:off x="2953286" y="3870148"/>
            <a:ext cx="1938057" cy="48640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0" i="0">
                <a:solidFill>
                  <a:srgbClr val="000000"/>
                </a:solidFill>
                <a:latin typeface="Latin Modern Sans"/>
              </a:rPr>
              <a:t>prepare assigned part</a:t>
            </a:r>
            <a:br/>
            <a:r>
              <a:rPr sz="1355" b="0" i="0">
                <a:solidFill>
                  <a:srgbClr val="000000"/>
                </a:solidFill>
                <a:latin typeface="Latin Modern Sans"/>
              </a:rPr>
              <a:t>+ recheck device</a:t>
            </a:r>
          </a:p>
        </p:txBody>
      </p:sp>
      <p:sp>
        <p:nvSpPr>
          <p:cNvPr id="17" name="PDF_TEXT_GROUP_851"/>
          <p:cNvSpPr txBox="1"/>
          <p:nvPr/>
        </p:nvSpPr>
        <p:spPr>
          <a:xfrm>
            <a:off x="6383867" y="3870148"/>
            <a:ext cx="1938057" cy="48640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0" i="0">
                <a:solidFill>
                  <a:srgbClr val="000000"/>
                </a:solidFill>
                <a:latin typeface="Latin Modern Sans"/>
              </a:rPr>
              <a:t>prepare assigned part</a:t>
            </a:r>
            <a:br/>
            <a:r>
              <a:rPr sz="1355" b="0" i="0">
                <a:solidFill>
                  <a:srgbClr val="000000"/>
                </a:solidFill>
                <a:latin typeface="Latin Modern Sans"/>
              </a:rPr>
              <a:t>+ recheck device</a:t>
            </a:r>
          </a:p>
        </p:txBody>
      </p:sp>
      <p:sp>
        <p:nvSpPr>
          <p:cNvPr id="18" name="PDF_TEXT_GROUP_852"/>
          <p:cNvSpPr txBox="1"/>
          <p:nvPr/>
        </p:nvSpPr>
        <p:spPr>
          <a:xfrm>
            <a:off x="9814448" y="3870148"/>
            <a:ext cx="1938057" cy="48640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0" i="0">
                <a:solidFill>
                  <a:srgbClr val="000000"/>
                </a:solidFill>
                <a:latin typeface="Latin Modern Sans"/>
              </a:rPr>
              <a:t>prepare assigned part</a:t>
            </a:r>
            <a:br/>
            <a:r>
              <a:rPr sz="1355" b="0" i="0">
                <a:solidFill>
                  <a:srgbClr val="000000"/>
                </a:solidFill>
                <a:latin typeface="Latin Modern Sans"/>
              </a:rPr>
              <a:t>+ recheck devices</a:t>
            </a:r>
          </a:p>
        </p:txBody>
      </p:sp>
      <p:sp>
        <p:nvSpPr>
          <p:cNvPr id="19" name="PDF_TEXT_GROUP_853"/>
          <p:cNvSpPr txBox="1"/>
          <p:nvPr/>
        </p:nvSpPr>
        <p:spPr>
          <a:xfrm>
            <a:off x="5663019" y="4940879"/>
            <a:ext cx="3379883" cy="48636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355" b="0" i="0">
                <a:solidFill>
                  <a:srgbClr val="000000"/>
                </a:solidFill>
                <a:latin typeface="Latin Modern Sans"/>
              </a:rPr>
              <a:t>NDN Repo</a:t>
            </a:r>
            <a:r>
              <a:rPr sz="1355" b="0" i="0">
                <a:solidFill>
                  <a:srgbClr val="1A3E79"/>
                </a:solidFill>
                <a:latin typeface="Latin Modern Sans"/>
              </a:rPr>
              <a:t> [24]</a:t>
            </a:r>
            <a:r>
              <a:rPr sz="1355" b="0" i="0">
                <a:solidFill>
                  <a:srgbClr val="000000"/>
                </a:solidFill>
                <a:latin typeface="Latin Modern Sans"/>
              </a:rPr>
              <a:t> / caches</a:t>
            </a:r>
            <a:br/>
            <a:r>
              <a:rPr sz="1355" b="0" i="0">
                <a:solidFill>
                  <a:srgbClr val="000000"/>
                </a:solidFill>
                <a:latin typeface="Latin Modern Sans"/>
              </a:rPr>
              <a:t>reusable signed layer artifacts + index</a:t>
            </a:r>
          </a:p>
        </p:txBody>
      </p:sp>
      <p:sp>
        <p:nvSpPr>
          <p:cNvPr id="20" name="PDF_TEXT_GROUP_854"/>
          <p:cNvSpPr txBox="1"/>
          <p:nvPr/>
        </p:nvSpPr>
        <p:spPr>
          <a:xfrm>
            <a:off x="1618972" y="5826678"/>
            <a:ext cx="12231410"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NDNSF Core remains model-neutral; the proposed NDNSF-DI layer interprets the model, selects the split,</a:t>
            </a:r>
            <a:r>
              <a:rPr sz="1863" b="0" i="0">
                <a:solidFill>
                  <a:srgbClr val="000000"/>
                </a:solidFill>
                <a:latin typeface="Latin Modern Sans"/>
              </a:rPr>
              <a:t> and assigns Providers and devices.</a:t>
            </a:r>
          </a:p>
        </p:txBody>
      </p:sp>
      <p:sp>
        <p:nvSpPr>
          <p:cNvPr id="21" name="PDF_TEXT_GROUP_855"/>
          <p:cNvSpPr txBox="1"/>
          <p:nvPr/>
        </p:nvSpPr>
        <p:spPr>
          <a:xfrm>
            <a:off x="1618972" y="6504844"/>
            <a:ext cx="12076795"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Providers prepare only their assigned model parts from reusable signed layer artifacts; the Repo does not</a:t>
            </a:r>
            <a:r>
              <a:rPr sz="1863" b="0" i="0">
                <a:solidFill>
                  <a:srgbClr val="000000"/>
                </a:solidFill>
                <a:latin typeface="Latin Modern Sans"/>
              </a:rPr>
              <a:t> store a new request-specific copy.</a:t>
            </a:r>
          </a:p>
        </p:txBody>
      </p:sp>
      <p:sp>
        <p:nvSpPr>
          <p:cNvPr id="22" name="PDF_TEXT_GROUP_856"/>
          <p:cNvSpPr txBox="1"/>
          <p:nvPr/>
        </p:nvSpPr>
        <p:spPr>
          <a:xfrm>
            <a:off x="1618972" y="7183010"/>
            <a:ext cx="12209443"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 Provider offer reports current availability but does not reserve a GPU; each Provider rechecks resources</a:t>
            </a:r>
            <a:r>
              <a:rPr sz="1863" b="0" i="0">
                <a:solidFill>
                  <a:srgbClr val="000000"/>
                </a:solidFill>
                <a:latin typeface="Latin Modern Sans"/>
              </a:rPr>
              <a:t> immediately before loading.</a:t>
            </a:r>
          </a:p>
        </p:txBody>
      </p:sp>
      <p:sp>
        <p:nvSpPr>
          <p:cNvPr id="23" name="PDF_TEXT_GROUP_85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85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85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860"/>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7" name="PDF_TEXT_GROUP_861"/>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46/64</a:t>
            </a:r>
          </a:p>
        </p:txBody>
      </p:sp>
      <p:sp>
        <p:nvSpPr>
          <p:cNvPr id="28" name="PDF_BULLET_SPAN_1397"/>
          <p:cNvSpPr/>
          <p:nvPr/>
        </p:nvSpPr>
        <p:spPr>
          <a:xfrm rot="5400000">
            <a:off x="1270872" y="5889356"/>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DF_BULLET_SPAN_1400"/>
          <p:cNvSpPr/>
          <p:nvPr/>
        </p:nvSpPr>
        <p:spPr>
          <a:xfrm rot="5400000">
            <a:off x="1270872" y="6567522"/>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DF_BULLET_SPAN_1403"/>
          <p:cNvSpPr/>
          <p:nvPr/>
        </p:nvSpPr>
        <p:spPr>
          <a:xfrm rot="5400000">
            <a:off x="1270872" y="7245688"/>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7" descr="background-047.png"/>
          <p:cNvPicPr>
            <a:picLocks noChangeAspect="1"/>
          </p:cNvPicPr>
          <p:nvPr/>
        </p:nvPicPr>
        <p:blipFill>
          <a:blip r:embed="rId2"/>
          <a:stretch>
            <a:fillRect/>
          </a:stretch>
        </p:blipFill>
        <p:spPr>
          <a:xfrm>
            <a:off x="0" y="0"/>
            <a:ext cx="14630400" cy="8229600"/>
          </a:xfrm>
          <a:prstGeom prst="rect">
            <a:avLst/>
          </a:prstGeom>
        </p:spPr>
      </p:pic>
      <p:sp>
        <p:nvSpPr>
          <p:cNvPr id="3" name="PDF_TEXT_GROUP_86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Inference Plan Generation</a:t>
            </a:r>
          </a:p>
        </p:txBody>
      </p:sp>
      <p:sp>
        <p:nvSpPr>
          <p:cNvPr id="4" name="PDF_TEXT_GROUP_863"/>
          <p:cNvSpPr txBox="1"/>
          <p:nvPr/>
        </p:nvSpPr>
        <p:spPr>
          <a:xfrm>
            <a:off x="1412188" y="1425438"/>
            <a:ext cx="1883756" cy="98845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032" b="0" i="0">
                <a:solidFill>
                  <a:srgbClr val="000000"/>
                </a:solidFill>
                <a:latin typeface="Latin Modern Sans"/>
              </a:rPr>
              <a:t>model graph +</a:t>
            </a:r>
            <a:br/>
            <a:r>
              <a:rPr sz="2032" b="0" i="0">
                <a:solidFill>
                  <a:srgbClr val="000000"/>
                </a:solidFill>
                <a:latin typeface="Latin Modern Sans"/>
              </a:rPr>
              <a:t>reusable signed</a:t>
            </a:r>
            <a:br/>
            <a:r>
              <a:rPr sz="2032" b="0" i="0">
                <a:solidFill>
                  <a:srgbClr val="000000"/>
                </a:solidFill>
                <a:latin typeface="Latin Modern Sans"/>
              </a:rPr>
              <a:t>layer artifacts</a:t>
            </a:r>
          </a:p>
        </p:txBody>
      </p:sp>
      <p:sp>
        <p:nvSpPr>
          <p:cNvPr id="5" name="PDF_TEXT_GROUP_864"/>
          <p:cNvSpPr txBox="1"/>
          <p:nvPr/>
        </p:nvSpPr>
        <p:spPr>
          <a:xfrm>
            <a:off x="11132857" y="1847277"/>
            <a:ext cx="1876200" cy="1299310"/>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032" b="0" i="0">
                <a:solidFill>
                  <a:srgbClr val="000000"/>
                </a:solidFill>
                <a:latin typeface="Latin Modern Sans"/>
              </a:rPr>
              <a:t>Instructions for</a:t>
            </a:r>
            <a:br/>
            <a:r>
              <a:rPr sz="2032" b="0" i="0">
                <a:solidFill>
                  <a:srgbClr val="000000"/>
                </a:solidFill>
                <a:latin typeface="Latin Modern Sans"/>
              </a:rPr>
              <a:t>each Provider</a:t>
            </a:r>
            <a:br/>
            <a:r>
              <a:rPr sz="2032" b="0" i="0">
                <a:solidFill>
                  <a:srgbClr val="000000"/>
                </a:solidFill>
                <a:latin typeface="Latin Modern Sans"/>
              </a:rPr>
              <a:t>role + model</a:t>
            </a:r>
            <a:br/>
            <a:r>
              <a:rPr sz="2032" b="0" i="0">
                <a:solidFill>
                  <a:srgbClr val="000000"/>
                </a:solidFill>
                <a:latin typeface="Latin Modern Sans"/>
              </a:rPr>
              <a:t>part + device</a:t>
            </a:r>
          </a:p>
        </p:txBody>
      </p:sp>
      <p:sp>
        <p:nvSpPr>
          <p:cNvPr id="6" name="PDF_TEXT_GROUP_865"/>
          <p:cNvSpPr txBox="1"/>
          <p:nvPr/>
        </p:nvSpPr>
        <p:spPr>
          <a:xfrm>
            <a:off x="7689115" y="2028159"/>
            <a:ext cx="2440706" cy="98845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032" b="0" i="0">
                <a:solidFill>
                  <a:srgbClr val="000000"/>
                </a:solidFill>
                <a:latin typeface="Latin Modern Sans"/>
              </a:rPr>
              <a:t>Check that the plan</a:t>
            </a:r>
            <a:br/>
            <a:r>
              <a:rPr sz="2032" b="0" i="0">
                <a:solidFill>
                  <a:srgbClr val="000000"/>
                </a:solidFill>
                <a:latin typeface="Latin Modern Sans"/>
              </a:rPr>
              <a:t>fits + reuses</a:t>
            </a:r>
            <a:br/>
            <a:r>
              <a:rPr sz="2032" b="0" i="0">
                <a:solidFill>
                  <a:srgbClr val="000000"/>
                </a:solidFill>
                <a:latin typeface="Latin Modern Sans"/>
              </a:rPr>
              <a:t>artifacts</a:t>
            </a:r>
          </a:p>
        </p:txBody>
      </p:sp>
      <p:sp>
        <p:nvSpPr>
          <p:cNvPr id="7" name="PDF_TEXT_GROUP_866"/>
          <p:cNvSpPr txBox="1"/>
          <p:nvPr/>
        </p:nvSpPr>
        <p:spPr>
          <a:xfrm>
            <a:off x="4305466" y="2166834"/>
            <a:ext cx="2698880" cy="67760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032" b="0" i="0">
                <a:solidFill>
                  <a:srgbClr val="000000"/>
                </a:solidFill>
                <a:latin typeface="Latin Modern Sans"/>
              </a:rPr>
              <a:t>Choose model split,</a:t>
            </a:r>
            <a:br/>
            <a:r>
              <a:rPr sz="2032" b="0" i="0">
                <a:solidFill>
                  <a:srgbClr val="000000"/>
                </a:solidFill>
                <a:latin typeface="Latin Modern Sans"/>
              </a:rPr>
              <a:t>Providers, and devices</a:t>
            </a:r>
          </a:p>
        </p:txBody>
      </p:sp>
      <p:sp>
        <p:nvSpPr>
          <p:cNvPr id="8" name="PDF_TEXT_GROUP_867"/>
          <p:cNvSpPr txBox="1"/>
          <p:nvPr/>
        </p:nvSpPr>
        <p:spPr>
          <a:xfrm>
            <a:off x="1447222" y="2604504"/>
            <a:ext cx="1813611" cy="67757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032" b="0" i="0">
                <a:solidFill>
                  <a:srgbClr val="000000"/>
                </a:solidFill>
                <a:latin typeface="Latin Modern Sans"/>
              </a:rPr>
              <a:t>Collected</a:t>
            </a:r>
            <a:br/>
            <a:r>
              <a:rPr sz="2032" b="0" i="0">
                <a:solidFill>
                  <a:srgbClr val="000000"/>
                </a:solidFill>
                <a:latin typeface="Latin Modern Sans"/>
              </a:rPr>
              <a:t>Provider offers</a:t>
            </a:r>
          </a:p>
        </p:txBody>
      </p:sp>
      <p:sp>
        <p:nvSpPr>
          <p:cNvPr id="9" name="PDF_TEXT_GROUP_868"/>
          <p:cNvSpPr txBox="1"/>
          <p:nvPr/>
        </p:nvSpPr>
        <p:spPr>
          <a:xfrm>
            <a:off x="1479181" y="3271661"/>
            <a:ext cx="1889805" cy="24785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524" b="0" i="0">
                <a:solidFill>
                  <a:srgbClr val="000000"/>
                </a:solidFill>
                <a:latin typeface="Latin Modern Sans"/>
              </a:rPr>
              <a:t>devices + resources</a:t>
            </a:r>
          </a:p>
        </p:txBody>
      </p:sp>
      <p:sp>
        <p:nvSpPr>
          <p:cNvPr id="10" name="PDF_TEXT_GROUP_869"/>
          <p:cNvSpPr txBox="1"/>
          <p:nvPr/>
        </p:nvSpPr>
        <p:spPr>
          <a:xfrm>
            <a:off x="914841" y="4400156"/>
            <a:ext cx="217597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Example decision</a:t>
            </a:r>
          </a:p>
        </p:txBody>
      </p:sp>
      <p:sp>
        <p:nvSpPr>
          <p:cNvPr id="11" name="PDF_TEXT_GROUP_870"/>
          <p:cNvSpPr txBox="1"/>
          <p:nvPr/>
        </p:nvSpPr>
        <p:spPr>
          <a:xfrm>
            <a:off x="7190572" y="4400156"/>
            <a:ext cx="363732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Resulting execution contract</a:t>
            </a:r>
          </a:p>
        </p:txBody>
      </p:sp>
      <p:sp>
        <p:nvSpPr>
          <p:cNvPr id="12" name="PDF_TEXT_GROUP_871"/>
          <p:cNvSpPr txBox="1"/>
          <p:nvPr/>
        </p:nvSpPr>
        <p:spPr>
          <a:xfrm>
            <a:off x="1618972" y="4788154"/>
            <a:ext cx="2638331"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stage 0</a:t>
            </a:r>
            <a:r>
              <a:rPr sz="1863" b="0" i="0">
                <a:solidFill>
                  <a:srgbClr val="000000"/>
                </a:solidFill>
                <a:latin typeface="Cambria Math"/>
              </a:rPr>
              <a:t> →</a:t>
            </a:r>
            <a:r>
              <a:rPr sz="1863" b="0" i="0">
                <a:solidFill>
                  <a:srgbClr val="000000"/>
                </a:solidFill>
                <a:latin typeface="Latin Modern Sans"/>
              </a:rPr>
              <a:t> P2 / CPU</a:t>
            </a:r>
          </a:p>
        </p:txBody>
      </p:sp>
      <p:sp>
        <p:nvSpPr>
          <p:cNvPr id="13" name="PDF_TEXT_GROUP_872"/>
          <p:cNvSpPr txBox="1"/>
          <p:nvPr/>
        </p:nvSpPr>
        <p:spPr>
          <a:xfrm>
            <a:off x="7894735" y="4802577"/>
            <a:ext cx="5235605"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Each Provider receives only its assigned role,</a:t>
            </a:r>
            <a:r>
              <a:rPr sz="1863" b="0" i="0">
                <a:solidFill>
                  <a:srgbClr val="000000"/>
                </a:solidFill>
                <a:latin typeface="Latin Modern Sans"/>
              </a:rPr>
              <a:t> model part, and device.</a:t>
            </a:r>
          </a:p>
        </p:txBody>
      </p:sp>
      <p:sp>
        <p:nvSpPr>
          <p:cNvPr id="14" name="PDF_TEXT_GROUP_873"/>
          <p:cNvSpPr txBox="1"/>
          <p:nvPr/>
        </p:nvSpPr>
        <p:spPr>
          <a:xfrm>
            <a:off x="1618972" y="5190575"/>
            <a:ext cx="5274680"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stage 1, partitions A–B</a:t>
            </a:r>
            <a:r>
              <a:rPr sz="1863" b="0" i="0">
                <a:solidFill>
                  <a:srgbClr val="000000"/>
                </a:solidFill>
                <a:latin typeface="Cambria Math"/>
              </a:rPr>
              <a:t> →</a:t>
            </a:r>
            <a:r>
              <a:rPr sz="1863" b="0" i="0">
                <a:solidFill>
                  <a:srgbClr val="000000"/>
                </a:solidFill>
                <a:latin typeface="Latin Modern Sans"/>
              </a:rPr>
              <a:t> P4 / GPUs 0–1</a:t>
            </a:r>
          </a:p>
        </p:txBody>
      </p:sp>
      <p:sp>
        <p:nvSpPr>
          <p:cNvPr id="15" name="PDF_TEXT_GROUP_874"/>
          <p:cNvSpPr txBox="1"/>
          <p:nvPr/>
        </p:nvSpPr>
        <p:spPr>
          <a:xfrm>
            <a:off x="7894735" y="5510861"/>
            <a:ext cx="5663976"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Memory and topology are checked separately for</a:t>
            </a:r>
            <a:r>
              <a:rPr sz="1863" b="0" i="0">
                <a:solidFill>
                  <a:srgbClr val="000000"/>
                </a:solidFill>
                <a:latin typeface="Latin Modern Sans"/>
              </a:rPr>
              <a:t> every selected device.</a:t>
            </a:r>
          </a:p>
        </p:txBody>
      </p:sp>
      <p:sp>
        <p:nvSpPr>
          <p:cNvPr id="16" name="PDF_TEXT_GROUP_875"/>
          <p:cNvSpPr txBox="1"/>
          <p:nvPr/>
        </p:nvSpPr>
        <p:spPr>
          <a:xfrm>
            <a:off x="1618972" y="5607451"/>
            <a:ext cx="5227374"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reuse signed layer artifacts already cached at</a:t>
            </a:r>
            <a:r>
              <a:rPr sz="1863" b="0" i="0">
                <a:solidFill>
                  <a:srgbClr val="000000"/>
                </a:solidFill>
                <a:latin typeface="Latin Modern Sans"/>
              </a:rPr>
              <a:t> P4</a:t>
            </a:r>
          </a:p>
        </p:txBody>
      </p:sp>
      <p:sp>
        <p:nvSpPr>
          <p:cNvPr id="17" name="PDF_TEXT_GROUP_876"/>
          <p:cNvSpPr txBox="1"/>
          <p:nvPr/>
        </p:nvSpPr>
        <p:spPr>
          <a:xfrm>
            <a:off x="7894735" y="6219145"/>
            <a:ext cx="5226679"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same Data-flow checks apply to directly</a:t>
            </a:r>
            <a:r>
              <a:rPr sz="1863" b="0" i="0">
                <a:solidFill>
                  <a:srgbClr val="000000"/>
                </a:solidFill>
                <a:latin typeface="Latin Modern Sans"/>
              </a:rPr>
              <a:t> received and cached tensors.</a:t>
            </a:r>
          </a:p>
        </p:txBody>
      </p:sp>
      <p:sp>
        <p:nvSpPr>
          <p:cNvPr id="18" name="PDF_TEXT_GROUP_877"/>
          <p:cNvSpPr txBox="1"/>
          <p:nvPr/>
        </p:nvSpPr>
        <p:spPr>
          <a:xfrm>
            <a:off x="1143656" y="7284836"/>
            <a:ext cx="1174052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Each signed Provider offer reports available devices, capacity, and cached signed layer artifacts.</a:t>
            </a:r>
          </a:p>
        </p:txBody>
      </p:sp>
      <p:sp>
        <p:nvSpPr>
          <p:cNvPr id="19" name="PDF_TEXT_GROUP_87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0" name="PDF_TEXT_GROUP_87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1" name="PDF_TEXT_GROUP_88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2" name="PDF_TEXT_GROUP_881"/>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3" name="PDF_TEXT_GROUP_882"/>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47/64</a:t>
            </a:r>
          </a:p>
        </p:txBody>
      </p:sp>
      <p:sp>
        <p:nvSpPr>
          <p:cNvPr id="24" name="PDF_BULLET_SPAN_1428"/>
          <p:cNvSpPr/>
          <p:nvPr/>
        </p:nvSpPr>
        <p:spPr>
          <a:xfrm rot="5400000">
            <a:off x="1270872" y="4865255"/>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DF_BULLET_SPAN_1432"/>
          <p:cNvSpPr/>
          <p:nvPr/>
        </p:nvSpPr>
        <p:spPr>
          <a:xfrm rot="5400000">
            <a:off x="1270872" y="5267676"/>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DF_BULLET_SPAN_1436"/>
          <p:cNvSpPr/>
          <p:nvPr/>
        </p:nvSpPr>
        <p:spPr>
          <a:xfrm rot="5400000">
            <a:off x="1270872" y="567012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DF_BULLET_SPAN_1440"/>
          <p:cNvSpPr/>
          <p:nvPr/>
        </p:nvSpPr>
        <p:spPr>
          <a:xfrm rot="5400000">
            <a:off x="7546636" y="4865255"/>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DF_BULLET_SPAN_1443"/>
          <p:cNvSpPr/>
          <p:nvPr/>
        </p:nvSpPr>
        <p:spPr>
          <a:xfrm rot="5400000">
            <a:off x="7546636" y="557353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DF_BULLET_SPAN_1446"/>
          <p:cNvSpPr/>
          <p:nvPr/>
        </p:nvSpPr>
        <p:spPr>
          <a:xfrm rot="5400000">
            <a:off x="7546636" y="6281824"/>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8" descr="background-048.png"/>
          <p:cNvPicPr>
            <a:picLocks noChangeAspect="1"/>
          </p:cNvPicPr>
          <p:nvPr/>
        </p:nvPicPr>
        <p:blipFill>
          <a:blip r:embed="rId2"/>
          <a:stretch>
            <a:fillRect/>
          </a:stretch>
        </p:blipFill>
        <p:spPr>
          <a:xfrm>
            <a:off x="0" y="0"/>
            <a:ext cx="14630400" cy="8229600"/>
          </a:xfrm>
          <a:prstGeom prst="rect">
            <a:avLst/>
          </a:prstGeom>
        </p:spPr>
      </p:pic>
      <p:sp>
        <p:nvSpPr>
          <p:cNvPr id="3" name="PDF_TEXT_GROUP_88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Pipeline, Tensor, and Hybrid Tradeoff</a:t>
            </a:r>
          </a:p>
        </p:txBody>
      </p:sp>
      <p:sp>
        <p:nvSpPr>
          <p:cNvPr id="4" name="PDF_TEXT_GROUP_884"/>
          <p:cNvSpPr txBox="1"/>
          <p:nvPr/>
        </p:nvSpPr>
        <p:spPr>
          <a:xfrm>
            <a:off x="1595671" y="1693900"/>
            <a:ext cx="5307280"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Layer-wise pipeline cut:</a:t>
            </a:r>
            <a:r>
              <a:rPr sz="2710" b="0" i="1">
                <a:solidFill>
                  <a:srgbClr val="000000"/>
                </a:solidFill>
                <a:latin typeface="Cambria Math"/>
              </a:rPr>
              <a:t> N</a:t>
            </a:r>
            <a:r>
              <a:rPr sz="2710" b="0" i="0">
                <a:solidFill>
                  <a:srgbClr val="000000"/>
                </a:solidFill>
                <a:latin typeface="Latin Modern Roman"/>
              </a:rPr>
              <a:t> = 3</a:t>
            </a:r>
          </a:p>
        </p:txBody>
      </p:sp>
      <p:sp>
        <p:nvSpPr>
          <p:cNvPr id="5" name="PDF_TEXT_GROUP_885"/>
          <p:cNvSpPr txBox="1"/>
          <p:nvPr/>
        </p:nvSpPr>
        <p:spPr>
          <a:xfrm>
            <a:off x="7939326" y="1693900"/>
            <a:ext cx="5290210" cy="96433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1" i="0">
                <a:solidFill>
                  <a:srgbClr val="000000"/>
                </a:solidFill>
                <a:latin typeface="Latin Modern Sans"/>
              </a:rPr>
              <a:t>Hybrid:</a:t>
            </a:r>
            <a:r>
              <a:rPr sz="2710" b="0" i="1">
                <a:solidFill>
                  <a:srgbClr val="000000"/>
                </a:solidFill>
                <a:latin typeface="Cambria Math"/>
              </a:rPr>
              <a:t> N</a:t>
            </a:r>
            <a:r>
              <a:rPr sz="2710" b="0" i="0">
                <a:solidFill>
                  <a:srgbClr val="000000"/>
                </a:solidFill>
                <a:latin typeface="Latin Modern Roman"/>
              </a:rPr>
              <a:t> = 2</a:t>
            </a:r>
            <a:r>
              <a:rPr sz="2710" b="1" i="0">
                <a:solidFill>
                  <a:srgbClr val="000000"/>
                </a:solidFill>
                <a:latin typeface="Latin Modern Sans"/>
              </a:rPr>
              <a:t>, tensor partitions</a:t>
            </a:r>
            <a:br/>
            <a:r>
              <a:rPr sz="2710" b="0" i="0">
                <a:solidFill>
                  <a:srgbClr val="000000"/>
                </a:solidFill>
                <a:latin typeface="Cambria Math"/>
              </a:rPr>
              <a:t>{</a:t>
            </a:r>
            <a:r>
              <a:rPr sz="2710" b="0" i="1">
                <a:solidFill>
                  <a:srgbClr val="000000"/>
                </a:solidFill>
                <a:latin typeface="Cambria Math"/>
              </a:rPr>
              <a:t>M</a:t>
            </a:r>
            <a:r>
              <a:rPr sz="1863" b="0" i="1">
                <a:solidFill>
                  <a:srgbClr val="000000"/>
                </a:solidFill>
                <a:latin typeface="Cambria Math"/>
              </a:rPr>
              <a:t>i</a:t>
            </a:r>
            <a:r>
              <a:rPr sz="2710" b="0" i="0">
                <a:solidFill>
                  <a:srgbClr val="000000"/>
                </a:solidFill>
                <a:latin typeface="Cambria Math"/>
              </a:rPr>
              <a:t> }</a:t>
            </a:r>
            <a:r>
              <a:rPr sz="2710" b="0" i="0">
                <a:solidFill>
                  <a:srgbClr val="000000"/>
                </a:solidFill>
                <a:latin typeface="Latin Modern Roman"/>
              </a:rPr>
              <a:t> =</a:t>
            </a:r>
            <a:r>
              <a:rPr sz="2710" b="0" i="0">
                <a:solidFill>
                  <a:srgbClr val="000000"/>
                </a:solidFill>
                <a:latin typeface="Cambria Math"/>
              </a:rPr>
              <a:t> {</a:t>
            </a:r>
            <a:r>
              <a:rPr sz="2710" b="0" i="0">
                <a:solidFill>
                  <a:srgbClr val="000000"/>
                </a:solidFill>
                <a:latin typeface="Latin Modern Roman"/>
              </a:rPr>
              <a:t>1</a:t>
            </a:r>
            <a:r>
              <a:rPr sz="2710" b="0" i="1">
                <a:solidFill>
                  <a:srgbClr val="000000"/>
                </a:solidFill>
                <a:latin typeface="Cambria Math"/>
              </a:rPr>
              <a:t>,</a:t>
            </a:r>
            <a:r>
              <a:rPr sz="2710" b="0" i="0">
                <a:solidFill>
                  <a:srgbClr val="000000"/>
                </a:solidFill>
                <a:latin typeface="Latin Modern Roman"/>
              </a:rPr>
              <a:t> 2</a:t>
            </a:r>
            <a:r>
              <a:rPr sz="2710" b="0" i="0">
                <a:solidFill>
                  <a:srgbClr val="000000"/>
                </a:solidFill>
                <a:latin typeface="Cambria Math"/>
              </a:rPr>
              <a:t>}</a:t>
            </a:r>
          </a:p>
        </p:txBody>
      </p:sp>
      <p:sp>
        <p:nvSpPr>
          <p:cNvPr id="6" name="PDF_TEXT_GROUP_886"/>
          <p:cNvSpPr txBox="1"/>
          <p:nvPr/>
        </p:nvSpPr>
        <p:spPr>
          <a:xfrm>
            <a:off x="1684873" y="2392317"/>
            <a:ext cx="10096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Stage 0</a:t>
            </a:r>
          </a:p>
        </p:txBody>
      </p:sp>
      <p:sp>
        <p:nvSpPr>
          <p:cNvPr id="7" name="PDF_TEXT_GROUP_887"/>
          <p:cNvSpPr txBox="1"/>
          <p:nvPr/>
        </p:nvSpPr>
        <p:spPr>
          <a:xfrm>
            <a:off x="3618861" y="2392317"/>
            <a:ext cx="10096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Stage 1</a:t>
            </a:r>
          </a:p>
        </p:txBody>
      </p:sp>
      <p:sp>
        <p:nvSpPr>
          <p:cNvPr id="8" name="PDF_TEXT_GROUP_888"/>
          <p:cNvSpPr txBox="1"/>
          <p:nvPr/>
        </p:nvSpPr>
        <p:spPr>
          <a:xfrm>
            <a:off x="5552849" y="2392317"/>
            <a:ext cx="10096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Stage 2</a:t>
            </a:r>
          </a:p>
        </p:txBody>
      </p:sp>
      <p:sp>
        <p:nvSpPr>
          <p:cNvPr id="9" name="PDF_TEXT_GROUP_889"/>
          <p:cNvSpPr txBox="1"/>
          <p:nvPr/>
        </p:nvSpPr>
        <p:spPr>
          <a:xfrm>
            <a:off x="10823655" y="2849771"/>
            <a:ext cx="1365134" cy="65760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Stage 1</a:t>
            </a:r>
            <a:br/>
            <a:r>
              <a:rPr sz="1863" b="0" i="0">
                <a:solidFill>
                  <a:srgbClr val="000000"/>
                </a:solidFill>
                <a:latin typeface="Latin Modern Sans"/>
              </a:rPr>
              <a:t>partition A</a:t>
            </a:r>
          </a:p>
        </p:txBody>
      </p:sp>
      <p:sp>
        <p:nvSpPr>
          <p:cNvPr id="10" name="PDF_TEXT_GROUP_890"/>
          <p:cNvSpPr txBox="1"/>
          <p:nvPr/>
        </p:nvSpPr>
        <p:spPr>
          <a:xfrm>
            <a:off x="1618972" y="3390927"/>
            <a:ext cx="60170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contiguous layer ranges to stages.</a:t>
            </a:r>
          </a:p>
        </p:txBody>
      </p:sp>
      <p:sp>
        <p:nvSpPr>
          <p:cNvPr id="11" name="PDF_TEXT_GROUP_891"/>
          <p:cNvSpPr txBox="1"/>
          <p:nvPr/>
        </p:nvSpPr>
        <p:spPr>
          <a:xfrm>
            <a:off x="8654053" y="3414898"/>
            <a:ext cx="10096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Stage 0</a:t>
            </a:r>
          </a:p>
        </p:txBody>
      </p:sp>
      <p:sp>
        <p:nvSpPr>
          <p:cNvPr id="12" name="PDF_TEXT_GROUP_892"/>
          <p:cNvSpPr txBox="1"/>
          <p:nvPr/>
        </p:nvSpPr>
        <p:spPr>
          <a:xfrm>
            <a:off x="11636363" y="3439943"/>
            <a:ext cx="118473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C16F2E"/>
                </a:solidFill>
                <a:latin typeface="Latin Modern Sans"/>
              </a:rPr>
              <a:t>collective</a:t>
            </a:r>
          </a:p>
        </p:txBody>
      </p:sp>
      <p:sp>
        <p:nvSpPr>
          <p:cNvPr id="13" name="PDF_TEXT_GROUP_893"/>
          <p:cNvSpPr txBox="1"/>
          <p:nvPr/>
        </p:nvSpPr>
        <p:spPr>
          <a:xfrm>
            <a:off x="10823655" y="3674163"/>
            <a:ext cx="1365134"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Stage 1</a:t>
            </a:r>
            <a:br/>
            <a:r>
              <a:rPr sz="1863" b="0" i="0">
                <a:solidFill>
                  <a:srgbClr val="000000"/>
                </a:solidFill>
                <a:latin typeface="Latin Modern Sans"/>
              </a:rPr>
              <a:t>partition B</a:t>
            </a:r>
          </a:p>
        </p:txBody>
      </p:sp>
      <p:sp>
        <p:nvSpPr>
          <p:cNvPr id="14" name="PDF_TEXT_GROUP_894"/>
          <p:cNvSpPr txBox="1"/>
          <p:nvPr/>
        </p:nvSpPr>
        <p:spPr>
          <a:xfrm>
            <a:off x="1618972" y="3970403"/>
            <a:ext cx="60134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 span CPU and accelerator Providers.</a:t>
            </a:r>
          </a:p>
        </p:txBody>
      </p:sp>
      <p:sp>
        <p:nvSpPr>
          <p:cNvPr id="15" name="PDF_TEXT_GROUP_895"/>
          <p:cNvSpPr txBox="1"/>
          <p:nvPr/>
        </p:nvSpPr>
        <p:spPr>
          <a:xfrm>
            <a:off x="1618972" y="4549911"/>
            <a:ext cx="461743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Transfers activations across stage</a:t>
            </a:r>
            <a:r>
              <a:rPr sz="2371" b="0" i="0">
                <a:solidFill>
                  <a:srgbClr val="000000"/>
                </a:solidFill>
                <a:latin typeface="Latin Modern Sans"/>
              </a:rPr>
              <a:t> boundaries.</a:t>
            </a:r>
          </a:p>
        </p:txBody>
      </p:sp>
      <p:sp>
        <p:nvSpPr>
          <p:cNvPr id="16" name="PDF_TEXT_GROUP_896"/>
          <p:cNvSpPr txBox="1"/>
          <p:nvPr/>
        </p:nvSpPr>
        <p:spPr>
          <a:xfrm>
            <a:off x="8150724" y="4978604"/>
            <a:ext cx="597141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Shards selected stages across device sets.</a:t>
            </a:r>
          </a:p>
        </p:txBody>
      </p:sp>
      <p:sp>
        <p:nvSpPr>
          <p:cNvPr id="17" name="PDF_TEXT_GROUP_897"/>
          <p:cNvSpPr txBox="1"/>
          <p:nvPr/>
        </p:nvSpPr>
        <p:spPr>
          <a:xfrm>
            <a:off x="8150724" y="5558113"/>
            <a:ext cx="447512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Requires adapter-certified tensor</a:t>
            </a:r>
            <a:r>
              <a:rPr sz="2371" b="0" i="0">
                <a:solidFill>
                  <a:srgbClr val="000000"/>
                </a:solidFill>
                <a:latin typeface="Latin Modern Sans"/>
              </a:rPr>
              <a:t> semantics.</a:t>
            </a:r>
          </a:p>
        </p:txBody>
      </p:sp>
      <p:sp>
        <p:nvSpPr>
          <p:cNvPr id="18" name="PDF_TEXT_GROUP_898"/>
          <p:cNvSpPr txBox="1"/>
          <p:nvPr/>
        </p:nvSpPr>
        <p:spPr>
          <a:xfrm>
            <a:off x="8150724" y="6523949"/>
            <a:ext cx="56263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Adds collective and redistribution cost.</a:t>
            </a:r>
          </a:p>
        </p:txBody>
      </p:sp>
      <p:sp>
        <p:nvSpPr>
          <p:cNvPr id="19" name="PDF_TEXT_GROUP_899"/>
          <p:cNvSpPr txBox="1"/>
          <p:nvPr/>
        </p:nvSpPr>
        <p:spPr>
          <a:xfrm>
            <a:off x="1143656" y="7266405"/>
            <a:ext cx="12113463" cy="6720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planner chooses</a:t>
            </a:r>
            <a:r>
              <a:rPr sz="1863" b="0" i="1">
                <a:solidFill>
                  <a:srgbClr val="000000"/>
                </a:solidFill>
                <a:latin typeface="Cambria Math"/>
              </a:rPr>
              <a:t> N</a:t>
            </a:r>
            <a:r>
              <a:rPr sz="1863" b="0" i="0">
                <a:solidFill>
                  <a:srgbClr val="000000"/>
                </a:solidFill>
                <a:latin typeface="Cambria Math"/>
              </a:rPr>
              <a:t> × {</a:t>
            </a:r>
            <a:r>
              <a:rPr sz="1863" b="0" i="1">
                <a:solidFill>
                  <a:srgbClr val="000000"/>
                </a:solidFill>
                <a:latin typeface="Cambria Math"/>
              </a:rPr>
              <a:t>M</a:t>
            </a:r>
            <a:r>
              <a:rPr sz="1355" b="0" i="1">
                <a:solidFill>
                  <a:srgbClr val="000000"/>
                </a:solidFill>
                <a:latin typeface="Cambria Math"/>
              </a:rPr>
              <a:t>i</a:t>
            </a:r>
            <a:r>
              <a:rPr sz="1863" b="0" i="0">
                <a:solidFill>
                  <a:srgbClr val="000000"/>
                </a:solidFill>
                <a:latin typeface="Cambria Math"/>
              </a:rPr>
              <a:t> }</a:t>
            </a:r>
            <a:r>
              <a:rPr sz="1863" b="0" i="0">
                <a:solidFill>
                  <a:srgbClr val="000000"/>
                </a:solidFill>
                <a:latin typeface="Latin Modern Sans"/>
              </a:rPr>
              <a:t> from model constraints, reuse, per-device feasibility, topology, activation</a:t>
            </a:r>
            <a:r>
              <a:rPr sz="1863" b="0" i="0">
                <a:solidFill>
                  <a:srgbClr val="000000"/>
                </a:solidFill>
                <a:latin typeface="Latin Modern Sans"/>
              </a:rPr>
              <a:t> size, and network cost.</a:t>
            </a:r>
          </a:p>
        </p:txBody>
      </p:sp>
      <p:sp>
        <p:nvSpPr>
          <p:cNvPr id="20" name="PDF_TEXT_GROUP_9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1" name="PDF_TEXT_GROUP_9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2" name="PDF_TEXT_GROUP_9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3" name="PDF_TEXT_GROUP_903"/>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4" name="PDF_TEXT_GROUP_904"/>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48/64</a:t>
            </a:r>
          </a:p>
        </p:txBody>
      </p:sp>
      <p:sp>
        <p:nvSpPr>
          <p:cNvPr id="25" name="PDF_BULLET_SPAN_1462"/>
          <p:cNvSpPr/>
          <p:nvPr/>
        </p:nvSpPr>
        <p:spPr>
          <a:xfrm rot="5400000">
            <a:off x="1227851" y="3469275"/>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DF_BULLET_SPAN_1464"/>
          <p:cNvSpPr/>
          <p:nvPr/>
        </p:nvSpPr>
        <p:spPr>
          <a:xfrm rot="5400000">
            <a:off x="1227851" y="4048751"/>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DF_BULLET_SPAN_1466"/>
          <p:cNvSpPr/>
          <p:nvPr/>
        </p:nvSpPr>
        <p:spPr>
          <a:xfrm rot="5400000">
            <a:off x="1227851" y="462825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DF_BULLET_SPAN_1489"/>
          <p:cNvSpPr/>
          <p:nvPr/>
        </p:nvSpPr>
        <p:spPr>
          <a:xfrm rot="5400000">
            <a:off x="7759636" y="5056952"/>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DF_BULLET_SPAN_1491"/>
          <p:cNvSpPr/>
          <p:nvPr/>
        </p:nvSpPr>
        <p:spPr>
          <a:xfrm rot="5400000">
            <a:off x="7759636" y="5636460"/>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DF_BULLET_SPAN_1494"/>
          <p:cNvSpPr/>
          <p:nvPr/>
        </p:nvSpPr>
        <p:spPr>
          <a:xfrm rot="5400000">
            <a:off x="7759636" y="6602296"/>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9" descr="background-049.png"/>
          <p:cNvPicPr>
            <a:picLocks noChangeAspect="1"/>
          </p:cNvPicPr>
          <p:nvPr/>
        </p:nvPicPr>
        <p:blipFill>
          <a:blip r:embed="rId2"/>
          <a:stretch>
            <a:fillRect/>
          </a:stretch>
        </p:blipFill>
        <p:spPr>
          <a:xfrm>
            <a:off x="0" y="0"/>
            <a:ext cx="14630400" cy="8229600"/>
          </a:xfrm>
          <a:prstGeom prst="rect">
            <a:avLst/>
          </a:prstGeom>
        </p:spPr>
      </p:pic>
      <p:sp>
        <p:nvSpPr>
          <p:cNvPr id="3" name="PDF_TEXT_GROUP_9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Planner Decision</a:t>
            </a:r>
          </a:p>
        </p:txBody>
      </p:sp>
      <p:sp>
        <p:nvSpPr>
          <p:cNvPr id="4" name="PDF_TEXT_GROUP_906"/>
          <p:cNvSpPr txBox="1"/>
          <p:nvPr/>
        </p:nvSpPr>
        <p:spPr>
          <a:xfrm>
            <a:off x="5854074" y="1592943"/>
            <a:ext cx="2723087" cy="92045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1" i="0">
                <a:solidFill>
                  <a:srgbClr val="000000"/>
                </a:solidFill>
                <a:latin typeface="Latin Modern Sans"/>
              </a:rPr>
              <a:t>Decision evidence</a:t>
            </a:r>
            <a:br/>
            <a:r>
              <a:rPr sz="2371" b="0" i="0">
                <a:solidFill>
                  <a:srgbClr val="000000"/>
                </a:solidFill>
                <a:latin typeface="Latin Modern Sans"/>
              </a:rPr>
              <a:t>model/device fit</a:t>
            </a:r>
          </a:p>
        </p:txBody>
      </p:sp>
      <p:sp>
        <p:nvSpPr>
          <p:cNvPr id="5" name="PDF_TEXT_GROUP_907"/>
          <p:cNvSpPr txBox="1"/>
          <p:nvPr/>
        </p:nvSpPr>
        <p:spPr>
          <a:xfrm>
            <a:off x="2255577" y="2209164"/>
            <a:ext cx="1595314" cy="123323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1">
                <a:solidFill>
                  <a:srgbClr val="000000"/>
                </a:solidFill>
                <a:latin typeface="Cambria Math"/>
              </a:rPr>
              <a:t>N</a:t>
            </a:r>
            <a:r>
              <a:rPr sz="2371" b="0" i="0">
                <a:solidFill>
                  <a:srgbClr val="000000"/>
                </a:solidFill>
                <a:latin typeface="Cambria Math"/>
              </a:rPr>
              <a:t> × {</a:t>
            </a:r>
            <a:r>
              <a:rPr sz="2371" b="0" i="1">
                <a:solidFill>
                  <a:srgbClr val="000000"/>
                </a:solidFill>
                <a:latin typeface="Cambria Math"/>
              </a:rPr>
              <a:t>M</a:t>
            </a:r>
            <a:r>
              <a:rPr sz="1694" b="0" i="1">
                <a:solidFill>
                  <a:srgbClr val="000000"/>
                </a:solidFill>
                <a:latin typeface="Cambria Math"/>
              </a:rPr>
              <a:t>i</a:t>
            </a:r>
            <a:r>
              <a:rPr sz="2371" b="0" i="0">
                <a:solidFill>
                  <a:srgbClr val="000000"/>
                </a:solidFill>
                <a:latin typeface="Cambria Math"/>
              </a:rPr>
              <a:t> }</a:t>
            </a:r>
            <a:br/>
            <a:r>
              <a:rPr sz="2371" b="0" i="0">
                <a:solidFill>
                  <a:srgbClr val="000000"/>
                </a:solidFill>
                <a:latin typeface="Latin Modern Sans"/>
              </a:rPr>
              <a:t>candidate</a:t>
            </a:r>
            <a:br/>
            <a:r>
              <a:rPr sz="2371" b="0" i="0">
                <a:solidFill>
                  <a:srgbClr val="000000"/>
                </a:solidFill>
                <a:latin typeface="Latin Modern Sans"/>
              </a:rPr>
              <a:t>layouts</a:t>
            </a:r>
          </a:p>
        </p:txBody>
      </p:sp>
      <p:sp>
        <p:nvSpPr>
          <p:cNvPr id="6" name="PDF_TEXT_GROUP_908"/>
          <p:cNvSpPr txBox="1"/>
          <p:nvPr/>
        </p:nvSpPr>
        <p:spPr>
          <a:xfrm>
            <a:off x="10528498" y="2411422"/>
            <a:ext cx="197131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final assigned</a:t>
            </a:r>
          </a:p>
        </p:txBody>
      </p:sp>
      <p:sp>
        <p:nvSpPr>
          <p:cNvPr id="7" name="PDF_TEXT_GROUP_909"/>
          <p:cNvSpPr txBox="1"/>
          <p:nvPr/>
        </p:nvSpPr>
        <p:spPr>
          <a:xfrm>
            <a:off x="5713440" y="2457212"/>
            <a:ext cx="324464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activation + collective</a:t>
            </a:r>
          </a:p>
        </p:txBody>
      </p:sp>
      <p:sp>
        <p:nvSpPr>
          <p:cNvPr id="8" name="PDF_TEXT_GROUP_910"/>
          <p:cNvSpPr txBox="1"/>
          <p:nvPr/>
        </p:nvSpPr>
        <p:spPr>
          <a:xfrm>
            <a:off x="10457046" y="2797750"/>
            <a:ext cx="211429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plan</a:t>
            </a:r>
          </a:p>
        </p:txBody>
      </p:sp>
      <p:sp>
        <p:nvSpPr>
          <p:cNvPr id="9" name="PDF_TEXT_GROUP_911"/>
          <p:cNvSpPr txBox="1"/>
          <p:nvPr/>
        </p:nvSpPr>
        <p:spPr>
          <a:xfrm>
            <a:off x="5816896" y="2843573"/>
            <a:ext cx="2797552" cy="121517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network + topology</a:t>
            </a:r>
            <a:br/>
            <a:r>
              <a:rPr sz="2371" b="0" i="0">
                <a:solidFill>
                  <a:srgbClr val="000000"/>
                </a:solidFill>
                <a:latin typeface="Latin Modern Sans"/>
              </a:rPr>
              <a:t>Provider capac-</a:t>
            </a:r>
            <a:br/>
            <a:r>
              <a:rPr sz="2371" b="0" i="0">
                <a:solidFill>
                  <a:srgbClr val="000000"/>
                </a:solidFill>
                <a:latin typeface="Latin Modern Sans"/>
              </a:rPr>
              <a:t>ity + layer reuse</a:t>
            </a:r>
          </a:p>
        </p:txBody>
      </p:sp>
      <p:sp>
        <p:nvSpPr>
          <p:cNvPr id="10" name="PDF_TEXT_GROUP_912"/>
          <p:cNvSpPr txBox="1"/>
          <p:nvPr/>
        </p:nvSpPr>
        <p:spPr>
          <a:xfrm>
            <a:off x="1618972" y="4901016"/>
            <a:ext cx="1116935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Planning begins only after all timely ACKs are collected; an ACK does not reserve</a:t>
            </a:r>
            <a:r>
              <a:rPr sz="2371" b="0" i="0">
                <a:solidFill>
                  <a:srgbClr val="000000"/>
                </a:solidFill>
                <a:latin typeface="Latin Modern Sans"/>
              </a:rPr>
              <a:t> hardware.</a:t>
            </a:r>
          </a:p>
        </p:txBody>
      </p:sp>
      <p:sp>
        <p:nvSpPr>
          <p:cNvPr id="11" name="PDF_TEXT_GROUP_913"/>
          <p:cNvSpPr txBox="1"/>
          <p:nvPr/>
        </p:nvSpPr>
        <p:spPr>
          <a:xfrm>
            <a:off x="1618972" y="5866852"/>
            <a:ext cx="116622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Every assigned model part must fit one actual device; memory is not combined across</a:t>
            </a:r>
            <a:r>
              <a:rPr sz="2371" b="0" i="0">
                <a:solidFill>
                  <a:srgbClr val="000000"/>
                </a:solidFill>
                <a:latin typeface="Latin Modern Sans"/>
              </a:rPr>
              <a:t> incompatible devices.</a:t>
            </a:r>
          </a:p>
        </p:txBody>
      </p:sp>
      <p:sp>
        <p:nvSpPr>
          <p:cNvPr id="12" name="PDF_TEXT_GROUP_914"/>
          <p:cNvSpPr txBox="1"/>
          <p:nvPr/>
        </p:nvSpPr>
        <p:spPr>
          <a:xfrm>
            <a:off x="1618972" y="6832688"/>
            <a:ext cx="1216274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Compatible cached layers may be reused after model and topology constraints pass.</a:t>
            </a:r>
          </a:p>
        </p:txBody>
      </p:sp>
      <p:sp>
        <p:nvSpPr>
          <p:cNvPr id="13" name="PDF_TEXT_GROUP_9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9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1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7" name="PDF_TEXT_GROUP_919"/>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49/64</a:t>
            </a:r>
          </a:p>
        </p:txBody>
      </p:sp>
      <p:sp>
        <p:nvSpPr>
          <p:cNvPr id="18" name="PDF_BULLET_SPAN_1525"/>
          <p:cNvSpPr/>
          <p:nvPr/>
        </p:nvSpPr>
        <p:spPr>
          <a:xfrm rot="5400000">
            <a:off x="1227851" y="4979363"/>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528"/>
          <p:cNvSpPr/>
          <p:nvPr/>
        </p:nvSpPr>
        <p:spPr>
          <a:xfrm rot="5400000">
            <a:off x="1227851" y="594519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1531"/>
          <p:cNvSpPr/>
          <p:nvPr/>
        </p:nvSpPr>
        <p:spPr>
          <a:xfrm rot="5400000">
            <a:off x="1227851" y="6911036"/>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0" descr="background-050.png"/>
          <p:cNvPicPr>
            <a:picLocks noChangeAspect="1"/>
          </p:cNvPicPr>
          <p:nvPr/>
        </p:nvPicPr>
        <p:blipFill>
          <a:blip r:embed="rId2"/>
          <a:stretch>
            <a:fillRect/>
          </a:stretch>
        </p:blipFill>
        <p:spPr>
          <a:xfrm>
            <a:off x="0" y="0"/>
            <a:ext cx="14630400" cy="8229600"/>
          </a:xfrm>
          <a:prstGeom prst="rect">
            <a:avLst/>
          </a:prstGeom>
        </p:spPr>
      </p:pic>
      <p:sp>
        <p:nvSpPr>
          <p:cNvPr id="3" name="PDF_TEXT_GROUP_9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Preliminary Diagnostic Experiment</a:t>
            </a:r>
          </a:p>
        </p:txBody>
      </p:sp>
      <p:sp>
        <p:nvSpPr>
          <p:cNvPr id="4" name="PDF_TEXT_GROUP_921"/>
          <p:cNvSpPr txBox="1"/>
          <p:nvPr/>
        </p:nvSpPr>
        <p:spPr>
          <a:xfrm>
            <a:off x="914808" y="1366762"/>
            <a:ext cx="12189740"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Earlier role/chunk prototype on the same full-network MiniNDN harness, using a small-model ONNX</a:t>
            </a:r>
            <a:r>
              <a:rPr sz="1863" b="0" i="0">
                <a:solidFill>
                  <a:srgbClr val="1A3E79"/>
                </a:solidFill>
                <a:latin typeface="Latin Modern Sans"/>
              </a:rPr>
              <a:t> [25]</a:t>
            </a:r>
            <a:r>
              <a:rPr sz="1863" b="0" i="0">
                <a:solidFill>
                  <a:srgbClr val="000000"/>
                </a:solidFill>
                <a:latin typeface="Latin Modern Sans"/>
              </a:rPr>
              <a:t> workload instrumented by NativeTracer; 10 successful real-ONNX runs per layout.</a:t>
            </a:r>
          </a:p>
        </p:txBody>
      </p:sp>
      <p:sp>
        <p:nvSpPr>
          <p:cNvPr id="5" name="PDF_TEXT_GROUP_922"/>
          <p:cNvSpPr txBox="1"/>
          <p:nvPr/>
        </p:nvSpPr>
        <p:spPr>
          <a:xfrm>
            <a:off x="914808" y="2207732"/>
            <a:ext cx="302769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Shared-backbone layout</a:t>
            </a:r>
          </a:p>
        </p:txBody>
      </p:sp>
      <p:sp>
        <p:nvSpPr>
          <p:cNvPr id="6" name="PDF_TEXT_GROUP_923"/>
          <p:cNvSpPr txBox="1"/>
          <p:nvPr/>
        </p:nvSpPr>
        <p:spPr>
          <a:xfrm>
            <a:off x="6678175" y="2207732"/>
            <a:ext cx="37152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Measured end-to-end latency</a:t>
            </a:r>
          </a:p>
        </p:txBody>
      </p:sp>
      <p:sp>
        <p:nvSpPr>
          <p:cNvPr id="7" name="PDF_TEXT_GROUP_924"/>
          <p:cNvSpPr txBox="1"/>
          <p:nvPr/>
        </p:nvSpPr>
        <p:spPr>
          <a:xfrm>
            <a:off x="3375943" y="2947879"/>
            <a:ext cx="996617"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Head A</a:t>
            </a:r>
            <a:r>
              <a:rPr sz="1863" b="0" i="0">
                <a:solidFill>
                  <a:srgbClr val="000000"/>
                </a:solidFill>
                <a:latin typeface="Latin Modern Sans"/>
              </a:rPr>
              <a:t> Arizona</a:t>
            </a:r>
          </a:p>
        </p:txBody>
      </p:sp>
      <p:sp>
        <p:nvSpPr>
          <p:cNvPr id="8" name="PDF_TEXT_GROUP_925"/>
          <p:cNvSpPr txBox="1"/>
          <p:nvPr/>
        </p:nvSpPr>
        <p:spPr>
          <a:xfrm>
            <a:off x="8215561" y="3050991"/>
            <a:ext cx="700008"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Layout</a:t>
            </a:r>
          </a:p>
        </p:txBody>
      </p:sp>
      <p:sp>
        <p:nvSpPr>
          <p:cNvPr id="9" name="PDF_TEXT_GROUP_926"/>
          <p:cNvSpPr txBox="1"/>
          <p:nvPr/>
        </p:nvSpPr>
        <p:spPr>
          <a:xfrm>
            <a:off x="9849896" y="3050991"/>
            <a:ext cx="2521801"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1" i="0">
                <a:solidFill>
                  <a:srgbClr val="000000"/>
                </a:solidFill>
                <a:latin typeface="Latin Modern Sans"/>
              </a:rPr>
              <a:t>Mean</a:t>
            </a:r>
            <a:r>
              <a:rPr sz="1355" b="1" i="0">
                <a:solidFill>
                  <a:srgbClr val="000000"/>
                </a:solidFill>
                <a:latin typeface="Latin Modern Sans"/>
              </a:rPr>
              <a:t> p50</a:t>
            </a:r>
            <a:r>
              <a:rPr sz="1355" b="1" i="0">
                <a:solidFill>
                  <a:srgbClr val="000000"/>
                </a:solidFill>
                <a:latin typeface="Latin Modern Sans"/>
              </a:rPr>
              <a:t> p95</a:t>
            </a:r>
            <a:r>
              <a:rPr sz="1355" b="1" i="0">
                <a:solidFill>
                  <a:srgbClr val="000000"/>
                </a:solidFill>
                <a:latin typeface="Latin Modern Sans"/>
              </a:rPr>
              <a:t> SD</a:t>
            </a:r>
          </a:p>
        </p:txBody>
      </p:sp>
      <p:sp>
        <p:nvSpPr>
          <p:cNvPr id="10" name="PDF_TEXT_GROUP_927"/>
          <p:cNvSpPr txBox="1"/>
          <p:nvPr/>
        </p:nvSpPr>
        <p:spPr>
          <a:xfrm>
            <a:off x="1391243" y="3405882"/>
            <a:ext cx="1244550" cy="65760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Backbone</a:t>
            </a:r>
            <a:br/>
            <a:r>
              <a:rPr sz="1863" b="0" i="0">
                <a:solidFill>
                  <a:srgbClr val="000000"/>
                </a:solidFill>
                <a:latin typeface="Latin Modern Sans"/>
              </a:rPr>
              <a:t>UCLA</a:t>
            </a:r>
          </a:p>
        </p:txBody>
      </p:sp>
      <p:sp>
        <p:nvSpPr>
          <p:cNvPr id="11" name="PDF_TEXT_GROUP_928"/>
          <p:cNvSpPr txBox="1"/>
          <p:nvPr/>
        </p:nvSpPr>
        <p:spPr>
          <a:xfrm>
            <a:off x="4958597" y="3405882"/>
            <a:ext cx="839405" cy="65760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Merge</a:t>
            </a:r>
            <a:br/>
            <a:r>
              <a:rPr sz="1863" b="0" i="0">
                <a:solidFill>
                  <a:srgbClr val="000000"/>
                </a:solidFill>
                <a:latin typeface="Latin Modern Sans"/>
              </a:rPr>
              <a:t>NEU</a:t>
            </a:r>
          </a:p>
        </p:txBody>
      </p:sp>
      <p:sp>
        <p:nvSpPr>
          <p:cNvPr id="12" name="PDF_TEXT_GROUP_929"/>
          <p:cNvSpPr txBox="1"/>
          <p:nvPr/>
        </p:nvSpPr>
        <p:spPr>
          <a:xfrm>
            <a:off x="8215561" y="3525991"/>
            <a:ext cx="1570734"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Shared backbone</a:t>
            </a:r>
          </a:p>
        </p:txBody>
      </p:sp>
      <p:sp>
        <p:nvSpPr>
          <p:cNvPr id="13" name="PDF_TEXT_GROUP_930"/>
          <p:cNvSpPr txBox="1"/>
          <p:nvPr/>
        </p:nvSpPr>
        <p:spPr>
          <a:xfrm>
            <a:off x="9879836" y="3525991"/>
            <a:ext cx="576639"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259.4</a:t>
            </a:r>
          </a:p>
        </p:txBody>
      </p:sp>
      <p:sp>
        <p:nvSpPr>
          <p:cNvPr id="14" name="PDF_TEXT_GROUP_931"/>
          <p:cNvSpPr txBox="1"/>
          <p:nvPr/>
        </p:nvSpPr>
        <p:spPr>
          <a:xfrm>
            <a:off x="10526737" y="3525991"/>
            <a:ext cx="576832"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267.7</a:t>
            </a:r>
          </a:p>
        </p:txBody>
      </p:sp>
      <p:sp>
        <p:nvSpPr>
          <p:cNvPr id="15" name="PDF_TEXT_GROUP_932"/>
          <p:cNvSpPr txBox="1"/>
          <p:nvPr/>
        </p:nvSpPr>
        <p:spPr>
          <a:xfrm>
            <a:off x="11173831" y="3525991"/>
            <a:ext cx="576639"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283.9</a:t>
            </a:r>
          </a:p>
        </p:txBody>
      </p:sp>
      <p:sp>
        <p:nvSpPr>
          <p:cNvPr id="16" name="PDF_TEXT_GROUP_933"/>
          <p:cNvSpPr txBox="1"/>
          <p:nvPr/>
        </p:nvSpPr>
        <p:spPr>
          <a:xfrm>
            <a:off x="11820925" y="3525991"/>
            <a:ext cx="474143"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22.1</a:t>
            </a:r>
          </a:p>
        </p:txBody>
      </p:sp>
      <p:sp>
        <p:nvSpPr>
          <p:cNvPr id="17" name="PDF_TEXT_GROUP_934"/>
          <p:cNvSpPr txBox="1"/>
          <p:nvPr/>
        </p:nvSpPr>
        <p:spPr>
          <a:xfrm>
            <a:off x="8215561" y="3818961"/>
            <a:ext cx="1402874"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Single Provider</a:t>
            </a:r>
          </a:p>
        </p:txBody>
      </p:sp>
      <p:sp>
        <p:nvSpPr>
          <p:cNvPr id="18" name="PDF_TEXT_GROUP_935"/>
          <p:cNvSpPr txBox="1"/>
          <p:nvPr/>
        </p:nvSpPr>
        <p:spPr>
          <a:xfrm>
            <a:off x="9879875" y="3818961"/>
            <a:ext cx="576639"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186.8</a:t>
            </a:r>
          </a:p>
        </p:txBody>
      </p:sp>
      <p:sp>
        <p:nvSpPr>
          <p:cNvPr id="19" name="PDF_TEXT_GROUP_936"/>
          <p:cNvSpPr txBox="1"/>
          <p:nvPr/>
        </p:nvSpPr>
        <p:spPr>
          <a:xfrm>
            <a:off x="10526776" y="3818961"/>
            <a:ext cx="576832"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191.7</a:t>
            </a:r>
          </a:p>
        </p:txBody>
      </p:sp>
      <p:sp>
        <p:nvSpPr>
          <p:cNvPr id="20" name="PDF_TEXT_GROUP_937"/>
          <p:cNvSpPr txBox="1"/>
          <p:nvPr/>
        </p:nvSpPr>
        <p:spPr>
          <a:xfrm>
            <a:off x="11173870" y="3818961"/>
            <a:ext cx="576639"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206.3</a:t>
            </a:r>
          </a:p>
        </p:txBody>
      </p:sp>
      <p:sp>
        <p:nvSpPr>
          <p:cNvPr id="21" name="PDF_TEXT_GROUP_938"/>
          <p:cNvSpPr txBox="1"/>
          <p:nvPr/>
        </p:nvSpPr>
        <p:spPr>
          <a:xfrm>
            <a:off x="11820964" y="3818961"/>
            <a:ext cx="474143" cy="22316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20.0</a:t>
            </a:r>
          </a:p>
        </p:txBody>
      </p:sp>
      <p:sp>
        <p:nvSpPr>
          <p:cNvPr id="22" name="PDF_TEXT_GROUP_939"/>
          <p:cNvSpPr txBox="1"/>
          <p:nvPr/>
        </p:nvSpPr>
        <p:spPr>
          <a:xfrm>
            <a:off x="3343799" y="3863886"/>
            <a:ext cx="1060896"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Head B</a:t>
            </a:r>
            <a:r>
              <a:rPr sz="1863" b="0" i="0">
                <a:solidFill>
                  <a:srgbClr val="000000"/>
                </a:solidFill>
                <a:latin typeface="Latin Modern Sans"/>
              </a:rPr>
              <a:t> WUSTL</a:t>
            </a:r>
          </a:p>
        </p:txBody>
      </p:sp>
      <p:sp>
        <p:nvSpPr>
          <p:cNvPr id="23" name="PDF_TEXT_GROUP_940"/>
          <p:cNvSpPr txBox="1"/>
          <p:nvPr/>
        </p:nvSpPr>
        <p:spPr>
          <a:xfrm>
            <a:off x="8680614" y="4508606"/>
            <a:ext cx="328241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All values are milliseconds.</a:t>
            </a:r>
          </a:p>
        </p:txBody>
      </p:sp>
      <p:sp>
        <p:nvSpPr>
          <p:cNvPr id="24" name="PDF_TEXT_GROUP_941"/>
          <p:cNvSpPr txBox="1"/>
          <p:nvPr/>
        </p:nvSpPr>
        <p:spPr>
          <a:xfrm>
            <a:off x="914808" y="4954588"/>
            <a:ext cx="5092977"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Shared backbone uses four Providers; the</a:t>
            </a:r>
            <a:r>
              <a:rPr sz="1863" b="0" i="0">
                <a:solidFill>
                  <a:srgbClr val="000000"/>
                </a:solidFill>
                <a:latin typeface="Latin Modern Sans"/>
              </a:rPr>
              <a:t> single-Provider control runs all four roles at</a:t>
            </a:r>
            <a:r>
              <a:rPr sz="1863" b="0" i="0">
                <a:solidFill>
                  <a:srgbClr val="000000"/>
                </a:solidFill>
                <a:latin typeface="Latin Modern Sans"/>
              </a:rPr>
              <a:t> UCLA.</a:t>
            </a:r>
          </a:p>
        </p:txBody>
      </p:sp>
      <p:sp>
        <p:nvSpPr>
          <p:cNvPr id="25" name="PDF_TEXT_GROUP_942"/>
          <p:cNvSpPr txBox="1"/>
          <p:nvPr/>
        </p:nvSpPr>
        <p:spPr>
          <a:xfrm>
            <a:off x="1092471" y="6329825"/>
            <a:ext cx="12477851" cy="96347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 this small model, the single-Provider layout is faster because it avoids fixed intermediate-data exchange.</a:t>
            </a:r>
            <a:r>
              <a:rPr sz="1863" b="0" i="0">
                <a:solidFill>
                  <a:srgbClr val="000000"/>
                </a:solidFill>
                <a:latin typeface="Latin Modern Sans"/>
              </a:rPr>
              <a:t> This diagnostic does not validate the proposed V3 reuse, hybrid partitioning, multi-GPU placement, or final</a:t>
            </a:r>
            <a:r>
              <a:rPr sz="1863" b="0" i="0">
                <a:solidFill>
                  <a:srgbClr val="000000"/>
                </a:solidFill>
                <a:latin typeface="Latin Modern Sans"/>
              </a:rPr>
              <a:t> resource recheck.</a:t>
            </a:r>
          </a:p>
        </p:txBody>
      </p:sp>
      <p:sp>
        <p:nvSpPr>
          <p:cNvPr id="26" name="PDF_TEXT_GROUP_94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7" name="PDF_TEXT_GROUP_94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8" name="PDF_TEXT_GROUP_94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9" name="PDF_TEXT_GROUP_946"/>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30" name="PDF_TEXT_GROUP_947"/>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50/64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1" descr="background-051.png"/>
          <p:cNvPicPr>
            <a:picLocks noChangeAspect="1"/>
          </p:cNvPicPr>
          <p:nvPr/>
        </p:nvPicPr>
        <p:blipFill>
          <a:blip r:embed="rId2"/>
          <a:stretch>
            <a:fillRect/>
          </a:stretch>
        </p:blipFill>
        <p:spPr>
          <a:xfrm>
            <a:off x="0" y="0"/>
            <a:ext cx="14630400" cy="8229600"/>
          </a:xfrm>
          <a:prstGeom prst="rect">
            <a:avLst/>
          </a:prstGeom>
        </p:spPr>
      </p:pic>
      <p:sp>
        <p:nvSpPr>
          <p:cNvPr id="3" name="PDF_TEXT_GROUP_94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Planned DI Validation</a:t>
            </a:r>
          </a:p>
        </p:txBody>
      </p:sp>
      <p:sp>
        <p:nvSpPr>
          <p:cNvPr id="4" name="PDF_TEXT_GROUP_949"/>
          <p:cNvSpPr txBox="1"/>
          <p:nvPr/>
        </p:nvSpPr>
        <p:spPr>
          <a:xfrm>
            <a:off x="1618972" y="1262233"/>
            <a:ext cx="100513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Identity and reuse:</a:t>
            </a:r>
            <a:r>
              <a:rPr sz="2710" b="0" i="0">
                <a:solidFill>
                  <a:srgbClr val="000000"/>
                </a:solidFill>
                <a:latin typeface="Latin Modern Sans"/>
              </a:rPr>
              <a:t> signed layer-artifact, assembled-fragment, and</a:t>
            </a:r>
            <a:r>
              <a:rPr sz="2710" b="0" i="0">
                <a:solidFill>
                  <a:srgbClr val="000000"/>
                </a:solidFill>
                <a:latin typeface="Latin Modern Sans"/>
              </a:rPr>
              <a:t> loaded-runtime identities remain distinct and reproducible.</a:t>
            </a:r>
          </a:p>
        </p:txBody>
      </p:sp>
      <p:sp>
        <p:nvSpPr>
          <p:cNvPr id="5" name="PDF_TEXT_GROUP_950"/>
          <p:cNvSpPr txBox="1"/>
          <p:nvPr/>
        </p:nvSpPr>
        <p:spPr>
          <a:xfrm>
            <a:off x="1618972" y="2234500"/>
            <a:ext cx="1099281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Placement/admission:</a:t>
            </a:r>
            <a:r>
              <a:rPr sz="2710" b="0" i="0">
                <a:solidFill>
                  <a:srgbClr val="000000"/>
                </a:solidFill>
                <a:latin typeface="Latin Modern Sans"/>
              </a:rPr>
              <a:t> CPU and 0/1/2+ visible accelerators; per-device</a:t>
            </a:r>
            <a:r>
              <a:rPr sz="2710" b="0" i="0">
                <a:solidFill>
                  <a:srgbClr val="000000"/>
                </a:solidFill>
                <a:latin typeface="Latin Modern Sans"/>
              </a:rPr>
              <a:t> feasibility; no ACK-time reservation; JIT revalidation.</a:t>
            </a:r>
          </a:p>
        </p:txBody>
      </p:sp>
      <p:sp>
        <p:nvSpPr>
          <p:cNvPr id="6" name="PDF_TEXT_GROUP_951"/>
          <p:cNvSpPr txBox="1"/>
          <p:nvPr/>
        </p:nvSpPr>
        <p:spPr>
          <a:xfrm>
            <a:off x="1618972" y="3206767"/>
            <a:ext cx="10814400" cy="964366"/>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Execution modes:</a:t>
            </a:r>
            <a:r>
              <a:rPr sz="2710" b="0" i="0">
                <a:solidFill>
                  <a:srgbClr val="000000"/>
                </a:solidFill>
                <a:latin typeface="Latin Modern Sans"/>
              </a:rPr>
              <a:t> pipeline, adapter-certified tensor, and heterogeneous</a:t>
            </a:r>
            <a:r>
              <a:rPr sz="2710" b="0" i="1">
                <a:solidFill>
                  <a:srgbClr val="000000"/>
                </a:solidFill>
                <a:latin typeface="Cambria Math"/>
              </a:rPr>
              <a:t> N</a:t>
            </a:r>
            <a:r>
              <a:rPr sz="2710" b="0" i="0">
                <a:solidFill>
                  <a:srgbClr val="000000"/>
                </a:solidFill>
                <a:latin typeface="Cambria Math"/>
              </a:rPr>
              <a:t> × {</a:t>
            </a:r>
            <a:r>
              <a:rPr sz="2710" b="0" i="1">
                <a:solidFill>
                  <a:srgbClr val="000000"/>
                </a:solidFill>
                <a:latin typeface="Cambria Math"/>
              </a:rPr>
              <a:t>M</a:t>
            </a:r>
            <a:r>
              <a:rPr sz="1863" b="0" i="1">
                <a:solidFill>
                  <a:srgbClr val="000000"/>
                </a:solidFill>
                <a:latin typeface="Cambria Math"/>
              </a:rPr>
              <a:t>i</a:t>
            </a:r>
            <a:r>
              <a:rPr sz="2710" b="0" i="0">
                <a:solidFill>
                  <a:srgbClr val="000000"/>
                </a:solidFill>
                <a:latin typeface="Cambria Math"/>
              </a:rPr>
              <a:t> }</a:t>
            </a:r>
            <a:r>
              <a:rPr sz="2710" b="0" i="0">
                <a:solidFill>
                  <a:srgbClr val="000000"/>
                </a:solidFill>
                <a:latin typeface="Latin Modern Sans"/>
              </a:rPr>
              <a:t> hybrid cases.</a:t>
            </a:r>
          </a:p>
        </p:txBody>
      </p:sp>
      <p:sp>
        <p:nvSpPr>
          <p:cNvPr id="7" name="PDF_TEXT_GROUP_952"/>
          <p:cNvSpPr txBox="1"/>
          <p:nvPr/>
        </p:nvSpPr>
        <p:spPr>
          <a:xfrm>
            <a:off x="1618972" y="4179034"/>
            <a:ext cx="1127076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Data/security:</a:t>
            </a:r>
            <a:r>
              <a:rPr sz="2710" b="0" i="0">
                <a:solidFill>
                  <a:srgbClr val="000000"/>
                </a:solidFill>
                <a:latin typeface="Latin Modern Sans"/>
              </a:rPr>
              <a:t> dependency and collective edges, direct/cache equivalence,</a:t>
            </a:r>
            <a:r>
              <a:rPr sz="2710" b="0" i="0">
                <a:solidFill>
                  <a:srgbClr val="000000"/>
                </a:solidFill>
                <a:latin typeface="Latin Modern Sans"/>
              </a:rPr>
              <a:t> signer/name/key-scope negative tests.</a:t>
            </a:r>
          </a:p>
        </p:txBody>
      </p:sp>
      <p:sp>
        <p:nvSpPr>
          <p:cNvPr id="8" name="PDF_TEXT_GROUP_953"/>
          <p:cNvSpPr txBox="1"/>
          <p:nvPr/>
        </p:nvSpPr>
        <p:spPr>
          <a:xfrm>
            <a:off x="1618972" y="5151333"/>
            <a:ext cx="108302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Environments:</a:t>
            </a:r>
            <a:r>
              <a:rPr sz="2710" b="0" i="0">
                <a:solidFill>
                  <a:srgbClr val="000000"/>
                </a:solidFill>
                <a:latin typeface="Latin Modern Sans"/>
              </a:rPr>
              <a:t> unit/integration harness first, then MiniNDN and sealed</a:t>
            </a:r>
            <a:r>
              <a:rPr sz="2710" b="0" i="0">
                <a:solidFill>
                  <a:srgbClr val="000000"/>
                </a:solidFill>
                <a:latin typeface="Latin Modern Sans"/>
              </a:rPr>
              <a:t> container/Tiger qualification.</a:t>
            </a:r>
          </a:p>
        </p:txBody>
      </p:sp>
      <p:sp>
        <p:nvSpPr>
          <p:cNvPr id="9" name="PDF_TEXT_GROUP_954"/>
          <p:cNvSpPr txBox="1"/>
          <p:nvPr/>
        </p:nvSpPr>
        <p:spPr>
          <a:xfrm>
            <a:off x="1143656" y="6718781"/>
            <a:ext cx="124778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Evidence remains gated: the V3 design is not presented as validated until model-file</a:t>
            </a:r>
            <a:r>
              <a:rPr sz="2710" b="0" i="0">
                <a:solidFill>
                  <a:srgbClr val="000000"/>
                </a:solidFill>
                <a:latin typeface="Latin Modern Sans"/>
              </a:rPr>
              <a:t> reuse, local assembly, device checks, and multi-device execution gates close.</a:t>
            </a:r>
          </a:p>
        </p:txBody>
      </p:sp>
      <p:sp>
        <p:nvSpPr>
          <p:cNvPr id="10" name="PDF_TEXT_GROUP_95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95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95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95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959"/>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51/64</a:t>
            </a:r>
          </a:p>
        </p:txBody>
      </p:sp>
      <p:sp>
        <p:nvSpPr>
          <p:cNvPr id="15" name="PDF_BULLET_SPAN_1580"/>
          <p:cNvSpPr/>
          <p:nvPr/>
        </p:nvSpPr>
        <p:spPr>
          <a:xfrm rot="5400000">
            <a:off x="1207424" y="134802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584"/>
          <p:cNvSpPr/>
          <p:nvPr/>
        </p:nvSpPr>
        <p:spPr>
          <a:xfrm rot="5400000">
            <a:off x="1207424" y="232029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588"/>
          <p:cNvSpPr/>
          <p:nvPr/>
        </p:nvSpPr>
        <p:spPr>
          <a:xfrm rot="5400000">
            <a:off x="1207424" y="32925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597"/>
          <p:cNvSpPr/>
          <p:nvPr/>
        </p:nvSpPr>
        <p:spPr>
          <a:xfrm rot="5400000">
            <a:off x="1207424" y="42648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601"/>
          <p:cNvSpPr/>
          <p:nvPr/>
        </p:nvSpPr>
        <p:spPr>
          <a:xfrm rot="5400000">
            <a:off x="1207424" y="523712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2" descr="background-052.png"/>
          <p:cNvPicPr>
            <a:picLocks noChangeAspect="1"/>
          </p:cNvPicPr>
          <p:nvPr/>
        </p:nvPicPr>
        <p:blipFill>
          <a:blip r:embed="rId2"/>
          <a:stretch>
            <a:fillRect/>
          </a:stretch>
        </p:blipFill>
        <p:spPr>
          <a:xfrm>
            <a:off x="0" y="0"/>
            <a:ext cx="14630400" cy="8229600"/>
          </a:xfrm>
          <a:prstGeom prst="rect">
            <a:avLst/>
          </a:prstGeom>
        </p:spPr>
      </p:pic>
      <p:sp>
        <p:nvSpPr>
          <p:cNvPr id="3" name="PDF_TEXT_GROUP_96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Planned Evaluation Matrix</a:t>
            </a:r>
          </a:p>
        </p:txBody>
      </p:sp>
      <p:sp>
        <p:nvSpPr>
          <p:cNvPr id="4" name="PDF_TEXT_GROUP_961"/>
          <p:cNvSpPr txBox="1"/>
          <p:nvPr/>
        </p:nvSpPr>
        <p:spPr>
          <a:xfrm>
            <a:off x="2149055" y="1567989"/>
            <a:ext cx="1550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Dissertation</a:t>
            </a:r>
          </a:p>
        </p:txBody>
      </p:sp>
      <p:sp>
        <p:nvSpPr>
          <p:cNvPr id="5" name="PDF_TEXT_GROUP_962"/>
          <p:cNvSpPr txBox="1"/>
          <p:nvPr/>
        </p:nvSpPr>
        <p:spPr>
          <a:xfrm>
            <a:off x="4679382" y="1567989"/>
            <a:ext cx="13712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Evaluation</a:t>
            </a:r>
          </a:p>
        </p:txBody>
      </p:sp>
      <p:sp>
        <p:nvSpPr>
          <p:cNvPr id="6" name="PDF_TEXT_GROUP_963"/>
          <p:cNvSpPr txBox="1"/>
          <p:nvPr/>
        </p:nvSpPr>
        <p:spPr>
          <a:xfrm>
            <a:off x="8618521" y="1567989"/>
            <a:ext cx="1671790" cy="62723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Evaluation</a:t>
            </a:r>
            <a:r>
              <a:rPr sz="1863" b="1" i="0">
                <a:solidFill>
                  <a:srgbClr val="000000"/>
                </a:solidFill>
                <a:latin typeface="Latin Modern Sans"/>
              </a:rPr>
              <a:t> Methodology</a:t>
            </a:r>
          </a:p>
        </p:txBody>
      </p:sp>
      <p:sp>
        <p:nvSpPr>
          <p:cNvPr id="7" name="PDF_TEXT_GROUP_964"/>
          <p:cNvSpPr txBox="1"/>
          <p:nvPr/>
        </p:nvSpPr>
        <p:spPr>
          <a:xfrm>
            <a:off x="1027344" y="1843443"/>
            <a:ext cx="52713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RQ</a:t>
            </a:r>
          </a:p>
        </p:txBody>
      </p:sp>
      <p:sp>
        <p:nvSpPr>
          <p:cNvPr id="8" name="PDF_TEXT_GROUP_965"/>
          <p:cNvSpPr txBox="1"/>
          <p:nvPr/>
        </p:nvSpPr>
        <p:spPr>
          <a:xfrm>
            <a:off x="2149055" y="1843443"/>
            <a:ext cx="15050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Component</a:t>
            </a:r>
          </a:p>
        </p:txBody>
      </p:sp>
      <p:sp>
        <p:nvSpPr>
          <p:cNvPr id="9" name="PDF_TEXT_GROUP_966"/>
          <p:cNvSpPr txBox="1"/>
          <p:nvPr/>
        </p:nvSpPr>
        <p:spPr>
          <a:xfrm>
            <a:off x="4679382" y="1843443"/>
            <a:ext cx="90691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Target</a:t>
            </a:r>
          </a:p>
        </p:txBody>
      </p:sp>
      <p:sp>
        <p:nvSpPr>
          <p:cNvPr id="10" name="PDF_TEXT_GROUP_967"/>
          <p:cNvSpPr txBox="1"/>
          <p:nvPr/>
        </p:nvSpPr>
        <p:spPr>
          <a:xfrm>
            <a:off x="1027344" y="2368016"/>
            <a:ext cx="65733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RQ1</a:t>
            </a:r>
          </a:p>
        </p:txBody>
      </p:sp>
      <p:sp>
        <p:nvSpPr>
          <p:cNvPr id="11" name="PDF_TEXT_GROUP_968"/>
          <p:cNvSpPr txBox="1"/>
          <p:nvPr/>
        </p:nvSpPr>
        <p:spPr>
          <a:xfrm>
            <a:off x="2148946" y="2368016"/>
            <a:ext cx="125529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Literature</a:t>
            </a:r>
          </a:p>
        </p:txBody>
      </p:sp>
      <p:sp>
        <p:nvSpPr>
          <p:cNvPr id="12" name="PDF_TEXT_GROUP_969"/>
          <p:cNvSpPr txBox="1"/>
          <p:nvPr/>
        </p:nvSpPr>
        <p:spPr>
          <a:xfrm>
            <a:off x="4679256" y="2368016"/>
            <a:ext cx="251049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Prior-work boundary</a:t>
            </a:r>
          </a:p>
        </p:txBody>
      </p:sp>
      <p:sp>
        <p:nvSpPr>
          <p:cNvPr id="13" name="PDF_TEXT_GROUP_970"/>
          <p:cNvSpPr txBox="1"/>
          <p:nvPr/>
        </p:nvSpPr>
        <p:spPr>
          <a:xfrm>
            <a:off x="8618610" y="2368016"/>
            <a:ext cx="4234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Literature and traceability analysis</a:t>
            </a:r>
          </a:p>
        </p:txBody>
      </p:sp>
      <p:sp>
        <p:nvSpPr>
          <p:cNvPr id="14" name="PDF_TEXT_GROUP_971"/>
          <p:cNvSpPr txBox="1"/>
          <p:nvPr/>
        </p:nvSpPr>
        <p:spPr>
          <a:xfrm>
            <a:off x="1027344" y="2892588"/>
            <a:ext cx="780013"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RQ2–</a:t>
            </a:r>
            <a:r>
              <a:rPr sz="1863" b="0" i="0">
                <a:solidFill>
                  <a:srgbClr val="000000"/>
                </a:solidFill>
                <a:latin typeface="Latin Modern Sans"/>
              </a:rPr>
              <a:t>RQ3</a:t>
            </a:r>
          </a:p>
        </p:txBody>
      </p:sp>
      <p:sp>
        <p:nvSpPr>
          <p:cNvPr id="15" name="PDF_TEXT_GROUP_972"/>
          <p:cNvSpPr txBox="1"/>
          <p:nvPr/>
        </p:nvSpPr>
        <p:spPr>
          <a:xfrm>
            <a:off x="2149055" y="2892588"/>
            <a:ext cx="66034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Core</a:t>
            </a:r>
          </a:p>
        </p:txBody>
      </p:sp>
      <p:sp>
        <p:nvSpPr>
          <p:cNvPr id="16" name="PDF_TEXT_GROUP_973"/>
          <p:cNvSpPr txBox="1"/>
          <p:nvPr/>
        </p:nvSpPr>
        <p:spPr>
          <a:xfrm>
            <a:off x="4679365" y="2892588"/>
            <a:ext cx="351067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ACK-derived plan; role/edge</a:t>
            </a:r>
          </a:p>
        </p:txBody>
      </p:sp>
      <p:sp>
        <p:nvSpPr>
          <p:cNvPr id="17" name="PDF_TEXT_GROUP_974"/>
          <p:cNvSpPr txBox="1"/>
          <p:nvPr/>
        </p:nvSpPr>
        <p:spPr>
          <a:xfrm>
            <a:off x="8618521" y="2892588"/>
            <a:ext cx="53253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Protocol tests; direct/cache tests; matched</a:t>
            </a:r>
          </a:p>
        </p:txBody>
      </p:sp>
      <p:sp>
        <p:nvSpPr>
          <p:cNvPr id="18" name="PDF_TEXT_GROUP_975"/>
          <p:cNvSpPr txBox="1"/>
          <p:nvPr/>
        </p:nvSpPr>
        <p:spPr>
          <a:xfrm>
            <a:off x="4679382" y="3198419"/>
            <a:ext cx="3494106"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admission; security, reliability,</a:t>
            </a:r>
            <a:r>
              <a:rPr sz="1863" b="0" i="0">
                <a:solidFill>
                  <a:srgbClr val="000000"/>
                </a:solidFill>
                <a:latin typeface="Latin Modern Sans"/>
              </a:rPr>
              <a:t> latency, overhead</a:t>
            </a:r>
          </a:p>
        </p:txBody>
      </p:sp>
      <p:sp>
        <p:nvSpPr>
          <p:cNvPr id="19" name="PDF_TEXT_GROUP_976"/>
          <p:cNvSpPr txBox="1"/>
          <p:nvPr/>
        </p:nvSpPr>
        <p:spPr>
          <a:xfrm>
            <a:off x="8618521" y="3198419"/>
            <a:ext cx="113836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baselines</a:t>
            </a:r>
          </a:p>
        </p:txBody>
      </p:sp>
      <p:sp>
        <p:nvSpPr>
          <p:cNvPr id="20" name="PDF_TEXT_GROUP_977"/>
          <p:cNvSpPr txBox="1"/>
          <p:nvPr/>
        </p:nvSpPr>
        <p:spPr>
          <a:xfrm>
            <a:off x="1027344" y="4028855"/>
            <a:ext cx="65733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RQ4</a:t>
            </a:r>
          </a:p>
        </p:txBody>
      </p:sp>
      <p:sp>
        <p:nvSpPr>
          <p:cNvPr id="21" name="PDF_TEXT_GROUP_978"/>
          <p:cNvSpPr txBox="1"/>
          <p:nvPr/>
        </p:nvSpPr>
        <p:spPr>
          <a:xfrm>
            <a:off x="2148946" y="4028855"/>
            <a:ext cx="66364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UAV</a:t>
            </a:r>
          </a:p>
        </p:txBody>
      </p:sp>
      <p:sp>
        <p:nvSpPr>
          <p:cNvPr id="22" name="PDF_TEXT_GROUP_979"/>
          <p:cNvSpPr txBox="1"/>
          <p:nvPr/>
        </p:nvSpPr>
        <p:spPr>
          <a:xfrm>
            <a:off x="4679462" y="4028855"/>
            <a:ext cx="28763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Mobility; authorization;</a:t>
            </a:r>
          </a:p>
        </p:txBody>
      </p:sp>
      <p:sp>
        <p:nvSpPr>
          <p:cNvPr id="23" name="PDF_TEXT_GROUP_980"/>
          <p:cNvSpPr txBox="1"/>
          <p:nvPr/>
        </p:nvSpPr>
        <p:spPr>
          <a:xfrm>
            <a:off x="8618521" y="4028855"/>
            <a:ext cx="482328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MiniNDN/PX4 SITL</a:t>
            </a:r>
            <a:r>
              <a:rPr sz="1863" b="0" i="0">
                <a:solidFill>
                  <a:srgbClr val="1A3E79"/>
                </a:solidFill>
                <a:latin typeface="Latin Modern Sans"/>
              </a:rPr>
              <a:t> [23]</a:t>
            </a:r>
            <a:r>
              <a:rPr sz="1863" b="0" i="0">
                <a:solidFill>
                  <a:srgbClr val="000000"/>
                </a:solidFill>
                <a:latin typeface="Latin Modern Sans"/>
              </a:rPr>
              <a:t>; selected real</a:t>
            </a:r>
          </a:p>
        </p:txBody>
      </p:sp>
      <p:sp>
        <p:nvSpPr>
          <p:cNvPr id="24" name="PDF_TEXT_GROUP_981"/>
          <p:cNvSpPr txBox="1"/>
          <p:nvPr/>
        </p:nvSpPr>
        <p:spPr>
          <a:xfrm>
            <a:off x="4679382" y="4334685"/>
            <a:ext cx="376941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freshness; media; collaboration</a:t>
            </a:r>
          </a:p>
        </p:txBody>
      </p:sp>
      <p:sp>
        <p:nvSpPr>
          <p:cNvPr id="25" name="PDF_TEXT_GROUP_982"/>
          <p:cNvSpPr txBox="1"/>
          <p:nvPr/>
        </p:nvSpPr>
        <p:spPr>
          <a:xfrm>
            <a:off x="8618521" y="4334685"/>
            <a:ext cx="11854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machines</a:t>
            </a:r>
          </a:p>
        </p:txBody>
      </p:sp>
      <p:sp>
        <p:nvSpPr>
          <p:cNvPr id="26" name="PDF_TEXT_GROUP_983"/>
          <p:cNvSpPr txBox="1"/>
          <p:nvPr/>
        </p:nvSpPr>
        <p:spPr>
          <a:xfrm>
            <a:off x="1027344" y="4859258"/>
            <a:ext cx="65733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RQ5</a:t>
            </a:r>
          </a:p>
        </p:txBody>
      </p:sp>
      <p:sp>
        <p:nvSpPr>
          <p:cNvPr id="27" name="PDF_TEXT_GROUP_984"/>
          <p:cNvSpPr txBox="1"/>
          <p:nvPr/>
        </p:nvSpPr>
        <p:spPr>
          <a:xfrm>
            <a:off x="2148946" y="4859258"/>
            <a:ext cx="41529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a:t>
            </a:r>
          </a:p>
        </p:txBody>
      </p:sp>
      <p:sp>
        <p:nvSpPr>
          <p:cNvPr id="28" name="PDF_TEXT_GROUP_985"/>
          <p:cNvSpPr txBox="1"/>
          <p:nvPr/>
        </p:nvSpPr>
        <p:spPr>
          <a:xfrm>
            <a:off x="4679333" y="4859258"/>
            <a:ext cx="38943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Reuse model files; assign model</a:t>
            </a:r>
          </a:p>
        </p:txBody>
      </p:sp>
      <p:sp>
        <p:nvSpPr>
          <p:cNvPr id="29" name="PDF_TEXT_GROUP_986"/>
          <p:cNvSpPr txBox="1"/>
          <p:nvPr/>
        </p:nvSpPr>
        <p:spPr>
          <a:xfrm>
            <a:off x="8618521" y="4859258"/>
            <a:ext cx="42900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Integration tests; MiniNDN; sealed</a:t>
            </a:r>
          </a:p>
        </p:txBody>
      </p:sp>
      <p:sp>
        <p:nvSpPr>
          <p:cNvPr id="30" name="PDF_TEXT_GROUP_987"/>
          <p:cNvSpPr txBox="1"/>
          <p:nvPr/>
        </p:nvSpPr>
        <p:spPr>
          <a:xfrm>
            <a:off x="4679382" y="5165121"/>
            <a:ext cx="3153858"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parts at runtime; assemble</a:t>
            </a:r>
            <a:r>
              <a:rPr sz="1863" b="0" i="0">
                <a:solidFill>
                  <a:srgbClr val="000000"/>
                </a:solidFill>
                <a:latin typeface="Latin Modern Sans"/>
              </a:rPr>
              <a:t> locally; run across devices</a:t>
            </a:r>
          </a:p>
        </p:txBody>
      </p:sp>
      <p:sp>
        <p:nvSpPr>
          <p:cNvPr id="31" name="PDF_TEXT_GROUP_988"/>
          <p:cNvSpPr txBox="1"/>
          <p:nvPr/>
        </p:nvSpPr>
        <p:spPr>
          <a:xfrm>
            <a:off x="8618521" y="5165121"/>
            <a:ext cx="323785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real-model/container tests</a:t>
            </a:r>
          </a:p>
        </p:txBody>
      </p:sp>
      <p:sp>
        <p:nvSpPr>
          <p:cNvPr id="32" name="PDF_TEXT_GROUP_989"/>
          <p:cNvSpPr txBox="1"/>
          <p:nvPr/>
        </p:nvSpPr>
        <p:spPr>
          <a:xfrm>
            <a:off x="1092471" y="6263094"/>
            <a:ext cx="12050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Rows state planned evidence; the earlier small-model campaign is preliminary diagnostic evidence.</a:t>
            </a:r>
          </a:p>
        </p:txBody>
      </p:sp>
      <p:sp>
        <p:nvSpPr>
          <p:cNvPr id="33" name="PDF_TEXT_GROUP_99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34" name="PDF_TEXT_GROUP_99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35" name="PDF_TEXT_GROUP_99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36" name="PDF_TEXT_GROUP_993"/>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37" name="PDF_TEXT_GROUP_994"/>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52/64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3"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995"/>
          <p:cNvSpPr txBox="1"/>
          <p:nvPr/>
        </p:nvSpPr>
        <p:spPr>
          <a:xfrm>
            <a:off x="5564176" y="1782928"/>
            <a:ext cx="3508162" cy="468172"/>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880" b="1" i="0">
                <a:solidFill>
                  <a:srgbClr val="000000"/>
                </a:solidFill>
                <a:latin typeface="Latin Modern Sans"/>
              </a:rPr>
              <a:t>Dissertation thesis</a:t>
            </a:r>
          </a:p>
        </p:txBody>
      </p:sp>
      <p:sp>
        <p:nvSpPr>
          <p:cNvPr id="4" name="PDF_TEXT_GROUP_996"/>
          <p:cNvSpPr txBox="1"/>
          <p:nvPr/>
        </p:nvSpPr>
        <p:spPr>
          <a:xfrm>
            <a:off x="2425784" y="2462678"/>
            <a:ext cx="9785481" cy="97109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880" b="0" i="0">
                <a:solidFill>
                  <a:srgbClr val="000000"/>
                </a:solidFill>
                <a:latin typeface="Latin Modern Sans"/>
              </a:rPr>
              <a:t>NDNSF can turn ACK-derived roles and named dependencies</a:t>
            </a:r>
            <a:br/>
            <a:r>
              <a:rPr sz="2880" b="0" i="0">
                <a:solidFill>
                  <a:srgbClr val="000000"/>
                </a:solidFill>
                <a:latin typeface="Latin Modern Sans"/>
              </a:rPr>
              <a:t>into enforceable policy for direct and cached Named Data.</a:t>
            </a:r>
          </a:p>
        </p:txBody>
      </p:sp>
      <p:sp>
        <p:nvSpPr>
          <p:cNvPr id="5" name="PDF_TEXT_GROUP_997"/>
          <p:cNvSpPr txBox="1"/>
          <p:nvPr/>
        </p:nvSpPr>
        <p:spPr>
          <a:xfrm>
            <a:off x="1464922" y="3703674"/>
            <a:ext cx="11706938" cy="88035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The v0.1 implementation and initial evidence exist; Plan-to-Data enforcement and full</a:t>
            </a:r>
            <a:br/>
            <a:r>
              <a:rPr sz="2371" b="0" i="0">
                <a:solidFill>
                  <a:srgbClr val="000000"/>
                </a:solidFill>
                <a:latin typeface="Latin Modern Sans"/>
              </a:rPr>
              <a:t>validation remain proposed.</a:t>
            </a:r>
          </a:p>
        </p:txBody>
      </p:sp>
      <p:sp>
        <p:nvSpPr>
          <p:cNvPr id="6" name="PDF_TEXT_GROUP_998"/>
          <p:cNvSpPr txBox="1"/>
          <p:nvPr/>
        </p:nvSpPr>
        <p:spPr>
          <a:xfrm>
            <a:off x="5369507" y="5350880"/>
            <a:ext cx="3898236" cy="101896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6268" b="0" i="0">
                <a:solidFill>
                  <a:srgbClr val="000000"/>
                </a:solidFill>
                <a:latin typeface="Latin Modern Sans"/>
              </a:rPr>
              <a:t>Questions?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4" descr="background-054.png"/>
          <p:cNvPicPr>
            <a:picLocks noChangeAspect="1"/>
          </p:cNvPicPr>
          <p:nvPr/>
        </p:nvPicPr>
        <p:blipFill>
          <a:blip r:embed="rId2"/>
          <a:stretch>
            <a:fillRect/>
          </a:stretch>
        </p:blipFill>
        <p:spPr>
          <a:xfrm>
            <a:off x="0" y="0"/>
            <a:ext cx="14630400" cy="8229600"/>
          </a:xfrm>
          <a:prstGeom prst="rect">
            <a:avLst/>
          </a:prstGeom>
        </p:spPr>
      </p:pic>
      <p:sp>
        <p:nvSpPr>
          <p:cNvPr id="3" name="PDF_TEXT_GROUP_99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Risk and Mitigation</a:t>
            </a:r>
          </a:p>
        </p:txBody>
      </p:sp>
      <p:sp>
        <p:nvSpPr>
          <p:cNvPr id="4" name="PDF_TEXT_GROUP_1000"/>
          <p:cNvSpPr txBox="1"/>
          <p:nvPr/>
        </p:nvSpPr>
        <p:spPr>
          <a:xfrm>
            <a:off x="1107736" y="2957839"/>
            <a:ext cx="79502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Risk</a:t>
            </a:r>
          </a:p>
        </p:txBody>
      </p:sp>
      <p:sp>
        <p:nvSpPr>
          <p:cNvPr id="5" name="PDF_TEXT_GROUP_1001"/>
          <p:cNvSpPr txBox="1"/>
          <p:nvPr/>
        </p:nvSpPr>
        <p:spPr>
          <a:xfrm>
            <a:off x="5592202" y="2957839"/>
            <a:ext cx="17043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Mitigation</a:t>
            </a:r>
          </a:p>
        </p:txBody>
      </p:sp>
      <p:sp>
        <p:nvSpPr>
          <p:cNvPr id="6" name="PDF_TEXT_GROUP_1002"/>
          <p:cNvSpPr txBox="1"/>
          <p:nvPr/>
        </p:nvSpPr>
        <p:spPr>
          <a:xfrm>
            <a:off x="1107736" y="3526199"/>
            <a:ext cx="30792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prototype scope</a:t>
            </a:r>
          </a:p>
        </p:txBody>
      </p:sp>
      <p:sp>
        <p:nvSpPr>
          <p:cNvPr id="7" name="PDF_TEXT_GROUP_1003"/>
          <p:cNvSpPr txBox="1"/>
          <p:nvPr/>
        </p:nvSpPr>
        <p:spPr>
          <a:xfrm>
            <a:off x="5591945" y="3526199"/>
            <a:ext cx="77777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Treat UAV as a requirements and validation workload</a:t>
            </a:r>
          </a:p>
        </p:txBody>
      </p:sp>
      <p:sp>
        <p:nvSpPr>
          <p:cNvPr id="8" name="PDF_TEXT_GROUP_1004"/>
          <p:cNvSpPr txBox="1"/>
          <p:nvPr/>
        </p:nvSpPr>
        <p:spPr>
          <a:xfrm>
            <a:off x="1107736" y="3912527"/>
            <a:ext cx="32118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Collaboration overhead</a:t>
            </a:r>
            <a:r>
              <a:rPr sz="2371" b="0" i="0">
                <a:solidFill>
                  <a:srgbClr val="000000"/>
                </a:solidFill>
                <a:latin typeface="Latin Modern Sans"/>
              </a:rPr>
              <a:t> Large DI objects</a:t>
            </a:r>
          </a:p>
        </p:txBody>
      </p:sp>
      <p:sp>
        <p:nvSpPr>
          <p:cNvPr id="9" name="PDF_TEXT_GROUP_1005"/>
          <p:cNvSpPr txBox="1"/>
          <p:nvPr/>
        </p:nvSpPr>
        <p:spPr>
          <a:xfrm>
            <a:off x="5591848" y="3912527"/>
            <a:ext cx="748702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Measure ACK/Selection/Response and Targeted paths</a:t>
            </a:r>
            <a:r>
              <a:rPr sz="2371" b="0" i="0">
                <a:solidFill>
                  <a:srgbClr val="000000"/>
                </a:solidFill>
                <a:latin typeface="Latin Modern Sans"/>
              </a:rPr>
              <a:t> Use references, segmentation, and planner cost models</a:t>
            </a:r>
          </a:p>
        </p:txBody>
      </p:sp>
      <p:sp>
        <p:nvSpPr>
          <p:cNvPr id="10" name="PDF_TEXT_GROUP_1006"/>
          <p:cNvSpPr txBox="1"/>
          <p:nvPr/>
        </p:nvSpPr>
        <p:spPr>
          <a:xfrm>
            <a:off x="1107736" y="4685183"/>
            <a:ext cx="25723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Variable hardware</a:t>
            </a:r>
          </a:p>
        </p:txBody>
      </p:sp>
      <p:sp>
        <p:nvSpPr>
          <p:cNvPr id="11" name="PDF_TEXT_GROUP_1007"/>
          <p:cNvSpPr txBox="1"/>
          <p:nvPr/>
        </p:nvSpPr>
        <p:spPr>
          <a:xfrm>
            <a:off x="5592009" y="4685183"/>
            <a:ext cx="65297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Keep MiniNDN/SITL as repeatable baselines</a:t>
            </a:r>
          </a:p>
        </p:txBody>
      </p:sp>
      <p:sp>
        <p:nvSpPr>
          <p:cNvPr id="12" name="PDF_TEXT_GROUP_100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00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01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011"/>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6" name="PDF_TEXT_GROUP_1012"/>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54/64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5" descr="background-055.png"/>
          <p:cNvPicPr>
            <a:picLocks noChangeAspect="1"/>
          </p:cNvPicPr>
          <p:nvPr/>
        </p:nvPicPr>
        <p:blipFill>
          <a:blip r:embed="rId2"/>
          <a:stretch>
            <a:fillRect/>
          </a:stretch>
        </p:blipFill>
        <p:spPr>
          <a:xfrm>
            <a:off x="0" y="0"/>
            <a:ext cx="14630400" cy="8229600"/>
          </a:xfrm>
          <a:prstGeom prst="rect">
            <a:avLst/>
          </a:prstGeom>
        </p:spPr>
      </p:pic>
      <p:sp>
        <p:nvSpPr>
          <p:cNvPr id="3" name="PDF_TEXT_GROUP_101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UAV Validation Details</a:t>
            </a:r>
          </a:p>
        </p:txBody>
      </p:sp>
      <p:sp>
        <p:nvSpPr>
          <p:cNvPr id="4" name="PDF_TEXT_GROUP_1014"/>
          <p:cNvSpPr txBox="1"/>
          <p:nvPr/>
        </p:nvSpPr>
        <p:spPr>
          <a:xfrm>
            <a:off x="1618972" y="2331995"/>
            <a:ext cx="1113175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Targeted command lifecycle:</a:t>
            </a:r>
            <a:r>
              <a:rPr sz="2710" b="0" i="0">
                <a:solidFill>
                  <a:srgbClr val="000000"/>
                </a:solidFill>
                <a:latin typeface="Latin Modern Sans"/>
              </a:rPr>
              <a:t> latency, timeout reason, explicit retry.</a:t>
            </a:r>
          </a:p>
        </p:txBody>
      </p:sp>
      <p:sp>
        <p:nvSpPr>
          <p:cNvPr id="5" name="PDF_TEXT_GROUP_1015"/>
          <p:cNvSpPr txBox="1"/>
          <p:nvPr/>
        </p:nvSpPr>
        <p:spPr>
          <a:xfrm>
            <a:off x="1618972" y="2866424"/>
            <a:ext cx="1080916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Typed state freshness:</a:t>
            </a:r>
            <a:r>
              <a:rPr sz="2710" b="0" i="0">
                <a:solidFill>
                  <a:srgbClr val="000000"/>
                </a:solidFill>
                <a:latin typeface="Latin Modern Sans"/>
              </a:rPr>
              <a:t> telemetry, mission, video, and safety state.</a:t>
            </a:r>
          </a:p>
        </p:txBody>
      </p:sp>
      <p:sp>
        <p:nvSpPr>
          <p:cNvPr id="6" name="PDF_TEXT_GROUP_1016"/>
          <p:cNvSpPr txBox="1"/>
          <p:nvPr/>
        </p:nvSpPr>
        <p:spPr>
          <a:xfrm>
            <a:off x="1618972" y="3400852"/>
            <a:ext cx="1126162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Large media objects:</a:t>
            </a:r>
            <a:r>
              <a:rPr sz="2710" b="0" i="0">
                <a:solidFill>
                  <a:srgbClr val="000000"/>
                </a:solidFill>
                <a:latin typeface="Latin Modern Sans"/>
              </a:rPr>
              <a:t> video and recording as signed segmented Data.</a:t>
            </a:r>
          </a:p>
        </p:txBody>
      </p:sp>
      <p:sp>
        <p:nvSpPr>
          <p:cNvPr id="7" name="PDF_TEXT_GROUP_1017"/>
          <p:cNvSpPr txBox="1"/>
          <p:nvPr/>
        </p:nvSpPr>
        <p:spPr>
          <a:xfrm>
            <a:off x="1618972" y="3935281"/>
            <a:ext cx="12962410"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Mission recovery:</a:t>
            </a:r>
            <a:r>
              <a:rPr sz="2710" b="0" i="0">
                <a:solidFill>
                  <a:srgbClr val="000000"/>
                </a:solidFill>
                <a:latin typeface="Latin Modern Sans"/>
              </a:rPr>
              <a:t> cancellation, partial recovery, and bounded role reassignment.</a:t>
            </a:r>
          </a:p>
        </p:txBody>
      </p:sp>
      <p:sp>
        <p:nvSpPr>
          <p:cNvPr id="8" name="PDF_TEXT_GROUP_1018"/>
          <p:cNvSpPr txBox="1"/>
          <p:nvPr/>
        </p:nvSpPr>
        <p:spPr>
          <a:xfrm>
            <a:off x="1143656" y="5182679"/>
            <a:ext cx="989053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validation asks whether NDNSF mechanisms support mobile,</a:t>
            </a:r>
            <a:r>
              <a:rPr sz="2710" b="0" i="0">
                <a:solidFill>
                  <a:srgbClr val="000000"/>
                </a:solidFill>
                <a:latin typeface="Latin Modern Sans"/>
              </a:rPr>
              <a:t> command-sensitive service use cases.</a:t>
            </a:r>
          </a:p>
        </p:txBody>
      </p:sp>
      <p:sp>
        <p:nvSpPr>
          <p:cNvPr id="9" name="PDF_TEXT_GROUP_101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2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2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22"/>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3" name="PDF_TEXT_GROUP_1023"/>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55/64</a:t>
            </a:r>
          </a:p>
        </p:txBody>
      </p:sp>
      <p:sp>
        <p:nvSpPr>
          <p:cNvPr id="14" name="PDF_BULLET_SPAN_1676"/>
          <p:cNvSpPr/>
          <p:nvPr/>
        </p:nvSpPr>
        <p:spPr>
          <a:xfrm rot="5400000">
            <a:off x="1207424" y="241778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679"/>
          <p:cNvSpPr/>
          <p:nvPr/>
        </p:nvSpPr>
        <p:spPr>
          <a:xfrm rot="5400000">
            <a:off x="1207424" y="2952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682"/>
          <p:cNvSpPr/>
          <p:nvPr/>
        </p:nvSpPr>
        <p:spPr>
          <a:xfrm rot="5400000">
            <a:off x="1207424" y="348664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685"/>
          <p:cNvSpPr/>
          <p:nvPr/>
        </p:nvSpPr>
        <p:spPr>
          <a:xfrm rot="5400000">
            <a:off x="1207424" y="4021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6"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02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Runtime Metadata Evidence</a:t>
            </a:r>
          </a:p>
        </p:txBody>
      </p:sp>
      <p:sp>
        <p:nvSpPr>
          <p:cNvPr id="4" name="PDF_TEXT_GROUP_1025"/>
          <p:cNvSpPr txBox="1"/>
          <p:nvPr/>
        </p:nvSpPr>
        <p:spPr>
          <a:xfrm>
            <a:off x="1618972" y="1940169"/>
            <a:ext cx="11370564" cy="198786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Adaptive admission</a:t>
            </a:r>
            <a:r>
              <a:rPr sz="2371" b="0" i="1">
                <a:solidFill>
                  <a:srgbClr val="000000"/>
                </a:solidFill>
                <a:latin typeface="Latin Modern Sans"/>
              </a:rPr>
              <a:t> Configuration:</a:t>
            </a:r>
            <a:r>
              <a:rPr sz="2371" b="0" i="0">
                <a:solidFill>
                  <a:srgbClr val="000000"/>
                </a:solidFill>
                <a:latin typeface="Latin Modern Sans"/>
              </a:rPr>
              <a:t> open-loop 100 RPS offered load; compare no admission control with</a:t>
            </a:r>
            <a:r>
              <a:rPr sz="2371" b="0" i="0">
                <a:solidFill>
                  <a:srgbClr val="000000"/>
                </a:solidFill>
                <a:latin typeface="Latin Modern Sans"/>
              </a:rPr>
              <a:t> admission-aware NDNSF.</a:t>
            </a:r>
            <a:r>
              <a:rPr sz="2371" b="0" i="1">
                <a:solidFill>
                  <a:srgbClr val="000000"/>
                </a:solidFill>
                <a:latin typeface="Latin Modern Sans"/>
              </a:rPr>
              <a:t> Result:</a:t>
            </a:r>
            <a:r>
              <a:rPr sz="2371" b="0" i="0">
                <a:solidFill>
                  <a:srgbClr val="000000"/>
                </a:solidFill>
                <a:latin typeface="Latin Modern Sans"/>
              </a:rPr>
              <a:t> P95 latency stays at 268.12 ms with 0.00% timeout rate.</a:t>
            </a:r>
            <a:r>
              <a:rPr sz="2371" b="0" i="1">
                <a:solidFill>
                  <a:srgbClr val="000000"/>
                </a:solidFill>
                <a:latin typeface="Latin Modern Sans"/>
              </a:rPr>
              <a:t> Meaning:</a:t>
            </a:r>
            <a:r>
              <a:rPr sz="2371" b="0" i="0">
                <a:solidFill>
                  <a:srgbClr val="000000"/>
                </a:solidFill>
                <a:latin typeface="Latin Modern Sans"/>
              </a:rPr>
              <a:t> providers should expose runtime capacity, not only service names.</a:t>
            </a:r>
          </a:p>
        </p:txBody>
      </p:sp>
      <p:sp>
        <p:nvSpPr>
          <p:cNvPr id="5" name="PDF_TEXT_GROUP_1026"/>
          <p:cNvSpPr txBox="1"/>
          <p:nvPr/>
        </p:nvSpPr>
        <p:spPr>
          <a:xfrm>
            <a:off x="1618972" y="4065022"/>
            <a:ext cx="12222653" cy="276051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Positive/negative ACK readiness</a:t>
            </a:r>
            <a:r>
              <a:rPr sz="2371" b="0" i="1">
                <a:solidFill>
                  <a:srgbClr val="000000"/>
                </a:solidFill>
                <a:latin typeface="Latin Modern Sans"/>
              </a:rPr>
              <a:t> Configuration:</a:t>
            </a:r>
            <a:r>
              <a:rPr sz="2371" b="0" i="0">
                <a:solidFill>
                  <a:srgbClr val="000000"/>
                </a:solidFill>
                <a:latin typeface="Latin Modern Sans"/>
              </a:rPr>
              <a:t> nearest provider is overloaded; the ACK-all baseline still selects it for 2209</a:t>
            </a:r>
            <a:r>
              <a:rPr sz="2371" b="0" i="0">
                <a:solidFill>
                  <a:srgbClr val="000000"/>
                </a:solidFill>
                <a:latin typeface="Latin Modern Sans"/>
              </a:rPr>
              <a:t> of 2250 requests.</a:t>
            </a:r>
            <a:r>
              <a:rPr sz="2371" b="0" i="1">
                <a:solidFill>
                  <a:srgbClr val="000000"/>
                </a:solidFill>
                <a:latin typeface="Latin Modern Sans"/>
              </a:rPr>
              <a:t> Result:</a:t>
            </a:r>
            <a:r>
              <a:rPr sz="2371" b="0" i="0">
                <a:solidFill>
                  <a:srgbClr val="000000"/>
                </a:solidFill>
                <a:latin typeface="Latin Modern Sans"/>
              </a:rPr>
              <a:t> success rises from 1.82% to 100.00% when negative ACKs exclude the overloaded</a:t>
            </a:r>
            <a:r>
              <a:rPr sz="2371" b="0" i="0">
                <a:solidFill>
                  <a:srgbClr val="000000"/>
                </a:solidFill>
                <a:latin typeface="Latin Modern Sans"/>
              </a:rPr>
              <a:t> provider.</a:t>
            </a:r>
            <a:r>
              <a:rPr sz="2371" b="0" i="1">
                <a:solidFill>
                  <a:srgbClr val="000000"/>
                </a:solidFill>
                <a:latin typeface="Latin Modern Sans"/>
              </a:rPr>
              <a:t> Meaning:</a:t>
            </a:r>
            <a:r>
              <a:rPr sz="2371" b="0" i="0">
                <a:solidFill>
                  <a:srgbClr val="000000"/>
                </a:solidFill>
                <a:latin typeface="Latin Modern Sans"/>
              </a:rPr>
              <a:t> providers still return an ACK, but its status prevents an unavailable provider</a:t>
            </a:r>
            <a:r>
              <a:rPr sz="2371" b="0" i="0">
                <a:solidFill>
                  <a:srgbClr val="000000"/>
                </a:solidFill>
                <a:latin typeface="Latin Modern Sans"/>
              </a:rPr>
              <a:t> from becoming a selection candidate.</a:t>
            </a:r>
          </a:p>
        </p:txBody>
      </p:sp>
      <p:sp>
        <p:nvSpPr>
          <p:cNvPr id="6" name="PDF_TEXT_GROUP_102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7" name="PDF_TEXT_GROUP_102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8" name="PDF_TEXT_GROUP_102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9" name="PDF_TEXT_GROUP_1030"/>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0" name="PDF_TEXT_GROUP_1031"/>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56/64</a:t>
            </a:r>
          </a:p>
        </p:txBody>
      </p:sp>
      <p:sp>
        <p:nvSpPr>
          <p:cNvPr id="11" name="PDF_BULLET_SPAN_1696"/>
          <p:cNvSpPr/>
          <p:nvPr/>
        </p:nvSpPr>
        <p:spPr>
          <a:xfrm rot="5400000">
            <a:off x="1227851" y="2018517"/>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DF_BULLET_SPAN_1705"/>
          <p:cNvSpPr/>
          <p:nvPr/>
        </p:nvSpPr>
        <p:spPr>
          <a:xfrm rot="5400000">
            <a:off x="1227851" y="414336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7" descr="background-057.png"/>
          <p:cNvPicPr>
            <a:picLocks noChangeAspect="1"/>
          </p:cNvPicPr>
          <p:nvPr/>
        </p:nvPicPr>
        <p:blipFill>
          <a:blip r:embed="rId2"/>
          <a:stretch>
            <a:fillRect/>
          </a:stretch>
        </p:blipFill>
        <p:spPr>
          <a:xfrm>
            <a:off x="0" y="0"/>
            <a:ext cx="14630400" cy="8229600"/>
          </a:xfrm>
          <a:prstGeom prst="rect">
            <a:avLst/>
          </a:prstGeom>
        </p:spPr>
      </p:pic>
      <p:sp>
        <p:nvSpPr>
          <p:cNvPr id="3" name="PDF_TEXT_GROUP_103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User-Side Admission Control</a:t>
            </a:r>
          </a:p>
        </p:txBody>
      </p:sp>
      <p:sp>
        <p:nvSpPr>
          <p:cNvPr id="4" name="PDF_TEXT_GROUP_1033"/>
          <p:cNvSpPr txBox="1"/>
          <p:nvPr/>
        </p:nvSpPr>
        <p:spPr>
          <a:xfrm>
            <a:off x="1618972" y="1674668"/>
            <a:ext cx="1106054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bounds the number of outstanding service requests before they enter the</a:t>
            </a:r>
            <a:r>
              <a:rPr sz="2371" b="0" i="0">
                <a:solidFill>
                  <a:srgbClr val="000000"/>
                </a:solidFill>
                <a:latin typeface="Latin Modern Sans"/>
              </a:rPr>
              <a:t> Request–ACK–Selection–Response pipeline.</a:t>
            </a:r>
          </a:p>
        </p:txBody>
      </p:sp>
      <p:sp>
        <p:nvSpPr>
          <p:cNvPr id="5" name="PDF_TEXT_GROUP_1034"/>
          <p:cNvSpPr txBox="1"/>
          <p:nvPr/>
        </p:nvSpPr>
        <p:spPr>
          <a:xfrm>
            <a:off x="1618972" y="2640504"/>
            <a:ext cx="122312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Each request is locally admitted, queued, or rejected according to a window updated every</a:t>
            </a:r>
            <a:r>
              <a:rPr sz="2371" b="0" i="0">
                <a:solidFill>
                  <a:srgbClr val="000000"/>
                </a:solidFill>
                <a:latin typeface="Latin Modern Sans"/>
              </a:rPr>
              <a:t> 500 ms.</a:t>
            </a:r>
          </a:p>
        </p:txBody>
      </p:sp>
      <p:sp>
        <p:nvSpPr>
          <p:cNvPr id="6" name="PDF_TEXT_GROUP_1035"/>
          <p:cNvSpPr txBox="1"/>
          <p:nvPr/>
        </p:nvSpPr>
        <p:spPr>
          <a:xfrm>
            <a:off x="1618972" y="3606340"/>
            <a:ext cx="118805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 window grows when latency is stable, but shrinks under rising latency, timeouts, or</a:t>
            </a:r>
            <a:r>
              <a:rPr sz="2371" b="0" i="0">
                <a:solidFill>
                  <a:srgbClr val="000000"/>
                </a:solidFill>
                <a:latin typeface="Latin Modern Sans"/>
              </a:rPr>
              <a:t> near-full queues.</a:t>
            </a:r>
          </a:p>
        </p:txBody>
      </p:sp>
      <p:sp>
        <p:nvSpPr>
          <p:cNvPr id="7" name="PDF_TEXT_GROUP_1036"/>
          <p:cNvSpPr txBox="1"/>
          <p:nvPr/>
        </p:nvSpPr>
        <p:spPr>
          <a:xfrm>
            <a:off x="1618972" y="4572176"/>
            <a:ext cx="1134885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Queue limits are derived from the current window, so overload protection adapts to</a:t>
            </a:r>
            <a:r>
              <a:rPr sz="2371" b="0" i="0">
                <a:solidFill>
                  <a:srgbClr val="000000"/>
                </a:solidFill>
                <a:latin typeface="Latin Modern Sans"/>
              </a:rPr>
              <a:t> runtime capacity instead of using one static threshold.</a:t>
            </a:r>
          </a:p>
        </p:txBody>
      </p:sp>
      <p:sp>
        <p:nvSpPr>
          <p:cNvPr id="8" name="PDF_TEXT_GROUP_1037"/>
          <p:cNvSpPr txBox="1"/>
          <p:nvPr/>
        </p:nvSpPr>
        <p:spPr>
          <a:xfrm>
            <a:off x="1107736" y="5875771"/>
            <a:ext cx="3404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100 RPS offered load</a:t>
            </a:r>
          </a:p>
        </p:txBody>
      </p:sp>
      <p:sp>
        <p:nvSpPr>
          <p:cNvPr id="9" name="PDF_TEXT_GROUP_1038"/>
          <p:cNvSpPr txBox="1"/>
          <p:nvPr/>
        </p:nvSpPr>
        <p:spPr>
          <a:xfrm>
            <a:off x="4823410" y="5875771"/>
            <a:ext cx="293372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Admission enabled</a:t>
            </a:r>
          </a:p>
        </p:txBody>
      </p:sp>
      <p:sp>
        <p:nvSpPr>
          <p:cNvPr id="10" name="PDF_TEXT_GROUP_1039"/>
          <p:cNvSpPr txBox="1"/>
          <p:nvPr/>
        </p:nvSpPr>
        <p:spPr>
          <a:xfrm>
            <a:off x="9369286" y="5875771"/>
            <a:ext cx="299140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Admission disabled</a:t>
            </a:r>
          </a:p>
        </p:txBody>
      </p:sp>
      <p:sp>
        <p:nvSpPr>
          <p:cNvPr id="11" name="PDF_TEXT_GROUP_1040"/>
          <p:cNvSpPr txBox="1"/>
          <p:nvPr/>
        </p:nvSpPr>
        <p:spPr>
          <a:xfrm>
            <a:off x="1107736" y="6444130"/>
            <a:ext cx="17623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 latency</a:t>
            </a:r>
          </a:p>
        </p:txBody>
      </p:sp>
      <p:sp>
        <p:nvSpPr>
          <p:cNvPr id="12" name="PDF_TEXT_GROUP_1041"/>
          <p:cNvSpPr txBox="1"/>
          <p:nvPr/>
        </p:nvSpPr>
        <p:spPr>
          <a:xfrm>
            <a:off x="4823313" y="6444130"/>
            <a:ext cx="40486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268.12 ms at 81 actual RPS</a:t>
            </a:r>
          </a:p>
        </p:txBody>
      </p:sp>
      <p:sp>
        <p:nvSpPr>
          <p:cNvPr id="13" name="PDF_TEXT_GROUP_1042"/>
          <p:cNvSpPr txBox="1"/>
          <p:nvPr/>
        </p:nvSpPr>
        <p:spPr>
          <a:xfrm>
            <a:off x="9369158" y="6444130"/>
            <a:ext cx="419832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4254.39 ms at 100 actual RPS</a:t>
            </a:r>
            <a:r>
              <a:rPr sz="2371" b="0" i="0">
                <a:solidFill>
                  <a:srgbClr val="000000"/>
                </a:solidFill>
                <a:latin typeface="Latin Modern Sans"/>
              </a:rPr>
              <a:t> 3.55%</a:t>
            </a:r>
          </a:p>
        </p:txBody>
      </p:sp>
      <p:sp>
        <p:nvSpPr>
          <p:cNvPr id="14" name="PDF_TEXT_GROUP_1043"/>
          <p:cNvSpPr txBox="1"/>
          <p:nvPr/>
        </p:nvSpPr>
        <p:spPr>
          <a:xfrm>
            <a:off x="1107736" y="6830458"/>
            <a:ext cx="194810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Timeout rate</a:t>
            </a:r>
          </a:p>
        </p:txBody>
      </p:sp>
      <p:sp>
        <p:nvSpPr>
          <p:cNvPr id="15" name="PDF_TEXT_GROUP_1044"/>
          <p:cNvSpPr txBox="1"/>
          <p:nvPr/>
        </p:nvSpPr>
        <p:spPr>
          <a:xfrm>
            <a:off x="4823217" y="6830458"/>
            <a:ext cx="10202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0.00%</a:t>
            </a:r>
          </a:p>
        </p:txBody>
      </p:sp>
      <p:sp>
        <p:nvSpPr>
          <p:cNvPr id="16" name="PDF_TEXT_GROUP_10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10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10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1048"/>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0" name="PDF_TEXT_GROUP_1049"/>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57/64</a:t>
            </a:r>
          </a:p>
        </p:txBody>
      </p:sp>
      <p:sp>
        <p:nvSpPr>
          <p:cNvPr id="21" name="PDF_BULLET_SPAN_1722"/>
          <p:cNvSpPr/>
          <p:nvPr/>
        </p:nvSpPr>
        <p:spPr>
          <a:xfrm rot="5400000">
            <a:off x="1227851" y="1753015"/>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725"/>
          <p:cNvSpPr/>
          <p:nvPr/>
        </p:nvSpPr>
        <p:spPr>
          <a:xfrm rot="5400000">
            <a:off x="1227851" y="2718851"/>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DF_BULLET_SPAN_1728"/>
          <p:cNvSpPr/>
          <p:nvPr/>
        </p:nvSpPr>
        <p:spPr>
          <a:xfrm rot="5400000">
            <a:off x="1227851" y="3684688"/>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DF_BULLET_SPAN_1731"/>
          <p:cNvSpPr/>
          <p:nvPr/>
        </p:nvSpPr>
        <p:spPr>
          <a:xfrm rot="5400000">
            <a:off x="1227851" y="4650524"/>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8" descr="background-058.png"/>
          <p:cNvPicPr>
            <a:picLocks noChangeAspect="1"/>
          </p:cNvPicPr>
          <p:nvPr/>
        </p:nvPicPr>
        <p:blipFill>
          <a:blip r:embed="rId2"/>
          <a:stretch>
            <a:fillRect/>
          </a:stretch>
        </p:blipFill>
        <p:spPr>
          <a:xfrm>
            <a:off x="0" y="0"/>
            <a:ext cx="14630400" cy="8229600"/>
          </a:xfrm>
          <a:prstGeom prst="rect">
            <a:avLst/>
          </a:prstGeom>
        </p:spPr>
      </p:pic>
      <p:sp>
        <p:nvSpPr>
          <p:cNvPr id="3" name="PDF_TEXT_GROUP_10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NDNSF Multi-Provider Coordination</a:t>
            </a:r>
          </a:p>
        </p:txBody>
      </p:sp>
      <p:sp>
        <p:nvSpPr>
          <p:cNvPr id="4" name="PDF_TEXT_GROUP_1051"/>
          <p:cNvSpPr txBox="1"/>
          <p:nvPr/>
        </p:nvSpPr>
        <p:spPr>
          <a:xfrm>
            <a:off x="914808" y="1226643"/>
            <a:ext cx="923833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1" i="0">
                <a:solidFill>
                  <a:srgbClr val="000000"/>
                </a:solidFill>
                <a:latin typeface="Latin Modern Sans"/>
              </a:rPr>
              <a:t>The NDNSF paper treats provider coordination as a framework concern.</a:t>
            </a:r>
          </a:p>
        </p:txBody>
      </p:sp>
      <p:sp>
        <p:nvSpPr>
          <p:cNvPr id="5" name="PDF_TEXT_GROUP_1052"/>
          <p:cNvSpPr txBox="1"/>
          <p:nvPr/>
        </p:nvSpPr>
        <p:spPr>
          <a:xfrm>
            <a:off x="1618972" y="1720678"/>
            <a:ext cx="90966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One Request reaches multiple authorized providers for one named service.</a:t>
            </a:r>
          </a:p>
        </p:txBody>
      </p:sp>
      <p:sp>
        <p:nvSpPr>
          <p:cNvPr id="6" name="PDF_TEXT_GROUP_1053"/>
          <p:cNvSpPr txBox="1"/>
          <p:nvPr/>
        </p:nvSpPr>
        <p:spPr>
          <a:xfrm>
            <a:off x="1618972" y="2026541"/>
            <a:ext cx="874343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ACK metadata reports readiness; the user selects after ACK collection.</a:t>
            </a:r>
          </a:p>
        </p:txBody>
      </p:sp>
      <p:sp>
        <p:nvSpPr>
          <p:cNvPr id="7" name="PDF_TEXT_GROUP_1054"/>
          <p:cNvSpPr txBox="1"/>
          <p:nvPr/>
        </p:nvSpPr>
        <p:spPr>
          <a:xfrm>
            <a:off x="1618972" y="2332372"/>
            <a:ext cx="9027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Selected providers execute and publish Responses under NDNSF security.</a:t>
            </a:r>
          </a:p>
        </p:txBody>
      </p:sp>
      <p:sp>
        <p:nvSpPr>
          <p:cNvPr id="8" name="PDF_TEXT_GROUP_1055"/>
          <p:cNvSpPr txBox="1"/>
          <p:nvPr/>
        </p:nvSpPr>
        <p:spPr>
          <a:xfrm>
            <a:off x="1618972" y="2638235"/>
            <a:ext cx="85632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mechanism is framework-level coordination, not application glue.</a:t>
            </a:r>
          </a:p>
        </p:txBody>
      </p:sp>
      <p:sp>
        <p:nvSpPr>
          <p:cNvPr id="9" name="PDF_TEXT_GROUP_1056"/>
          <p:cNvSpPr txBox="1"/>
          <p:nvPr/>
        </p:nvSpPr>
        <p:spPr>
          <a:xfrm>
            <a:off x="1092471" y="6977932"/>
            <a:ext cx="12185900" cy="48640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Sans"/>
              </a:rPr>
              <a:t>Capacity-matched, block-network gated: comparable success, 5,380 duplicate provider executions avoided. This supports work efficiency, not</a:t>
            </a:r>
            <a:r>
              <a:rPr sz="1355" b="0" i="0">
                <a:solidFill>
                  <a:srgbClr val="000000"/>
                </a:solidFill>
                <a:latin typeface="Latin Modern Sans"/>
              </a:rPr>
              <a:t> general mobility reliability or latency superiority.</a:t>
            </a:r>
          </a:p>
        </p:txBody>
      </p:sp>
      <p:sp>
        <p:nvSpPr>
          <p:cNvPr id="10" name="PDF_TEXT_GROUP_105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105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105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1060"/>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1061"/>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58/64</a:t>
            </a:r>
          </a:p>
        </p:txBody>
      </p:sp>
      <p:sp>
        <p:nvSpPr>
          <p:cNvPr id="15" name="PDF_BULLET_SPAN_1750"/>
          <p:cNvSpPr/>
          <p:nvPr/>
        </p:nvSpPr>
        <p:spPr>
          <a:xfrm rot="5400000">
            <a:off x="1270872" y="1783356"/>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752"/>
          <p:cNvSpPr/>
          <p:nvPr/>
        </p:nvSpPr>
        <p:spPr>
          <a:xfrm rot="5400000">
            <a:off x="1270872" y="2089219"/>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754"/>
          <p:cNvSpPr/>
          <p:nvPr/>
        </p:nvSpPr>
        <p:spPr>
          <a:xfrm rot="5400000">
            <a:off x="1270872" y="2395050"/>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756"/>
          <p:cNvSpPr/>
          <p:nvPr/>
        </p:nvSpPr>
        <p:spPr>
          <a:xfrm rot="5400000">
            <a:off x="1270872" y="2700913"/>
            <a:ext cx="144046" cy="144046"/>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9" descr="background-059.png"/>
          <p:cNvPicPr>
            <a:picLocks noChangeAspect="1"/>
          </p:cNvPicPr>
          <p:nvPr/>
        </p:nvPicPr>
        <p:blipFill>
          <a:blip r:embed="rId2"/>
          <a:stretch>
            <a:fillRect/>
          </a:stretch>
        </p:blipFill>
        <p:spPr>
          <a:xfrm>
            <a:off x="0" y="0"/>
            <a:ext cx="14630400" cy="8229600"/>
          </a:xfrm>
          <a:prstGeom prst="rect">
            <a:avLst/>
          </a:prstGeom>
        </p:spPr>
      </p:pic>
      <p:sp>
        <p:nvSpPr>
          <p:cNvPr id="3" name="PDF_TEXT_GROUP_106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Why Not ABE Plus Role-Certificate Authorization?</a:t>
            </a:r>
          </a:p>
        </p:txBody>
      </p:sp>
      <p:sp>
        <p:nvSpPr>
          <p:cNvPr id="4" name="PDF_TEXT_GROUP_1063"/>
          <p:cNvSpPr txBox="1"/>
          <p:nvPr/>
        </p:nvSpPr>
        <p:spPr>
          <a:xfrm>
            <a:off x="914808" y="1547895"/>
            <a:ext cx="109291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Both designs are valid; compare their permission-management costs.</a:t>
            </a:r>
          </a:p>
        </p:txBody>
      </p:sp>
      <p:sp>
        <p:nvSpPr>
          <p:cNvPr id="5" name="PDF_TEXT_GROUP_1064"/>
          <p:cNvSpPr txBox="1"/>
          <p:nvPr/>
        </p:nvSpPr>
        <p:spPr>
          <a:xfrm>
            <a:off x="1618972" y="2356389"/>
            <a:ext cx="1162126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Alternative:</a:t>
            </a:r>
            <a:r>
              <a:rPr sz="2371" b="0" i="0">
                <a:solidFill>
                  <a:srgbClr val="000000"/>
                </a:solidFill>
                <a:latin typeface="Latin Modern Sans"/>
              </a:rPr>
              <a:t> ABE protects discovery; service-role certificates and Trust Schema rules</a:t>
            </a:r>
            <a:r>
              <a:rPr sz="2371" b="0" i="0">
                <a:solidFill>
                  <a:srgbClr val="000000"/>
                </a:solidFill>
                <a:latin typeface="Latin Modern Sans"/>
              </a:rPr>
              <a:t> authorize execution.</a:t>
            </a:r>
          </a:p>
        </p:txBody>
      </p:sp>
      <p:sp>
        <p:nvSpPr>
          <p:cNvPr id="6" name="PDF_TEXT_GROUP_1065"/>
          <p:cNvSpPr txBox="1"/>
          <p:nvPr/>
        </p:nvSpPr>
        <p:spPr>
          <a:xfrm>
            <a:off x="1618972" y="3322225"/>
            <a:ext cx="111945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NDNSF:</a:t>
            </a:r>
            <a:r>
              <a:rPr sz="2371" b="0" i="0">
                <a:solidFill>
                  <a:srgbClr val="000000"/>
                </a:solidFill>
                <a:latin typeface="Latin Modern Sans"/>
              </a:rPr>
              <a:t> challenges reuse attribute-based permission management, avoiding extra</a:t>
            </a:r>
            <a:r>
              <a:rPr sz="2371" b="0" i="0">
                <a:solidFill>
                  <a:srgbClr val="000000"/>
                </a:solidFill>
                <a:latin typeface="Latin Modern Sans"/>
              </a:rPr>
              <a:t> service-role signing credentials.</a:t>
            </a:r>
          </a:p>
        </p:txBody>
      </p:sp>
      <p:sp>
        <p:nvSpPr>
          <p:cNvPr id="7" name="PDF_TEXT_GROUP_1066"/>
          <p:cNvSpPr txBox="1"/>
          <p:nvPr/>
        </p:nvSpPr>
        <p:spPr>
          <a:xfrm>
            <a:off x="1618972" y="4288061"/>
            <a:ext cx="1195308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Additional cost:</a:t>
            </a:r>
            <a:r>
              <a:rPr sz="2371" b="0" i="0">
                <a:solidFill>
                  <a:srgbClr val="000000"/>
                </a:solidFill>
                <a:latin typeface="Latin Modern Sans"/>
              </a:rPr>
              <a:t> User permission DKEYs and challenge processing are not already paid</a:t>
            </a:r>
            <a:r>
              <a:rPr sz="2371" b="0" i="0">
                <a:solidFill>
                  <a:srgbClr val="000000"/>
                </a:solidFill>
                <a:latin typeface="Latin Modern Sans"/>
              </a:rPr>
              <a:t> for by Provider-side discovery.</a:t>
            </a:r>
          </a:p>
        </p:txBody>
      </p:sp>
      <p:sp>
        <p:nvSpPr>
          <p:cNvPr id="8" name="PDF_TEXT_GROUP_1067"/>
          <p:cNvSpPr txBox="1"/>
          <p:nvPr/>
        </p:nvSpPr>
        <p:spPr>
          <a:xfrm>
            <a:off x="1618972" y="5253897"/>
            <a:ext cx="1295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Both designs still validate signatures, request identity, current authority, and replay state.</a:t>
            </a:r>
          </a:p>
        </p:txBody>
      </p:sp>
      <p:sp>
        <p:nvSpPr>
          <p:cNvPr id="9" name="PDF_TEXT_GROUP_1068"/>
          <p:cNvSpPr txBox="1"/>
          <p:nvPr/>
        </p:nvSpPr>
        <p:spPr>
          <a:xfrm>
            <a:off x="1123808" y="6367601"/>
            <a:ext cx="12517642"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Fewer credential objects do not prove lower total cost. Compare issuance, updates, key sizes, and revocation</a:t>
            </a:r>
            <a:r>
              <a:rPr sz="1863" b="0" i="0">
                <a:solidFill>
                  <a:srgbClr val="000000"/>
                </a:solidFill>
                <a:latin typeface="Latin Modern Sans"/>
              </a:rPr>
              <a:t> overhead under the same permissions.</a:t>
            </a:r>
          </a:p>
        </p:txBody>
      </p:sp>
      <p:sp>
        <p:nvSpPr>
          <p:cNvPr id="10" name="PDF_TEXT_GROUP_106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107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107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1072"/>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1073"/>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59/64</a:t>
            </a:r>
          </a:p>
        </p:txBody>
      </p:sp>
      <p:sp>
        <p:nvSpPr>
          <p:cNvPr id="15" name="PDF_BULLET_SPAN_1767"/>
          <p:cNvSpPr/>
          <p:nvPr/>
        </p:nvSpPr>
        <p:spPr>
          <a:xfrm rot="5400000">
            <a:off x="1227851" y="2434736"/>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771"/>
          <p:cNvSpPr/>
          <p:nvPr/>
        </p:nvSpPr>
        <p:spPr>
          <a:xfrm rot="5400000">
            <a:off x="1227851" y="3400573"/>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775"/>
          <p:cNvSpPr/>
          <p:nvPr/>
        </p:nvSpPr>
        <p:spPr>
          <a:xfrm rot="5400000">
            <a:off x="1227851" y="436640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779"/>
          <p:cNvSpPr/>
          <p:nvPr/>
        </p:nvSpPr>
        <p:spPr>
          <a:xfrm rot="5400000">
            <a:off x="1227851" y="5332245"/>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0" descr="background-060.png"/>
          <p:cNvPicPr>
            <a:picLocks noChangeAspect="1"/>
          </p:cNvPicPr>
          <p:nvPr/>
        </p:nvPicPr>
        <p:blipFill>
          <a:blip r:embed="rId2"/>
          <a:stretch>
            <a:fillRect/>
          </a:stretch>
        </p:blipFill>
        <p:spPr>
          <a:xfrm>
            <a:off x="0" y="0"/>
            <a:ext cx="14630400" cy="8229600"/>
          </a:xfrm>
          <a:prstGeom prst="rect">
            <a:avLst/>
          </a:prstGeom>
        </p:spPr>
      </p:pic>
      <p:sp>
        <p:nvSpPr>
          <p:cNvPr id="3" name="PDF_TEXT_GROUP_107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Middleware Comparison</a:t>
            </a:r>
          </a:p>
        </p:txBody>
      </p:sp>
      <p:sp>
        <p:nvSpPr>
          <p:cNvPr id="4" name="PDF_TEXT_GROUP_1075"/>
          <p:cNvSpPr txBox="1"/>
          <p:nvPr/>
        </p:nvSpPr>
        <p:spPr>
          <a:xfrm>
            <a:off x="914808" y="1159309"/>
            <a:ext cx="1183387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gRPC</a:t>
            </a:r>
            <a:r>
              <a:rPr sz="2710" b="1" i="0">
                <a:solidFill>
                  <a:srgbClr val="1A3E79"/>
                </a:solidFill>
                <a:latin typeface="Latin Modern Sans"/>
              </a:rPr>
              <a:t> [17]</a:t>
            </a:r>
            <a:r>
              <a:rPr sz="2710" b="1" i="0">
                <a:solidFill>
                  <a:srgbClr val="000000"/>
                </a:solidFill>
                <a:latin typeface="Latin Modern Sans"/>
              </a:rPr>
              <a:t> and ROS 2</a:t>
            </a:r>
            <a:r>
              <a:rPr sz="2710" b="1" i="0">
                <a:solidFill>
                  <a:srgbClr val="1A3E79"/>
                </a:solidFill>
                <a:latin typeface="Latin Modern Sans"/>
              </a:rPr>
              <a:t> [18]</a:t>
            </a:r>
            <a:r>
              <a:rPr sz="2710" b="1" i="0">
                <a:solidFill>
                  <a:srgbClr val="000000"/>
                </a:solidFill>
                <a:latin typeface="Latin Modern Sans"/>
              </a:rPr>
              <a:t> are useful, but they solve a different runtime</a:t>
            </a:r>
            <a:r>
              <a:rPr sz="2710" b="1" i="0">
                <a:solidFill>
                  <a:srgbClr val="000000"/>
                </a:solidFill>
                <a:latin typeface="Latin Modern Sans"/>
              </a:rPr>
              <a:t> problem.</a:t>
            </a:r>
          </a:p>
        </p:txBody>
      </p:sp>
      <p:sp>
        <p:nvSpPr>
          <p:cNvPr id="5" name="PDF_TEXT_GROUP_1076"/>
          <p:cNvSpPr txBox="1"/>
          <p:nvPr/>
        </p:nvSpPr>
        <p:spPr>
          <a:xfrm>
            <a:off x="1618972" y="2485589"/>
            <a:ext cx="1189043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gRPC:</a:t>
            </a:r>
            <a:r>
              <a:rPr sz="2710" b="0" i="0">
                <a:solidFill>
                  <a:srgbClr val="000000"/>
                </a:solidFill>
                <a:latin typeface="Latin Modern Sans"/>
              </a:rPr>
              <a:t> strong RPC abstraction with name resolution, load balancing, and retry,</a:t>
            </a:r>
            <a:r>
              <a:rPr sz="2710" b="0" i="0">
                <a:solidFill>
                  <a:srgbClr val="000000"/>
                </a:solidFill>
                <a:latin typeface="Latin Modern Sans"/>
              </a:rPr>
              <a:t> but its channels carry messages between resolved service endpoints.</a:t>
            </a:r>
          </a:p>
        </p:txBody>
      </p:sp>
      <p:sp>
        <p:nvSpPr>
          <p:cNvPr id="6" name="PDF_TEXT_GROUP_1077"/>
          <p:cNvSpPr txBox="1"/>
          <p:nvPr/>
        </p:nvSpPr>
        <p:spPr>
          <a:xfrm>
            <a:off x="1618972" y="3387991"/>
            <a:ext cx="115017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ROS 2:</a:t>
            </a:r>
            <a:r>
              <a:rPr sz="2710" b="0" i="0">
                <a:solidFill>
                  <a:srgbClr val="000000"/>
                </a:solidFill>
                <a:latin typeface="Latin Modern Sans"/>
              </a:rPr>
              <a:t> strong robotics middleware built around a distributed robotics graph</a:t>
            </a:r>
            <a:r>
              <a:rPr sz="2710" b="0" i="0">
                <a:solidFill>
                  <a:srgbClr val="000000"/>
                </a:solidFill>
                <a:latin typeface="Latin Modern Sans"/>
              </a:rPr>
              <a:t> rather than NDN’s named, cacheable Data model.</a:t>
            </a:r>
          </a:p>
        </p:txBody>
      </p:sp>
      <p:sp>
        <p:nvSpPr>
          <p:cNvPr id="7" name="PDF_TEXT_GROUP_1078"/>
          <p:cNvSpPr txBox="1"/>
          <p:nvPr/>
        </p:nvSpPr>
        <p:spPr>
          <a:xfrm>
            <a:off x="1618972" y="4290392"/>
            <a:ext cx="1209305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NDN advantage:</a:t>
            </a:r>
            <a:r>
              <a:rPr sz="2710" b="0" i="0">
                <a:solidFill>
                  <a:srgbClr val="000000"/>
                </a:solidFill>
                <a:latin typeface="Latin Modern Sans"/>
              </a:rPr>
              <a:t> named, signed Data can be retrieved by name from providers,</a:t>
            </a:r>
            <a:r>
              <a:rPr sz="2710" b="0" i="0">
                <a:solidFill>
                  <a:srgbClr val="000000"/>
                </a:solidFill>
                <a:latin typeface="Latin Modern Sans"/>
              </a:rPr>
              <a:t> caches, or repositories.</a:t>
            </a:r>
          </a:p>
        </p:txBody>
      </p:sp>
      <p:sp>
        <p:nvSpPr>
          <p:cNvPr id="8" name="PDF_TEXT_GROUP_1079"/>
          <p:cNvSpPr txBox="1"/>
          <p:nvPr/>
        </p:nvSpPr>
        <p:spPr>
          <a:xfrm>
            <a:off x="1618972" y="5192794"/>
            <a:ext cx="1171151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NDNSF contribution:</a:t>
            </a:r>
            <a:r>
              <a:rPr sz="2710" b="0" i="0">
                <a:solidFill>
                  <a:srgbClr val="000000"/>
                </a:solidFill>
                <a:latin typeface="Latin Modern Sans"/>
              </a:rPr>
              <a:t> adds authorization, ACK metadata, provider selection,</a:t>
            </a:r>
            <a:r>
              <a:rPr sz="2710" b="0" i="0">
                <a:solidFill>
                  <a:srgbClr val="000000"/>
                </a:solidFill>
                <a:latin typeface="Latin Modern Sans"/>
              </a:rPr>
              <a:t> replay protection, and large-data references above NDN.</a:t>
            </a:r>
          </a:p>
        </p:txBody>
      </p:sp>
      <p:sp>
        <p:nvSpPr>
          <p:cNvPr id="9" name="PDF_TEXT_GROUP_1080"/>
          <p:cNvSpPr txBox="1"/>
          <p:nvPr/>
        </p:nvSpPr>
        <p:spPr>
          <a:xfrm>
            <a:off x="1143656" y="6728250"/>
            <a:ext cx="1192418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is not a replacement for every middleware stack; it studies what a</a:t>
            </a:r>
            <a:r>
              <a:rPr sz="2710" b="0" i="0">
                <a:solidFill>
                  <a:srgbClr val="000000"/>
                </a:solidFill>
                <a:latin typeface="Latin Modern Sans"/>
              </a:rPr>
              <a:t> data-centric service framework enables in dynamic, multi-provider environments.</a:t>
            </a:r>
          </a:p>
        </p:txBody>
      </p:sp>
      <p:sp>
        <p:nvSpPr>
          <p:cNvPr id="10" name="PDF_TEXT_GROUP_10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10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10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1084"/>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4" name="PDF_TEXT_GROUP_1085"/>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60/64</a:t>
            </a:r>
          </a:p>
        </p:txBody>
      </p:sp>
      <p:sp>
        <p:nvSpPr>
          <p:cNvPr id="15" name="PDF_BULLET_SPAN_1795"/>
          <p:cNvSpPr/>
          <p:nvPr/>
        </p:nvSpPr>
        <p:spPr>
          <a:xfrm rot="5400000">
            <a:off x="1207424" y="25713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799"/>
          <p:cNvSpPr/>
          <p:nvPr/>
        </p:nvSpPr>
        <p:spPr>
          <a:xfrm rot="5400000">
            <a:off x="1207424" y="34737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803"/>
          <p:cNvSpPr/>
          <p:nvPr/>
        </p:nvSpPr>
        <p:spPr>
          <a:xfrm rot="5400000">
            <a:off x="1207424" y="437618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807"/>
          <p:cNvSpPr/>
          <p:nvPr/>
        </p:nvSpPr>
        <p:spPr>
          <a:xfrm rot="5400000">
            <a:off x="1207424" y="527858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0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[1–7]</a:t>
            </a:r>
          </a:p>
        </p:txBody>
      </p:sp>
      <p:sp>
        <p:nvSpPr>
          <p:cNvPr id="4" name="PDF_TEXT_GROUP_1087"/>
          <p:cNvSpPr txBox="1"/>
          <p:nvPr/>
        </p:nvSpPr>
        <p:spPr>
          <a:xfrm>
            <a:off x="1122356" y="2020854"/>
            <a:ext cx="1350804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a:t>
            </a:r>
            <a:r>
              <a:rPr sz="1863" b="0" i="1">
                <a:solidFill>
                  <a:srgbClr val="000000"/>
                </a:solidFill>
                <a:latin typeface="Latin Modern Sans"/>
              </a:rPr>
              <a:t> ACM SIGCOMM Computer Communication Review</a:t>
            </a:r>
            <a:r>
              <a:rPr sz="1863" b="0" i="0">
                <a:solidFill>
                  <a:srgbClr val="000000"/>
                </a:solidFill>
                <a:latin typeface="Latin Modern Sans"/>
              </a:rPr>
              <a:t>, vol. 44,</a:t>
            </a:r>
          </a:p>
        </p:txBody>
      </p:sp>
      <p:sp>
        <p:nvSpPr>
          <p:cNvPr id="5" name="PDF_TEXT_GROUP_1088"/>
          <p:cNvSpPr txBox="1"/>
          <p:nvPr/>
        </p:nvSpPr>
        <p:spPr>
          <a:xfrm>
            <a:off x="1582632" y="2326717"/>
            <a:ext cx="294980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no. 3, pp. 66–73, 2014.</a:t>
            </a:r>
          </a:p>
        </p:txBody>
      </p:sp>
      <p:sp>
        <p:nvSpPr>
          <p:cNvPr id="6" name="PDF_TEXT_GROUP_1089"/>
          <p:cNvSpPr txBox="1"/>
          <p:nvPr/>
        </p:nvSpPr>
        <p:spPr>
          <a:xfrm>
            <a:off x="1122356" y="2742484"/>
            <a:ext cx="1252185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in</a:t>
            </a:r>
            <a:r>
              <a:rPr sz="1863" b="0" i="1">
                <a:solidFill>
                  <a:srgbClr val="000000"/>
                </a:solidFill>
                <a:latin typeface="Latin Modern Sans"/>
              </a:rPr>
              <a:t> Proc. IEEE</a:t>
            </a:r>
          </a:p>
        </p:txBody>
      </p:sp>
      <p:sp>
        <p:nvSpPr>
          <p:cNvPr id="7" name="PDF_TEXT_GROUP_1090"/>
          <p:cNvSpPr txBox="1"/>
          <p:nvPr/>
        </p:nvSpPr>
        <p:spPr>
          <a:xfrm>
            <a:off x="1582632" y="3048315"/>
            <a:ext cx="374832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1">
                <a:solidFill>
                  <a:srgbClr val="000000"/>
                </a:solidFill>
                <a:latin typeface="Latin Modern Sans"/>
              </a:rPr>
              <a:t>MILCOM</a:t>
            </a:r>
            <a:r>
              <a:rPr sz="1863" b="0" i="0">
                <a:solidFill>
                  <a:srgbClr val="000000"/>
                </a:solidFill>
                <a:latin typeface="Latin Modern Sans"/>
              </a:rPr>
              <a:t>, pp. 612–618, 2018.</a:t>
            </a:r>
          </a:p>
        </p:txBody>
      </p:sp>
      <p:sp>
        <p:nvSpPr>
          <p:cNvPr id="8" name="PDF_TEXT_GROUP_1091"/>
          <p:cNvSpPr txBox="1"/>
          <p:nvPr/>
        </p:nvSpPr>
        <p:spPr>
          <a:xfrm>
            <a:off x="1122356" y="3464082"/>
            <a:ext cx="1350777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Named Data Networking Project, Tech. Rep.</a:t>
            </a:r>
          </a:p>
        </p:txBody>
      </p:sp>
      <p:sp>
        <p:nvSpPr>
          <p:cNvPr id="9" name="PDF_TEXT_GROUP_1092"/>
          <p:cNvSpPr txBox="1"/>
          <p:nvPr/>
        </p:nvSpPr>
        <p:spPr>
          <a:xfrm>
            <a:off x="1582632" y="3769945"/>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NDN-0073, rev. 2, 2021.</a:t>
            </a:r>
          </a:p>
        </p:txBody>
      </p:sp>
      <p:sp>
        <p:nvSpPr>
          <p:cNvPr id="10" name="PDF_TEXT_GROUP_1093"/>
          <p:cNvSpPr txBox="1"/>
          <p:nvPr/>
        </p:nvSpPr>
        <p:spPr>
          <a:xfrm>
            <a:off x="1122356" y="4185712"/>
            <a:ext cx="1308826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in</a:t>
            </a:r>
            <a:r>
              <a:rPr sz="1863" b="0" i="1">
                <a:solidFill>
                  <a:srgbClr val="000000"/>
                </a:solidFill>
                <a:latin typeface="Latin Modern Sans"/>
              </a:rPr>
              <a:t> Proc. IEEE MILCOM</a:t>
            </a:r>
            <a:r>
              <a:rPr sz="1863" b="0" i="0">
                <a:solidFill>
                  <a:srgbClr val="000000"/>
                </a:solidFill>
                <a:latin typeface="Latin Modern Sans"/>
              </a:rPr>
              <a:t>, 2018.</a:t>
            </a:r>
          </a:p>
        </p:txBody>
      </p:sp>
      <p:sp>
        <p:nvSpPr>
          <p:cNvPr id="11" name="PDF_TEXT_GROUP_1094"/>
          <p:cNvSpPr txBox="1"/>
          <p:nvPr/>
        </p:nvSpPr>
        <p:spPr>
          <a:xfrm>
            <a:off x="1122356" y="4601447"/>
            <a:ext cx="130354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[5]</a:t>
            </a:r>
            <a:r>
              <a:rPr sz="1863" b="0" i="0">
                <a:solidFill>
                  <a:srgbClr val="000000"/>
                </a:solidFill>
                <a:latin typeface="Latin Modern Sans"/>
              </a:rPr>
              <a:t> C. A. Lee et al., “Supporting Virtual Organizations Using Attribute-Based Encryption in Named Data</a:t>
            </a:r>
          </a:p>
        </p:txBody>
      </p:sp>
      <p:sp>
        <p:nvSpPr>
          <p:cNvPr id="12" name="PDF_TEXT_GROUP_1095"/>
          <p:cNvSpPr txBox="1"/>
          <p:nvPr/>
        </p:nvSpPr>
        <p:spPr>
          <a:xfrm>
            <a:off x="1582632" y="4907311"/>
            <a:ext cx="657131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Networking,” in</a:t>
            </a:r>
            <a:r>
              <a:rPr sz="1863" b="0" i="1">
                <a:solidFill>
                  <a:srgbClr val="000000"/>
                </a:solidFill>
                <a:latin typeface="Latin Modern Sans"/>
              </a:rPr>
              <a:t> Proc. IEEE CIC</a:t>
            </a:r>
            <a:r>
              <a:rPr sz="1863" b="0" i="0">
                <a:solidFill>
                  <a:srgbClr val="000000"/>
                </a:solidFill>
                <a:latin typeface="Latin Modern Sans"/>
              </a:rPr>
              <a:t>, pp. 188–196, 2018.</a:t>
            </a:r>
          </a:p>
        </p:txBody>
      </p:sp>
      <p:sp>
        <p:nvSpPr>
          <p:cNvPr id="13" name="PDF_TEXT_GROUP_1096"/>
          <p:cNvSpPr txBox="1"/>
          <p:nvPr/>
        </p:nvSpPr>
        <p:spPr>
          <a:xfrm>
            <a:off x="1122356" y="5323078"/>
            <a:ext cx="1336465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in</a:t>
            </a:r>
            <a:r>
              <a:rPr sz="1863" b="0" i="1">
                <a:solidFill>
                  <a:srgbClr val="000000"/>
                </a:solidFill>
                <a:latin typeface="Latin Modern Sans"/>
              </a:rPr>
              <a:t> Proc. IEEE CCNC</a:t>
            </a:r>
            <a:r>
              <a:rPr sz="1863" b="0" i="0">
                <a:solidFill>
                  <a:srgbClr val="000000"/>
                </a:solidFill>
                <a:latin typeface="Latin Modern Sans"/>
              </a:rPr>
              <a:t>, pp.</a:t>
            </a:r>
          </a:p>
        </p:txBody>
      </p:sp>
      <p:sp>
        <p:nvSpPr>
          <p:cNvPr id="14" name="PDF_TEXT_GROUP_1097"/>
          <p:cNvSpPr txBox="1"/>
          <p:nvPr/>
        </p:nvSpPr>
        <p:spPr>
          <a:xfrm>
            <a:off x="1582632" y="5628909"/>
            <a:ext cx="188812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851–857, 2014.</a:t>
            </a:r>
          </a:p>
        </p:txBody>
      </p:sp>
      <p:sp>
        <p:nvSpPr>
          <p:cNvPr id="15" name="PDF_TEXT_GROUP_1098"/>
          <p:cNvSpPr txBox="1"/>
          <p:nvPr/>
        </p:nvSpPr>
        <p:spPr>
          <a:xfrm>
            <a:off x="1122356" y="6044676"/>
            <a:ext cx="132958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in</a:t>
            </a:r>
            <a:r>
              <a:rPr sz="1863" b="0" i="1">
                <a:solidFill>
                  <a:srgbClr val="000000"/>
                </a:solidFill>
                <a:latin typeface="Latin Modern Sans"/>
              </a:rPr>
              <a:t> Proc. ACM ICN</a:t>
            </a:r>
            <a:r>
              <a:rPr sz="1863" b="0" i="0">
                <a:solidFill>
                  <a:srgbClr val="000000"/>
                </a:solidFill>
                <a:latin typeface="Latin Modern Sans"/>
              </a:rPr>
              <a:t>, pp. 134–144, 2017.</a:t>
            </a:r>
          </a:p>
        </p:txBody>
      </p:sp>
      <p:sp>
        <p:nvSpPr>
          <p:cNvPr id="16" name="PDF_TEXT_GROUP_10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11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11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1102"/>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20" name="PDF_TEXT_GROUP_1103"/>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61/64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2"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1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[8–13]</a:t>
            </a:r>
          </a:p>
        </p:txBody>
      </p:sp>
      <p:sp>
        <p:nvSpPr>
          <p:cNvPr id="4" name="PDF_TEXT_GROUP_1105"/>
          <p:cNvSpPr txBox="1"/>
          <p:nvPr/>
        </p:nvSpPr>
        <p:spPr>
          <a:xfrm>
            <a:off x="1122356" y="2077405"/>
            <a:ext cx="125061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[8]</a:t>
            </a:r>
            <a:r>
              <a:rPr sz="1863" b="0" i="0">
                <a:solidFill>
                  <a:srgbClr val="000000"/>
                </a:solidFill>
                <a:latin typeface="Latin Modern Sans"/>
              </a:rPr>
              <a:t> M. A. ur Rehman and B.-S. Kim, “CFEC: An Ultra-Low Latency Microservices-Based In-Network</a:t>
            </a:r>
          </a:p>
        </p:txBody>
      </p:sp>
      <p:sp>
        <p:nvSpPr>
          <p:cNvPr id="5" name="PDF_TEXT_GROUP_1106"/>
          <p:cNvSpPr txBox="1"/>
          <p:nvPr/>
        </p:nvSpPr>
        <p:spPr>
          <a:xfrm>
            <a:off x="1582632" y="2383236"/>
            <a:ext cx="12147600"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Computing Framework for Information-Centric IoVs,”</a:t>
            </a:r>
            <a:r>
              <a:rPr sz="1863" b="0" i="1">
                <a:solidFill>
                  <a:srgbClr val="000000"/>
                </a:solidFill>
                <a:latin typeface="Latin Modern Sans"/>
              </a:rPr>
              <a:t> IEEE Transactions on Services Computing</a:t>
            </a:r>
            <a:r>
              <a:rPr sz="1863" b="0" i="0">
                <a:solidFill>
                  <a:srgbClr val="000000"/>
                </a:solidFill>
                <a:latin typeface="Latin Modern Sans"/>
              </a:rPr>
              <a:t>, vol. 17,</a:t>
            </a:r>
            <a:r>
              <a:rPr sz="1863" b="0" i="0">
                <a:solidFill>
                  <a:srgbClr val="000000"/>
                </a:solidFill>
                <a:latin typeface="Latin Modern Sans"/>
              </a:rPr>
              <a:t> no. 6, pp. 3199–3212, 2024.</a:t>
            </a:r>
          </a:p>
        </p:txBody>
      </p:sp>
      <p:sp>
        <p:nvSpPr>
          <p:cNvPr id="6" name="PDF_TEXT_GROUP_1107"/>
          <p:cNvSpPr txBox="1"/>
          <p:nvPr/>
        </p:nvSpPr>
        <p:spPr>
          <a:xfrm>
            <a:off x="1122356" y="3104867"/>
            <a:ext cx="1237956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in</a:t>
            </a:r>
            <a:r>
              <a:rPr sz="1863" b="0" i="1">
                <a:solidFill>
                  <a:srgbClr val="000000"/>
                </a:solidFill>
                <a:latin typeface="Latin Modern Sans"/>
              </a:rPr>
              <a:t> Proc. ACM ICN</a:t>
            </a:r>
            <a:r>
              <a:rPr sz="1863" b="0" i="0">
                <a:solidFill>
                  <a:srgbClr val="000000"/>
                </a:solidFill>
                <a:latin typeface="Latin Modern Sans"/>
              </a:rPr>
              <a:t>, pp. 1–11, 2018.</a:t>
            </a:r>
          </a:p>
        </p:txBody>
      </p:sp>
      <p:sp>
        <p:nvSpPr>
          <p:cNvPr id="7" name="PDF_TEXT_GROUP_1108"/>
          <p:cNvSpPr txBox="1"/>
          <p:nvPr/>
        </p:nvSpPr>
        <p:spPr>
          <a:xfrm>
            <a:off x="985712" y="352063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 Named</a:t>
            </a:r>
          </a:p>
        </p:txBody>
      </p:sp>
      <p:sp>
        <p:nvSpPr>
          <p:cNvPr id="8" name="PDF_TEXT_GROUP_1109"/>
          <p:cNvSpPr txBox="1"/>
          <p:nvPr/>
        </p:nvSpPr>
        <p:spPr>
          <a:xfrm>
            <a:off x="1582632" y="3826465"/>
            <a:ext cx="78241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Data Networking Project, Tech. Rep. NDN-0074, rev. 1, 2021.</a:t>
            </a:r>
          </a:p>
        </p:txBody>
      </p:sp>
      <p:sp>
        <p:nvSpPr>
          <p:cNvPr id="9" name="PDF_TEXT_GROUP_1110"/>
          <p:cNvSpPr txBox="1"/>
          <p:nvPr/>
        </p:nvSpPr>
        <p:spPr>
          <a:xfrm>
            <a:off x="985712" y="4242232"/>
            <a:ext cx="130951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[11]</a:t>
            </a:r>
            <a:r>
              <a:rPr sz="1863" b="0" i="0">
                <a:solidFill>
                  <a:srgbClr val="000000"/>
                </a:solidFill>
                <a:latin typeface="Latin Modern Sans"/>
              </a:rPr>
              <a:t> M. Imran et al., “MIA-NDN: Microservice-Centric Interest Aggregation in Named Data Networking,”</a:t>
            </a:r>
          </a:p>
        </p:txBody>
      </p:sp>
      <p:sp>
        <p:nvSpPr>
          <p:cNvPr id="10" name="PDF_TEXT_GROUP_1111"/>
          <p:cNvSpPr txBox="1"/>
          <p:nvPr/>
        </p:nvSpPr>
        <p:spPr>
          <a:xfrm>
            <a:off x="1582632" y="4548095"/>
            <a:ext cx="555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1">
                <a:solidFill>
                  <a:srgbClr val="000000"/>
                </a:solidFill>
                <a:latin typeface="Latin Modern Sans"/>
              </a:rPr>
              <a:t>Sensors</a:t>
            </a:r>
            <a:r>
              <a:rPr sz="1863" b="0" i="0">
                <a:solidFill>
                  <a:srgbClr val="000000"/>
                </a:solidFill>
                <a:latin typeface="Latin Modern Sans"/>
              </a:rPr>
              <a:t>, vol. 23, no. 3, Art. no. 1411, 2023.</a:t>
            </a:r>
          </a:p>
        </p:txBody>
      </p:sp>
      <p:sp>
        <p:nvSpPr>
          <p:cNvPr id="11" name="PDF_TEXT_GROUP_1112"/>
          <p:cNvSpPr txBox="1"/>
          <p:nvPr/>
        </p:nvSpPr>
        <p:spPr>
          <a:xfrm>
            <a:off x="985712" y="4963830"/>
            <a:ext cx="1361303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 in</a:t>
            </a:r>
          </a:p>
        </p:txBody>
      </p:sp>
      <p:sp>
        <p:nvSpPr>
          <p:cNvPr id="12" name="PDF_TEXT_GROUP_1113"/>
          <p:cNvSpPr txBox="1"/>
          <p:nvPr/>
        </p:nvSpPr>
        <p:spPr>
          <a:xfrm>
            <a:off x="1582632" y="5269693"/>
            <a:ext cx="458556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1">
                <a:solidFill>
                  <a:srgbClr val="000000"/>
                </a:solidFill>
                <a:latin typeface="Latin Modern Sans"/>
              </a:rPr>
              <a:t>Proc. ACM ICN</a:t>
            </a:r>
            <a:r>
              <a:rPr sz="1863" b="0" i="0">
                <a:solidFill>
                  <a:srgbClr val="000000"/>
                </a:solidFill>
                <a:latin typeface="Latin Modern Sans"/>
              </a:rPr>
              <a:t>, pp. 112–122, 2019.</a:t>
            </a:r>
          </a:p>
        </p:txBody>
      </p:sp>
      <p:sp>
        <p:nvSpPr>
          <p:cNvPr id="13" name="PDF_TEXT_GROUP_1114"/>
          <p:cNvSpPr txBox="1"/>
          <p:nvPr/>
        </p:nvSpPr>
        <p:spPr>
          <a:xfrm>
            <a:off x="985712" y="5685460"/>
            <a:ext cx="1336754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[13]</a:t>
            </a:r>
            <a:r>
              <a:rPr sz="1863" b="0" i="0">
                <a:solidFill>
                  <a:srgbClr val="000000"/>
                </a:solidFill>
                <a:latin typeface="Latin Modern Sans"/>
              </a:rPr>
              <a:t> R. Tourani et al., “Towards Security-as-a-Service in Multi-Access Edge,” in</a:t>
            </a:r>
            <a:r>
              <a:rPr sz="1863" b="0" i="1">
                <a:solidFill>
                  <a:srgbClr val="000000"/>
                </a:solidFill>
                <a:latin typeface="Latin Modern Sans"/>
              </a:rPr>
              <a:t> Proc. ACM/IEEE SEC</a:t>
            </a:r>
            <a:r>
              <a:rPr sz="1863" b="0" i="0">
                <a:solidFill>
                  <a:srgbClr val="000000"/>
                </a:solidFill>
                <a:latin typeface="Latin Modern Sans"/>
              </a:rPr>
              <a:t>, pp.</a:t>
            </a:r>
          </a:p>
        </p:txBody>
      </p:sp>
      <p:sp>
        <p:nvSpPr>
          <p:cNvPr id="14" name="PDF_TEXT_GROUP_1115"/>
          <p:cNvSpPr txBox="1"/>
          <p:nvPr/>
        </p:nvSpPr>
        <p:spPr>
          <a:xfrm>
            <a:off x="1582632" y="5991291"/>
            <a:ext cx="188812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358–363, 2019.</a:t>
            </a:r>
          </a:p>
        </p:txBody>
      </p:sp>
      <p:sp>
        <p:nvSpPr>
          <p:cNvPr id="15" name="PDF_TEXT_GROUP_11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119"/>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9" name="PDF_TEXT_GROUP_1120"/>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62/64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3"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1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[14–21]</a:t>
            </a:r>
          </a:p>
        </p:txBody>
      </p:sp>
      <p:sp>
        <p:nvSpPr>
          <p:cNvPr id="4" name="PDF_TEXT_GROUP_1122"/>
          <p:cNvSpPr txBox="1"/>
          <p:nvPr/>
        </p:nvSpPr>
        <p:spPr>
          <a:xfrm>
            <a:off x="985712" y="2099218"/>
            <a:ext cx="1274417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[14]</a:t>
            </a:r>
            <a:r>
              <a:rPr sz="1863" b="0" i="0">
                <a:solidFill>
                  <a:srgbClr val="000000"/>
                </a:solidFill>
                <a:latin typeface="Latin Modern Sans"/>
              </a:rPr>
              <a:t> M. Król et al., “Compute First Networking: Distributed Computing Meets ICN,”</a:t>
            </a:r>
            <a:r>
              <a:rPr sz="1863" b="0" i="1">
                <a:solidFill>
                  <a:srgbClr val="000000"/>
                </a:solidFill>
                <a:latin typeface="Latin Modern Sans"/>
              </a:rPr>
              <a:t> ACM ICN</a:t>
            </a:r>
            <a:r>
              <a:rPr sz="1863" b="0" i="0">
                <a:solidFill>
                  <a:srgbClr val="000000"/>
                </a:solidFill>
                <a:latin typeface="Latin Modern Sans"/>
              </a:rPr>
              <a:t>, 2019.</a:t>
            </a:r>
          </a:p>
        </p:txBody>
      </p:sp>
      <p:sp>
        <p:nvSpPr>
          <p:cNvPr id="5" name="PDF_TEXT_GROUP_1123"/>
          <p:cNvSpPr txBox="1"/>
          <p:nvPr/>
        </p:nvSpPr>
        <p:spPr>
          <a:xfrm>
            <a:off x="985712" y="2514985"/>
            <a:ext cx="1350663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 Barrios et al., “CaSCON: Cache-Assisted Service Composition Orchestration Leveraging NDN,”</a:t>
            </a:r>
            <a:r>
              <a:rPr sz="1863" b="0" i="1">
                <a:solidFill>
                  <a:srgbClr val="000000"/>
                </a:solidFill>
                <a:latin typeface="Latin Modern Sans"/>
              </a:rPr>
              <a:t> IEEE</a:t>
            </a:r>
          </a:p>
        </p:txBody>
      </p:sp>
      <p:sp>
        <p:nvSpPr>
          <p:cNvPr id="6" name="PDF_TEXT_GROUP_1124"/>
          <p:cNvSpPr txBox="1"/>
          <p:nvPr/>
        </p:nvSpPr>
        <p:spPr>
          <a:xfrm>
            <a:off x="1582632" y="2820848"/>
            <a:ext cx="271628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1">
                <a:solidFill>
                  <a:srgbClr val="000000"/>
                </a:solidFill>
                <a:latin typeface="Latin Modern Sans"/>
              </a:rPr>
              <a:t>SMARTCOMP</a:t>
            </a:r>
            <a:r>
              <a:rPr sz="1863" b="0" i="0">
                <a:solidFill>
                  <a:srgbClr val="000000"/>
                </a:solidFill>
                <a:latin typeface="Latin Modern Sans"/>
              </a:rPr>
              <a:t>, 2025.</a:t>
            </a:r>
          </a:p>
        </p:txBody>
      </p:sp>
      <p:sp>
        <p:nvSpPr>
          <p:cNvPr id="7" name="PDF_TEXT_GROUP_1125"/>
          <p:cNvSpPr txBox="1"/>
          <p:nvPr/>
        </p:nvSpPr>
        <p:spPr>
          <a:xfrm>
            <a:off x="985712" y="3236616"/>
            <a:ext cx="106326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a:t>
            </a:r>
            <a:r>
              <a:rPr sz="1863" b="0" i="1">
                <a:solidFill>
                  <a:srgbClr val="000000"/>
                </a:solidFill>
                <a:latin typeface="Latin Modern Sans"/>
              </a:rPr>
              <a:t> ACM ICN</a:t>
            </a:r>
            <a:r>
              <a:rPr sz="1863" b="0" i="0">
                <a:solidFill>
                  <a:srgbClr val="000000"/>
                </a:solidFill>
                <a:latin typeface="Latin Modern Sans"/>
              </a:rPr>
              <a:t>, 2015.</a:t>
            </a:r>
          </a:p>
        </p:txBody>
      </p:sp>
      <p:sp>
        <p:nvSpPr>
          <p:cNvPr id="8" name="PDF_TEXT_GROUP_1126"/>
          <p:cNvSpPr txBox="1"/>
          <p:nvPr/>
        </p:nvSpPr>
        <p:spPr>
          <a:xfrm>
            <a:off x="985712" y="3652383"/>
            <a:ext cx="135238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 accessed July 2026.</a:t>
            </a:r>
          </a:p>
        </p:txBody>
      </p:sp>
      <p:sp>
        <p:nvSpPr>
          <p:cNvPr id="9" name="PDF_TEXT_GROUP_1127"/>
          <p:cNvSpPr txBox="1"/>
          <p:nvPr/>
        </p:nvSpPr>
        <p:spPr>
          <a:xfrm>
            <a:off x="985712" y="4068150"/>
            <a:ext cx="1322032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[18]</a:t>
            </a:r>
            <a:r>
              <a:rPr sz="1863" b="0" i="0">
                <a:solidFill>
                  <a:srgbClr val="000000"/>
                </a:solidFill>
                <a:latin typeface="Latin Modern Sans"/>
              </a:rPr>
              <a:t> S. Macenski et al., “Robot Operating System 2: Design, Architecture, and Uses in the Wild,”</a:t>
            </a:r>
            <a:r>
              <a:rPr sz="1863" b="0" i="1">
                <a:solidFill>
                  <a:srgbClr val="000000"/>
                </a:solidFill>
                <a:latin typeface="Latin Modern Sans"/>
              </a:rPr>
              <a:t> Science</a:t>
            </a:r>
          </a:p>
        </p:txBody>
      </p:sp>
      <p:sp>
        <p:nvSpPr>
          <p:cNvPr id="10" name="PDF_TEXT_GROUP_1128"/>
          <p:cNvSpPr txBox="1"/>
          <p:nvPr/>
        </p:nvSpPr>
        <p:spPr>
          <a:xfrm>
            <a:off x="1582632" y="4373981"/>
            <a:ext cx="19207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1">
                <a:solidFill>
                  <a:srgbClr val="000000"/>
                </a:solidFill>
                <a:latin typeface="Latin Modern Sans"/>
              </a:rPr>
              <a:t>Robotics</a:t>
            </a:r>
            <a:r>
              <a:rPr sz="1863" b="0" i="0">
                <a:solidFill>
                  <a:srgbClr val="000000"/>
                </a:solidFill>
                <a:latin typeface="Latin Modern Sans"/>
              </a:rPr>
              <a:t>, 2022.</a:t>
            </a:r>
          </a:p>
        </p:txBody>
      </p:sp>
      <p:sp>
        <p:nvSpPr>
          <p:cNvPr id="11" name="PDF_TEXT_GROUP_1129"/>
          <p:cNvSpPr txBox="1"/>
          <p:nvPr/>
        </p:nvSpPr>
        <p:spPr>
          <a:xfrm>
            <a:off x="985712" y="4789748"/>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1130"/>
          <p:cNvSpPr txBox="1"/>
          <p:nvPr/>
        </p:nvSpPr>
        <p:spPr>
          <a:xfrm>
            <a:off x="1582632" y="5095611"/>
            <a:ext cx="298246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1">
                <a:solidFill>
                  <a:srgbClr val="000000"/>
                </a:solidFill>
                <a:latin typeface="Latin Modern Sans"/>
              </a:rPr>
              <a:t>arXiv:2311.07299</a:t>
            </a:r>
            <a:r>
              <a:rPr sz="1863" b="0" i="0">
                <a:solidFill>
                  <a:srgbClr val="000000"/>
                </a:solidFill>
                <a:latin typeface="Latin Modern Sans"/>
              </a:rPr>
              <a:t>, 2023.</a:t>
            </a:r>
          </a:p>
        </p:txBody>
      </p:sp>
      <p:sp>
        <p:nvSpPr>
          <p:cNvPr id="13" name="PDF_TEXT_GROUP_1131"/>
          <p:cNvSpPr txBox="1"/>
          <p:nvPr/>
        </p:nvSpPr>
        <p:spPr>
          <a:xfrm>
            <a:off x="985712" y="5511378"/>
            <a:ext cx="123355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[20]</a:t>
            </a:r>
            <a:r>
              <a:rPr sz="1863" b="0" i="0">
                <a:solidFill>
                  <a:srgbClr val="000000"/>
                </a:solidFill>
                <a:latin typeface="Latin Modern Sans"/>
              </a:rPr>
              <a:t> C. Marxer et al., “Access-Controlled In-Network Processing of Named Data,”</a:t>
            </a:r>
            <a:r>
              <a:rPr sz="1863" b="0" i="1">
                <a:solidFill>
                  <a:srgbClr val="000000"/>
                </a:solidFill>
                <a:latin typeface="Latin Modern Sans"/>
              </a:rPr>
              <a:t> ACM ICN</a:t>
            </a:r>
            <a:r>
              <a:rPr sz="1863" b="0" i="0">
                <a:solidFill>
                  <a:srgbClr val="000000"/>
                </a:solidFill>
                <a:latin typeface="Latin Modern Sans"/>
              </a:rPr>
              <a:t>, 2016.</a:t>
            </a:r>
          </a:p>
        </p:txBody>
      </p:sp>
      <p:sp>
        <p:nvSpPr>
          <p:cNvPr id="14" name="PDF_TEXT_GROUP_1132"/>
          <p:cNvSpPr txBox="1"/>
          <p:nvPr/>
        </p:nvSpPr>
        <p:spPr>
          <a:xfrm>
            <a:off x="985712" y="5927113"/>
            <a:ext cx="1085037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[21]</a:t>
            </a:r>
            <a:r>
              <a:rPr sz="1863" b="0" i="0">
                <a:solidFill>
                  <a:srgbClr val="000000"/>
                </a:solidFill>
                <a:latin typeface="Latin Modern Sans"/>
              </a:rPr>
              <a:t> S. D. Fu et al., “Toward Data-Centric Service Composition,”</a:t>
            </a:r>
            <a:r>
              <a:rPr sz="1863" b="0" i="1">
                <a:solidFill>
                  <a:srgbClr val="000000"/>
                </a:solidFill>
                <a:latin typeface="Latin Modern Sans"/>
              </a:rPr>
              <a:t> ACM HotNets</a:t>
            </a:r>
            <a:r>
              <a:rPr sz="1863" b="0" i="0">
                <a:solidFill>
                  <a:srgbClr val="000000"/>
                </a:solidFill>
                <a:latin typeface="Latin Modern Sans"/>
              </a:rPr>
              <a:t>, 2024.</a:t>
            </a:r>
          </a:p>
        </p:txBody>
      </p:sp>
      <p:sp>
        <p:nvSpPr>
          <p:cNvPr id="15" name="PDF_TEXT_GROUP_11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136"/>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9" name="PDF_TEXT_GROUP_1137"/>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63/64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4"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1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[22–25]</a:t>
            </a:r>
          </a:p>
        </p:txBody>
      </p:sp>
      <p:sp>
        <p:nvSpPr>
          <p:cNvPr id="4" name="PDF_TEXT_GROUP_1139"/>
          <p:cNvSpPr txBox="1"/>
          <p:nvPr/>
        </p:nvSpPr>
        <p:spPr>
          <a:xfrm>
            <a:off x="985712" y="2647833"/>
            <a:ext cx="1347524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Developers, “Mini-NDN: A Mininet-Based NDN Emulator,” project documentation, accessed</a:t>
            </a:r>
          </a:p>
        </p:txBody>
      </p:sp>
      <p:sp>
        <p:nvSpPr>
          <p:cNvPr id="5" name="PDF_TEXT_GROUP_1140"/>
          <p:cNvSpPr txBox="1"/>
          <p:nvPr/>
        </p:nvSpPr>
        <p:spPr>
          <a:xfrm>
            <a:off x="1582632" y="2953696"/>
            <a:ext cx="165243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August 2026.</a:t>
            </a:r>
          </a:p>
        </p:txBody>
      </p:sp>
      <p:sp>
        <p:nvSpPr>
          <p:cNvPr id="6" name="PDF_TEXT_GROUP_1141"/>
          <p:cNvSpPr txBox="1"/>
          <p:nvPr/>
        </p:nvSpPr>
        <p:spPr>
          <a:xfrm>
            <a:off x="985712" y="3369463"/>
            <a:ext cx="135137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Development Team, “Simulation: Software in the Loop (SITL),”</a:t>
            </a:r>
            <a:r>
              <a:rPr sz="1863" b="0" i="1">
                <a:solidFill>
                  <a:srgbClr val="000000"/>
                </a:solidFill>
                <a:latin typeface="Latin Modern Sans"/>
              </a:rPr>
              <a:t> PX4 User Guide</a:t>
            </a:r>
            <a:r>
              <a:rPr sz="1863" b="0" i="0">
                <a:solidFill>
                  <a:srgbClr val="000000"/>
                </a:solidFill>
                <a:latin typeface="Latin Modern Sans"/>
              </a:rPr>
              <a:t>, accessed August</a:t>
            </a:r>
          </a:p>
        </p:txBody>
      </p:sp>
      <p:sp>
        <p:nvSpPr>
          <p:cNvPr id="7" name="PDF_TEXT_GROUP_1142"/>
          <p:cNvSpPr txBox="1"/>
          <p:nvPr/>
        </p:nvSpPr>
        <p:spPr>
          <a:xfrm>
            <a:off x="1582632" y="3675294"/>
            <a:ext cx="76454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2026.</a:t>
            </a:r>
          </a:p>
        </p:txBody>
      </p:sp>
      <p:sp>
        <p:nvSpPr>
          <p:cNvPr id="8" name="PDF_TEXT_GROUP_1143"/>
          <p:cNvSpPr txBox="1"/>
          <p:nvPr/>
        </p:nvSpPr>
        <p:spPr>
          <a:xfrm>
            <a:off x="985712" y="4091061"/>
            <a:ext cx="1286067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Named Data Networking Project, “Repo Protocol Specification,” repo-ng documentation, accessed</a:t>
            </a:r>
          </a:p>
        </p:txBody>
      </p:sp>
      <p:sp>
        <p:nvSpPr>
          <p:cNvPr id="9" name="PDF_TEXT_GROUP_1144"/>
          <p:cNvSpPr txBox="1"/>
          <p:nvPr/>
        </p:nvSpPr>
        <p:spPr>
          <a:xfrm>
            <a:off x="1582632" y="4396925"/>
            <a:ext cx="165243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August 2026.</a:t>
            </a:r>
          </a:p>
        </p:txBody>
      </p:sp>
      <p:sp>
        <p:nvSpPr>
          <p:cNvPr id="10" name="PDF_TEXT_GROUP_1145"/>
          <p:cNvSpPr txBox="1"/>
          <p:nvPr/>
        </p:nvSpPr>
        <p:spPr>
          <a:xfrm>
            <a:off x="985712" y="4812692"/>
            <a:ext cx="1310002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Project, “Open Neural Network Exchange Intermediate Representation Specification,” ONNX</a:t>
            </a:r>
          </a:p>
        </p:txBody>
      </p:sp>
      <p:sp>
        <p:nvSpPr>
          <p:cNvPr id="11" name="PDF_TEXT_GROUP_1146"/>
          <p:cNvSpPr txBox="1"/>
          <p:nvPr/>
        </p:nvSpPr>
        <p:spPr>
          <a:xfrm>
            <a:off x="1582632" y="5118523"/>
            <a:ext cx="47906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documentation, accessed August 2026.</a:t>
            </a:r>
          </a:p>
        </p:txBody>
      </p:sp>
      <p:sp>
        <p:nvSpPr>
          <p:cNvPr id="12" name="PDF_TEXT_GROUP_114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14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14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150"/>
          <p:cNvSpPr txBox="1"/>
          <p:nvPr/>
        </p:nvSpPr>
        <p:spPr>
          <a:xfrm>
            <a:off x="7924029" y="7853512"/>
            <a:ext cx="13124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June 2026</a:t>
            </a:r>
          </a:p>
        </p:txBody>
      </p:sp>
      <p:sp>
        <p:nvSpPr>
          <p:cNvPr id="16" name="PDF_TEXT_GROUP_1151"/>
          <p:cNvSpPr txBox="1"/>
          <p:nvPr/>
        </p:nvSpPr>
        <p:spPr>
          <a:xfrm>
            <a:off x="11416903"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