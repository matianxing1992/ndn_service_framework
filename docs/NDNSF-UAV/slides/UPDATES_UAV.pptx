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mavsdk.mavlink.io/main/en/cpp/index.html" TargetMode="External"/><Relationship Id="rId4" Type="http://schemas.openxmlformats.org/officeDocument/2006/relationships/hyperlink" Target="https://docs.opencv.org/4.13.0/d9/d0c/group__calib3d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shop.siyi.biz/products/siyi-a8-mini-gimbal-camera" TargetMode="External"/><Relationship Id="rId6" Type="http://schemas.openxmlformats.org/officeDocument/2006/relationships/hyperlink" Target="https://gremsy.com/products/pixy-u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mavlink.io/en/messages/common.html#CAMERA_IMAGE_CAPTURE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XT_FREE_BACKGROUND_1" descr="ppt-background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UAV_SCENE" descr="visual-region-001-uav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88" y="1919981"/>
            <a:ext cx="12230704" cy="4660601"/>
          </a:xfrm>
          <a:prstGeom prst="rect">
            <a:avLst/>
          </a:prstGeom>
        </p:spPr>
      </p:pic>
      <p:sp>
        <p:nvSpPr>
          <p:cNvPr id="4" name="PDF_TEXT_GROUP_1"/>
          <p:cNvSpPr txBox="1"/>
          <p:nvPr/>
        </p:nvSpPr>
        <p:spPr>
          <a:xfrm>
            <a:off x="274320" y="320073"/>
            <a:ext cx="14081760" cy="578331"/>
          </a:xfrm>
          <a:prstGeom prst="rect">
            <a:avLst/>
          </a:prstGeom>
          <a:noFill/>
          <a:ln>
            <a:noFill/>
          </a:ln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57" b="1" i="0">
                <a:solidFill>
                  <a:srgbClr val="143765"/>
                </a:solidFill>
                <a:latin typeface="Latin Modern Sans"/>
              </a:rPr>
              <a:t>What Is Near This Map Pin? Combine Partial Views</a:t>
            </a:r>
          </a:p>
        </p:txBody>
      </p:sp>
      <p:sp>
        <p:nvSpPr>
          <p:cNvPr id="5" name="PDF_TEXT_GROUP_2"/>
          <p:cNvSpPr txBox="1"/>
          <p:nvPr/>
        </p:nvSpPr>
        <p:spPr>
          <a:xfrm>
            <a:off x="1826568" y="1653340"/>
            <a:ext cx="10984028" cy="3855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Request: inspect this approximate region. The target’s identity is unknown.</a:t>
            </a:r>
          </a:p>
        </p:txBody>
      </p:sp>
      <p:sp>
        <p:nvSpPr>
          <p:cNvPr id="6" name="PDF_TEXT_GROUP_3"/>
          <p:cNvSpPr txBox="1"/>
          <p:nvPr/>
        </p:nvSpPr>
        <p:spPr>
          <a:xfrm>
            <a:off x="4963868" y="2104162"/>
            <a:ext cx="2788377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1" i="0">
                <a:solidFill>
                  <a:srgbClr val="143765"/>
                </a:solidFill>
                <a:latin typeface="Latin Modern Sans"/>
              </a:rPr>
              <a:t>UAV B: elevated view</a:t>
            </a:r>
          </a:p>
        </p:txBody>
      </p:sp>
      <p:sp>
        <p:nvSpPr>
          <p:cNvPr id="7" name="PDF_TEXT_GROUP_4"/>
          <p:cNvSpPr txBox="1"/>
          <p:nvPr/>
        </p:nvSpPr>
        <p:spPr>
          <a:xfrm>
            <a:off x="1416738" y="2420496"/>
            <a:ext cx="2929859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1" i="0">
                <a:solidFill>
                  <a:srgbClr val="143765"/>
                </a:solidFill>
                <a:latin typeface="Latin Modern Sans"/>
              </a:rPr>
              <a:t>UAV A: low-angle view</a:t>
            </a:r>
          </a:p>
        </p:txBody>
      </p:sp>
      <p:sp>
        <p:nvSpPr>
          <p:cNvPr id="8" name="PDF_TEXT_GROUP_5"/>
          <p:cNvSpPr txBox="1"/>
          <p:nvPr/>
        </p:nvSpPr>
        <p:spPr>
          <a:xfrm>
            <a:off x="7886339" y="2420496"/>
            <a:ext cx="2798128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1" i="0">
                <a:solidFill>
                  <a:srgbClr val="143765"/>
                </a:solidFill>
                <a:latin typeface="Latin Modern Sans"/>
              </a:rPr>
              <a:t>UAV C: opposite view</a:t>
            </a:r>
          </a:p>
        </p:txBody>
      </p:sp>
      <p:sp>
        <p:nvSpPr>
          <p:cNvPr id="9" name="PDF_TEXT_GROUP_6"/>
          <p:cNvSpPr txBox="1"/>
          <p:nvPr/>
        </p:nvSpPr>
        <p:spPr>
          <a:xfrm>
            <a:off x="10844730" y="2541581"/>
            <a:ext cx="1821517" cy="657639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2E7E52"/>
                </a:solidFill>
                <a:latin typeface="Latin Modern Sans"/>
              </a:rPr>
              <a:t>Images + pose</a:t>
            </a:r>
            <a:br/>
            <a:r>
              <a:rPr sz="1863" b="0" i="0">
                <a:solidFill>
                  <a:srgbClr val="2E7E52"/>
                </a:solidFill>
                <a:latin typeface="Latin Modern Sans"/>
              </a:rPr>
              <a:t>+ timestamps</a:t>
            </a:r>
          </a:p>
        </p:txBody>
      </p:sp>
      <p:sp>
        <p:nvSpPr>
          <p:cNvPr id="10" name="PDF_TEXT_GROUP_7"/>
          <p:cNvSpPr txBox="1"/>
          <p:nvPr/>
        </p:nvSpPr>
        <p:spPr>
          <a:xfrm>
            <a:off x="10308128" y="3849053"/>
            <a:ext cx="2528714" cy="657607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000000"/>
                </a:solidFill>
                <a:latin typeface="Latin Modern Sans"/>
              </a:rPr>
              <a:t>Joint Analyzer</a:t>
            </a:r>
            <a:br/>
            <a:r>
              <a:rPr sz="1863" b="0" i="0">
                <a:solidFill>
                  <a:srgbClr val="000000"/>
                </a:solidFill>
                <a:latin typeface="Latin Modern Sans"/>
              </a:rPr>
              <a:t>Ground node or UAV</a:t>
            </a:r>
          </a:p>
        </p:txBody>
      </p:sp>
      <p:sp>
        <p:nvSpPr>
          <p:cNvPr id="11" name="PDF_TEXT_GROUP_8"/>
          <p:cNvSpPr txBox="1"/>
          <p:nvPr/>
        </p:nvSpPr>
        <p:spPr>
          <a:xfrm>
            <a:off x="5782052" y="4022133"/>
            <a:ext cx="511571" cy="57833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57" b="1" i="0">
                <a:solidFill>
                  <a:srgbClr val="143765"/>
                </a:solidFill>
                <a:latin typeface="Latin Modern Sans"/>
              </a:rPr>
              <a:t>?</a:t>
            </a:r>
          </a:p>
        </p:txBody>
      </p:sp>
      <p:sp>
        <p:nvSpPr>
          <p:cNvPr id="12" name="PDF_TEXT_GROUP_9"/>
          <p:cNvSpPr txBox="1"/>
          <p:nvPr/>
        </p:nvSpPr>
        <p:spPr>
          <a:xfrm>
            <a:off x="4869879" y="5212786"/>
            <a:ext cx="2427292" cy="657607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000000"/>
                </a:solidFill>
                <a:latin typeface="Latin Modern Sans"/>
              </a:rPr>
              <a:t>Approximate region</a:t>
            </a:r>
            <a:br/>
            <a:r>
              <a:rPr sz="1863" b="0" i="0">
                <a:solidFill>
                  <a:srgbClr val="000000"/>
                </a:solidFill>
                <a:latin typeface="Latin Modern Sans"/>
              </a:rPr>
              <a:t>Partly hidden object</a:t>
            </a:r>
          </a:p>
        </p:txBody>
      </p:sp>
      <p:sp>
        <p:nvSpPr>
          <p:cNvPr id="13" name="PDF_TEXT_GROUP_10"/>
          <p:cNvSpPr txBox="1"/>
          <p:nvPr/>
        </p:nvSpPr>
        <p:spPr>
          <a:xfrm>
            <a:off x="10211406" y="5528182"/>
            <a:ext cx="2722219" cy="96347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000000"/>
                </a:solidFill>
                <a:latin typeface="Latin Modern Sans"/>
              </a:rPr>
              <a:t>Operator</a:t>
            </a:r>
            <a:br/>
            <a:r>
              <a:rPr sz="1863" b="0" i="0">
                <a:solidFill>
                  <a:srgbClr val="000000"/>
                </a:solidFill>
                <a:latin typeface="Latin Modern Sans"/>
              </a:rPr>
              <a:t>Hypothesis + evidence</a:t>
            </a:r>
            <a:br/>
            <a:r>
              <a:rPr sz="1863" b="0" i="0">
                <a:solidFill>
                  <a:srgbClr val="000000"/>
                </a:solidFill>
                <a:latin typeface="Latin Modern Sans"/>
              </a:rPr>
              <a:t>or uncertain</a:t>
            </a:r>
          </a:p>
        </p:txBody>
      </p:sp>
      <p:sp>
        <p:nvSpPr>
          <p:cNvPr id="14" name="PDF_TEXT_GROUP_11"/>
          <p:cNvSpPr txBox="1"/>
          <p:nvPr/>
        </p:nvSpPr>
        <p:spPr>
          <a:xfrm>
            <a:off x="2249246" y="5764723"/>
            <a:ext cx="1996743" cy="223169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000000"/>
                </a:solidFill>
                <a:latin typeface="Latin Modern Sans"/>
              </a:rPr>
              <a:t>A: wheel-like feature?</a:t>
            </a:r>
          </a:p>
        </p:txBody>
      </p:sp>
      <p:sp>
        <p:nvSpPr>
          <p:cNvPr id="15" name="PDF_TEXT_GROUP_12"/>
          <p:cNvSpPr txBox="1"/>
          <p:nvPr/>
        </p:nvSpPr>
        <p:spPr>
          <a:xfrm>
            <a:off x="7698949" y="5764723"/>
            <a:ext cx="2075228" cy="223169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000000"/>
                </a:solidFill>
                <a:latin typeface="Latin Modern Sans"/>
              </a:rPr>
              <a:t>C: vehicle-like outline?</a:t>
            </a:r>
          </a:p>
        </p:txBody>
      </p:sp>
      <p:sp>
        <p:nvSpPr>
          <p:cNvPr id="16" name="PDF_TEXT_GROUP_13"/>
          <p:cNvSpPr txBox="1"/>
          <p:nvPr/>
        </p:nvSpPr>
        <p:spPr>
          <a:xfrm>
            <a:off x="5079341" y="6020756"/>
            <a:ext cx="2008494" cy="223169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000000"/>
                </a:solidFill>
                <a:latin typeface="Latin Modern Sans"/>
              </a:rPr>
              <a:t>B: flat upper surface?</a:t>
            </a:r>
          </a:p>
        </p:txBody>
      </p:sp>
      <p:sp>
        <p:nvSpPr>
          <p:cNvPr id="17" name="PDF_TEXT_GROUP_14"/>
          <p:cNvSpPr txBox="1"/>
          <p:nvPr/>
        </p:nvSpPr>
        <p:spPr>
          <a:xfrm>
            <a:off x="654950" y="6835389"/>
            <a:ext cx="13327515" cy="223169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525A67"/>
                </a:solidFill>
                <a:latin typeface="Latin Modern Sans"/>
              </a:rPr>
              <a:t>Evidence: Illustrative clues, not measured detections. Orange: sight lines; green: named-data retrieval. No individual view is assumed sufficient.</a:t>
            </a:r>
          </a:p>
        </p:txBody>
      </p:sp>
      <p:sp>
        <p:nvSpPr>
          <p:cNvPr id="18" name="PDF_TEXT_GROUP_15"/>
          <p:cNvSpPr txBox="1"/>
          <p:nvPr/>
        </p:nvSpPr>
        <p:spPr>
          <a:xfrm>
            <a:off x="245952" y="7853512"/>
            <a:ext cx="6962513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3333B2"/>
                </a:solidFill>
                <a:latin typeface="Latin Modern Sans"/>
              </a:rPr>
              <a:t>NDNSF-UAV: data-driven collaboration work in progress</a:t>
            </a:r>
          </a:p>
        </p:txBody>
      </p:sp>
      <p:sp>
        <p:nvSpPr>
          <p:cNvPr id="19" name="PDF_TEXT_GROUP_16"/>
          <p:cNvSpPr txBox="1"/>
          <p:nvPr/>
        </p:nvSpPr>
        <p:spPr>
          <a:xfrm>
            <a:off x="11417057" y="7853512"/>
            <a:ext cx="551981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262685"/>
                </a:solidFill>
                <a:latin typeface="Latin Modern San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XT_FREE_BACKGROUND_2" descr="ppt-background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ROTOCOL_FLOW" descr="visual-region-002-protocol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02" y="1052893"/>
            <a:ext cx="11843657" cy="1625791"/>
          </a:xfrm>
          <a:prstGeom prst="rect">
            <a:avLst/>
          </a:prstGeom>
        </p:spPr>
      </p:pic>
      <p:sp>
        <p:nvSpPr>
          <p:cNvPr id="4" name="PDF_TEXT_GROUP_17"/>
          <p:cNvSpPr txBox="1"/>
          <p:nvPr/>
        </p:nvSpPr>
        <p:spPr>
          <a:xfrm>
            <a:off x="183009" y="320073"/>
            <a:ext cx="14401670" cy="578331"/>
          </a:xfrm>
          <a:prstGeom prst="rect">
            <a:avLst/>
          </a:prstGeom>
          <a:noFill/>
          <a:ln>
            <a:noFill/>
          </a:ln>
        </p:spPr>
        <p:txBody>
          <a:bodyPr wrap="none" anchor="t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57" b="1" i="0">
                <a:solidFill>
                  <a:srgbClr val="143765"/>
                </a:solidFill>
                <a:latin typeface="Latin Modern Sans"/>
              </a:rPr>
              <a:t>Complementary Evidence Supports a Joint Judgment</a:t>
            </a:r>
          </a:p>
        </p:txBody>
      </p:sp>
      <p:sp>
        <p:nvSpPr>
          <p:cNvPr id="5" name="PDF_TEXT_GROUP_18"/>
          <p:cNvSpPr txBox="1"/>
          <p:nvPr/>
        </p:nvSpPr>
        <p:spPr>
          <a:xfrm>
            <a:off x="1554609" y="1561706"/>
            <a:ext cx="1821132" cy="111102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Request Data</a:t>
            </a:r>
            <a:br/>
            <a:r>
              <a:rPr sz="2202" b="0" i="0">
                <a:solidFill>
                  <a:srgbClr val="000000"/>
                </a:solidFill>
                <a:latin typeface="Latin Modern Sans"/>
              </a:rPr>
              <a:t>Region +</a:t>
            </a:r>
            <a:br/>
            <a:r>
              <a:rPr sz="2202" b="0" i="0">
                <a:solidFill>
                  <a:srgbClr val="000000"/>
                </a:solidFill>
                <a:latin typeface="Latin Modern Sans"/>
              </a:rPr>
              <a:t>question</a:t>
            </a:r>
          </a:p>
        </p:txBody>
      </p:sp>
      <p:sp>
        <p:nvSpPr>
          <p:cNvPr id="6" name="PDF_TEXT_GROUP_19"/>
          <p:cNvSpPr txBox="1"/>
          <p:nvPr/>
        </p:nvSpPr>
        <p:spPr>
          <a:xfrm>
            <a:off x="6265597" y="1561706"/>
            <a:ext cx="1988490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Selection Data</a:t>
            </a:r>
          </a:p>
        </p:txBody>
      </p:sp>
      <p:sp>
        <p:nvSpPr>
          <p:cNvPr id="7" name="PDF_TEXT_GROUP_20"/>
          <p:cNvSpPr txBox="1"/>
          <p:nvPr/>
        </p:nvSpPr>
        <p:spPr>
          <a:xfrm>
            <a:off x="8955418" y="1576571"/>
            <a:ext cx="1571534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Application</a:t>
            </a:r>
          </a:p>
        </p:txBody>
      </p:sp>
      <p:sp>
        <p:nvSpPr>
          <p:cNvPr id="8" name="PDF_TEXT_GROUP_21"/>
          <p:cNvSpPr txBox="1"/>
          <p:nvPr/>
        </p:nvSpPr>
        <p:spPr>
          <a:xfrm>
            <a:off x="11126386" y="1576571"/>
            <a:ext cx="2024372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Response Data</a:t>
            </a:r>
          </a:p>
        </p:txBody>
      </p:sp>
      <p:sp>
        <p:nvSpPr>
          <p:cNvPr id="9" name="PDF_TEXT_GROUP_22"/>
          <p:cNvSpPr txBox="1"/>
          <p:nvPr/>
        </p:nvSpPr>
        <p:spPr>
          <a:xfrm>
            <a:off x="3895946" y="1766972"/>
            <a:ext cx="1933032" cy="75685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ACK Data</a:t>
            </a:r>
            <a:br/>
            <a:r>
              <a:rPr sz="2202" b="0" i="0">
                <a:solidFill>
                  <a:srgbClr val="000000"/>
                </a:solidFill>
                <a:latin typeface="Latin Modern Sans"/>
              </a:rPr>
              <a:t>Provider offers</a:t>
            </a:r>
          </a:p>
        </p:txBody>
      </p:sp>
      <p:sp>
        <p:nvSpPr>
          <p:cNvPr id="10" name="PDF_TEXT_GROUP_23"/>
          <p:cNvSpPr txBox="1"/>
          <p:nvPr/>
        </p:nvSpPr>
        <p:spPr>
          <a:xfrm>
            <a:off x="6651227" y="1915848"/>
            <a:ext cx="1217227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Views +</a:t>
            </a:r>
          </a:p>
        </p:txBody>
      </p:sp>
      <p:sp>
        <p:nvSpPr>
          <p:cNvPr id="11" name="PDF_TEXT_GROUP_24"/>
          <p:cNvSpPr txBox="1"/>
          <p:nvPr/>
        </p:nvSpPr>
        <p:spPr>
          <a:xfrm>
            <a:off x="9072601" y="1930713"/>
            <a:ext cx="1337316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Associate</a:t>
            </a:r>
          </a:p>
        </p:txBody>
      </p:sp>
      <p:sp>
        <p:nvSpPr>
          <p:cNvPr id="12" name="PDF_TEXT_GROUP_25"/>
          <p:cNvSpPr txBox="1"/>
          <p:nvPr/>
        </p:nvSpPr>
        <p:spPr>
          <a:xfrm>
            <a:off x="11441693" y="1930713"/>
            <a:ext cx="1393773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Judgment</a:t>
            </a:r>
          </a:p>
        </p:txBody>
      </p:sp>
      <p:sp>
        <p:nvSpPr>
          <p:cNvPr id="13" name="PDF_TEXT_GROUP_26"/>
          <p:cNvSpPr txBox="1"/>
          <p:nvPr/>
        </p:nvSpPr>
        <p:spPr>
          <a:xfrm>
            <a:off x="6642804" y="2269990"/>
            <a:ext cx="1234184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Analyzer</a:t>
            </a:r>
          </a:p>
        </p:txBody>
      </p:sp>
      <p:sp>
        <p:nvSpPr>
          <p:cNvPr id="14" name="PDF_TEXT_GROUP_27"/>
          <p:cNvSpPr txBox="1"/>
          <p:nvPr/>
        </p:nvSpPr>
        <p:spPr>
          <a:xfrm>
            <a:off x="9217442" y="2284823"/>
            <a:ext cx="1047655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+ infer</a:t>
            </a:r>
          </a:p>
        </p:txBody>
      </p:sp>
      <p:sp>
        <p:nvSpPr>
          <p:cNvPr id="15" name="PDF_TEXT_GROUP_28"/>
          <p:cNvSpPr txBox="1"/>
          <p:nvPr/>
        </p:nvSpPr>
        <p:spPr>
          <a:xfrm>
            <a:off x="11367433" y="2284823"/>
            <a:ext cx="1542452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+ evidence</a:t>
            </a:r>
          </a:p>
        </p:txBody>
      </p:sp>
      <p:sp>
        <p:nvSpPr>
          <p:cNvPr id="16" name="PDF_TEXT_GROUP_29"/>
          <p:cNvSpPr txBox="1"/>
          <p:nvPr/>
        </p:nvSpPr>
        <p:spPr>
          <a:xfrm>
            <a:off x="1618972" y="3223151"/>
            <a:ext cx="10367557" cy="440633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0" b="1" i="0">
                <a:solidFill>
                  <a:srgbClr val="000000"/>
                </a:solidFill>
                <a:latin typeface="Latin Modern Sans"/>
              </a:rPr>
              <a:t>Cameras</a:t>
            </a:r>
            <a:r>
              <a:rPr sz="2710" b="0" i="0">
                <a:solidFill>
                  <a:srgbClr val="000000"/>
                </a:solidFill>
                <a:latin typeface="Latin Modern Sans"/>
              </a:rPr>
              <a:t>: receive a region and viewpoint, without a target class.</a:t>
            </a:r>
          </a:p>
        </p:txBody>
      </p:sp>
      <p:sp>
        <p:nvSpPr>
          <p:cNvPr id="17" name="PDF_TEXT_GROUP_30"/>
          <p:cNvSpPr txBox="1"/>
          <p:nvPr/>
        </p:nvSpPr>
        <p:spPr>
          <a:xfrm>
            <a:off x="1618972" y="3757579"/>
            <a:ext cx="13011427" cy="440633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0" b="1" i="0">
                <a:solidFill>
                  <a:srgbClr val="000000"/>
                </a:solidFill>
                <a:latin typeface="Latin Modern Sans"/>
              </a:rPr>
              <a:t>Analyzer</a:t>
            </a:r>
            <a:r>
              <a:rPr sz="2710" b="0" i="0">
                <a:solidFill>
                  <a:srgbClr val="000000"/>
                </a:solidFill>
                <a:latin typeface="Latin Modern Sans"/>
              </a:rPr>
              <a:t>: match the same object across views and combine complementary cues.</a:t>
            </a:r>
          </a:p>
        </p:txBody>
      </p:sp>
      <p:sp>
        <p:nvSpPr>
          <p:cNvPr id="18" name="PDF_TEXT_GROUP_31"/>
          <p:cNvSpPr txBox="1"/>
          <p:nvPr/>
        </p:nvSpPr>
        <p:spPr>
          <a:xfrm>
            <a:off x="1618972" y="4292008"/>
            <a:ext cx="11295208" cy="440633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0" b="1" i="0">
                <a:solidFill>
                  <a:srgbClr val="000000"/>
                </a:solidFill>
                <a:latin typeface="Latin Modern Sans"/>
              </a:rPr>
              <a:t>NDNSF</a:t>
            </a:r>
            <a:r>
              <a:rPr sz="2710" b="0" i="0">
                <a:solidFill>
                  <a:srgbClr val="000000"/>
                </a:solidFill>
                <a:latin typeface="Latin Modern Sans"/>
              </a:rPr>
              <a:t>: select Providers, assign roles and retrieve protected evidence.</a:t>
            </a:r>
          </a:p>
        </p:txBody>
      </p:sp>
      <p:sp>
        <p:nvSpPr>
          <p:cNvPr id="19" name="PDF_TEXT_GROUP_32"/>
          <p:cNvSpPr txBox="1"/>
          <p:nvPr/>
        </p:nvSpPr>
        <p:spPr>
          <a:xfrm>
            <a:off x="914808" y="5044823"/>
            <a:ext cx="1758684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0" i="0">
                <a:solidFill>
                  <a:srgbClr val="FFFFFF"/>
                </a:solidFill>
                <a:latin typeface="Latin Modern Sans"/>
              </a:rPr>
              <a:t>Key point</a:t>
            </a:r>
          </a:p>
        </p:txBody>
      </p:sp>
      <p:sp>
        <p:nvSpPr>
          <p:cNvPr id="20" name="PDF_TEXT_GROUP_33"/>
          <p:cNvSpPr txBox="1"/>
          <p:nvPr/>
        </p:nvSpPr>
        <p:spPr>
          <a:xfrm>
            <a:off x="914808" y="5693938"/>
            <a:ext cx="12292800" cy="92989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0" b="0" i="0">
                <a:solidFill>
                  <a:srgbClr val="000000"/>
                </a:solidFill>
                <a:latin typeface="Latin Modern Sans"/>
              </a:rPr>
              <a:t>Multiple views can reduce ambiguity. Multiple UAVs add parallel capture; compare</a:t>
            </a:r>
            <a:r>
              <a:rPr sz="2710" b="0" i="0">
                <a:solidFill>
                  <a:srgbClr val="000000"/>
                </a:solidFill>
                <a:latin typeface="Latin Modern Sans"/>
              </a:rPr>
              <a:t> against one UAV changing viewpoint.</a:t>
            </a:r>
          </a:p>
        </p:txBody>
      </p:sp>
      <p:sp>
        <p:nvSpPr>
          <p:cNvPr id="21" name="PDF_TEXT_GROUP_34"/>
          <p:cNvSpPr txBox="1"/>
          <p:nvPr/>
        </p:nvSpPr>
        <p:spPr>
          <a:xfrm>
            <a:off x="2388294" y="6962873"/>
            <a:ext cx="10649807" cy="223169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525A67"/>
                </a:solidFill>
                <a:latin typeface="Latin Modern Sans"/>
              </a:rPr>
              <a:t>Evidence: Proposed workflow. Conflicting or insufficient evidence yields uncertainty. Three cameras are illustrative.</a:t>
            </a:r>
          </a:p>
        </p:txBody>
      </p:sp>
      <p:sp>
        <p:nvSpPr>
          <p:cNvPr id="22" name="PDF_TEXT_GROUP_35"/>
          <p:cNvSpPr txBox="1"/>
          <p:nvPr/>
        </p:nvSpPr>
        <p:spPr>
          <a:xfrm>
            <a:off x="245952" y="7853512"/>
            <a:ext cx="6962513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3333B2"/>
                </a:solidFill>
                <a:latin typeface="Latin Modern Sans"/>
              </a:rPr>
              <a:t>NDNSF-UAV: data-driven collaboration work in progress</a:t>
            </a:r>
          </a:p>
        </p:txBody>
      </p:sp>
      <p:sp>
        <p:nvSpPr>
          <p:cNvPr id="23" name="PDF_TEXT_GROUP_36"/>
          <p:cNvSpPr txBox="1"/>
          <p:nvPr/>
        </p:nvSpPr>
        <p:spPr>
          <a:xfrm>
            <a:off x="11417057" y="7853512"/>
            <a:ext cx="551981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262685"/>
                </a:solidFill>
                <a:latin typeface="Latin Modern Sans"/>
              </a:rPr>
              <a:t>2/5</a:t>
            </a:r>
          </a:p>
        </p:txBody>
      </p:sp>
      <p:sp>
        <p:nvSpPr>
          <p:cNvPr id="24" name="PDF_BULLET_SPAN_37"/>
          <p:cNvSpPr/>
          <p:nvPr/>
        </p:nvSpPr>
        <p:spPr>
          <a:xfrm rot="5400000">
            <a:off x="1207424" y="3308942"/>
            <a:ext cx="197164" cy="197164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DF_BULLET_SPAN_40"/>
          <p:cNvSpPr/>
          <p:nvPr/>
        </p:nvSpPr>
        <p:spPr>
          <a:xfrm rot="5400000">
            <a:off x="1207424" y="3843370"/>
            <a:ext cx="197164" cy="197164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DF_BULLET_SPAN_43"/>
          <p:cNvSpPr/>
          <p:nvPr/>
        </p:nvSpPr>
        <p:spPr>
          <a:xfrm rot="5400000">
            <a:off x="1207424" y="4377799"/>
            <a:ext cx="197164" cy="197164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XT_FREE_BACKGROUND_3" descr="background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PDF_TEXT_GROUP_37"/>
          <p:cNvSpPr txBox="1"/>
          <p:nvPr/>
        </p:nvSpPr>
        <p:spPr>
          <a:xfrm>
            <a:off x="183009" y="320073"/>
            <a:ext cx="14401670" cy="578331"/>
          </a:xfrm>
          <a:prstGeom prst="rect">
            <a:avLst/>
          </a:prstGeom>
          <a:noFill/>
          <a:ln>
            <a:noFill/>
          </a:ln>
        </p:spPr>
        <p:txBody>
          <a:bodyPr wrap="none" anchor="t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57" b="1" i="0">
                <a:solidFill>
                  <a:srgbClr val="143765"/>
                </a:solidFill>
                <a:latin typeface="Latin Modern Sans"/>
              </a:rPr>
              <a:t>Three Gaps Between Simulation and the Field</a:t>
            </a:r>
          </a:p>
        </p:txBody>
      </p:sp>
      <p:sp>
        <p:nvSpPr>
          <p:cNvPr id="4" name="PDF_TEXT_GROUP_38"/>
          <p:cNvSpPr txBox="1"/>
          <p:nvPr/>
        </p:nvSpPr>
        <p:spPr>
          <a:xfrm>
            <a:off x="1107736" y="1288566"/>
            <a:ext cx="765706" cy="3855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1" i="0">
                <a:solidFill>
                  <a:srgbClr val="000000"/>
                </a:solidFill>
                <a:latin typeface="Latin Modern Sans"/>
              </a:rPr>
              <a:t>Gap</a:t>
            </a:r>
          </a:p>
        </p:txBody>
      </p:sp>
      <p:sp>
        <p:nvSpPr>
          <p:cNvPr id="5" name="PDF_TEXT_GROUP_39"/>
          <p:cNvSpPr txBox="1"/>
          <p:nvPr/>
        </p:nvSpPr>
        <p:spPr>
          <a:xfrm>
            <a:off x="4054939" y="1288566"/>
            <a:ext cx="2972827" cy="3855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1" i="0">
                <a:solidFill>
                  <a:srgbClr val="000000"/>
                </a:solidFill>
                <a:latin typeface="Latin Modern Sans"/>
              </a:rPr>
              <a:t>Simplified example</a:t>
            </a:r>
          </a:p>
        </p:txBody>
      </p:sp>
      <p:sp>
        <p:nvSpPr>
          <p:cNvPr id="6" name="PDF_TEXT_GROUP_40"/>
          <p:cNvSpPr txBox="1"/>
          <p:nvPr/>
        </p:nvSpPr>
        <p:spPr>
          <a:xfrm>
            <a:off x="8027091" y="1288566"/>
            <a:ext cx="3661481" cy="3855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1" i="0">
                <a:solidFill>
                  <a:srgbClr val="000000"/>
                </a:solidFill>
                <a:latin typeface="Latin Modern Sans"/>
              </a:rPr>
              <a:t>Real deployment needs</a:t>
            </a:r>
          </a:p>
        </p:txBody>
      </p:sp>
      <p:sp>
        <p:nvSpPr>
          <p:cNvPr id="7" name="PDF_TEXT_GROUP_41"/>
          <p:cNvSpPr txBox="1"/>
          <p:nvPr/>
        </p:nvSpPr>
        <p:spPr>
          <a:xfrm>
            <a:off x="1107736" y="1880936"/>
            <a:ext cx="2754966" cy="3855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Position / pointing</a:t>
            </a:r>
          </a:p>
        </p:txBody>
      </p:sp>
      <p:sp>
        <p:nvSpPr>
          <p:cNvPr id="8" name="PDF_TEXT_GROUP_42"/>
          <p:cNvSpPr txBox="1"/>
          <p:nvPr/>
        </p:nvSpPr>
        <p:spPr>
          <a:xfrm>
            <a:off x="4055030" y="1880936"/>
            <a:ext cx="3263604" cy="8288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Known coordinates; assigned views</a:t>
            </a:r>
          </a:p>
        </p:txBody>
      </p:sp>
      <p:sp>
        <p:nvSpPr>
          <p:cNvPr id="9" name="PDF_TEXT_GROUP_43"/>
          <p:cNvSpPr txBox="1"/>
          <p:nvPr/>
        </p:nvSpPr>
        <p:spPr>
          <a:xfrm>
            <a:off x="8026958" y="1880936"/>
            <a:ext cx="5176528" cy="121520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GPS + IMU, camera-to-body calibration, coordinate frames, synchronized pose and exposure</a:t>
            </a:r>
          </a:p>
        </p:txBody>
      </p:sp>
      <p:sp>
        <p:nvSpPr>
          <p:cNvPr id="10" name="PDF_TEXT_GROUP_44"/>
          <p:cNvSpPr txBox="1"/>
          <p:nvPr/>
        </p:nvSpPr>
        <p:spPr>
          <a:xfrm>
            <a:off x="1107736" y="3233100"/>
            <a:ext cx="1827116" cy="3855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Useful views</a:t>
            </a:r>
          </a:p>
        </p:txBody>
      </p:sp>
      <p:sp>
        <p:nvSpPr>
          <p:cNvPr id="11" name="PDF_TEXT_GROUP_45"/>
          <p:cNvSpPr txBox="1"/>
          <p:nvPr/>
        </p:nvSpPr>
        <p:spPr>
          <a:xfrm>
            <a:off x="4055003" y="3233100"/>
            <a:ext cx="3265970" cy="3855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Target assumed visible</a:t>
            </a:r>
          </a:p>
        </p:txBody>
      </p:sp>
      <p:sp>
        <p:nvSpPr>
          <p:cNvPr id="12" name="PDF_TEXT_GROUP_46"/>
          <p:cNvSpPr txBox="1"/>
          <p:nvPr/>
        </p:nvSpPr>
        <p:spPr>
          <a:xfrm>
            <a:off x="8026898" y="3233100"/>
            <a:ext cx="5451430" cy="828877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Region search, camera control, visibility</a:t>
            </a:r>
            <a:r>
              <a:rPr sz="2371" b="0" i="0">
                <a:solidFill>
                  <a:srgbClr val="000000"/>
                </a:solidFill>
                <a:latin typeface="Latin Modern Sans"/>
              </a:rPr>
              <a:t> checks and complementary viewpoints</a:t>
            </a:r>
          </a:p>
        </p:txBody>
      </p:sp>
      <p:sp>
        <p:nvSpPr>
          <p:cNvPr id="13" name="PDF_TEXT_GROUP_47"/>
          <p:cNvSpPr txBox="1"/>
          <p:nvPr/>
        </p:nvSpPr>
        <p:spPr>
          <a:xfrm>
            <a:off x="1107736" y="4198936"/>
            <a:ext cx="2218794" cy="3855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Joint judgment</a:t>
            </a:r>
          </a:p>
        </p:txBody>
      </p:sp>
      <p:sp>
        <p:nvSpPr>
          <p:cNvPr id="14" name="PDF_TEXT_GROUP_48"/>
          <p:cNvSpPr txBox="1"/>
          <p:nvPr/>
        </p:nvSpPr>
        <p:spPr>
          <a:xfrm>
            <a:off x="4055068" y="4198936"/>
            <a:ext cx="3609533" cy="38555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Views assumed to match</a:t>
            </a:r>
          </a:p>
        </p:txBody>
      </p:sp>
      <p:sp>
        <p:nvSpPr>
          <p:cNvPr id="15" name="PDF_TEXT_GROUP_49"/>
          <p:cNvSpPr txBox="1"/>
          <p:nvPr/>
        </p:nvSpPr>
        <p:spPr>
          <a:xfrm>
            <a:off x="8026958" y="4198936"/>
            <a:ext cx="5223117" cy="121520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Same-object association, time alignment, multi-view inference and uncertainty checks</a:t>
            </a:r>
          </a:p>
        </p:txBody>
      </p:sp>
      <p:sp>
        <p:nvSpPr>
          <p:cNvPr id="16" name="PDF_TEXT_GROUP_50"/>
          <p:cNvSpPr txBox="1"/>
          <p:nvPr/>
        </p:nvSpPr>
        <p:spPr>
          <a:xfrm>
            <a:off x="914808" y="5701726"/>
            <a:ext cx="1758684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0" i="0">
                <a:solidFill>
                  <a:srgbClr val="FFFFFF"/>
                </a:solidFill>
                <a:latin typeface="Latin Modern Sans"/>
              </a:rPr>
              <a:t>Key point</a:t>
            </a:r>
          </a:p>
        </p:txBody>
      </p:sp>
      <p:sp>
        <p:nvSpPr>
          <p:cNvPr id="17" name="PDF_TEXT_GROUP_51"/>
          <p:cNvSpPr txBox="1"/>
          <p:nvPr/>
        </p:nvSpPr>
        <p:spPr>
          <a:xfrm>
            <a:off x="914808" y="6320557"/>
            <a:ext cx="12797702" cy="8288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1" b="0" i="0">
                <a:solidFill>
                  <a:srgbClr val="000000"/>
                </a:solidFill>
                <a:latin typeface="Latin Modern Sans"/>
              </a:rPr>
              <a:t>Nearby images may show different objects. Validate cross-view association and joint judgment</a:t>
            </a:r>
            <a:r>
              <a:rPr sz="2371" b="0" i="0">
                <a:solidFill>
                  <a:srgbClr val="000000"/>
                </a:solidFill>
                <a:latin typeface="Latin Modern Sans"/>
              </a:rPr>
              <a:t> against ground truth.</a:t>
            </a:r>
          </a:p>
        </p:txBody>
      </p:sp>
      <p:sp>
        <p:nvSpPr>
          <p:cNvPr id="18" name="PDF_TEXT_GROUP_52"/>
          <p:cNvSpPr txBox="1"/>
          <p:nvPr/>
        </p:nvSpPr>
        <p:spPr>
          <a:xfrm>
            <a:off x="914808" y="7449087"/>
            <a:ext cx="13403417" cy="223169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525A67"/>
                </a:solidFill>
                <a:latin typeface="Latin Modern Sans"/>
              </a:rPr>
              <a:t>Evidence: Candidate tools: </a:t>
            </a:r>
            <a:r>
              <a:rPr sz="1355" b="0" i="0">
                <a:solidFill>
                  <a:srgbClr val="525A67"/>
                </a:solidFill>
                <a:latin typeface="Latin Modern Sans"/>
                <a:hlinkClick r:id="rId3"/>
              </a:rPr>
              <a:t>MAVSDK control/telemetry</a:t>
            </a:r>
            <a:r>
              <a:rPr sz="1355" b="0" i="0">
                <a:solidFill>
                  <a:srgbClr val="525A67"/>
                </a:solidFill>
                <a:latin typeface="Latin Modern Sans"/>
              </a:rPr>
              <a:t>; </a:t>
            </a:r>
            <a:r>
              <a:rPr sz="1355" b="0" i="0">
                <a:solidFill>
                  <a:srgbClr val="525A67"/>
                </a:solidFill>
                <a:latin typeface="Latin Modern Sans"/>
                <a:hlinkClick r:id="rId4"/>
              </a:rPr>
              <a:t>OpenCV calibration/geometry</a:t>
            </a:r>
            <a:r>
              <a:rPr sz="1355" b="0" i="0">
                <a:solidFill>
                  <a:srgbClr val="525A67"/>
                </a:solidFill>
                <a:latin typeface="Latin Modern Sans"/>
              </a:rPr>
              <a:t>. Hardware support and integration remain to be verified.</a:t>
            </a:r>
          </a:p>
        </p:txBody>
      </p:sp>
      <p:sp>
        <p:nvSpPr>
          <p:cNvPr id="19" name="PDF_TEXT_GROUP_53"/>
          <p:cNvSpPr txBox="1"/>
          <p:nvPr/>
        </p:nvSpPr>
        <p:spPr>
          <a:xfrm>
            <a:off x="245952" y="7853512"/>
            <a:ext cx="6962513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3333B2"/>
                </a:solidFill>
                <a:latin typeface="Latin Modern Sans"/>
              </a:rPr>
              <a:t>NDNSF-UAV: data-driven collaboration work in progress</a:t>
            </a:r>
          </a:p>
        </p:txBody>
      </p:sp>
      <p:sp>
        <p:nvSpPr>
          <p:cNvPr id="20" name="PDF_TEXT_GROUP_54"/>
          <p:cNvSpPr txBox="1"/>
          <p:nvPr/>
        </p:nvSpPr>
        <p:spPr>
          <a:xfrm>
            <a:off x="11417057" y="7853512"/>
            <a:ext cx="551981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262685"/>
                </a:solidFill>
                <a:latin typeface="Latin Modern San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XT_FREE_BACKGROUND_4" descr="ppt-background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SIYI_PHOTO" descr="visual-region-004-siyi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520" y="2074819"/>
            <a:ext cx="2028129" cy="2028368"/>
          </a:xfrm>
          <a:prstGeom prst="rect">
            <a:avLst/>
          </a:prstGeom>
        </p:spPr>
      </p:pic>
      <p:pic>
        <p:nvPicPr>
          <p:cNvPr id="4" name="GREMSY_PHOTO" descr="visual-region-004-gremsy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003" y="2074819"/>
            <a:ext cx="2051352" cy="2624491"/>
          </a:xfrm>
          <a:prstGeom prst="rect">
            <a:avLst/>
          </a:prstGeom>
        </p:spPr>
      </p:pic>
      <p:sp>
        <p:nvSpPr>
          <p:cNvPr id="5" name="PDF_TEXT_GROUP_55"/>
          <p:cNvSpPr txBox="1"/>
          <p:nvPr/>
        </p:nvSpPr>
        <p:spPr>
          <a:xfrm>
            <a:off x="183009" y="320073"/>
            <a:ext cx="14401670" cy="578331"/>
          </a:xfrm>
          <a:prstGeom prst="rect">
            <a:avLst/>
          </a:prstGeom>
          <a:noFill/>
          <a:ln>
            <a:noFill/>
          </a:ln>
        </p:spPr>
        <p:txBody>
          <a:bodyPr wrap="none" anchor="t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57" b="1" i="0">
                <a:solidFill>
                  <a:srgbClr val="143765"/>
                </a:solidFill>
                <a:latin typeface="Latin Modern Sans"/>
              </a:rPr>
              <a:t>Optional Gimbal Upgrade: Not the Current Setup</a:t>
            </a:r>
          </a:p>
        </p:txBody>
      </p:sp>
      <p:sp>
        <p:nvSpPr>
          <p:cNvPr id="6" name="PDF_TEXT_GROUP_56"/>
          <p:cNvSpPr txBox="1"/>
          <p:nvPr/>
        </p:nvSpPr>
        <p:spPr>
          <a:xfrm>
            <a:off x="2838631" y="1705953"/>
            <a:ext cx="2519192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143765"/>
                </a:solidFill>
                <a:latin typeface="Latin Modern Sans"/>
              </a:rPr>
              <a:t>SIYI A8 mini</a:t>
            </a:r>
          </a:p>
        </p:txBody>
      </p:sp>
      <p:sp>
        <p:nvSpPr>
          <p:cNvPr id="7" name="PDF_TEXT_GROUP_57"/>
          <p:cNvSpPr txBox="1"/>
          <p:nvPr/>
        </p:nvSpPr>
        <p:spPr>
          <a:xfrm>
            <a:off x="9325072" y="1705953"/>
            <a:ext cx="2866323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143765"/>
                </a:solidFill>
                <a:latin typeface="Latin Modern Sans"/>
              </a:rPr>
              <a:t>Gremsy Pixy U</a:t>
            </a:r>
          </a:p>
        </p:txBody>
      </p:sp>
      <p:sp>
        <p:nvSpPr>
          <p:cNvPr id="8" name="PDF_TEXT_GROUP_58"/>
          <p:cNvSpPr txBox="1"/>
          <p:nvPr/>
        </p:nvSpPr>
        <p:spPr>
          <a:xfrm>
            <a:off x="1618972" y="4804664"/>
            <a:ext cx="5415066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Camera + three-axis gimbal in one unit.</a:t>
            </a:r>
          </a:p>
        </p:txBody>
      </p:sp>
      <p:sp>
        <p:nvSpPr>
          <p:cNvPr id="9" name="PDF_TEXT_GROUP_59"/>
          <p:cNvSpPr txBox="1"/>
          <p:nvPr/>
        </p:nvSpPr>
        <p:spPr>
          <a:xfrm>
            <a:off x="8278945" y="4879635"/>
            <a:ext cx="5264024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Gimbal only; add a compatible camera.</a:t>
            </a:r>
          </a:p>
        </p:txBody>
      </p:sp>
      <p:sp>
        <p:nvSpPr>
          <p:cNvPr id="10" name="PDF_TEXT_GROUP_60"/>
          <p:cNvSpPr txBox="1"/>
          <p:nvPr/>
        </p:nvSpPr>
        <p:spPr>
          <a:xfrm>
            <a:off x="1618972" y="5239270"/>
            <a:ext cx="5260290" cy="74079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Ethernet UDP / UART control; Ethernet</a:t>
            </a:r>
            <a:r>
              <a:rPr sz="2202" b="0" i="0">
                <a:solidFill>
                  <a:srgbClr val="000000"/>
                </a:solidFill>
                <a:latin typeface="Latin Modern Sans"/>
              </a:rPr>
              <a:t> video.</a:t>
            </a:r>
          </a:p>
        </p:txBody>
      </p:sp>
      <p:sp>
        <p:nvSpPr>
          <p:cNvPr id="11" name="PDF_TEXT_GROUP_61"/>
          <p:cNvSpPr txBox="1"/>
          <p:nvPr/>
        </p:nvSpPr>
        <p:spPr>
          <a:xfrm>
            <a:off x="8278945" y="5314242"/>
            <a:ext cx="5019706" cy="74079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0" i="0">
                <a:solidFill>
                  <a:srgbClr val="000000"/>
                </a:solidFill>
                <a:latin typeface="Latin Modern Sans"/>
              </a:rPr>
              <a:t>SDK / MAVLink control; verify camera</a:t>
            </a:r>
            <a:r>
              <a:rPr sz="2202" b="0" i="0">
                <a:solidFill>
                  <a:srgbClr val="000000"/>
                </a:solidFill>
                <a:latin typeface="Latin Modern Sans"/>
              </a:rPr>
              <a:t> support.</a:t>
            </a:r>
          </a:p>
        </p:txBody>
      </p:sp>
      <p:sp>
        <p:nvSpPr>
          <p:cNvPr id="12" name="PDF_TEXT_GROUP_62"/>
          <p:cNvSpPr txBox="1"/>
          <p:nvPr/>
        </p:nvSpPr>
        <p:spPr>
          <a:xfrm>
            <a:off x="914808" y="6120732"/>
            <a:ext cx="10193535" cy="35801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2" b="1" i="0">
                <a:solidFill>
                  <a:srgbClr val="000000"/>
                </a:solidFill>
                <a:latin typeface="Latin Modern Sans"/>
              </a:rPr>
              <a:t>Current choice:</a:t>
            </a:r>
            <a:r>
              <a:rPr sz="2202" b="0" i="0">
                <a:solidFill>
                  <a:srgbClr val="000000"/>
                </a:solidFill>
                <a:latin typeface="Latin Modern Sans"/>
              </a:rPr>
              <a:t> fixed camera. Gimbal hardware is a possible later upgrade.</a:t>
            </a:r>
          </a:p>
        </p:txBody>
      </p:sp>
      <p:sp>
        <p:nvSpPr>
          <p:cNvPr id="13" name="PDF_TEXT_GROUP_63"/>
          <p:cNvSpPr txBox="1"/>
          <p:nvPr/>
        </p:nvSpPr>
        <p:spPr>
          <a:xfrm>
            <a:off x="914808" y="6525778"/>
            <a:ext cx="13715591" cy="223169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525A67"/>
                </a:solidFill>
                <a:latin typeface="Latin Modern Sans"/>
              </a:rPr>
              <a:t>Evidence: Product images: </a:t>
            </a:r>
            <a:r>
              <a:rPr sz="1355" b="0" i="0">
                <a:solidFill>
                  <a:srgbClr val="525A67"/>
                </a:solidFill>
                <a:latin typeface="Latin Modern Sans"/>
                <a:hlinkClick r:id="rId5"/>
              </a:rPr>
              <a:t>SIYI official store</a:t>
            </a:r>
            <a:r>
              <a:rPr sz="1355" b="0" i="0">
                <a:solidFill>
                  <a:srgbClr val="525A67"/>
                </a:solidFill>
                <a:latin typeface="Latin Modern Sans"/>
              </a:rPr>
              <a:t> and </a:t>
            </a:r>
            <a:r>
              <a:rPr sz="1355" b="0" i="0">
                <a:solidFill>
                  <a:srgbClr val="525A67"/>
                </a:solidFill>
                <a:latin typeface="Latin Modern Sans"/>
                <a:hlinkClick r:id="rId6"/>
              </a:rPr>
              <a:t>Gremsy official site</a:t>
            </a:r>
            <a:r>
              <a:rPr sz="1355" b="0" i="0">
                <a:solidFill>
                  <a:srgbClr val="525A67"/>
                </a:solidFill>
                <a:latin typeface="Latin Modern Sans"/>
              </a:rPr>
              <a:t>. Images not to scale. Candidate hardware; verify power, payload and mounting</a:t>
            </a:r>
          </a:p>
        </p:txBody>
      </p:sp>
      <p:sp>
        <p:nvSpPr>
          <p:cNvPr id="14" name="PDF_TEXT_GROUP_64"/>
          <p:cNvSpPr txBox="1"/>
          <p:nvPr/>
        </p:nvSpPr>
        <p:spPr>
          <a:xfrm>
            <a:off x="914808" y="6863827"/>
            <a:ext cx="1491041" cy="223169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525A67"/>
                </a:solidFill>
                <a:latin typeface="Latin Modern Sans"/>
              </a:rPr>
              <a:t>before selection.</a:t>
            </a:r>
          </a:p>
        </p:txBody>
      </p:sp>
      <p:sp>
        <p:nvSpPr>
          <p:cNvPr id="15" name="PDF_TEXT_GROUP_65"/>
          <p:cNvSpPr txBox="1"/>
          <p:nvPr/>
        </p:nvSpPr>
        <p:spPr>
          <a:xfrm>
            <a:off x="245952" y="7853512"/>
            <a:ext cx="6962513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3333B2"/>
                </a:solidFill>
                <a:latin typeface="Latin Modern Sans"/>
              </a:rPr>
              <a:t>NDNSF-UAV: data-driven collaboration work in progress</a:t>
            </a:r>
          </a:p>
        </p:txBody>
      </p:sp>
      <p:sp>
        <p:nvSpPr>
          <p:cNvPr id="16" name="PDF_TEXT_GROUP_66"/>
          <p:cNvSpPr txBox="1"/>
          <p:nvPr/>
        </p:nvSpPr>
        <p:spPr>
          <a:xfrm>
            <a:off x="11417057" y="7853512"/>
            <a:ext cx="551981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262685"/>
                </a:solidFill>
                <a:latin typeface="Latin Modern Sans"/>
              </a:rPr>
              <a:t>4/5</a:t>
            </a:r>
          </a:p>
        </p:txBody>
      </p:sp>
      <p:sp>
        <p:nvSpPr>
          <p:cNvPr id="17" name="PDF_BULLET_SPAN_79"/>
          <p:cNvSpPr/>
          <p:nvPr/>
        </p:nvSpPr>
        <p:spPr>
          <a:xfrm rot="5400000">
            <a:off x="1249362" y="4875177"/>
            <a:ext cx="162053" cy="162053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DF_BULLET_SPAN_81"/>
          <p:cNvSpPr/>
          <p:nvPr/>
        </p:nvSpPr>
        <p:spPr>
          <a:xfrm rot="5400000">
            <a:off x="1249362" y="5309784"/>
            <a:ext cx="162053" cy="162053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DF_BULLET_SPAN_85"/>
          <p:cNvSpPr/>
          <p:nvPr/>
        </p:nvSpPr>
        <p:spPr>
          <a:xfrm rot="5400000">
            <a:off x="7909335" y="4950148"/>
            <a:ext cx="162053" cy="162053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DF_BULLET_SPAN_87"/>
          <p:cNvSpPr/>
          <p:nvPr/>
        </p:nvSpPr>
        <p:spPr>
          <a:xfrm rot="5400000">
            <a:off x="7909335" y="5384755"/>
            <a:ext cx="162053" cy="162053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XT_FREE_BACKGROUND_5" descr="background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PDF_TEXT_GROUP_67"/>
          <p:cNvSpPr txBox="1"/>
          <p:nvPr/>
        </p:nvSpPr>
        <p:spPr>
          <a:xfrm>
            <a:off x="183009" y="320073"/>
            <a:ext cx="14401670" cy="578331"/>
          </a:xfrm>
          <a:prstGeom prst="rect">
            <a:avLst/>
          </a:prstGeom>
          <a:noFill/>
          <a:ln>
            <a:noFill/>
          </a:ln>
        </p:spPr>
        <p:txBody>
          <a:bodyPr wrap="none" anchor="t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57" b="1" i="0">
                <a:solidFill>
                  <a:srgbClr val="143765"/>
                </a:solidFill>
                <a:latin typeface="Latin Modern Sans"/>
              </a:rPr>
              <a:t>Current Solution: Fixed Camera</a:t>
            </a:r>
          </a:p>
        </p:txBody>
      </p:sp>
      <p:sp>
        <p:nvSpPr>
          <p:cNvPr id="4" name="PDF_TEXT_GROUP_68"/>
          <p:cNvSpPr txBox="1"/>
          <p:nvPr/>
        </p:nvSpPr>
        <p:spPr>
          <a:xfrm>
            <a:off x="914808" y="1393013"/>
            <a:ext cx="2745442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0" i="0">
                <a:solidFill>
                  <a:srgbClr val="FFFFFF"/>
                </a:solidFill>
                <a:latin typeface="Latin Modern Sans"/>
              </a:rPr>
              <a:t>Why start here?</a:t>
            </a:r>
          </a:p>
        </p:txBody>
      </p:sp>
      <p:sp>
        <p:nvSpPr>
          <p:cNvPr id="5" name="PDF_TEXT_GROUP_69"/>
          <p:cNvSpPr txBox="1"/>
          <p:nvPr/>
        </p:nvSpPr>
        <p:spPr>
          <a:xfrm>
            <a:off x="914808" y="2042128"/>
            <a:ext cx="8606297" cy="440633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0" b="0" i="0">
                <a:solidFill>
                  <a:srgbClr val="000000"/>
                </a:solidFill>
                <a:latin typeface="Latin Modern Sans"/>
              </a:rPr>
              <a:t>Simpler hardware; constant camera-to-body geometry.</a:t>
            </a:r>
          </a:p>
        </p:txBody>
      </p:sp>
      <p:sp>
        <p:nvSpPr>
          <p:cNvPr id="6" name="PDF_TEXT_GROUP_70"/>
          <p:cNvSpPr txBox="1"/>
          <p:nvPr/>
        </p:nvSpPr>
        <p:spPr>
          <a:xfrm>
            <a:off x="1618972" y="2859185"/>
            <a:ext cx="11071139" cy="440633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0" b="1" i="0">
                <a:solidFill>
                  <a:srgbClr val="000000"/>
                </a:solidFill>
                <a:latin typeface="Latin Modern Sans"/>
              </a:rPr>
              <a:t>Calibrate:</a:t>
            </a:r>
            <a:r>
              <a:rPr sz="2710" b="0" i="0">
                <a:solidFill>
                  <a:srgbClr val="000000"/>
                </a:solidFill>
                <a:latin typeface="Latin Modern Sans"/>
              </a:rPr>
              <a:t> camera intrinsics and the fixed camera-to-body transform.</a:t>
            </a:r>
          </a:p>
        </p:txBody>
      </p:sp>
      <p:sp>
        <p:nvSpPr>
          <p:cNvPr id="7" name="PDF_TEXT_GROUP_71"/>
          <p:cNvSpPr txBox="1"/>
          <p:nvPr/>
        </p:nvSpPr>
        <p:spPr>
          <a:xfrm>
            <a:off x="1618972" y="3393614"/>
            <a:ext cx="11645606" cy="9299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0" b="1" i="0">
                <a:solidFill>
                  <a:srgbClr val="000000"/>
                </a:solidFill>
                <a:latin typeface="Latin Modern Sans"/>
              </a:rPr>
              <a:t>Capture:</a:t>
            </a:r>
            <a:r>
              <a:rPr sz="2710" b="0" i="0">
                <a:solidFill>
                  <a:srgbClr val="000000"/>
                </a:solidFill>
                <a:latin typeface="Latin Modern Sans"/>
              </a:rPr>
              <a:t> reposition the UAV; prefer low-motion intervals and short exposures</a:t>
            </a:r>
            <a:r>
              <a:rPr sz="2710" b="0" i="0">
                <a:solidFill>
                  <a:srgbClr val="000000"/>
                </a:solidFill>
                <a:latin typeface="Latin Modern Sans"/>
              </a:rPr>
              <a:t> when feasible.</a:t>
            </a:r>
          </a:p>
        </p:txBody>
      </p:sp>
      <p:sp>
        <p:nvSpPr>
          <p:cNvPr id="8" name="PDF_TEXT_GROUP_72"/>
          <p:cNvSpPr txBox="1"/>
          <p:nvPr/>
        </p:nvSpPr>
        <p:spPr>
          <a:xfrm>
            <a:off x="1618972" y="4365913"/>
            <a:ext cx="12388581" cy="440633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0" b="1" i="0">
                <a:solidFill>
                  <a:srgbClr val="000000"/>
                </a:solidFill>
                <a:latin typeface="Latin Modern Sans"/>
              </a:rPr>
              <a:t>Record:</a:t>
            </a:r>
            <a:r>
              <a:rPr sz="2710" b="0" i="0">
                <a:solidFill>
                  <a:srgbClr val="000000"/>
                </a:solidFill>
                <a:latin typeface="Latin Modern Sans"/>
              </a:rPr>
              <a:t> pair each image with capture-time position, attitude and timestamp.</a:t>
            </a:r>
          </a:p>
        </p:txBody>
      </p:sp>
      <p:sp>
        <p:nvSpPr>
          <p:cNvPr id="9" name="PDF_TEXT_GROUP_73"/>
          <p:cNvSpPr txBox="1"/>
          <p:nvPr/>
        </p:nvSpPr>
        <p:spPr>
          <a:xfrm>
            <a:off x="1618972" y="4900341"/>
            <a:ext cx="10844306" cy="92989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0" b="1" i="0">
                <a:solidFill>
                  <a:srgbClr val="000000"/>
                </a:solidFill>
                <a:latin typeface="Latin Modern Sans"/>
              </a:rPr>
              <a:t>Analyze:</a:t>
            </a:r>
            <a:r>
              <a:rPr sz="2710" b="0" i="0">
                <a:solidFill>
                  <a:srgbClr val="000000"/>
                </a:solidFill>
                <a:latin typeface="Latin Modern Sans"/>
              </a:rPr>
              <a:t> estimate viewing direction from attitude and calibration; verify</a:t>
            </a:r>
            <a:r>
              <a:rPr sz="2710" b="0" i="0">
                <a:solidFill>
                  <a:srgbClr val="000000"/>
                </a:solidFill>
                <a:latin typeface="Latin Modern Sans"/>
              </a:rPr>
              <a:t> same-object matches before combining views.</a:t>
            </a:r>
          </a:p>
        </p:txBody>
      </p:sp>
      <p:sp>
        <p:nvSpPr>
          <p:cNvPr id="10" name="PDF_TEXT_GROUP_74"/>
          <p:cNvSpPr txBox="1"/>
          <p:nvPr/>
        </p:nvSpPr>
        <p:spPr>
          <a:xfrm>
            <a:off x="914808" y="6090994"/>
            <a:ext cx="1825239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0" i="0">
                <a:solidFill>
                  <a:srgbClr val="FFFFFF"/>
                </a:solidFill>
                <a:latin typeface="Latin Modern Sans"/>
              </a:rPr>
              <a:t>Limitation</a:t>
            </a:r>
          </a:p>
        </p:txBody>
      </p:sp>
      <p:sp>
        <p:nvSpPr>
          <p:cNvPr id="11" name="PDF_TEXT_GROUP_75"/>
          <p:cNvSpPr txBox="1"/>
          <p:nvPr/>
        </p:nvSpPr>
        <p:spPr>
          <a:xfrm>
            <a:off x="914808" y="6664976"/>
            <a:ext cx="10824660" cy="440633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0" b="0" i="0">
                <a:solidFill>
                  <a:srgbClr val="000000"/>
                </a:solidFill>
                <a:latin typeface="Latin Modern Sans"/>
              </a:rPr>
              <a:t>Attitude estimates do not prevent blur or jitter. Reject poor frames.</a:t>
            </a:r>
          </a:p>
        </p:txBody>
      </p:sp>
      <p:sp>
        <p:nvSpPr>
          <p:cNvPr id="12" name="PDF_TEXT_GROUP_76"/>
          <p:cNvSpPr txBox="1"/>
          <p:nvPr/>
        </p:nvSpPr>
        <p:spPr>
          <a:xfrm>
            <a:off x="914808" y="7496073"/>
            <a:ext cx="11426612" cy="223169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5" b="0" i="0">
                <a:solidFill>
                  <a:srgbClr val="525A67"/>
                </a:solidFill>
                <a:latin typeface="Latin Modern Sans"/>
              </a:rPr>
              <a:t>Evidence: Implementation plan; calibration and timing require validation. Metadata reference: </a:t>
            </a:r>
            <a:r>
              <a:rPr sz="1355" b="0" i="0">
                <a:solidFill>
                  <a:srgbClr val="525A67"/>
                </a:solidFill>
                <a:latin typeface="Latin Modern Sans"/>
                <a:hlinkClick r:id="rId3"/>
              </a:rPr>
              <a:t>MAVLink capture metadata</a:t>
            </a:r>
            <a:r>
              <a:rPr sz="1355" b="0" i="0">
                <a:solidFill>
                  <a:srgbClr val="525A67"/>
                </a:solidFill>
                <a:latin typeface="Latin Modern Sans"/>
              </a:rPr>
              <a:t>.</a:t>
            </a:r>
          </a:p>
        </p:txBody>
      </p:sp>
      <p:sp>
        <p:nvSpPr>
          <p:cNvPr id="13" name="PDF_TEXT_GROUP_77"/>
          <p:cNvSpPr txBox="1"/>
          <p:nvPr/>
        </p:nvSpPr>
        <p:spPr>
          <a:xfrm>
            <a:off x="245952" y="7853512"/>
            <a:ext cx="6962513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3333B2"/>
                </a:solidFill>
                <a:latin typeface="Latin Modern Sans"/>
              </a:rPr>
              <a:t>NDNSF-UAV: data-driven collaboration work in progress</a:t>
            </a:r>
          </a:p>
        </p:txBody>
      </p:sp>
      <p:sp>
        <p:nvSpPr>
          <p:cNvPr id="14" name="PDF_TEXT_GROUP_78"/>
          <p:cNvSpPr txBox="1"/>
          <p:nvPr/>
        </p:nvSpPr>
        <p:spPr>
          <a:xfrm>
            <a:off x="11417057" y="7853512"/>
            <a:ext cx="551981" cy="30293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3" b="0" i="0">
                <a:solidFill>
                  <a:srgbClr val="262685"/>
                </a:solidFill>
                <a:latin typeface="Latin Modern Sans"/>
              </a:rPr>
              <a:t>5/5</a:t>
            </a:r>
          </a:p>
        </p:txBody>
      </p:sp>
      <p:sp>
        <p:nvSpPr>
          <p:cNvPr id="15" name="PDF_BULLET_SPAN_99"/>
          <p:cNvSpPr/>
          <p:nvPr/>
        </p:nvSpPr>
        <p:spPr>
          <a:xfrm rot="5400000">
            <a:off x="1207424" y="2944976"/>
            <a:ext cx="197164" cy="197164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DF_BULLET_SPAN_102"/>
          <p:cNvSpPr/>
          <p:nvPr/>
        </p:nvSpPr>
        <p:spPr>
          <a:xfrm rot="5400000">
            <a:off x="1207424" y="3479404"/>
            <a:ext cx="197164" cy="197164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DF_BULLET_SPAN_106"/>
          <p:cNvSpPr/>
          <p:nvPr/>
        </p:nvSpPr>
        <p:spPr>
          <a:xfrm rot="5400000">
            <a:off x="1207424" y="4451704"/>
            <a:ext cx="197164" cy="197164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DF_BULLET_SPAN_109"/>
          <p:cNvSpPr/>
          <p:nvPr/>
        </p:nvSpPr>
        <p:spPr>
          <a:xfrm rot="5400000">
            <a:off x="1207424" y="4986132"/>
            <a:ext cx="197164" cy="197164"/>
          </a:xfrm>
          <a:prstGeom prst="triangle">
            <a:avLst/>
          </a:prstGeom>
          <a:solidFill>
            <a:srgbClr val="14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