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94A0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438912"/>
            <a:ext cx="1138428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Three synchronized UAV views of the same traffic scene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56848" cy="22860"/>
          </a:xfrm>
          <a:prstGeom prst="rect">
            <a:avLst/>
          </a:prstGeom>
          <a:solidFill>
            <a:srgbClr val="009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60704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977"/>
                </a:solidFill>
                <a:latin typeface="Aptos"/>
              </a:rPr>
              <a:t>A small, image-led pilot for cross-camera vehicle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3611880" cy="2852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av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508760"/>
            <a:ext cx="3557016" cy="27980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4041648"/>
            <a:ext cx="960120" cy="301752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87368"/>
            <a:ext cx="868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UAV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481328"/>
            <a:ext cx="3611880" cy="2852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av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08760"/>
            <a:ext cx="3557016" cy="27980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24528" y="4041648"/>
            <a:ext cx="960120" cy="301752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4087368"/>
            <a:ext cx="868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UAV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5" y="1481328"/>
            <a:ext cx="3611880" cy="2852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av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7" y="1508760"/>
            <a:ext cx="3557016" cy="27980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37575" y="4041648"/>
            <a:ext cx="960120" cy="301752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4087368"/>
            <a:ext cx="868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UAV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663440"/>
            <a:ext cx="113385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864608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747"/>
                </a:solidFill>
                <a:latin typeface="Aptos"/>
              </a:rPr>
              <a:t>What the release provides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12080"/>
            <a:ext cx="3017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B36"/>
                </a:solidFill>
                <a:latin typeface="Aptos"/>
              </a:rPr>
              <a:t>3 synchronized one-minute UAV clips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5212080"/>
            <a:ext cx="3017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B36"/>
                </a:solidFill>
                <a:latin typeface="Aptos"/>
              </a:rPr>
              <a:t>Per-camera boxes + local tracker 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5212080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B36"/>
                </a:solidFill>
                <a:latin typeface="Aptos"/>
              </a:rPr>
              <a:t>Cross-camera global IDs and overlap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32704"/>
            <a:ext cx="104241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E3737"/>
                </a:solidFill>
                <a:latin typeface="Aptos"/>
              </a:rPr>
              <a:t>Use as a synchronized tracking pilot; it is not a broad recognition or calibrated 3-D benchmark.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6528816"/>
            <a:ext cx="11292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BE3737"/>
                </a:solidFill>
                <a:latin typeface="Aptos"/>
              </a:rPr>
              <a:t>Source: Hugging Face dataset card and project repository; raw videos are not copied into this repository.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94A0"/>
                </a:solidFill>
                <a:latin typeface="Aptos"/>
              </a:rP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438912"/>
            <a:ext cx="1138428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Reference algorithm: local tracks to global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56848" cy="22860"/>
          </a:xfrm>
          <a:prstGeom prst="rect">
            <a:avLst/>
          </a:prstGeom>
          <a:solidFill>
            <a:srgbClr val="009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60704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977"/>
                </a:solidFill>
                <a:latin typeface="Aptos"/>
              </a:rPr>
              <a:t>The repository supplies an engineering baseline, not a new tracking 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7726679" cy="393192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536192"/>
            <a:ext cx="7671815" cy="38770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30768" y="1508760"/>
            <a:ext cx="3310128" cy="3931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2" y="1755648"/>
            <a:ext cx="384048" cy="384048"/>
          </a:xfrm>
          <a:prstGeom prst="roundRect">
            <a:avLst/>
          </a:prstGeom>
          <a:solidFill>
            <a:srgbClr val="0094A0"/>
          </a:solidFill>
          <a:ln>
            <a:solidFill>
              <a:srgbClr val="00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1828800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8864" y="1746504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YOLO 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1984248"/>
            <a:ext cx="221284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Find vehicles in each UAV 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8512" y="2606040"/>
            <a:ext cx="384048" cy="384048"/>
          </a:xfrm>
          <a:prstGeom prst="roundRect">
            <a:avLst/>
          </a:prstGeom>
          <a:solidFill>
            <a:srgbClr val="0094A0"/>
          </a:solidFill>
          <a:ln>
            <a:solidFill>
              <a:srgbClr val="00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679192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596896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ByteTrack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834640"/>
            <a:ext cx="221284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Maintain a camera-local track.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8512" y="3456432"/>
            <a:ext cx="384048" cy="384048"/>
          </a:xfrm>
          <a:prstGeom prst="roundRect">
            <a:avLst/>
          </a:prstGeom>
          <a:solidFill>
            <a:srgbClr val="0094A0"/>
          </a:solidFill>
          <a:ln>
            <a:solidFill>
              <a:srgbClr val="00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3529584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3447288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Overlap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3685032"/>
            <a:ext cx="221284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Compare compatible tracks in overlap regions.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8512" y="4306824"/>
            <a:ext cx="384048" cy="384048"/>
          </a:xfrm>
          <a:prstGeom prst="roundRect">
            <a:avLst/>
          </a:prstGeom>
          <a:solidFill>
            <a:srgbClr val="0094A0"/>
          </a:solidFill>
          <a:ln>
            <a:solidFill>
              <a:srgbClr val="00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4379976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4297680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747"/>
                </a:solidFill>
                <a:latin typeface="Aptos"/>
              </a:rPr>
              <a:t>global_id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4535424"/>
            <a:ext cx="221284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Export a cross-camera identity and trajectory.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32704"/>
            <a:ext cx="11283696" cy="530352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88152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Important boundary: global_id is an application association result, not an NDN producer identity or cryptographic proof.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6528816"/>
            <a:ext cx="11292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977"/>
                </a:solidFill>
                <a:latin typeface="Aptos"/>
              </a:rPr>
              <a:t>Source: project README; the implementation uses Ultralytics YOLO, Supervision/ByteTrack, and overlap-region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94A0"/>
                </a:solidFill>
                <a:latin typeface="Aptos"/>
              </a:rP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438912"/>
            <a:ext cx="1138428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NDNSF-UAV mapping: each selected stream is a Provider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56848" cy="22860"/>
          </a:xfrm>
          <a:prstGeom prst="rect">
            <a:avLst/>
          </a:prstGeom>
          <a:solidFill>
            <a:srgbClr val="009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60704"/>
            <a:ext cx="10332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977"/>
                </a:solidFill>
                <a:latin typeface="Aptos"/>
              </a:rPr>
              <a:t>Keep the video payload out of Request and Selection; publish bounded Named Data after Selection.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463040"/>
            <a:ext cx="199339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av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90472"/>
            <a:ext cx="1938528" cy="11521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734056"/>
            <a:ext cx="19933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/uav/A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463040"/>
            <a:ext cx="199339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av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1490472"/>
            <a:ext cx="1938528" cy="1152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71216" y="2734056"/>
            <a:ext cx="19933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/uav/B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66944" y="1463040"/>
            <a:ext cx="199339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av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1490472"/>
            <a:ext cx="1938528" cy="1152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6944" y="2734056"/>
            <a:ext cx="19933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2747"/>
                </a:solidFill>
                <a:latin typeface="Aptos"/>
              </a:rPr>
              <a:t>/uav/C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463040"/>
            <a:ext cx="1993392" cy="1207008"/>
          </a:xfrm>
          <a:prstGeom prst="roundRect">
            <a:avLst/>
          </a:prstGeom>
          <a:solidFill>
            <a:srgbClr val="E2F1F2"/>
          </a:solidFill>
          <a:ln>
            <a:solidFill>
              <a:srgbClr val="00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1755648"/>
            <a:ext cx="175564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F2747"/>
                </a:solidFill>
                <a:latin typeface="Aptos"/>
              </a:rPr>
              <a:t>Tracking
Provider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5248" y="1463040"/>
            <a:ext cx="1719072" cy="1207008"/>
          </a:xfrm>
          <a:prstGeom prst="roundRect">
            <a:avLst/>
          </a:prstGeom>
          <a:solidFill>
            <a:srgbClr val="EFEBF7"/>
          </a:solidFill>
          <a:ln>
            <a:solidFill>
              <a:srgbClr val="876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1874519"/>
            <a:ext cx="13898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User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2057400"/>
            <a:ext cx="512064" cy="0"/>
          </a:xfrm>
          <a:prstGeom prst="line">
            <a:avLst/>
          </a:prstGeom>
          <a:ln w="27940">
            <a:solidFill>
              <a:srgbClr val="009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64608" y="2057400"/>
            <a:ext cx="512064" cy="0"/>
          </a:xfrm>
          <a:prstGeom prst="line">
            <a:avLst/>
          </a:prstGeom>
          <a:ln w="27940">
            <a:solidFill>
              <a:srgbClr val="009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60336" y="2057400"/>
            <a:ext cx="512064" cy="0"/>
          </a:xfrm>
          <a:prstGeom prst="line">
            <a:avLst/>
          </a:prstGeom>
          <a:ln w="27940">
            <a:solidFill>
              <a:srgbClr val="009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82912" y="2057400"/>
            <a:ext cx="384048" cy="0"/>
          </a:xfrm>
          <a:prstGeom prst="line">
            <a:avLst/>
          </a:prstGeom>
          <a:ln w="27940">
            <a:solidFill>
              <a:srgbClr val="EB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8912" y="3291840"/>
            <a:ext cx="2176272" cy="758952"/>
          </a:xfrm>
          <a:prstGeom prst="roundRect">
            <a:avLst/>
          </a:prstGeom>
          <a:solidFill>
            <a:srgbClr val="F4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3" y="3410712"/>
            <a:ext cx="2029967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2747"/>
                </a:solidFill>
                <a:latin typeface="Aptos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3" y="3666744"/>
            <a:ext cx="2029967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977"/>
                </a:solidFill>
                <a:latin typeface="Aptos"/>
              </a:rPr>
              <a:t>protected descriptor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0" y="3666744"/>
            <a:ext cx="182879" cy="0"/>
          </a:xfrm>
          <a:prstGeom prst="line">
            <a:avLst/>
          </a:prstGeom>
          <a:ln w="22860">
            <a:solidFill>
              <a:srgbClr val="EB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16352" y="3291840"/>
            <a:ext cx="2176272" cy="758952"/>
          </a:xfrm>
          <a:prstGeom prst="roundRect">
            <a:avLst/>
          </a:prstGeom>
          <a:solidFill>
            <a:srgbClr val="F4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9504" y="3410712"/>
            <a:ext cx="2029967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2747"/>
                </a:solidFill>
                <a:latin typeface="Aptos"/>
              </a:rPr>
              <a:t>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9504" y="3666744"/>
            <a:ext cx="2029967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977"/>
                </a:solidFill>
                <a:latin typeface="Aptos"/>
              </a:rPr>
              <a:t>positive / negative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0" y="3666744"/>
            <a:ext cx="182880" cy="0"/>
          </a:xfrm>
          <a:prstGeom prst="line">
            <a:avLst/>
          </a:prstGeom>
          <a:ln w="22860">
            <a:solidFill>
              <a:srgbClr val="EB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93792" y="3291840"/>
            <a:ext cx="2176272" cy="758952"/>
          </a:xfrm>
          <a:prstGeom prst="roundRect">
            <a:avLst/>
          </a:prstGeom>
          <a:solidFill>
            <a:srgbClr val="F4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66944" y="3410712"/>
            <a:ext cx="2029967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2747"/>
                </a:solidFill>
                <a:latin typeface="Aptos"/>
              </a:rPr>
              <a:t>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6944" y="3666744"/>
            <a:ext cx="2029967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977"/>
                </a:solidFill>
                <a:latin typeface="Aptos"/>
              </a:rPr>
              <a:t>role assignment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39" y="3666744"/>
            <a:ext cx="182880" cy="0"/>
          </a:xfrm>
          <a:prstGeom prst="line">
            <a:avLst/>
          </a:prstGeom>
          <a:ln w="22860">
            <a:solidFill>
              <a:srgbClr val="EB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571231" y="3291840"/>
            <a:ext cx="2176272" cy="758952"/>
          </a:xfrm>
          <a:prstGeom prst="roundRect">
            <a:avLst/>
          </a:prstGeom>
          <a:solidFill>
            <a:srgbClr val="F4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44383" y="3410712"/>
            <a:ext cx="2029967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2747"/>
                </a:solidFill>
                <a:latin typeface="Aptos"/>
              </a:rPr>
              <a:t>View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4383" y="3666744"/>
            <a:ext cx="2029967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977"/>
                </a:solidFill>
                <a:latin typeface="Aptos"/>
              </a:rPr>
              <a:t>signed named object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84080" y="3666744"/>
            <a:ext cx="182880" cy="0"/>
          </a:xfrm>
          <a:prstGeom prst="line">
            <a:avLst/>
          </a:prstGeom>
          <a:ln w="22860">
            <a:solidFill>
              <a:srgbClr val="EB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948672" y="3291840"/>
            <a:ext cx="1920240" cy="758952"/>
          </a:xfrm>
          <a:prstGeom prst="roundRect">
            <a:avLst/>
          </a:prstGeom>
          <a:solidFill>
            <a:srgbClr val="F4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1824" y="3410712"/>
            <a:ext cx="177393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2747"/>
                </a:solidFill>
                <a:latin typeface="Aptos"/>
              </a:rPr>
              <a:t>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1824" y="3666744"/>
            <a:ext cx="177393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977"/>
                </a:solidFill>
                <a:latin typeface="Aptos"/>
              </a:rPr>
              <a:t>tracking output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" y="4434840"/>
            <a:ext cx="11283696" cy="1298448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26864"/>
            <a:ext cx="374903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Protocol tests enabled by this dataset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5010912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CF8A"/>
                </a:solidFill>
                <a:latin typeface="Aptos"/>
              </a:rPr>
              <a:t>wrong producer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010912"/>
            <a:ext cx="2057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CF8A"/>
                </a:solidFill>
                <a:latin typeface="Aptos"/>
              </a:rPr>
              <a:t>undeclared dependency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010912"/>
            <a:ext cx="1965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CF8A"/>
                </a:solidFill>
                <a:latin typeface="Aptos"/>
              </a:rPr>
              <a:t>missing or late stream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010912"/>
            <a:ext cx="26517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CF8A"/>
                </a:solidFill>
                <a:latin typeface="Aptos"/>
              </a:rPr>
              <a:t>stale attempt / cache replay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5367528"/>
            <a:ext cx="10424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The Tracking Provider accepts View Data only after producer, dependency, attempt, and cache checks.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" y="6528816"/>
            <a:ext cx="11292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BE3737"/>
                </a:solidFill>
                <a:latin typeface="Aptos"/>
              </a:rPr>
              <a:t>NDNSF mapping is the proposed project integration; it is not a claim made by the dataset authors.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